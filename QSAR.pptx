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9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472FFD-1740-4351-9177-7DD8EAA53D1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3185E-4FEF-4CA4-A571-35612F923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8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33185E-4FEF-4CA4-A571-35612F923CA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1343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33185E-4FEF-4CA4-A571-35612F923CA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630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C6EE1-2AA1-42E9-A66B-588EA1648F6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09800-3BC6-46A3-81F0-451E560C4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671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C6EE1-2AA1-42E9-A66B-588EA1648F6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09800-3BC6-46A3-81F0-451E560C4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722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C6EE1-2AA1-42E9-A66B-588EA1648F6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09800-3BC6-46A3-81F0-451E560C4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865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C6EE1-2AA1-42E9-A66B-588EA1648F6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09800-3BC6-46A3-81F0-451E560C4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913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C6EE1-2AA1-42E9-A66B-588EA1648F6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09800-3BC6-46A3-81F0-451E560C4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484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C6EE1-2AA1-42E9-A66B-588EA1648F6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09800-3BC6-46A3-81F0-451E560C4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06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C6EE1-2AA1-42E9-A66B-588EA1648F6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09800-3BC6-46A3-81F0-451E560C4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894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C6EE1-2AA1-42E9-A66B-588EA1648F6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09800-3BC6-46A3-81F0-451E560C4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319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C6EE1-2AA1-42E9-A66B-588EA1648F6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09800-3BC6-46A3-81F0-451E560C4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5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C6EE1-2AA1-42E9-A66B-588EA1648F6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09800-3BC6-46A3-81F0-451E560C4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244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C6EE1-2AA1-42E9-A66B-588EA1648F6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09800-3BC6-46A3-81F0-451E560C4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953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9C6EE1-2AA1-42E9-A66B-588EA1648F6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09800-3BC6-46A3-81F0-451E560C4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49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gopalakrishnankumar-a73301110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kaggle.com/gopalkk2" TargetMode="External"/><Relationship Id="rId4" Type="http://schemas.openxmlformats.org/officeDocument/2006/relationships/hyperlink" Target="https://www.github.com/Gopalakrishnan-Kumar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uw98Kolvn3ZJmkcoelD5Z0uihL0ZUG4M?usp=shar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QSAR Modeling for Predicting Bioactivity of Chemical Compounds</a:t>
            </a:r>
            <a:endParaRPr lang="en-US" b="1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524000" y="3572308"/>
            <a:ext cx="9144000" cy="1655762"/>
          </a:xfrm>
        </p:spPr>
        <p:txBody>
          <a:bodyPr/>
          <a:lstStyle/>
          <a:p>
            <a:r>
              <a:rPr lang="en-US" b="1" dirty="0" smtClean="0"/>
              <a:t>By </a:t>
            </a:r>
            <a:r>
              <a:rPr lang="en-US" b="1" dirty="0" err="1" smtClean="0"/>
              <a:t>Gopalakrishnan</a:t>
            </a:r>
            <a:r>
              <a:rPr lang="en-US" b="1" dirty="0" smtClean="0"/>
              <a:t> Kumar, </a:t>
            </a:r>
            <a:r>
              <a:rPr lang="en-US" b="1" dirty="0" err="1" smtClean="0"/>
              <a:t>MTech</a:t>
            </a:r>
            <a:r>
              <a:rPr lang="en-US" b="1" dirty="0" smtClean="0"/>
              <a:t> IIT-Bombay,</a:t>
            </a:r>
          </a:p>
          <a:p>
            <a:r>
              <a:rPr lang="en-US" b="1" dirty="0" smtClean="0"/>
              <a:t>Freelance Data Science Consultant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355273" y="451913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0D0D0D"/>
                </a:solidFill>
                <a:latin typeface="CIDFont+F1"/>
              </a:rPr>
              <a:t>LinkedIn: Profile Link : </a:t>
            </a:r>
            <a:r>
              <a:rPr lang="en-US" dirty="0" smtClean="0">
                <a:solidFill>
                  <a:srgbClr val="0D0D0D"/>
                </a:solidFill>
                <a:latin typeface="CIDFont+F1"/>
                <a:hlinkClick r:id="rId3"/>
              </a:rPr>
              <a:t>https://www.linkedin.com/in/gopalakrishnankumar-a73301110/</a:t>
            </a:r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r>
              <a:rPr lang="en-US" dirty="0" err="1" smtClean="0">
                <a:solidFill>
                  <a:srgbClr val="0D0D0D"/>
                </a:solidFill>
                <a:latin typeface="CIDFont+F1"/>
              </a:rPr>
              <a:t>Github:</a:t>
            </a:r>
            <a:r>
              <a:rPr lang="en-US" dirty="0" err="1" smtClean="0">
                <a:solidFill>
                  <a:srgbClr val="0D0D0D"/>
                </a:solidFill>
                <a:latin typeface="CIDFont+F1"/>
                <a:hlinkClick r:id="rId4"/>
              </a:rPr>
              <a:t>https</a:t>
            </a:r>
            <a:r>
              <a:rPr lang="en-US" dirty="0" smtClean="0">
                <a:solidFill>
                  <a:srgbClr val="0D0D0D"/>
                </a:solidFill>
                <a:latin typeface="CIDFont+F1"/>
                <a:hlinkClick r:id="rId4"/>
              </a:rPr>
              <a:t>://www.github.com/Gopalakrishnan-Kumar/</a:t>
            </a:r>
            <a:endParaRPr lang="en-US" dirty="0" smtClean="0">
              <a:solidFill>
                <a:srgbClr val="0D0D0D"/>
              </a:solidFill>
              <a:latin typeface="CIDFont+F1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55273" y="6065737"/>
            <a:ext cx="6150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/>
              <a:t>Kaggle</a:t>
            </a:r>
            <a:r>
              <a:rPr lang="en-US" sz="2000" dirty="0" smtClean="0"/>
              <a:t> URL- </a:t>
            </a:r>
            <a:r>
              <a:rPr lang="en-US" sz="2000" dirty="0" smtClean="0">
                <a:hlinkClick r:id="rId5"/>
              </a:rPr>
              <a:t>https://www.kaggle.com/gopalkk2</a:t>
            </a:r>
            <a:endParaRPr lang="en-US" sz="2000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69104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Google Colab URL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https://colab.research.google.com/drive/1uw98Kolvn3ZJmkcoelD5Z0uihL0ZUG4M?usp=sharing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45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Introduction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Drug discovery is a complex, resource-intensive, and time-consuming process. Computational techniques such as </a:t>
            </a:r>
            <a:r>
              <a:rPr lang="en-US" b="1" dirty="0" smtClean="0"/>
              <a:t>Quantitative Structure–Activity Relationship (QSAR)</a:t>
            </a:r>
            <a:r>
              <a:rPr lang="en-US" dirty="0" smtClean="0"/>
              <a:t> modeling play a crucial role in predicting molecular bioactivity before laboratory testing begins. QSAR approaches analyze chemical structures and correlate them with experimental biological responses, thereby enabling rapid screening of potential drug candidates.</a:t>
            </a:r>
          </a:p>
          <a:p>
            <a:r>
              <a:rPr lang="en-US" dirty="0" smtClean="0"/>
              <a:t>An essential part of QSAR analysis is </a:t>
            </a:r>
            <a:r>
              <a:rPr lang="en-US" b="1" dirty="0" smtClean="0"/>
              <a:t>visualization</a:t>
            </a:r>
            <a:r>
              <a:rPr lang="en-US" dirty="0" smtClean="0"/>
              <a:t>, which helps in understanding the distribution of compound classes, comparing drug properties, and identifying promising molecules for further study. This project focuses on generating effective visualization techniques—particularly </a:t>
            </a:r>
            <a:r>
              <a:rPr lang="en-US" b="1" dirty="0" smtClean="0"/>
              <a:t>stacked bar charts</a:t>
            </a:r>
            <a:r>
              <a:rPr lang="en-US" dirty="0" smtClean="0"/>
              <a:t> and </a:t>
            </a:r>
            <a:r>
              <a:rPr lang="en-US" b="1" dirty="0" smtClean="0"/>
              <a:t>combined stacked bar charts</a:t>
            </a:r>
            <a:r>
              <a:rPr lang="en-US" dirty="0" smtClean="0"/>
              <a:t>—to evaluate synthetic drug bioactivity datasets.</a:t>
            </a:r>
          </a:p>
          <a:p>
            <a:r>
              <a:rPr lang="en-US" dirty="0" smtClean="0"/>
              <a:t>The report presents the objectives, methodology, dataset, visualization results, interpretation, and conclusion for a complete end-to-end QSAR visualization study.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123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Project Objectives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The main objectives of this project are:</a:t>
            </a:r>
          </a:p>
          <a:p>
            <a:r>
              <a:rPr lang="en-US" dirty="0" smtClean="0"/>
              <a:t>To generate a synthetic dataset representing basic drug properties such as efficacy, toxicity, and stability.</a:t>
            </a:r>
          </a:p>
          <a:p>
            <a:r>
              <a:rPr lang="en-US" dirty="0" smtClean="0"/>
              <a:t>To use </a:t>
            </a:r>
            <a:r>
              <a:rPr lang="en-US" b="1" dirty="0" smtClean="0"/>
              <a:t>Python</a:t>
            </a:r>
            <a:r>
              <a:rPr lang="en-US" dirty="0" smtClean="0"/>
              <a:t> to create:</a:t>
            </a:r>
          </a:p>
          <a:p>
            <a:pPr lvl="1"/>
            <a:r>
              <a:rPr lang="en-US" dirty="0" smtClean="0"/>
              <a:t>Histogram plots</a:t>
            </a:r>
          </a:p>
          <a:p>
            <a:pPr lvl="1"/>
            <a:r>
              <a:rPr lang="en-US" dirty="0" smtClean="0"/>
              <a:t>Bar charts</a:t>
            </a:r>
          </a:p>
          <a:p>
            <a:pPr lvl="1"/>
            <a:r>
              <a:rPr lang="en-US" dirty="0" smtClean="0"/>
              <a:t>Stacked bar charts</a:t>
            </a:r>
          </a:p>
          <a:p>
            <a:pPr lvl="1"/>
            <a:r>
              <a:rPr lang="en-US" dirty="0" smtClean="0"/>
              <a:t>Combined grouped + stacked bar charts</a:t>
            </a:r>
          </a:p>
          <a:p>
            <a:r>
              <a:rPr lang="en-US" dirty="0" smtClean="0"/>
              <a:t>To visualize and interpret the comparative performance of drug candidates.</a:t>
            </a:r>
          </a:p>
          <a:p>
            <a:r>
              <a:rPr lang="en-US" dirty="0" smtClean="0"/>
              <a:t>To produce a clear, analytical, and presentation-ready project report.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493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Dataset Description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synthetic dataset was created to represent three hypothetical drug candidates:</a:t>
            </a:r>
          </a:p>
          <a:p>
            <a:r>
              <a:rPr lang="en-US" b="1" dirty="0" smtClean="0"/>
              <a:t>Drug Properties Used</a:t>
            </a:r>
          </a:p>
          <a:p>
            <a:r>
              <a:rPr lang="en-US" b="1" dirty="0" smtClean="0"/>
              <a:t>Efficacy</a:t>
            </a:r>
            <a:r>
              <a:rPr lang="en-US" dirty="0" smtClean="0"/>
              <a:t> – therapeutic effectiveness of the compound</a:t>
            </a:r>
          </a:p>
          <a:p>
            <a:r>
              <a:rPr lang="en-US" b="1" dirty="0" smtClean="0"/>
              <a:t>Toxicity</a:t>
            </a:r>
            <a:r>
              <a:rPr lang="en-US" dirty="0" smtClean="0"/>
              <a:t> – level of adverse side effects</a:t>
            </a:r>
          </a:p>
          <a:p>
            <a:r>
              <a:rPr lang="en-US" b="1" dirty="0" smtClean="0"/>
              <a:t>Stability</a:t>
            </a:r>
            <a:r>
              <a:rPr lang="en-US" dirty="0" smtClean="0"/>
              <a:t> – chemical stability under physiological conditions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428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Dataset Description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Synthetic Dataset Table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672020"/>
              </p:ext>
            </p:extLst>
          </p:nvPr>
        </p:nvGraphicFramePr>
        <p:xfrm>
          <a:off x="838200" y="3269774"/>
          <a:ext cx="10515600" cy="18288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32073536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1236416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6167329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439697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+mn-lt"/>
                        </a:rPr>
                        <a:t>Drug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+mn-lt"/>
                        </a:rPr>
                        <a:t>Efficacy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+mn-lt"/>
                        </a:rPr>
                        <a:t>Toxicity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+mn-lt"/>
                        </a:rPr>
                        <a:t>Stability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8942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+mn-lt"/>
                        </a:rPr>
                        <a:t>Drug 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+mn-lt"/>
                        </a:rPr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+mn-lt"/>
                        </a:rPr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+mn-lt"/>
                        </a:rPr>
                        <a:t>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8096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+mn-lt"/>
                        </a:rPr>
                        <a:t>Drug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+mn-lt"/>
                        </a:rPr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+mn-lt"/>
                        </a:rPr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+mn-lt"/>
                        </a:rPr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004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+mn-lt"/>
                        </a:rPr>
                        <a:t>Drug 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+mn-lt"/>
                        </a:rPr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+mn-lt"/>
                        </a:rPr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+mn-lt"/>
                        </a:rPr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406819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11200" y="5428120"/>
            <a:ext cx="10642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This dataset was chosen to illustrate variability across multiple pharmacological dimensions.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303806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Methodology</a:t>
            </a:r>
            <a:endParaRPr 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67657" y="1453760"/>
            <a:ext cx="1068614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following steps were followed:</a:t>
            </a:r>
            <a:endParaRPr kumimoji="0" lang="en-US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4.1 Preparation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Three drug candidates were selected.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Property values were assigned based on plausible biological behavior.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was validated for consistency and plotted using Python’s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matplotlib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111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701" y="1825625"/>
            <a:ext cx="8782598" cy="4351338"/>
          </a:xfrm>
        </p:spPr>
      </p:pic>
    </p:spTree>
    <p:extLst>
      <p:ext uri="{BB962C8B-B14F-4D97-AF65-F5344CB8AC3E}">
        <p14:creationId xmlns:p14="http://schemas.microsoft.com/office/powerpoint/2010/main" val="1261345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Visualization </a:t>
            </a:r>
            <a:r>
              <a:rPr lang="en-US" b="1" dirty="0"/>
              <a:t>Techniques Implemented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4.2 Histogram Plot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Shows distribution of a single property (e.g., efficacy values).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773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701" y="1825625"/>
            <a:ext cx="8782598" cy="4351338"/>
          </a:xfrm>
        </p:spPr>
      </p:pic>
    </p:spTree>
    <p:extLst>
      <p:ext uri="{BB962C8B-B14F-4D97-AF65-F5344CB8AC3E}">
        <p14:creationId xmlns:p14="http://schemas.microsoft.com/office/powerpoint/2010/main" val="258818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Visualization Techniques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Bar Chart</a:t>
            </a:r>
            <a:endParaRPr lang="en-US" dirty="0"/>
          </a:p>
          <a:p>
            <a:r>
              <a:rPr lang="en-US" dirty="0"/>
              <a:t>Provides simple comparisons of categories (e.g., active, moderate, inactive).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355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989" y="1825625"/>
            <a:ext cx="7294022" cy="4351338"/>
          </a:xfrm>
        </p:spPr>
      </p:pic>
    </p:spTree>
    <p:extLst>
      <p:ext uri="{BB962C8B-B14F-4D97-AF65-F5344CB8AC3E}">
        <p14:creationId xmlns:p14="http://schemas.microsoft.com/office/powerpoint/2010/main" val="12024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Visualization Techniques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Stacked Bar Chart</a:t>
            </a:r>
            <a:endParaRPr lang="en-US" dirty="0"/>
          </a:p>
          <a:p>
            <a:r>
              <a:rPr lang="en-US" dirty="0"/>
              <a:t>Displays cumulative property scores per drug.</a:t>
            </a:r>
          </a:p>
          <a:p>
            <a:r>
              <a:rPr lang="en-US" dirty="0"/>
              <a:t>Shows contribution of each property to the total score.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202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989" y="1825625"/>
            <a:ext cx="7294022" cy="4351338"/>
          </a:xfrm>
        </p:spPr>
      </p:pic>
    </p:spTree>
    <p:extLst>
      <p:ext uri="{BB962C8B-B14F-4D97-AF65-F5344CB8AC3E}">
        <p14:creationId xmlns:p14="http://schemas.microsoft.com/office/powerpoint/2010/main" val="361703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Visualization Techniques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Combined Stacked + Grouped Bar Chart</a:t>
            </a:r>
            <a:endParaRPr lang="en-US" dirty="0"/>
          </a:p>
          <a:p>
            <a:r>
              <a:rPr lang="en-US" dirty="0"/>
              <a:t>Shows multi-level comparison (e.g., Train vs Test, Year 1 vs Year 2).</a:t>
            </a:r>
          </a:p>
          <a:p>
            <a:r>
              <a:rPr lang="en-US" dirty="0"/>
              <a:t>Helps analyze how different datasets compare for same drugs.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72457" y="3678128"/>
            <a:ext cx="100729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Visualization was done without specifying colors, to follow the plotting requirements exactly.</a:t>
            </a:r>
          </a:p>
        </p:txBody>
      </p:sp>
    </p:spTree>
    <p:extLst>
      <p:ext uri="{BB962C8B-B14F-4D97-AF65-F5344CB8AC3E}">
        <p14:creationId xmlns:p14="http://schemas.microsoft.com/office/powerpoint/2010/main" val="2511367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701" y="1825625"/>
            <a:ext cx="8782598" cy="4351338"/>
          </a:xfrm>
        </p:spPr>
      </p:pic>
    </p:spTree>
    <p:extLst>
      <p:ext uri="{BB962C8B-B14F-4D97-AF65-F5344CB8AC3E}">
        <p14:creationId xmlns:p14="http://schemas.microsoft.com/office/powerpoint/2010/main" val="3707708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Visualization Outputs &amp;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5.1 Stacked Bar Chart Interpretation</a:t>
            </a:r>
          </a:p>
          <a:p>
            <a:r>
              <a:rPr lang="en-US" dirty="0"/>
              <a:t>The stacked bar chart visualized the total property score for each drug as well as the proportion contributed by efficacy, toxicity, and stability.</a:t>
            </a:r>
          </a:p>
          <a:p>
            <a:r>
              <a:rPr lang="en-US" b="1" dirty="0"/>
              <a:t>Key Observations:</a:t>
            </a:r>
          </a:p>
          <a:p>
            <a:r>
              <a:rPr lang="en-US" b="1" dirty="0"/>
              <a:t>Drug A</a:t>
            </a:r>
            <a:r>
              <a:rPr lang="en-US" dirty="0"/>
              <a:t> shows a balanced profile with moderate efficacy, low toxicity, and moderate stability.</a:t>
            </a:r>
          </a:p>
          <a:p>
            <a:r>
              <a:rPr lang="en-US" b="1" dirty="0"/>
              <a:t>Drug B</a:t>
            </a:r>
            <a:r>
              <a:rPr lang="en-US" dirty="0"/>
              <a:t> has the </a:t>
            </a:r>
            <a:r>
              <a:rPr lang="en-US" b="1" dirty="0"/>
              <a:t>highest efficacy</a:t>
            </a:r>
            <a:r>
              <a:rPr lang="en-US" dirty="0"/>
              <a:t>, making it the strongest therapeutic candidate, but it also has the </a:t>
            </a:r>
            <a:r>
              <a:rPr lang="en-US" b="1" dirty="0"/>
              <a:t>lowest stability</a:t>
            </a:r>
            <a:r>
              <a:rPr lang="en-US" dirty="0"/>
              <a:t>, suggesting the need for reformulation.</a:t>
            </a:r>
          </a:p>
          <a:p>
            <a:r>
              <a:rPr lang="en-US" b="1" dirty="0"/>
              <a:t>Drug C</a:t>
            </a:r>
            <a:r>
              <a:rPr lang="en-US" dirty="0"/>
              <a:t> has the </a:t>
            </a:r>
            <a:r>
              <a:rPr lang="en-US" b="1" dirty="0"/>
              <a:t>highest toxicity</a:t>
            </a:r>
            <a:r>
              <a:rPr lang="en-US" dirty="0"/>
              <a:t>, making safety a concern, despite having reasonable stability.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560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Visualization Outputs &amp;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5.2 Combined Stacked Bar Chart Interpretation</a:t>
            </a:r>
          </a:p>
          <a:p>
            <a:r>
              <a:rPr lang="en-US" dirty="0"/>
              <a:t>This chart compares stacked groups visually—for example comparing two datasets (Train vs Test or Year 1 vs Year 2).</a:t>
            </a:r>
          </a:p>
          <a:p>
            <a:r>
              <a:rPr lang="en-US" b="1" dirty="0"/>
              <a:t>Insights:</a:t>
            </a:r>
          </a:p>
          <a:p>
            <a:r>
              <a:rPr lang="en-US" dirty="0"/>
              <a:t>The grouped bars allow comparison across datasets.</a:t>
            </a:r>
          </a:p>
          <a:p>
            <a:r>
              <a:rPr lang="en-US" dirty="0"/>
              <a:t>The stacked portions show how property contributions differ between sets.</a:t>
            </a:r>
          </a:p>
          <a:p>
            <a:r>
              <a:rPr lang="en-US" dirty="0"/>
              <a:t>Patterns in efficacy, toxicity, and stability across groups become clear immediately.</a:t>
            </a:r>
          </a:p>
          <a:p>
            <a:r>
              <a:rPr lang="en-US" dirty="0"/>
              <a:t>This type of visualization is especially useful when comparing:</a:t>
            </a:r>
          </a:p>
          <a:p>
            <a:r>
              <a:rPr lang="en-US" dirty="0"/>
              <a:t>Model predictions vs. actual experimental results</a:t>
            </a:r>
          </a:p>
          <a:p>
            <a:r>
              <a:rPr lang="en-US" dirty="0"/>
              <a:t>Two different molecular libraries</a:t>
            </a:r>
          </a:p>
          <a:p>
            <a:r>
              <a:rPr lang="en-US" dirty="0"/>
              <a:t>Performance across multiple screening phases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221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Comparative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</a:t>
            </a:r>
            <a:r>
              <a:rPr lang="en-US" dirty="0" smtClean="0"/>
              <a:t>Property </a:t>
            </a:r>
            <a:r>
              <a:rPr lang="en-US" dirty="0"/>
              <a:t>Score Per </a:t>
            </a:r>
            <a:r>
              <a:rPr lang="en-US" dirty="0" smtClean="0"/>
              <a:t>Drug – 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6663273"/>
              </p:ext>
            </p:extLst>
          </p:nvPr>
        </p:nvGraphicFramePr>
        <p:xfrm>
          <a:off x="838200" y="2631146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2494199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618850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b="1"/>
                        <a:t>Drug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/>
                        <a:t>Total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9201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/>
                        <a:t>Drug 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/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662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 dirty="0"/>
                        <a:t>Drug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/>
                        <a:t>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4057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/>
                        <a:t>Drug 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734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4861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Comparative Analysis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Analysis of Totals: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Drug B</a:t>
            </a:r>
            <a:r>
              <a:rPr lang="en-US" dirty="0"/>
              <a:t> has the highest total score but weakest stability.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Drug A</a:t>
            </a:r>
            <a:r>
              <a:rPr lang="en-US" dirty="0"/>
              <a:t> is the most balanced and safest profile overall.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Drug C</a:t>
            </a:r>
            <a:r>
              <a:rPr lang="en-US" dirty="0"/>
              <a:t> requires improvement in toxicity and efficacy to be considered a strong candidate.</a:t>
            </a:r>
          </a:p>
          <a:p>
            <a:r>
              <a:rPr lang="en-US" dirty="0"/>
              <a:t>These insights are essential in early-stage drug discovery to prioritize molecules for further testing.</a:t>
            </a:r>
          </a:p>
        </p:txBody>
      </p:sp>
    </p:spTree>
    <p:extLst>
      <p:ext uri="{BB962C8B-B14F-4D97-AF65-F5344CB8AC3E}">
        <p14:creationId xmlns:p14="http://schemas.microsoft.com/office/powerpoint/2010/main" val="3424675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Key Insights from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✔ </a:t>
            </a:r>
            <a:r>
              <a:rPr lang="en-US" b="1" dirty="0"/>
              <a:t>Visualization helps identify strong and weak candidates quickly.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✔ Combined stacked charts reveal deeper comparative insights than simple graphs.</a:t>
            </a:r>
            <a:br>
              <a:rPr lang="en-US" dirty="0"/>
            </a:br>
            <a:r>
              <a:rPr lang="en-US" dirty="0"/>
              <a:t>✔ Drug A appears the safest, Drug B the most effective, and Drug C the most problematic.</a:t>
            </a:r>
            <a:br>
              <a:rPr lang="en-US" dirty="0"/>
            </a:br>
            <a:r>
              <a:rPr lang="en-US" dirty="0"/>
              <a:t>✔ The techniques implemented here are directly applicable to real QSAR datasets.</a:t>
            </a:r>
          </a:p>
        </p:txBody>
      </p:sp>
    </p:spTree>
    <p:extLst>
      <p:ext uri="{BB962C8B-B14F-4D97-AF65-F5344CB8AC3E}">
        <p14:creationId xmlns:p14="http://schemas.microsoft.com/office/powerpoint/2010/main" val="1826534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Tools </a:t>
            </a:r>
            <a:r>
              <a:rPr lang="en-US" b="1" dirty="0"/>
              <a:t>&amp; Technologies Used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Programming </a:t>
            </a:r>
            <a:r>
              <a:rPr lang="en-US" b="1" dirty="0"/>
              <a:t>Language:</a:t>
            </a:r>
            <a:r>
              <a:rPr lang="en-US" dirty="0"/>
              <a:t> Python</a:t>
            </a:r>
          </a:p>
          <a:p>
            <a:r>
              <a:rPr lang="en-US" b="1" dirty="0"/>
              <a:t>Visualization Library:</a:t>
            </a:r>
            <a:r>
              <a:rPr lang="en-US" dirty="0"/>
              <a:t> </a:t>
            </a:r>
            <a:r>
              <a:rPr lang="en-US" dirty="0" err="1"/>
              <a:t>Matplotlib</a:t>
            </a:r>
            <a:endParaRPr lang="en-US" dirty="0"/>
          </a:p>
          <a:p>
            <a:r>
              <a:rPr lang="en-US" b="1" dirty="0"/>
              <a:t>Data Structures:</a:t>
            </a:r>
            <a:r>
              <a:rPr lang="en-US" dirty="0"/>
              <a:t> </a:t>
            </a:r>
            <a:r>
              <a:rPr lang="en-US" dirty="0" err="1"/>
              <a:t>NumPy</a:t>
            </a:r>
            <a:r>
              <a:rPr lang="en-US" dirty="0"/>
              <a:t> arrays and Python lists</a:t>
            </a:r>
          </a:p>
          <a:p>
            <a:r>
              <a:rPr lang="en-US" b="1" dirty="0"/>
              <a:t>Analysis Approach:</a:t>
            </a:r>
            <a:r>
              <a:rPr lang="en-US" dirty="0"/>
              <a:t> Comparative statistical visualization</a:t>
            </a:r>
          </a:p>
          <a:p>
            <a:r>
              <a:rPr lang="en-US" dirty="0"/>
              <a:t>These tools are widely used in pharmaceutical data analytics and machine learning workflows.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058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This project successfully demonstrates how Python-based data visualization helps in QSAR drug analysis. Stacked and combined stacked bar charts provide powerful insights by allowing simultaneous comparison of multiple drug attributes and multiple datasets.</a:t>
            </a:r>
          </a:p>
          <a:p>
            <a:r>
              <a:rPr lang="en-US" dirty="0"/>
              <a:t>The visual analytics approach used in this project can be extended to:</a:t>
            </a:r>
          </a:p>
          <a:p>
            <a:r>
              <a:rPr lang="en-US" dirty="0"/>
              <a:t>Larger drug datasets</a:t>
            </a:r>
          </a:p>
          <a:p>
            <a:r>
              <a:rPr lang="en-US" dirty="0"/>
              <a:t>Real molecular descriptors</a:t>
            </a:r>
          </a:p>
          <a:p>
            <a:r>
              <a:rPr lang="en-US" dirty="0"/>
              <a:t>Machine learning model outputs</a:t>
            </a:r>
          </a:p>
          <a:p>
            <a:r>
              <a:rPr lang="en-US" dirty="0"/>
              <a:t>Drug toxicity prediction</a:t>
            </a:r>
          </a:p>
          <a:p>
            <a:r>
              <a:rPr lang="en-US" dirty="0"/>
              <a:t>Screening pipeline optimization</a:t>
            </a:r>
          </a:p>
          <a:p>
            <a:r>
              <a:rPr lang="en-US" dirty="0"/>
              <a:t>By integrating these visualization techniques, drug discovery teams can significantly accelerate the early phases of compound selection and optimization.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Optional Deliverables (Available on Request)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can generate the following if needed:</a:t>
            </a:r>
          </a:p>
          <a:p>
            <a:r>
              <a:rPr lang="en-US" dirty="0"/>
              <a:t>📄 </a:t>
            </a:r>
            <a:r>
              <a:rPr lang="en-US" b="1" dirty="0"/>
              <a:t>Full PDF Project Report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📘 </a:t>
            </a:r>
            <a:r>
              <a:rPr lang="en-US" b="1" dirty="0"/>
              <a:t>DOCX Report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📊 </a:t>
            </a:r>
            <a:r>
              <a:rPr lang="en-US" b="1" dirty="0"/>
              <a:t>PowerPoint Presentation (PPT)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📈 More charts: </a:t>
            </a:r>
            <a:r>
              <a:rPr lang="en-US" dirty="0" err="1"/>
              <a:t>heatmaps</a:t>
            </a:r>
            <a:r>
              <a:rPr lang="en-US" dirty="0"/>
              <a:t>, radar charts, PCA plots</a:t>
            </a:r>
            <a:br>
              <a:rPr lang="en-US" dirty="0"/>
            </a:br>
            <a:r>
              <a:rPr lang="en-US" dirty="0"/>
              <a:t>🤖 ML models: QSAR prediction, SVM, Random Forest, ANN</a:t>
            </a:r>
            <a:br>
              <a:rPr lang="en-US" dirty="0"/>
            </a:br>
            <a:r>
              <a:rPr lang="en-US" dirty="0"/>
              <a:t>🧪 Expanded synthetic dataset (100–5000 compounds)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652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905</Words>
  <Application>Microsoft Office PowerPoint</Application>
  <PresentationFormat>Widescreen</PresentationFormat>
  <Paragraphs>130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Arial Unicode MS</vt:lpstr>
      <vt:lpstr>Calibri</vt:lpstr>
      <vt:lpstr>Calibri Light</vt:lpstr>
      <vt:lpstr>CIDFont+F1</vt:lpstr>
      <vt:lpstr>Office Theme</vt:lpstr>
      <vt:lpstr>QSAR Modeling for Predicting Bioactivity of Chemical Compounds</vt:lpstr>
      <vt:lpstr>Google Colab URL</vt:lpstr>
      <vt:lpstr>Introduction</vt:lpstr>
      <vt:lpstr>Project Objectives</vt:lpstr>
      <vt:lpstr>Dataset Description</vt:lpstr>
      <vt:lpstr>Dataset Description</vt:lpstr>
      <vt:lpstr>Methodology</vt:lpstr>
      <vt:lpstr>Data Visualization </vt:lpstr>
      <vt:lpstr> Visualization Techniques Implemented </vt:lpstr>
      <vt:lpstr>Data Visualization </vt:lpstr>
      <vt:lpstr>Visualization Techniques Implemented</vt:lpstr>
      <vt:lpstr>Data Visualization </vt:lpstr>
      <vt:lpstr>Visualization Techniques Implemented</vt:lpstr>
      <vt:lpstr>Data Visualization </vt:lpstr>
      <vt:lpstr>Visualization Techniques Implemented</vt:lpstr>
      <vt:lpstr>Data Visualization </vt:lpstr>
      <vt:lpstr>Visualization Outputs &amp; Interpretation</vt:lpstr>
      <vt:lpstr>Visualization Outputs &amp; Interpretation</vt:lpstr>
      <vt:lpstr>Comparative Analysis</vt:lpstr>
      <vt:lpstr>Comparative Analysis</vt:lpstr>
      <vt:lpstr>Key Insights from the Project</vt:lpstr>
      <vt:lpstr> Tools &amp; Technologies Used </vt:lpstr>
      <vt:lpstr>Conclusion</vt:lpstr>
      <vt:lpstr>Optional Deliverables (Available on Request)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QSAR Modeling for Predicting Bioactivity of Chemical Compounds</dc:title>
  <dc:creator>KUMAR</dc:creator>
  <cp:lastModifiedBy>KUMAR</cp:lastModifiedBy>
  <cp:revision>27</cp:revision>
  <dcterms:created xsi:type="dcterms:W3CDTF">2025-12-10T07:04:48Z</dcterms:created>
  <dcterms:modified xsi:type="dcterms:W3CDTF">2025-12-12T06:43:51Z</dcterms:modified>
</cp:coreProperties>
</file>