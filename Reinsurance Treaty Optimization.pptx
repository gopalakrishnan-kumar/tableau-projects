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5715EDF-7454-4FB2-9582-8482F0617F39}" type="datetimeFigureOut">
              <a:rPr lang="en-US" smtClean="0"/>
              <a:t>3/11/2026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793E873-5EF8-4C7F-B2B6-067CD19F0913}" type="slidenum">
              <a:rPr lang="en-US" smtClean="0"/>
              <a:t>‹#›</a:t>
            </a:fld>
            <a:endParaRPr lang="en-US" dirty="0"/>
          </a:p>
        </p:txBody>
      </p:sp>
    </p:spTree>
    <p:extLst>
      <p:ext uri="{BB962C8B-B14F-4D97-AF65-F5344CB8AC3E}">
        <p14:creationId xmlns:p14="http://schemas.microsoft.com/office/powerpoint/2010/main" val="39791827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5715EDF-7454-4FB2-9582-8482F0617F39}" type="datetimeFigureOut">
              <a:rPr lang="en-US" smtClean="0"/>
              <a:t>3/11/2026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793E873-5EF8-4C7F-B2B6-067CD19F0913}" type="slidenum">
              <a:rPr lang="en-US" smtClean="0"/>
              <a:t>‹#›</a:t>
            </a:fld>
            <a:endParaRPr lang="en-US" dirty="0"/>
          </a:p>
        </p:txBody>
      </p:sp>
    </p:spTree>
    <p:extLst>
      <p:ext uri="{BB962C8B-B14F-4D97-AF65-F5344CB8AC3E}">
        <p14:creationId xmlns:p14="http://schemas.microsoft.com/office/powerpoint/2010/main" val="2562129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5715EDF-7454-4FB2-9582-8482F0617F39}" type="datetimeFigureOut">
              <a:rPr lang="en-US" smtClean="0"/>
              <a:t>3/11/2026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793E873-5EF8-4C7F-B2B6-067CD19F0913}" type="slidenum">
              <a:rPr lang="en-US" smtClean="0"/>
              <a:t>‹#›</a:t>
            </a:fld>
            <a:endParaRPr lang="en-US" dirty="0"/>
          </a:p>
        </p:txBody>
      </p:sp>
    </p:spTree>
    <p:extLst>
      <p:ext uri="{BB962C8B-B14F-4D97-AF65-F5344CB8AC3E}">
        <p14:creationId xmlns:p14="http://schemas.microsoft.com/office/powerpoint/2010/main" val="2681577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5715EDF-7454-4FB2-9582-8482F0617F39}" type="datetimeFigureOut">
              <a:rPr lang="en-US" smtClean="0"/>
              <a:t>3/11/2026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793E873-5EF8-4C7F-B2B6-067CD19F0913}" type="slidenum">
              <a:rPr lang="en-US" smtClean="0"/>
              <a:t>‹#›</a:t>
            </a:fld>
            <a:endParaRPr lang="en-US" dirty="0"/>
          </a:p>
        </p:txBody>
      </p:sp>
    </p:spTree>
    <p:extLst>
      <p:ext uri="{BB962C8B-B14F-4D97-AF65-F5344CB8AC3E}">
        <p14:creationId xmlns:p14="http://schemas.microsoft.com/office/powerpoint/2010/main" val="1471890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5715EDF-7454-4FB2-9582-8482F0617F39}" type="datetimeFigureOut">
              <a:rPr lang="en-US" smtClean="0"/>
              <a:t>3/11/2026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793E873-5EF8-4C7F-B2B6-067CD19F0913}" type="slidenum">
              <a:rPr lang="en-US" smtClean="0"/>
              <a:t>‹#›</a:t>
            </a:fld>
            <a:endParaRPr lang="en-US" dirty="0"/>
          </a:p>
        </p:txBody>
      </p:sp>
    </p:spTree>
    <p:extLst>
      <p:ext uri="{BB962C8B-B14F-4D97-AF65-F5344CB8AC3E}">
        <p14:creationId xmlns:p14="http://schemas.microsoft.com/office/powerpoint/2010/main" val="1419092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5715EDF-7454-4FB2-9582-8482F0617F39}" type="datetimeFigureOut">
              <a:rPr lang="en-US" smtClean="0"/>
              <a:t>3/11/2026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793E873-5EF8-4C7F-B2B6-067CD19F0913}" type="slidenum">
              <a:rPr lang="en-US" smtClean="0"/>
              <a:t>‹#›</a:t>
            </a:fld>
            <a:endParaRPr lang="en-US" dirty="0"/>
          </a:p>
        </p:txBody>
      </p:sp>
    </p:spTree>
    <p:extLst>
      <p:ext uri="{BB962C8B-B14F-4D97-AF65-F5344CB8AC3E}">
        <p14:creationId xmlns:p14="http://schemas.microsoft.com/office/powerpoint/2010/main" val="289195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715EDF-7454-4FB2-9582-8482F0617F39}" type="datetimeFigureOut">
              <a:rPr lang="en-US" smtClean="0"/>
              <a:t>3/11/2026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793E873-5EF8-4C7F-B2B6-067CD19F0913}" type="slidenum">
              <a:rPr lang="en-US" smtClean="0"/>
              <a:t>‹#›</a:t>
            </a:fld>
            <a:endParaRPr lang="en-US" dirty="0"/>
          </a:p>
        </p:txBody>
      </p:sp>
    </p:spTree>
    <p:extLst>
      <p:ext uri="{BB962C8B-B14F-4D97-AF65-F5344CB8AC3E}">
        <p14:creationId xmlns:p14="http://schemas.microsoft.com/office/powerpoint/2010/main" val="1486279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5715EDF-7454-4FB2-9582-8482F0617F39}" type="datetimeFigureOut">
              <a:rPr lang="en-US" smtClean="0"/>
              <a:t>3/11/2026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793E873-5EF8-4C7F-B2B6-067CD19F0913}" type="slidenum">
              <a:rPr lang="en-US" smtClean="0"/>
              <a:t>‹#›</a:t>
            </a:fld>
            <a:endParaRPr lang="en-US" dirty="0"/>
          </a:p>
        </p:txBody>
      </p:sp>
    </p:spTree>
    <p:extLst>
      <p:ext uri="{BB962C8B-B14F-4D97-AF65-F5344CB8AC3E}">
        <p14:creationId xmlns:p14="http://schemas.microsoft.com/office/powerpoint/2010/main" val="12869327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5715EDF-7454-4FB2-9582-8482F0617F39}" type="datetimeFigureOut">
              <a:rPr lang="en-US" smtClean="0"/>
              <a:t>3/11/2026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793E873-5EF8-4C7F-B2B6-067CD19F0913}" type="slidenum">
              <a:rPr lang="en-US" smtClean="0"/>
              <a:t>‹#›</a:t>
            </a:fld>
            <a:endParaRPr lang="en-US" dirty="0"/>
          </a:p>
        </p:txBody>
      </p:sp>
    </p:spTree>
    <p:extLst>
      <p:ext uri="{BB962C8B-B14F-4D97-AF65-F5344CB8AC3E}">
        <p14:creationId xmlns:p14="http://schemas.microsoft.com/office/powerpoint/2010/main" val="2204449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5715EDF-7454-4FB2-9582-8482F0617F39}" type="datetimeFigureOut">
              <a:rPr lang="en-US" smtClean="0"/>
              <a:t>3/11/2026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793E873-5EF8-4C7F-B2B6-067CD19F0913}" type="slidenum">
              <a:rPr lang="en-US" smtClean="0"/>
              <a:t>‹#›</a:t>
            </a:fld>
            <a:endParaRPr lang="en-US" dirty="0"/>
          </a:p>
        </p:txBody>
      </p:sp>
    </p:spTree>
    <p:extLst>
      <p:ext uri="{BB962C8B-B14F-4D97-AF65-F5344CB8AC3E}">
        <p14:creationId xmlns:p14="http://schemas.microsoft.com/office/powerpoint/2010/main" val="1155930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5715EDF-7454-4FB2-9582-8482F0617F39}" type="datetimeFigureOut">
              <a:rPr lang="en-US" smtClean="0"/>
              <a:t>3/11/2026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793E873-5EF8-4C7F-B2B6-067CD19F0913}" type="slidenum">
              <a:rPr lang="en-US" smtClean="0"/>
              <a:t>‹#›</a:t>
            </a:fld>
            <a:endParaRPr lang="en-US" dirty="0"/>
          </a:p>
        </p:txBody>
      </p:sp>
    </p:spTree>
    <p:extLst>
      <p:ext uri="{BB962C8B-B14F-4D97-AF65-F5344CB8AC3E}">
        <p14:creationId xmlns:p14="http://schemas.microsoft.com/office/powerpoint/2010/main" val="692672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715EDF-7454-4FB2-9582-8482F0617F39}" type="datetimeFigureOut">
              <a:rPr lang="en-US" smtClean="0"/>
              <a:t>3/11/2026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93E873-5EF8-4C7F-B2B6-067CD19F0913}" type="slidenum">
              <a:rPr lang="en-US" smtClean="0"/>
              <a:t>‹#›</a:t>
            </a:fld>
            <a:endParaRPr lang="en-US" dirty="0"/>
          </a:p>
        </p:txBody>
      </p:sp>
    </p:spTree>
    <p:extLst>
      <p:ext uri="{BB962C8B-B14F-4D97-AF65-F5344CB8AC3E}">
        <p14:creationId xmlns:p14="http://schemas.microsoft.com/office/powerpoint/2010/main" val="32103488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github.com/Gopalakrishnan-Kumar/" TargetMode="External"/><Relationship Id="rId2" Type="http://schemas.openxmlformats.org/officeDocument/2006/relationships/hyperlink" Target="https://www.linkedin.com/in/gopalakrishnankumar-a73301110/" TargetMode="External"/><Relationship Id="rId1" Type="http://schemas.openxmlformats.org/officeDocument/2006/relationships/slideLayout" Target="../slideLayouts/slideLayout1.xml"/><Relationship Id="rId4" Type="http://schemas.openxmlformats.org/officeDocument/2006/relationships/hyperlink" Target="https://www.kaggle.com/gopalkk2" TargetMode="External"/></Relationships>
</file>

<file path=ppt/slides/_rels/slide2.xml.rels><?xml version="1.0" encoding="UTF-8" standalone="yes"?>
<Relationships xmlns="http://schemas.openxmlformats.org/package/2006/relationships"><Relationship Id="rId2" Type="http://schemas.openxmlformats.org/officeDocument/2006/relationships/hyperlink" Target="https://colab.research.google.com/drive/1NMCccGMU1BgOhefqUnxhKot1huIQAIG_?usp=shar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Reinsurance Treaty Optimization</a:t>
            </a:r>
            <a:endParaRPr lang="en-US" b="1" dirty="0"/>
          </a:p>
        </p:txBody>
      </p:sp>
      <p:sp>
        <p:nvSpPr>
          <p:cNvPr id="4" name="Subtitle 2"/>
          <p:cNvSpPr>
            <a:spLocks noGrp="1"/>
          </p:cNvSpPr>
          <p:nvPr>
            <p:ph type="subTitle" idx="1"/>
          </p:nvPr>
        </p:nvSpPr>
        <p:spPr>
          <a:xfrm>
            <a:off x="1524000" y="3572308"/>
            <a:ext cx="9144000" cy="1655762"/>
          </a:xfrm>
        </p:spPr>
        <p:txBody>
          <a:bodyPr/>
          <a:lstStyle/>
          <a:p>
            <a:r>
              <a:rPr lang="en-US" b="1" dirty="0" smtClean="0"/>
              <a:t>By </a:t>
            </a:r>
            <a:r>
              <a:rPr lang="en-US" b="1" dirty="0" err="1" smtClean="0"/>
              <a:t>Gopalakrishnan</a:t>
            </a:r>
            <a:r>
              <a:rPr lang="en-US" b="1" dirty="0" smtClean="0"/>
              <a:t> Kumar, </a:t>
            </a:r>
            <a:r>
              <a:rPr lang="en-US" b="1" dirty="0" err="1" smtClean="0"/>
              <a:t>MTech</a:t>
            </a:r>
            <a:r>
              <a:rPr lang="en-US" b="1" dirty="0" smtClean="0"/>
              <a:t> IIT-Bombay,</a:t>
            </a:r>
          </a:p>
          <a:p>
            <a:r>
              <a:rPr lang="en-US" b="1" dirty="0" smtClean="0"/>
              <a:t>Freelance Data Science Consultant</a:t>
            </a:r>
          </a:p>
          <a:p>
            <a:endParaRPr lang="en-US" dirty="0"/>
          </a:p>
        </p:txBody>
      </p:sp>
      <p:sp>
        <p:nvSpPr>
          <p:cNvPr id="5" name="Rectangle 4"/>
          <p:cNvSpPr/>
          <p:nvPr/>
        </p:nvSpPr>
        <p:spPr>
          <a:xfrm>
            <a:off x="2355273" y="4519136"/>
            <a:ext cx="6096000" cy="1477328"/>
          </a:xfrm>
          <a:prstGeom prst="rect">
            <a:avLst/>
          </a:prstGeom>
        </p:spPr>
        <p:txBody>
          <a:bodyPr>
            <a:spAutoFit/>
          </a:bodyPr>
          <a:lstStyle/>
          <a:p>
            <a:r>
              <a:rPr lang="en-US" dirty="0" smtClean="0">
                <a:solidFill>
                  <a:srgbClr val="0D0D0D"/>
                </a:solidFill>
                <a:latin typeface="CIDFont+F1"/>
              </a:rPr>
              <a:t>LinkedIn: Profile Link : </a:t>
            </a:r>
            <a:r>
              <a:rPr lang="en-US" dirty="0" smtClean="0">
                <a:solidFill>
                  <a:srgbClr val="0D0D0D"/>
                </a:solidFill>
                <a:latin typeface="CIDFont+F1"/>
                <a:hlinkClick r:id="rId2"/>
              </a:rPr>
              <a:t>https://www.linkedin.com/in/gopalakrishnankumar-a73301110/</a:t>
            </a:r>
            <a:endParaRPr lang="en-US" dirty="0" smtClean="0">
              <a:solidFill>
                <a:srgbClr val="0D0D0D"/>
              </a:solidFill>
              <a:latin typeface="CIDFont+F1"/>
            </a:endParaRPr>
          </a:p>
          <a:p>
            <a:endParaRPr lang="en-US" dirty="0" smtClean="0">
              <a:solidFill>
                <a:srgbClr val="0D0D0D"/>
              </a:solidFill>
              <a:latin typeface="CIDFont+F1"/>
            </a:endParaRPr>
          </a:p>
          <a:p>
            <a:r>
              <a:rPr lang="en-US" dirty="0" err="1" smtClean="0">
                <a:solidFill>
                  <a:srgbClr val="0D0D0D"/>
                </a:solidFill>
                <a:latin typeface="CIDFont+F1"/>
              </a:rPr>
              <a:t>Github:</a:t>
            </a:r>
            <a:r>
              <a:rPr lang="en-US" dirty="0" err="1" smtClean="0">
                <a:solidFill>
                  <a:srgbClr val="0D0D0D"/>
                </a:solidFill>
                <a:latin typeface="CIDFont+F1"/>
                <a:hlinkClick r:id="rId3"/>
              </a:rPr>
              <a:t>https</a:t>
            </a:r>
            <a:r>
              <a:rPr lang="en-US" dirty="0" smtClean="0">
                <a:solidFill>
                  <a:srgbClr val="0D0D0D"/>
                </a:solidFill>
                <a:latin typeface="CIDFont+F1"/>
                <a:hlinkClick r:id="rId3"/>
              </a:rPr>
              <a:t>://www.github.com/Gopalakrishnan-Kumar/</a:t>
            </a:r>
            <a:endParaRPr lang="en-US" dirty="0" smtClean="0">
              <a:solidFill>
                <a:srgbClr val="0D0D0D"/>
              </a:solidFill>
              <a:latin typeface="CIDFont+F1"/>
            </a:endParaRPr>
          </a:p>
        </p:txBody>
      </p:sp>
      <p:sp>
        <p:nvSpPr>
          <p:cNvPr id="6" name="TextBox 5"/>
          <p:cNvSpPr txBox="1"/>
          <p:nvPr/>
        </p:nvSpPr>
        <p:spPr>
          <a:xfrm>
            <a:off x="2355273" y="6065737"/>
            <a:ext cx="6150280" cy="707886"/>
          </a:xfrm>
          <a:prstGeom prst="rect">
            <a:avLst/>
          </a:prstGeom>
          <a:noFill/>
        </p:spPr>
        <p:txBody>
          <a:bodyPr wrap="square" rtlCol="0">
            <a:spAutoFit/>
          </a:bodyPr>
          <a:lstStyle/>
          <a:p>
            <a:r>
              <a:rPr lang="en-US" sz="2000" dirty="0" err="1" smtClean="0"/>
              <a:t>Kaggle</a:t>
            </a:r>
            <a:r>
              <a:rPr lang="en-US" sz="2000" dirty="0" smtClean="0"/>
              <a:t> URL- </a:t>
            </a:r>
            <a:r>
              <a:rPr lang="en-US" sz="2000" dirty="0" smtClean="0">
                <a:hlinkClick r:id="rId4"/>
              </a:rPr>
              <a:t>https://www.kaggle.com/gopalkk2</a:t>
            </a:r>
            <a:endParaRPr lang="en-US" sz="2000" dirty="0" smtClean="0"/>
          </a:p>
          <a:p>
            <a:endParaRPr lang="en-US" sz="2000" dirty="0"/>
          </a:p>
        </p:txBody>
      </p:sp>
    </p:spTree>
    <p:extLst>
      <p:ext uri="{BB962C8B-B14F-4D97-AF65-F5344CB8AC3E}">
        <p14:creationId xmlns:p14="http://schemas.microsoft.com/office/powerpoint/2010/main" val="2657275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Google Colab URL</a:t>
            </a:r>
            <a:endParaRPr lang="en-US" b="1" dirty="0"/>
          </a:p>
        </p:txBody>
      </p:sp>
      <p:sp>
        <p:nvSpPr>
          <p:cNvPr id="3" name="Content Placeholder 2"/>
          <p:cNvSpPr>
            <a:spLocks noGrp="1"/>
          </p:cNvSpPr>
          <p:nvPr>
            <p:ph idx="1"/>
          </p:nvPr>
        </p:nvSpPr>
        <p:spPr/>
        <p:txBody>
          <a:bodyPr/>
          <a:lstStyle/>
          <a:p>
            <a:r>
              <a:rPr lang="en-US" dirty="0">
                <a:hlinkClick r:id="rId2"/>
              </a:rPr>
              <a:t>https://colab.research.google.com/drive/1NMCccGMU1BgOhefqUnxhKot1huIQAIG_?</a:t>
            </a:r>
            <a:r>
              <a:rPr lang="en-US" dirty="0" smtClean="0">
                <a:hlinkClick r:id="rId2"/>
              </a:rPr>
              <a:t>usp=sharing</a:t>
            </a:r>
            <a:endParaRPr lang="en-US" dirty="0" smtClean="0"/>
          </a:p>
          <a:p>
            <a:endParaRPr lang="en-US" dirty="0"/>
          </a:p>
        </p:txBody>
      </p:sp>
    </p:spTree>
    <p:extLst>
      <p:ext uri="{BB962C8B-B14F-4D97-AF65-F5344CB8AC3E}">
        <p14:creationId xmlns:p14="http://schemas.microsoft.com/office/powerpoint/2010/main" val="1527561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Introduction</a:t>
            </a:r>
          </a:p>
        </p:txBody>
      </p:sp>
      <p:sp>
        <p:nvSpPr>
          <p:cNvPr id="3" name="Content Placeholder 2"/>
          <p:cNvSpPr>
            <a:spLocks noGrp="1"/>
          </p:cNvSpPr>
          <p:nvPr>
            <p:ph idx="1"/>
          </p:nvPr>
        </p:nvSpPr>
        <p:spPr/>
        <p:txBody>
          <a:bodyPr>
            <a:normAutofit fontScale="92500"/>
          </a:bodyPr>
          <a:lstStyle/>
          <a:p>
            <a:r>
              <a:rPr lang="en-US" dirty="0"/>
              <a:t>The insurance industry operates under significant uncertainty due to the unpredictable nature of risk events such as natural disasters, accidents, and economic disruptions. Large insurance losses can threaten the financial stability of insurers if they are not properly managed. To mitigate these risks, insurers rely on </a:t>
            </a:r>
            <a:r>
              <a:rPr lang="en-US" b="1" dirty="0"/>
              <a:t>reinsurance</a:t>
            </a:r>
            <a:r>
              <a:rPr lang="en-US" dirty="0"/>
              <a:t>, a mechanism that transfers a portion of the insurer's risk to another insurance company known as the reinsurer</a:t>
            </a:r>
            <a:r>
              <a:rPr lang="en-US" dirty="0" smtClean="0"/>
              <a:t>.</a:t>
            </a:r>
          </a:p>
          <a:p>
            <a:r>
              <a:rPr lang="en-US" dirty="0"/>
              <a:t>Reinsurance treaties play a critical role in protecting insurers from catastrophic losses while enabling them to maintain solvency and capital adequacy. One of the most commonly used forms of reinsurance is </a:t>
            </a:r>
            <a:r>
              <a:rPr lang="en-US" b="1" dirty="0"/>
              <a:t>excess-of-loss reinsurance</a:t>
            </a:r>
            <a:r>
              <a:rPr lang="en-US" dirty="0"/>
              <a:t>, where the insurer retains losses up to a predefined retention limit and transfers the remaining loss to the reinsurer.</a:t>
            </a:r>
          </a:p>
        </p:txBody>
      </p:sp>
    </p:spTree>
    <p:extLst>
      <p:ext uri="{BB962C8B-B14F-4D97-AF65-F5344CB8AC3E}">
        <p14:creationId xmlns:p14="http://schemas.microsoft.com/office/powerpoint/2010/main" val="736064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Introduction</a:t>
            </a:r>
          </a:p>
        </p:txBody>
      </p:sp>
      <p:sp>
        <p:nvSpPr>
          <p:cNvPr id="3" name="Content Placeholder 2"/>
          <p:cNvSpPr>
            <a:spLocks noGrp="1"/>
          </p:cNvSpPr>
          <p:nvPr>
            <p:ph idx="1"/>
          </p:nvPr>
        </p:nvSpPr>
        <p:spPr/>
        <p:txBody>
          <a:bodyPr/>
          <a:lstStyle/>
          <a:p>
            <a:r>
              <a:rPr lang="en-US" dirty="0"/>
              <a:t>The purpose of this project is to develop a </a:t>
            </a:r>
            <a:r>
              <a:rPr lang="en-US" b="1" dirty="0"/>
              <a:t>data-driven framework for reinsurance treaty optimization</a:t>
            </a:r>
            <a:r>
              <a:rPr lang="en-US" dirty="0"/>
              <a:t> using Python-based analytics and visualization techniques. By simulating insurance loss distributions and applying reinsurance structures, the study evaluates how losses are distributed between the insurer and reinsurer.</a:t>
            </a:r>
          </a:p>
          <a:p>
            <a:r>
              <a:rPr lang="en-US" dirty="0"/>
              <a:t>The analysis includes multiple visualization techniques such as </a:t>
            </a:r>
            <a:r>
              <a:rPr lang="en-US" b="1" dirty="0"/>
              <a:t>histograms, bar charts, stacked bar charts, and combined stacked bar charts</a:t>
            </a:r>
            <a:r>
              <a:rPr lang="en-US" dirty="0"/>
              <a:t> to provide insights into loss distribution, regional risk concentration, and the effectiveness of reinsurance treaties.</a:t>
            </a:r>
          </a:p>
          <a:p>
            <a:endParaRPr lang="en-US" dirty="0"/>
          </a:p>
        </p:txBody>
      </p:sp>
    </p:spTree>
    <p:extLst>
      <p:ext uri="{BB962C8B-B14F-4D97-AF65-F5344CB8AC3E}">
        <p14:creationId xmlns:p14="http://schemas.microsoft.com/office/powerpoint/2010/main" val="653562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Objectives of the Study</a:t>
            </a:r>
          </a:p>
        </p:txBody>
      </p:sp>
      <p:sp>
        <p:nvSpPr>
          <p:cNvPr id="3" name="Content Placeholder 2"/>
          <p:cNvSpPr>
            <a:spLocks noGrp="1"/>
          </p:cNvSpPr>
          <p:nvPr>
            <p:ph idx="1"/>
          </p:nvPr>
        </p:nvSpPr>
        <p:spPr/>
        <p:txBody>
          <a:bodyPr/>
          <a:lstStyle/>
          <a:p>
            <a:r>
              <a:rPr lang="en-US" dirty="0"/>
              <a:t>The key objectives of this project are:</a:t>
            </a:r>
          </a:p>
          <a:p>
            <a:r>
              <a:rPr lang="en-US" dirty="0"/>
              <a:t>To simulate insurance loss distributions using statistical modeling techniques.</a:t>
            </a:r>
          </a:p>
          <a:p>
            <a:r>
              <a:rPr lang="en-US" dirty="0"/>
              <a:t>To analyze how losses vary across different geographic regions.</a:t>
            </a:r>
          </a:p>
          <a:p>
            <a:r>
              <a:rPr lang="en-US" dirty="0"/>
              <a:t>To implement an </a:t>
            </a:r>
            <a:r>
              <a:rPr lang="en-US" b="1" dirty="0"/>
              <a:t>excess-of-loss reinsurance treaty structure</a:t>
            </a:r>
            <a:r>
              <a:rPr lang="en-US" dirty="0"/>
              <a:t>.</a:t>
            </a:r>
          </a:p>
          <a:p>
            <a:r>
              <a:rPr lang="en-US" dirty="0"/>
              <a:t>To evaluate the distribution of retained and ceded losses.</a:t>
            </a:r>
          </a:p>
          <a:p>
            <a:r>
              <a:rPr lang="en-US" dirty="0"/>
              <a:t>To visualize insurance portfolio risk using advanced data visualization techniques.</a:t>
            </a:r>
          </a:p>
          <a:p>
            <a:endParaRPr lang="en-US" dirty="0"/>
          </a:p>
        </p:txBody>
      </p:sp>
    </p:spTree>
    <p:extLst>
      <p:ext uri="{BB962C8B-B14F-4D97-AF65-F5344CB8AC3E}">
        <p14:creationId xmlns:p14="http://schemas.microsoft.com/office/powerpoint/2010/main" val="1505559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Dataset Description</a:t>
            </a:r>
          </a:p>
        </p:txBody>
      </p:sp>
      <p:sp>
        <p:nvSpPr>
          <p:cNvPr id="3" name="Content Placeholder 2"/>
          <p:cNvSpPr>
            <a:spLocks noGrp="1"/>
          </p:cNvSpPr>
          <p:nvPr>
            <p:ph idx="1"/>
          </p:nvPr>
        </p:nvSpPr>
        <p:spPr/>
        <p:txBody>
          <a:bodyPr/>
          <a:lstStyle/>
          <a:p>
            <a:r>
              <a:rPr lang="en-US" dirty="0"/>
              <a:t>The dataset used in this project is a </a:t>
            </a:r>
            <a:r>
              <a:rPr lang="en-US" b="1" dirty="0"/>
              <a:t>synthetic insurance loss dataset</a:t>
            </a:r>
            <a:r>
              <a:rPr lang="en-US" dirty="0"/>
              <a:t> created using Python simulation techniques. The dataset represents a portfolio of </a:t>
            </a:r>
            <a:r>
              <a:rPr lang="en-US" b="1" dirty="0"/>
              <a:t>1000 insurance policies</a:t>
            </a:r>
            <a:r>
              <a:rPr lang="en-US" dirty="0"/>
              <a:t> distributed across multiple regions</a:t>
            </a:r>
            <a:r>
              <a:rPr lang="en-US" dirty="0" smtClean="0"/>
              <a:t>.</a:t>
            </a:r>
          </a:p>
        </p:txBody>
      </p:sp>
      <p:graphicFrame>
        <p:nvGraphicFramePr>
          <p:cNvPr id="4" name="Table 3"/>
          <p:cNvGraphicFramePr>
            <a:graphicFrameLocks noGrp="1"/>
          </p:cNvGraphicFramePr>
          <p:nvPr>
            <p:extLst>
              <p:ext uri="{D42A27DB-BD31-4B8C-83A1-F6EECF244321}">
                <p14:modId xmlns:p14="http://schemas.microsoft.com/office/powerpoint/2010/main" val="467631456"/>
              </p:ext>
            </p:extLst>
          </p:nvPr>
        </p:nvGraphicFramePr>
        <p:xfrm>
          <a:off x="727364" y="4117340"/>
          <a:ext cx="10515600" cy="2194560"/>
        </p:xfrm>
        <a:graphic>
          <a:graphicData uri="http://schemas.openxmlformats.org/drawingml/2006/table">
            <a:tbl>
              <a:tblPr/>
              <a:tblGrid>
                <a:gridCol w="5257800">
                  <a:extLst>
                    <a:ext uri="{9D8B030D-6E8A-4147-A177-3AD203B41FA5}">
                      <a16:colId xmlns:a16="http://schemas.microsoft.com/office/drawing/2014/main" val="1407309197"/>
                    </a:ext>
                  </a:extLst>
                </a:gridCol>
                <a:gridCol w="5257800">
                  <a:extLst>
                    <a:ext uri="{9D8B030D-6E8A-4147-A177-3AD203B41FA5}">
                      <a16:colId xmlns:a16="http://schemas.microsoft.com/office/drawing/2014/main" val="4292500711"/>
                    </a:ext>
                  </a:extLst>
                </a:gridCol>
              </a:tblGrid>
              <a:tr h="0">
                <a:tc>
                  <a:txBody>
                    <a:bodyPr/>
                    <a:lstStyle/>
                    <a:p>
                      <a:r>
                        <a:rPr lang="en-US" b="1" dirty="0"/>
                        <a:t>Variable</a:t>
                      </a:r>
                    </a:p>
                  </a:txBody>
                  <a:tcPr anchor="ctr">
                    <a:lnL>
                      <a:noFill/>
                    </a:lnL>
                    <a:lnR>
                      <a:noFill/>
                    </a:lnR>
                    <a:lnT>
                      <a:noFill/>
                    </a:lnT>
                    <a:lnB>
                      <a:noFill/>
                    </a:lnB>
                  </a:tcPr>
                </a:tc>
                <a:tc>
                  <a:txBody>
                    <a:bodyPr/>
                    <a:lstStyle/>
                    <a:p>
                      <a:r>
                        <a:rPr lang="en-US" b="1"/>
                        <a:t>Description</a:t>
                      </a:r>
                    </a:p>
                  </a:txBody>
                  <a:tcPr anchor="ctr">
                    <a:lnL>
                      <a:noFill/>
                    </a:lnL>
                    <a:lnR>
                      <a:noFill/>
                    </a:lnR>
                    <a:lnT>
                      <a:noFill/>
                    </a:lnT>
                    <a:lnB>
                      <a:noFill/>
                    </a:lnB>
                  </a:tcPr>
                </a:tc>
                <a:extLst>
                  <a:ext uri="{0D108BD9-81ED-4DB2-BD59-A6C34878D82A}">
                    <a16:rowId xmlns:a16="http://schemas.microsoft.com/office/drawing/2014/main" val="2601566398"/>
                  </a:ext>
                </a:extLst>
              </a:tr>
              <a:tr h="0">
                <a:tc>
                  <a:txBody>
                    <a:bodyPr/>
                    <a:lstStyle/>
                    <a:p>
                      <a:r>
                        <a:rPr lang="en-US" b="1" dirty="0"/>
                        <a:t>Policy ID</a:t>
                      </a:r>
                    </a:p>
                  </a:txBody>
                  <a:tcPr anchor="ctr">
                    <a:lnL>
                      <a:noFill/>
                    </a:lnL>
                    <a:lnR>
                      <a:noFill/>
                    </a:lnR>
                    <a:lnT>
                      <a:noFill/>
                    </a:lnT>
                    <a:lnB>
                      <a:noFill/>
                    </a:lnB>
                  </a:tcPr>
                </a:tc>
                <a:tc>
                  <a:txBody>
                    <a:bodyPr/>
                    <a:lstStyle/>
                    <a:p>
                      <a:r>
                        <a:rPr lang="en-US" b="1"/>
                        <a:t>Unique identifier for each insurance policy</a:t>
                      </a:r>
                    </a:p>
                  </a:txBody>
                  <a:tcPr anchor="ctr">
                    <a:lnL>
                      <a:noFill/>
                    </a:lnL>
                    <a:lnR>
                      <a:noFill/>
                    </a:lnR>
                    <a:lnT>
                      <a:noFill/>
                    </a:lnT>
                    <a:lnB>
                      <a:noFill/>
                    </a:lnB>
                  </a:tcPr>
                </a:tc>
                <a:extLst>
                  <a:ext uri="{0D108BD9-81ED-4DB2-BD59-A6C34878D82A}">
                    <a16:rowId xmlns:a16="http://schemas.microsoft.com/office/drawing/2014/main" val="3035340987"/>
                  </a:ext>
                </a:extLst>
              </a:tr>
              <a:tr h="0">
                <a:tc>
                  <a:txBody>
                    <a:bodyPr/>
                    <a:lstStyle/>
                    <a:p>
                      <a:r>
                        <a:rPr lang="en-US" b="1"/>
                        <a:t>Region</a:t>
                      </a:r>
                    </a:p>
                  </a:txBody>
                  <a:tcPr anchor="ctr">
                    <a:lnL>
                      <a:noFill/>
                    </a:lnL>
                    <a:lnR>
                      <a:noFill/>
                    </a:lnR>
                    <a:lnT>
                      <a:noFill/>
                    </a:lnT>
                    <a:lnB>
                      <a:noFill/>
                    </a:lnB>
                  </a:tcPr>
                </a:tc>
                <a:tc>
                  <a:txBody>
                    <a:bodyPr/>
                    <a:lstStyle/>
                    <a:p>
                      <a:r>
                        <a:rPr lang="en-US" b="1"/>
                        <a:t>Geographic region where the policyholder resides</a:t>
                      </a:r>
                    </a:p>
                  </a:txBody>
                  <a:tcPr anchor="ctr">
                    <a:lnL>
                      <a:noFill/>
                    </a:lnL>
                    <a:lnR>
                      <a:noFill/>
                    </a:lnR>
                    <a:lnT>
                      <a:noFill/>
                    </a:lnT>
                    <a:lnB>
                      <a:noFill/>
                    </a:lnB>
                  </a:tcPr>
                </a:tc>
                <a:extLst>
                  <a:ext uri="{0D108BD9-81ED-4DB2-BD59-A6C34878D82A}">
                    <a16:rowId xmlns:a16="http://schemas.microsoft.com/office/drawing/2014/main" val="2836503015"/>
                  </a:ext>
                </a:extLst>
              </a:tr>
              <a:tr h="0">
                <a:tc>
                  <a:txBody>
                    <a:bodyPr/>
                    <a:lstStyle/>
                    <a:p>
                      <a:r>
                        <a:rPr lang="en-US" b="1"/>
                        <a:t>Loss Amount</a:t>
                      </a:r>
                    </a:p>
                  </a:txBody>
                  <a:tcPr anchor="ctr">
                    <a:lnL>
                      <a:noFill/>
                    </a:lnL>
                    <a:lnR>
                      <a:noFill/>
                    </a:lnR>
                    <a:lnT>
                      <a:noFill/>
                    </a:lnT>
                    <a:lnB>
                      <a:noFill/>
                    </a:lnB>
                  </a:tcPr>
                </a:tc>
                <a:tc>
                  <a:txBody>
                    <a:bodyPr/>
                    <a:lstStyle/>
                    <a:p>
                      <a:r>
                        <a:rPr lang="en-US" b="1"/>
                        <a:t>Total loss incurred from an insurance claim</a:t>
                      </a:r>
                    </a:p>
                  </a:txBody>
                  <a:tcPr anchor="ctr">
                    <a:lnL>
                      <a:noFill/>
                    </a:lnL>
                    <a:lnR>
                      <a:noFill/>
                    </a:lnR>
                    <a:lnT>
                      <a:noFill/>
                    </a:lnT>
                    <a:lnB>
                      <a:noFill/>
                    </a:lnB>
                  </a:tcPr>
                </a:tc>
                <a:extLst>
                  <a:ext uri="{0D108BD9-81ED-4DB2-BD59-A6C34878D82A}">
                    <a16:rowId xmlns:a16="http://schemas.microsoft.com/office/drawing/2014/main" val="3068553385"/>
                  </a:ext>
                </a:extLst>
              </a:tr>
              <a:tr h="0">
                <a:tc>
                  <a:txBody>
                    <a:bodyPr/>
                    <a:lstStyle/>
                    <a:p>
                      <a:r>
                        <a:rPr lang="en-US" b="1"/>
                        <a:t>Insurer Retained Loss</a:t>
                      </a:r>
                    </a:p>
                  </a:txBody>
                  <a:tcPr anchor="ctr">
                    <a:lnL>
                      <a:noFill/>
                    </a:lnL>
                    <a:lnR>
                      <a:noFill/>
                    </a:lnR>
                    <a:lnT>
                      <a:noFill/>
                    </a:lnT>
                    <a:lnB>
                      <a:noFill/>
                    </a:lnB>
                  </a:tcPr>
                </a:tc>
                <a:tc>
                  <a:txBody>
                    <a:bodyPr/>
                    <a:lstStyle/>
                    <a:p>
                      <a:r>
                        <a:rPr lang="en-US" b="1"/>
                        <a:t>Portion of loss retained by the insurer</a:t>
                      </a:r>
                    </a:p>
                  </a:txBody>
                  <a:tcPr anchor="ctr">
                    <a:lnL>
                      <a:noFill/>
                    </a:lnL>
                    <a:lnR>
                      <a:noFill/>
                    </a:lnR>
                    <a:lnT>
                      <a:noFill/>
                    </a:lnT>
                    <a:lnB>
                      <a:noFill/>
                    </a:lnB>
                  </a:tcPr>
                </a:tc>
                <a:extLst>
                  <a:ext uri="{0D108BD9-81ED-4DB2-BD59-A6C34878D82A}">
                    <a16:rowId xmlns:a16="http://schemas.microsoft.com/office/drawing/2014/main" val="3877294748"/>
                  </a:ext>
                </a:extLst>
              </a:tr>
              <a:tr h="0">
                <a:tc>
                  <a:txBody>
                    <a:bodyPr/>
                    <a:lstStyle/>
                    <a:p>
                      <a:r>
                        <a:rPr lang="en-US" b="1"/>
                        <a:t>Reinsurer Ceded Loss</a:t>
                      </a:r>
                    </a:p>
                  </a:txBody>
                  <a:tcPr anchor="ctr">
                    <a:lnL>
                      <a:noFill/>
                    </a:lnL>
                    <a:lnR>
                      <a:noFill/>
                    </a:lnR>
                    <a:lnT>
                      <a:noFill/>
                    </a:lnT>
                    <a:lnB>
                      <a:noFill/>
                    </a:lnB>
                  </a:tcPr>
                </a:tc>
                <a:tc>
                  <a:txBody>
                    <a:bodyPr/>
                    <a:lstStyle/>
                    <a:p>
                      <a:r>
                        <a:rPr lang="en-US" b="1" dirty="0"/>
                        <a:t>Portion of loss transferred to the reinsurer</a:t>
                      </a:r>
                    </a:p>
                  </a:txBody>
                  <a:tcPr anchor="ctr">
                    <a:lnL>
                      <a:noFill/>
                    </a:lnL>
                    <a:lnR>
                      <a:noFill/>
                    </a:lnR>
                    <a:lnT>
                      <a:noFill/>
                    </a:lnT>
                    <a:lnB>
                      <a:noFill/>
                    </a:lnB>
                  </a:tcPr>
                </a:tc>
                <a:extLst>
                  <a:ext uri="{0D108BD9-81ED-4DB2-BD59-A6C34878D82A}">
                    <a16:rowId xmlns:a16="http://schemas.microsoft.com/office/drawing/2014/main" val="2103646385"/>
                  </a:ext>
                </a:extLst>
              </a:tr>
            </a:tbl>
          </a:graphicData>
        </a:graphic>
      </p:graphicFrame>
      <p:sp>
        <p:nvSpPr>
          <p:cNvPr id="5" name="Rectangle 4"/>
          <p:cNvSpPr/>
          <p:nvPr/>
        </p:nvSpPr>
        <p:spPr>
          <a:xfrm>
            <a:off x="727364" y="3495874"/>
            <a:ext cx="1888850" cy="461665"/>
          </a:xfrm>
          <a:prstGeom prst="rect">
            <a:avLst/>
          </a:prstGeom>
        </p:spPr>
        <p:txBody>
          <a:bodyPr wrap="none">
            <a:spAutoFit/>
          </a:bodyPr>
          <a:lstStyle/>
          <a:p>
            <a:r>
              <a:rPr lang="en-US" sz="2400" b="1" dirty="0"/>
              <a:t>Key Variables</a:t>
            </a:r>
          </a:p>
        </p:txBody>
      </p:sp>
    </p:spTree>
    <p:extLst>
      <p:ext uri="{BB962C8B-B14F-4D97-AF65-F5344CB8AC3E}">
        <p14:creationId xmlns:p14="http://schemas.microsoft.com/office/powerpoint/2010/main" val="19893367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Dataset Description</a:t>
            </a:r>
          </a:p>
        </p:txBody>
      </p:sp>
      <p:sp>
        <p:nvSpPr>
          <p:cNvPr id="3" name="Content Placeholder 2"/>
          <p:cNvSpPr>
            <a:spLocks noGrp="1"/>
          </p:cNvSpPr>
          <p:nvPr>
            <p:ph idx="1"/>
          </p:nvPr>
        </p:nvSpPr>
        <p:spPr/>
        <p:txBody>
          <a:bodyPr/>
          <a:lstStyle/>
          <a:p>
            <a:r>
              <a:rPr lang="en-US" dirty="0"/>
              <a:t>The losses are simulated using a </a:t>
            </a:r>
            <a:r>
              <a:rPr lang="en-US" b="1" dirty="0"/>
              <a:t>lognormal distribution</a:t>
            </a:r>
            <a:r>
              <a:rPr lang="en-US" dirty="0"/>
              <a:t>, which is commonly used in insurance modeling because it accurately represents real-world loss behavior where most losses are small but rare catastrophic losses are extremely large</a:t>
            </a:r>
            <a:r>
              <a:rPr lang="en-US" dirty="0" smtClean="0"/>
              <a:t>.</a:t>
            </a:r>
          </a:p>
          <a:p>
            <a:endParaRPr lang="en-US" dirty="0"/>
          </a:p>
        </p:txBody>
      </p:sp>
    </p:spTree>
    <p:extLst>
      <p:ext uri="{BB962C8B-B14F-4D97-AF65-F5344CB8AC3E}">
        <p14:creationId xmlns:p14="http://schemas.microsoft.com/office/powerpoint/2010/main" val="1150485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Methodology</a:t>
            </a:r>
          </a:p>
        </p:txBody>
      </p:sp>
      <p:sp>
        <p:nvSpPr>
          <p:cNvPr id="3" name="Content Placeholder 2"/>
          <p:cNvSpPr>
            <a:spLocks noGrp="1"/>
          </p:cNvSpPr>
          <p:nvPr>
            <p:ph idx="1"/>
          </p:nvPr>
        </p:nvSpPr>
        <p:spPr/>
        <p:txBody>
          <a:bodyPr>
            <a:normAutofit lnSpcReduction="10000"/>
          </a:bodyPr>
          <a:lstStyle/>
          <a:p>
            <a:r>
              <a:rPr lang="en-US" b="1" dirty="0"/>
              <a:t>4.1 Loss Simulation</a:t>
            </a:r>
          </a:p>
          <a:p>
            <a:r>
              <a:rPr lang="en-US" dirty="0"/>
              <a:t>Insurance losses were generated using a </a:t>
            </a:r>
            <a:r>
              <a:rPr lang="en-US" b="1" dirty="0"/>
              <a:t>lognormal probability distribution</a:t>
            </a:r>
            <a:r>
              <a:rPr lang="en-US" dirty="0"/>
              <a:t>. This distribution captures the skewed nature of insurance claims, where most claims are moderate while a few claims are extremely large.</a:t>
            </a:r>
          </a:p>
          <a:p>
            <a:r>
              <a:rPr lang="en-US" dirty="0"/>
              <a:t>Mathematically:</a:t>
            </a:r>
          </a:p>
          <a:p>
            <a:r>
              <a:rPr lang="en-US" dirty="0"/>
              <a:t>Loss ~ Lognormal(μ, σ)</a:t>
            </a:r>
          </a:p>
          <a:p>
            <a:r>
              <a:rPr lang="en-US" dirty="0"/>
              <a:t>where:</a:t>
            </a:r>
          </a:p>
          <a:p>
            <a:r>
              <a:rPr lang="en-US" dirty="0"/>
              <a:t>μ represents the mean of the log-transformed losses</a:t>
            </a:r>
          </a:p>
          <a:p>
            <a:r>
              <a:rPr lang="en-US" dirty="0"/>
              <a:t>σ represents the volatility of losses</a:t>
            </a:r>
          </a:p>
          <a:p>
            <a:endParaRPr lang="en-US" dirty="0"/>
          </a:p>
        </p:txBody>
      </p:sp>
    </p:spTree>
    <p:extLst>
      <p:ext uri="{BB962C8B-B14F-4D97-AF65-F5344CB8AC3E}">
        <p14:creationId xmlns:p14="http://schemas.microsoft.com/office/powerpoint/2010/main" val="4227092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Methodology</a:t>
            </a:r>
          </a:p>
        </p:txBody>
      </p:sp>
      <p:sp>
        <p:nvSpPr>
          <p:cNvPr id="3" name="Content Placeholder 2"/>
          <p:cNvSpPr>
            <a:spLocks noGrp="1"/>
          </p:cNvSpPr>
          <p:nvPr>
            <p:ph idx="1"/>
          </p:nvPr>
        </p:nvSpPr>
        <p:spPr/>
        <p:txBody>
          <a:bodyPr/>
          <a:lstStyle/>
          <a:p>
            <a:r>
              <a:rPr lang="en-US" b="1" dirty="0"/>
              <a:t>4.2 Reinsurance Treaty Structure</a:t>
            </a:r>
          </a:p>
          <a:p>
            <a:r>
              <a:rPr lang="en-US" dirty="0"/>
              <a:t>The project applies an </a:t>
            </a:r>
            <a:r>
              <a:rPr lang="en-US" b="1" dirty="0"/>
              <a:t>excess-of-loss reinsurance treaty</a:t>
            </a:r>
            <a:r>
              <a:rPr lang="en-US" dirty="0"/>
              <a:t>, which consists of two main parameters:</a:t>
            </a:r>
          </a:p>
          <a:p>
            <a:r>
              <a:rPr lang="en-US" b="1" dirty="0"/>
              <a:t>Retention Limit</a:t>
            </a:r>
          </a:p>
          <a:p>
            <a:r>
              <a:rPr lang="en-US" dirty="0"/>
              <a:t>The retention limit represents the maximum loss amount the insurer agrees to retain before reinsurance coverage begins.</a:t>
            </a:r>
          </a:p>
          <a:p>
            <a:r>
              <a:rPr lang="en-US" dirty="0"/>
              <a:t>Example:</a:t>
            </a:r>
          </a:p>
          <a:p>
            <a:r>
              <a:rPr lang="en-US" dirty="0"/>
              <a:t>Retention Limit = $500,000</a:t>
            </a:r>
          </a:p>
          <a:p>
            <a:endParaRPr lang="en-US" dirty="0"/>
          </a:p>
        </p:txBody>
      </p:sp>
    </p:spTree>
    <p:extLst>
      <p:ext uri="{BB962C8B-B14F-4D97-AF65-F5344CB8AC3E}">
        <p14:creationId xmlns:p14="http://schemas.microsoft.com/office/powerpoint/2010/main" val="3808177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Methodology</a:t>
            </a:r>
          </a:p>
        </p:txBody>
      </p:sp>
      <p:sp>
        <p:nvSpPr>
          <p:cNvPr id="3" name="Content Placeholder 2"/>
          <p:cNvSpPr>
            <a:spLocks noGrp="1"/>
          </p:cNvSpPr>
          <p:nvPr>
            <p:ph idx="1"/>
          </p:nvPr>
        </p:nvSpPr>
        <p:spPr/>
        <p:txBody>
          <a:bodyPr/>
          <a:lstStyle/>
          <a:p>
            <a:r>
              <a:rPr lang="en-US" b="1" dirty="0"/>
              <a:t>Reinsurance Coverage Limit</a:t>
            </a:r>
          </a:p>
          <a:p>
            <a:r>
              <a:rPr lang="en-US" dirty="0"/>
              <a:t>The reinsurance coverage limit defines the maximum amount that the reinsurer will cover beyond the retention limit.</a:t>
            </a:r>
          </a:p>
          <a:p>
            <a:r>
              <a:rPr lang="en-US" dirty="0"/>
              <a:t>Example:</a:t>
            </a:r>
          </a:p>
          <a:p>
            <a:r>
              <a:rPr lang="en-US" dirty="0"/>
              <a:t>Reinsurance Limit = $2,000,000</a:t>
            </a:r>
          </a:p>
          <a:p>
            <a:endParaRPr lang="en-US" dirty="0"/>
          </a:p>
        </p:txBody>
      </p:sp>
      <p:sp>
        <p:nvSpPr>
          <p:cNvPr id="4" name="Rectangle 3"/>
          <p:cNvSpPr/>
          <p:nvPr/>
        </p:nvSpPr>
        <p:spPr>
          <a:xfrm>
            <a:off x="942109" y="4272677"/>
            <a:ext cx="6096000" cy="2585323"/>
          </a:xfrm>
          <a:prstGeom prst="rect">
            <a:avLst/>
          </a:prstGeom>
        </p:spPr>
        <p:txBody>
          <a:bodyPr>
            <a:spAutoFit/>
          </a:bodyPr>
          <a:lstStyle/>
          <a:p>
            <a:r>
              <a:rPr lang="en-US" b="1" dirty="0"/>
              <a:t>Loss Allocation Formula</a:t>
            </a:r>
          </a:p>
          <a:p>
            <a:r>
              <a:rPr lang="en-US" dirty="0"/>
              <a:t>For each claim:</a:t>
            </a:r>
          </a:p>
          <a:p>
            <a:r>
              <a:rPr lang="en-US" dirty="0"/>
              <a:t>Insurer Retained Loss = min(Loss Amount, Retention Limit)</a:t>
            </a:r>
          </a:p>
          <a:p>
            <a:r>
              <a:rPr lang="en-US" dirty="0"/>
              <a:t>Reinsurer Ceded Loss =</a:t>
            </a:r>
            <a:br>
              <a:rPr lang="en-US" dirty="0"/>
            </a:br>
            <a:r>
              <a:rPr lang="en-US" dirty="0"/>
              <a:t>max(min(Loss Amount − Retention Limit, Reinsurance Limit), 0)</a:t>
            </a:r>
          </a:p>
          <a:p>
            <a:r>
              <a:rPr lang="en-US" dirty="0"/>
              <a:t>This structure ensures that:</a:t>
            </a:r>
          </a:p>
          <a:p>
            <a:pPr>
              <a:buFont typeface="Arial" panose="020B0604020202020204" pitchFamily="34" charset="0"/>
              <a:buChar char="•"/>
            </a:pPr>
            <a:r>
              <a:rPr lang="en-US" dirty="0"/>
              <a:t>Small losses are absorbed by the insurer.</a:t>
            </a:r>
          </a:p>
          <a:p>
            <a:pPr>
              <a:buFont typeface="Arial" panose="020B0604020202020204" pitchFamily="34" charset="0"/>
              <a:buChar char="•"/>
            </a:pPr>
            <a:r>
              <a:rPr lang="en-US" dirty="0"/>
              <a:t>Large catastrophic losses are partially transferred to the reinsurer.</a:t>
            </a:r>
          </a:p>
        </p:txBody>
      </p:sp>
    </p:spTree>
    <p:extLst>
      <p:ext uri="{BB962C8B-B14F-4D97-AF65-F5344CB8AC3E}">
        <p14:creationId xmlns:p14="http://schemas.microsoft.com/office/powerpoint/2010/main" val="2837882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2729" y="1825625"/>
            <a:ext cx="7006541" cy="4351338"/>
          </a:xfrm>
        </p:spPr>
      </p:pic>
    </p:spTree>
    <p:extLst>
      <p:ext uri="{BB962C8B-B14F-4D97-AF65-F5344CB8AC3E}">
        <p14:creationId xmlns:p14="http://schemas.microsoft.com/office/powerpoint/2010/main" val="35237428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 Visualization and Analysis</a:t>
            </a:r>
          </a:p>
        </p:txBody>
      </p:sp>
      <p:sp>
        <p:nvSpPr>
          <p:cNvPr id="3" name="Content Placeholder 2"/>
          <p:cNvSpPr>
            <a:spLocks noGrp="1"/>
          </p:cNvSpPr>
          <p:nvPr>
            <p:ph idx="1"/>
          </p:nvPr>
        </p:nvSpPr>
        <p:spPr/>
        <p:txBody>
          <a:bodyPr>
            <a:normAutofit fontScale="92500"/>
          </a:bodyPr>
          <a:lstStyle/>
          <a:p>
            <a:r>
              <a:rPr lang="en-US" b="1" dirty="0"/>
              <a:t>5.1 Histogram Analysis</a:t>
            </a:r>
          </a:p>
          <a:p>
            <a:r>
              <a:rPr lang="en-US" dirty="0"/>
              <a:t>The histogram plot visualizes the </a:t>
            </a:r>
            <a:r>
              <a:rPr lang="en-US" b="1" dirty="0"/>
              <a:t>distribution of insurance losses across the portfolio</a:t>
            </a:r>
            <a:r>
              <a:rPr lang="en-US" dirty="0"/>
              <a:t>.</a:t>
            </a:r>
          </a:p>
          <a:p>
            <a:r>
              <a:rPr lang="en-US" dirty="0"/>
              <a:t>Key observations include:</a:t>
            </a:r>
          </a:p>
          <a:p>
            <a:r>
              <a:rPr lang="en-US" dirty="0"/>
              <a:t>Most losses fall within the </a:t>
            </a:r>
            <a:r>
              <a:rPr lang="en-US" b="1" dirty="0"/>
              <a:t>lower claim ranges</a:t>
            </a:r>
            <a:r>
              <a:rPr lang="en-US" dirty="0"/>
              <a:t>.</a:t>
            </a:r>
          </a:p>
          <a:p>
            <a:r>
              <a:rPr lang="en-US" dirty="0"/>
              <a:t>A small number of claims represent </a:t>
            </a:r>
            <a:r>
              <a:rPr lang="en-US" b="1" dirty="0"/>
              <a:t>extremely large catastrophic losses</a:t>
            </a:r>
            <a:r>
              <a:rPr lang="en-US" dirty="0"/>
              <a:t>.</a:t>
            </a:r>
          </a:p>
          <a:p>
            <a:r>
              <a:rPr lang="en-US" dirty="0"/>
              <a:t>The distribution is </a:t>
            </a:r>
            <a:r>
              <a:rPr lang="en-US" b="1" dirty="0"/>
              <a:t>right-skewed</a:t>
            </a:r>
            <a:r>
              <a:rPr lang="en-US" dirty="0"/>
              <a:t>, which is typical for insurance loss data.</a:t>
            </a:r>
          </a:p>
          <a:p>
            <a:r>
              <a:rPr lang="en-US" dirty="0"/>
              <a:t>This insight highlights the importance of reinsurance for managing catastrophic tail risk.</a:t>
            </a:r>
          </a:p>
          <a:p>
            <a:endParaRPr lang="en-US" dirty="0"/>
          </a:p>
        </p:txBody>
      </p:sp>
    </p:spTree>
    <p:extLst>
      <p:ext uri="{BB962C8B-B14F-4D97-AF65-F5344CB8AC3E}">
        <p14:creationId xmlns:p14="http://schemas.microsoft.com/office/powerpoint/2010/main" val="3667443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88289" y="1825625"/>
            <a:ext cx="7015421" cy="4351338"/>
          </a:xfrm>
        </p:spPr>
      </p:pic>
    </p:spTree>
    <p:extLst>
      <p:ext uri="{BB962C8B-B14F-4D97-AF65-F5344CB8AC3E}">
        <p14:creationId xmlns:p14="http://schemas.microsoft.com/office/powerpoint/2010/main" val="37265126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 Visualization and Analysis</a:t>
            </a:r>
          </a:p>
        </p:txBody>
      </p:sp>
      <p:sp>
        <p:nvSpPr>
          <p:cNvPr id="3" name="Content Placeholder 2"/>
          <p:cNvSpPr>
            <a:spLocks noGrp="1"/>
          </p:cNvSpPr>
          <p:nvPr>
            <p:ph idx="1"/>
          </p:nvPr>
        </p:nvSpPr>
        <p:spPr/>
        <p:txBody>
          <a:bodyPr/>
          <a:lstStyle/>
          <a:p>
            <a:r>
              <a:rPr lang="en-US" b="1" dirty="0"/>
              <a:t>5.2 Bar Chart Analysis</a:t>
            </a:r>
          </a:p>
          <a:p>
            <a:r>
              <a:rPr lang="en-US" dirty="0"/>
              <a:t>The bar chart displays </a:t>
            </a:r>
            <a:r>
              <a:rPr lang="en-US" b="1" dirty="0"/>
              <a:t>total claim amounts across different regions</a:t>
            </a:r>
            <a:r>
              <a:rPr lang="en-US" dirty="0"/>
              <a:t>.</a:t>
            </a:r>
          </a:p>
          <a:p>
            <a:r>
              <a:rPr lang="en-US" dirty="0"/>
              <a:t>This visualization helps identify regions with higher insurance risk exposure. Regions with taller bars represent areas where claims occur more frequently or where loss severity is higher.</a:t>
            </a:r>
          </a:p>
          <a:p>
            <a:r>
              <a:rPr lang="en-US" dirty="0"/>
              <a:t>Such information can assist insurers in:</a:t>
            </a:r>
          </a:p>
          <a:p>
            <a:r>
              <a:rPr lang="en-US" dirty="0"/>
              <a:t>Adjusting underwriting strategies</a:t>
            </a:r>
          </a:p>
          <a:p>
            <a:r>
              <a:rPr lang="en-US" dirty="0"/>
              <a:t>Increasing premiums in high-risk regions</a:t>
            </a:r>
          </a:p>
          <a:p>
            <a:r>
              <a:rPr lang="en-US" dirty="0"/>
              <a:t>Purchasing additional reinsurance coverage</a:t>
            </a:r>
          </a:p>
          <a:p>
            <a:endParaRPr lang="en-US" dirty="0"/>
          </a:p>
        </p:txBody>
      </p:sp>
    </p:spTree>
    <p:extLst>
      <p:ext uri="{BB962C8B-B14F-4D97-AF65-F5344CB8AC3E}">
        <p14:creationId xmlns:p14="http://schemas.microsoft.com/office/powerpoint/2010/main" val="18213521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88289" y="1825625"/>
            <a:ext cx="7015421" cy="4351338"/>
          </a:xfrm>
        </p:spPr>
      </p:pic>
    </p:spTree>
    <p:extLst>
      <p:ext uri="{BB962C8B-B14F-4D97-AF65-F5344CB8AC3E}">
        <p14:creationId xmlns:p14="http://schemas.microsoft.com/office/powerpoint/2010/main" val="1844156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88289" y="1825625"/>
            <a:ext cx="7015421" cy="4351338"/>
          </a:xfrm>
        </p:spPr>
      </p:pic>
    </p:spTree>
    <p:extLst>
      <p:ext uri="{BB962C8B-B14F-4D97-AF65-F5344CB8AC3E}">
        <p14:creationId xmlns:p14="http://schemas.microsoft.com/office/powerpoint/2010/main" val="5098006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 Visualization and Analysis</a:t>
            </a:r>
          </a:p>
        </p:txBody>
      </p:sp>
      <p:sp>
        <p:nvSpPr>
          <p:cNvPr id="3" name="Content Placeholder 2"/>
          <p:cNvSpPr>
            <a:spLocks noGrp="1"/>
          </p:cNvSpPr>
          <p:nvPr>
            <p:ph idx="1"/>
          </p:nvPr>
        </p:nvSpPr>
        <p:spPr/>
        <p:txBody>
          <a:bodyPr/>
          <a:lstStyle/>
          <a:p>
            <a:r>
              <a:rPr lang="en-US" b="1" dirty="0"/>
              <a:t>5.3 Stacked Bar Chart Analysis</a:t>
            </a:r>
          </a:p>
          <a:p>
            <a:r>
              <a:rPr lang="en-US" dirty="0"/>
              <a:t>The stacked bar chart breaks down </a:t>
            </a:r>
            <a:r>
              <a:rPr lang="en-US" b="1" dirty="0"/>
              <a:t>claims by region and policy type</a:t>
            </a:r>
            <a:r>
              <a:rPr lang="en-US" dirty="0"/>
              <a:t>.</a:t>
            </a:r>
          </a:p>
          <a:p>
            <a:r>
              <a:rPr lang="en-US" dirty="0"/>
              <a:t>This analysis provides insights into which insurance categories generate the highest losses.</a:t>
            </a:r>
          </a:p>
          <a:p>
            <a:r>
              <a:rPr lang="en-US" dirty="0"/>
              <a:t>For example:</a:t>
            </a:r>
          </a:p>
          <a:p>
            <a:r>
              <a:rPr lang="en-US" dirty="0"/>
              <a:t>Property insurance may dominate losses in urban regions.</a:t>
            </a:r>
          </a:p>
          <a:p>
            <a:r>
              <a:rPr lang="en-US" dirty="0"/>
              <a:t>Crop insurance may generate higher losses in rural regions.</a:t>
            </a:r>
          </a:p>
          <a:p>
            <a:r>
              <a:rPr lang="en-US" dirty="0"/>
              <a:t>Understanding this distribution allows insurers to better manage their portfolio risk.</a:t>
            </a:r>
          </a:p>
          <a:p>
            <a:endParaRPr lang="en-US" dirty="0"/>
          </a:p>
        </p:txBody>
      </p:sp>
    </p:spTree>
    <p:extLst>
      <p:ext uri="{BB962C8B-B14F-4D97-AF65-F5344CB8AC3E}">
        <p14:creationId xmlns:p14="http://schemas.microsoft.com/office/powerpoint/2010/main" val="8960331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Business Applications</a:t>
            </a:r>
          </a:p>
        </p:txBody>
      </p:sp>
      <p:sp>
        <p:nvSpPr>
          <p:cNvPr id="3" name="Content Placeholder 2"/>
          <p:cNvSpPr>
            <a:spLocks noGrp="1"/>
          </p:cNvSpPr>
          <p:nvPr>
            <p:ph idx="1"/>
          </p:nvPr>
        </p:nvSpPr>
        <p:spPr/>
        <p:txBody>
          <a:bodyPr/>
          <a:lstStyle/>
          <a:p>
            <a:r>
              <a:rPr lang="en-US" dirty="0"/>
              <a:t>The reinsurance treaty optimization model provides several practical applications in the insurance industry.</a:t>
            </a:r>
          </a:p>
          <a:p>
            <a:r>
              <a:rPr lang="en-US" b="1" dirty="0"/>
              <a:t>Risk Transfer Management</a:t>
            </a:r>
          </a:p>
          <a:p>
            <a:r>
              <a:rPr lang="en-US" dirty="0"/>
              <a:t>Reinsurance allows insurers to transfer part of their financial risk to reinsurers, thereby protecting themselves from catastrophic events.</a:t>
            </a:r>
          </a:p>
          <a:p>
            <a:r>
              <a:rPr lang="en-US" b="1" dirty="0"/>
              <a:t>Capital Adequacy and Solvency</a:t>
            </a:r>
          </a:p>
          <a:p>
            <a:r>
              <a:rPr lang="en-US" dirty="0"/>
              <a:t>Regulatory frameworks require insurers to maintain adequate capital reserves. Optimized reinsurance treaties reduce volatility and help insurers maintain solvency.</a:t>
            </a:r>
          </a:p>
          <a:p>
            <a:endParaRPr lang="en-US" dirty="0"/>
          </a:p>
        </p:txBody>
      </p:sp>
    </p:spTree>
    <p:extLst>
      <p:ext uri="{BB962C8B-B14F-4D97-AF65-F5344CB8AC3E}">
        <p14:creationId xmlns:p14="http://schemas.microsoft.com/office/powerpoint/2010/main" val="191334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Business Applications</a:t>
            </a:r>
          </a:p>
        </p:txBody>
      </p:sp>
      <p:sp>
        <p:nvSpPr>
          <p:cNvPr id="3" name="Content Placeholder 2"/>
          <p:cNvSpPr>
            <a:spLocks noGrp="1"/>
          </p:cNvSpPr>
          <p:nvPr>
            <p:ph idx="1"/>
          </p:nvPr>
        </p:nvSpPr>
        <p:spPr/>
        <p:txBody>
          <a:bodyPr/>
          <a:lstStyle/>
          <a:p>
            <a:r>
              <a:rPr lang="en-US" b="1" dirty="0"/>
              <a:t>Portfolio Risk Diversification</a:t>
            </a:r>
          </a:p>
          <a:p>
            <a:r>
              <a:rPr lang="en-US" dirty="0"/>
              <a:t>By analyzing risk exposure across regions and policy types, insurers can diversify their portfolios to reduce concentration risk</a:t>
            </a:r>
            <a:r>
              <a:rPr lang="en-US" dirty="0" smtClean="0"/>
              <a:t>.</a:t>
            </a:r>
          </a:p>
          <a:p>
            <a:r>
              <a:rPr lang="en-US" b="1" dirty="0"/>
              <a:t>Pricing Optimization</a:t>
            </a:r>
          </a:p>
          <a:p>
            <a:r>
              <a:rPr lang="en-US" dirty="0"/>
              <a:t>Understanding loss distributions helps insurers adjust premium pricing to ensure profitability.</a:t>
            </a:r>
          </a:p>
          <a:p>
            <a:r>
              <a:rPr lang="en-US" b="1" dirty="0"/>
              <a:t>Strategic Reinsurance Purchasing</a:t>
            </a:r>
          </a:p>
          <a:p>
            <a:r>
              <a:rPr lang="en-US" dirty="0"/>
              <a:t>Data-driven insights enable insurers to determine the optimal level of reinsurance coverage.</a:t>
            </a:r>
          </a:p>
          <a:p>
            <a:endParaRPr lang="en-US" dirty="0" smtClean="0"/>
          </a:p>
          <a:p>
            <a:endParaRPr lang="en-US" dirty="0"/>
          </a:p>
        </p:txBody>
      </p:sp>
    </p:spTree>
    <p:extLst>
      <p:ext uri="{BB962C8B-B14F-4D97-AF65-F5344CB8AC3E}">
        <p14:creationId xmlns:p14="http://schemas.microsoft.com/office/powerpoint/2010/main" val="1986130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Key Insights</a:t>
            </a:r>
          </a:p>
        </p:txBody>
      </p:sp>
      <p:sp>
        <p:nvSpPr>
          <p:cNvPr id="4" name="Rectangle 1"/>
          <p:cNvSpPr>
            <a:spLocks noGrp="1" noChangeArrowheads="1"/>
          </p:cNvSpPr>
          <p:nvPr>
            <p:ph idx="1"/>
          </p:nvPr>
        </p:nvSpPr>
        <p:spPr bwMode="auto">
          <a:xfrm>
            <a:off x="173181" y="1351209"/>
            <a:ext cx="1075967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Insurance losses follow a </a:t>
            </a:r>
            <a:r>
              <a:rPr kumimoji="0" lang="en-US" altLang="en-US" sz="2400" b="1" i="0" u="none" strike="noStrike" cap="none" normalizeH="0" baseline="0" dirty="0" smtClean="0">
                <a:ln>
                  <a:noFill/>
                </a:ln>
                <a:solidFill>
                  <a:schemeClr val="tx1"/>
                </a:solidFill>
                <a:effectLst/>
                <a:latin typeface="Arial" panose="020B0604020202020204" pitchFamily="34" charset="0"/>
              </a:rPr>
              <a:t>highly skewed distribution</a:t>
            </a:r>
            <a:r>
              <a:rPr kumimoji="0" lang="en-US" altLang="en-US" sz="2400" b="0" i="0" u="none" strike="noStrike" cap="none" normalizeH="0" baseline="0" dirty="0" smtClean="0">
                <a:ln>
                  <a:noFill/>
                </a:ln>
                <a:solidFill>
                  <a:schemeClr val="tx1"/>
                </a:solidFill>
                <a:effectLst/>
                <a:latin typeface="Arial" panose="020B0604020202020204" pitchFamily="34" charset="0"/>
              </a:rPr>
              <a:t> with </a:t>
            </a: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latin typeface="Arial" panose="020B0604020202020204" pitchFamily="34" charset="0"/>
              </a:rPr>
              <a:t> </a:t>
            </a:r>
            <a:r>
              <a:rPr kumimoji="0" lang="en-US" altLang="en-US" sz="2400" b="0" i="0" u="none" strike="noStrike" cap="none" normalizeH="0" baseline="0" dirty="0" smtClean="0">
                <a:ln>
                  <a:noFill/>
                </a:ln>
                <a:solidFill>
                  <a:schemeClr val="tx1"/>
                </a:solidFill>
                <a:effectLst/>
                <a:latin typeface="Arial" panose="020B0604020202020204" pitchFamily="34" charset="0"/>
              </a:rPr>
              <a:t>significant catastrophic tail risk.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A small percentage of claims account for the </a:t>
            </a:r>
            <a:r>
              <a:rPr kumimoji="0" lang="en-US" altLang="en-US" sz="2400" b="1" i="0" u="none" strike="noStrike" cap="none" normalizeH="0" baseline="0" dirty="0" smtClean="0">
                <a:ln>
                  <a:noFill/>
                </a:ln>
                <a:solidFill>
                  <a:schemeClr val="tx1"/>
                </a:solidFill>
                <a:effectLst/>
                <a:latin typeface="Arial" panose="020B0604020202020204" pitchFamily="34" charset="0"/>
              </a:rPr>
              <a:t>majority of total losses</a:t>
            </a:r>
            <a:r>
              <a:rPr kumimoji="0" lang="en-US" altLang="en-US" sz="24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Reinsurance significantly reduces insurer exposure to extreme loss events.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Geographic regions vary significantly in their</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tx1"/>
                </a:solidFill>
                <a:effectLst/>
                <a:latin typeface="Arial" panose="020B0604020202020204" pitchFamily="34" charset="0"/>
              </a:rPr>
              <a:t> loss concentration and claim severity</a:t>
            </a:r>
            <a:r>
              <a:rPr kumimoji="0" lang="en-US" altLang="en-US" sz="24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Excess-of-loss treaties are effective for </a:t>
            </a:r>
            <a:r>
              <a:rPr kumimoji="0" lang="en-US" altLang="en-US" sz="2400" b="1" i="0" u="none" strike="noStrike" cap="none" normalizeH="0" baseline="0" dirty="0" smtClean="0">
                <a:ln>
                  <a:noFill/>
                </a:ln>
                <a:solidFill>
                  <a:schemeClr val="tx1"/>
                </a:solidFill>
                <a:effectLst/>
                <a:latin typeface="Arial" panose="020B0604020202020204" pitchFamily="34" charset="0"/>
              </a:rPr>
              <a:t>catastrophe risk management</a:t>
            </a:r>
            <a:r>
              <a:rPr kumimoji="0" lang="en-US" altLang="en-US" sz="24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Portfolio diversification across regions reduces overall risk volatility.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Retention limits must be carefully chosen to balance </a:t>
            </a: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latin typeface="Arial" panose="020B0604020202020204" pitchFamily="34" charset="0"/>
              </a:rPr>
              <a:t> </a:t>
            </a:r>
            <a:r>
              <a:rPr kumimoji="0" lang="en-US" altLang="en-US" sz="2400" b="1" i="0" u="none" strike="noStrike" cap="none" normalizeH="0" baseline="0" dirty="0" smtClean="0">
                <a:ln>
                  <a:noFill/>
                </a:ln>
                <a:solidFill>
                  <a:schemeClr val="tx1"/>
                </a:solidFill>
                <a:effectLst/>
                <a:latin typeface="Arial" panose="020B0604020202020204" pitchFamily="34" charset="0"/>
              </a:rPr>
              <a:t>risk retention and reinsurance costs</a:t>
            </a:r>
            <a:r>
              <a:rPr kumimoji="0" lang="en-US" altLang="en-US" sz="24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Data analytics improves </a:t>
            </a:r>
            <a:r>
              <a:rPr kumimoji="0" lang="en-US" altLang="en-US" sz="2400" b="1" i="0" u="none" strike="noStrike" cap="none" normalizeH="0" baseline="0" dirty="0" smtClean="0">
                <a:ln>
                  <a:noFill/>
                </a:ln>
                <a:solidFill>
                  <a:schemeClr val="tx1"/>
                </a:solidFill>
                <a:effectLst/>
                <a:latin typeface="Arial" panose="020B0604020202020204" pitchFamily="34" charset="0"/>
              </a:rPr>
              <a:t>reinsurance treaty design and pricing strategies</a:t>
            </a:r>
            <a:r>
              <a:rPr kumimoji="0" lang="en-US" altLang="en-US" sz="24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Visualization techniques help insurers understand complex risk patterns.</a:t>
            </a:r>
          </a:p>
        </p:txBody>
      </p:sp>
    </p:spTree>
    <p:extLst>
      <p:ext uri="{BB962C8B-B14F-4D97-AF65-F5344CB8AC3E}">
        <p14:creationId xmlns:p14="http://schemas.microsoft.com/office/powerpoint/2010/main" val="30656951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Conclusion</a:t>
            </a:r>
          </a:p>
        </p:txBody>
      </p:sp>
      <p:sp>
        <p:nvSpPr>
          <p:cNvPr id="3" name="Content Placeholder 2"/>
          <p:cNvSpPr>
            <a:spLocks noGrp="1"/>
          </p:cNvSpPr>
          <p:nvPr>
            <p:ph idx="1"/>
          </p:nvPr>
        </p:nvSpPr>
        <p:spPr/>
        <p:txBody>
          <a:bodyPr>
            <a:normAutofit fontScale="85000" lnSpcReduction="10000"/>
          </a:bodyPr>
          <a:lstStyle/>
          <a:p>
            <a:r>
              <a:rPr lang="en-US" dirty="0"/>
              <a:t>Reinsurance is a critical component of modern insurance risk management. As insurance portfolios grow and catastrophic risks become more frequent, insurers must rely on advanced analytics to optimize their reinsurance strategies.</a:t>
            </a:r>
          </a:p>
          <a:p>
            <a:r>
              <a:rPr lang="en-US" dirty="0"/>
              <a:t>This project demonstrates how </a:t>
            </a:r>
            <a:r>
              <a:rPr lang="en-US" b="1" dirty="0"/>
              <a:t>Python-based data simulation and visualization techniques</a:t>
            </a:r>
            <a:r>
              <a:rPr lang="en-US" dirty="0"/>
              <a:t> can be used to analyze insurance loss distributions and evaluate the effectiveness of reinsurance treaties.</a:t>
            </a:r>
          </a:p>
          <a:p>
            <a:r>
              <a:rPr lang="en-US" dirty="0"/>
              <a:t>By modeling loss distributions and applying excess-of-loss reinsurance structures, insurers can better understand how risks are distributed between themselves and reinsurers. The visualization techniques used in this study provide valuable insights into portfolio risk concentration and catastrophe exposure.</a:t>
            </a:r>
          </a:p>
          <a:p>
            <a:r>
              <a:rPr lang="en-US" dirty="0"/>
              <a:t>Ultimately, </a:t>
            </a:r>
            <a:r>
              <a:rPr lang="en-US" b="1" dirty="0"/>
              <a:t>data-driven reinsurance treaty optimization enables insurers to reduce financial volatility, improve capital management, and enhance long-term sustainability</a:t>
            </a:r>
            <a:r>
              <a:rPr lang="en-US" dirty="0"/>
              <a:t> in an increasingly uncertain risk environment.</a:t>
            </a:r>
          </a:p>
          <a:p>
            <a:endParaRPr lang="en-US" dirty="0"/>
          </a:p>
        </p:txBody>
      </p:sp>
    </p:spTree>
    <p:extLst>
      <p:ext uri="{BB962C8B-B14F-4D97-AF65-F5344CB8AC3E}">
        <p14:creationId xmlns:p14="http://schemas.microsoft.com/office/powerpoint/2010/main" val="28969086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TotalTime>
  <Words>1160</Words>
  <Application>Microsoft Office PowerPoint</Application>
  <PresentationFormat>Widescreen</PresentationFormat>
  <Paragraphs>125</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CIDFont+F1</vt:lpstr>
      <vt:lpstr>Office Theme</vt:lpstr>
      <vt:lpstr>Reinsurance Treaty Optimization</vt:lpstr>
      <vt:lpstr>Google Colab URL</vt:lpstr>
      <vt:lpstr>Introduction</vt:lpstr>
      <vt:lpstr>Introduction</vt:lpstr>
      <vt:lpstr>Objectives of the Study</vt:lpstr>
      <vt:lpstr>Dataset Description</vt:lpstr>
      <vt:lpstr>Dataset Description</vt:lpstr>
      <vt:lpstr>Methodology</vt:lpstr>
      <vt:lpstr>Methodology</vt:lpstr>
      <vt:lpstr>Methodology</vt:lpstr>
      <vt:lpstr>Data Visualization</vt:lpstr>
      <vt:lpstr>Data Visualization and Analysis</vt:lpstr>
      <vt:lpstr>Data Visualization</vt:lpstr>
      <vt:lpstr>Data Visualization and Analysis</vt:lpstr>
      <vt:lpstr>Data Visualization</vt:lpstr>
      <vt:lpstr>Data Visualization</vt:lpstr>
      <vt:lpstr>Data Visualization and Analysis</vt:lpstr>
      <vt:lpstr>Business Applications</vt:lpstr>
      <vt:lpstr>Business Applications</vt:lpstr>
      <vt:lpstr>Key Insights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Reinsurance Treaty Optimization</dc:title>
  <dc:creator>KUMAR</dc:creator>
  <cp:lastModifiedBy>KUMAR</cp:lastModifiedBy>
  <cp:revision>25</cp:revision>
  <dcterms:created xsi:type="dcterms:W3CDTF">2026-03-10T13:05:22Z</dcterms:created>
  <dcterms:modified xsi:type="dcterms:W3CDTF">2026-03-11T03:14:03Z</dcterms:modified>
</cp:coreProperties>
</file>