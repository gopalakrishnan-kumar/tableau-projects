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8C0A3-79D8-4C61-9FB6-E73D861CA08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13F1A-A2F7-471A-9C8C-297F26928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4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13F1A-A2F7-471A-9C8C-297F26928D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41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1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4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4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1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0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2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1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9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7BBD9-C1C0-48AE-BFFC-59FF2552651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CBBC0-B469-4B44-AA48-18F4537D1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7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l5JukNJjTSCJHokleCLetGm8uwPIKBGG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Protein sequence analysis for structure prediction with </a:t>
            </a:r>
            <a:r>
              <a:rPr lang="en-US" b="1" dirty="0" err="1" smtClean="0"/>
              <a:t>AlphaFold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580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https://colab.research.google.com/drive/1l5JukNJjTSCJHokleCLetGm8uwPIKBGG?usp=sharing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8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Proteins are essential biological macromolecules responsible for nearly all cellular functions. Understanding their </a:t>
            </a:r>
            <a:r>
              <a:rPr lang="en-US" b="1" dirty="0" smtClean="0"/>
              <a:t>three-dimensional (3D) structure</a:t>
            </a:r>
            <a:r>
              <a:rPr lang="en-US" dirty="0" smtClean="0"/>
              <a:t> is crucial for applications such as drug discovery, enzyme engineering, and disease analysis. Traditionally, experimental methods like X-ray crystallography are time-consuming and expensive.</a:t>
            </a:r>
          </a:p>
          <a:p>
            <a:r>
              <a:rPr lang="en-US" dirty="0" smtClean="0"/>
              <a:t>The emergence of </a:t>
            </a:r>
            <a:r>
              <a:rPr lang="en-US" b="1" dirty="0" err="1" smtClean="0"/>
              <a:t>AlphaFold</a:t>
            </a:r>
            <a:r>
              <a:rPr lang="en-US" dirty="0" smtClean="0"/>
              <a:t> has revolutionized structural biology by enabling highly accurate protein structure prediction directly from amino acid sequences using deep learning techniques.</a:t>
            </a:r>
          </a:p>
          <a:p>
            <a:r>
              <a:rPr lang="en-US" dirty="0" smtClean="0"/>
              <a:t>This project focuses on:</a:t>
            </a:r>
          </a:p>
          <a:p>
            <a:r>
              <a:rPr lang="en-US" dirty="0" smtClean="0"/>
              <a:t>Predicting protein structures from sequences </a:t>
            </a:r>
          </a:p>
          <a:p>
            <a:r>
              <a:rPr lang="en-US" dirty="0" smtClean="0"/>
              <a:t>Analyzing prediction confidence </a:t>
            </a:r>
          </a:p>
          <a:p>
            <a:r>
              <a:rPr lang="en-US" dirty="0" smtClean="0"/>
              <a:t>Visualizing results using </a:t>
            </a:r>
            <a:r>
              <a:rPr lang="en-US" b="1" dirty="0" smtClean="0"/>
              <a:t>combined stacked bar 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0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Objectives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108363" y="1690688"/>
            <a:ext cx="97120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perform protein sequence analysis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predict protein 3D structure using </a:t>
            </a:r>
            <a:r>
              <a:rPr lang="en-US" altLang="en-US" sz="2800" dirty="0" err="1"/>
              <a:t>AlphaFold</a:t>
            </a:r>
            <a:r>
              <a:rPr lang="en-US" altLang="en-US" sz="28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extract confidence scores (</a:t>
            </a:r>
            <a:r>
              <a:rPr lang="en-US" altLang="en-US" sz="2800" dirty="0" err="1"/>
              <a:t>pLDDT</a:t>
            </a:r>
            <a:r>
              <a:rPr lang="en-US" altLang="en-US" sz="2800" dirty="0"/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visualize confidence distribution across regions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compare multiple proteins/models using combined stacked </a:t>
            </a:r>
            <a:r>
              <a:rPr lang="en-US" altLang="en-US" sz="2800" dirty="0" smtClean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</a:t>
            </a:r>
            <a:r>
              <a:rPr lang="en-US" altLang="en-US" sz="2800" dirty="0" smtClean="0"/>
              <a:t> bar </a:t>
            </a:r>
            <a:r>
              <a:rPr lang="en-US" altLang="en-US" sz="2800" dirty="0"/>
              <a:t>charts </a:t>
            </a:r>
          </a:p>
        </p:txBody>
      </p:sp>
    </p:spTree>
    <p:extLst>
      <p:ext uri="{BB962C8B-B14F-4D97-AF65-F5344CB8AC3E}">
        <p14:creationId xmlns:p14="http://schemas.microsoft.com/office/powerpoint/2010/main" val="214691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Background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🔬 </a:t>
            </a:r>
            <a:r>
              <a:rPr lang="en-US" b="1" dirty="0" err="1" smtClean="0"/>
              <a:t>AlphaFold</a:t>
            </a:r>
            <a:r>
              <a:rPr lang="en-US" b="1" dirty="0" smtClean="0"/>
              <a:t> Overview</a:t>
            </a:r>
          </a:p>
          <a:p>
            <a:r>
              <a:rPr lang="en-US" b="1" dirty="0" err="1" smtClean="0"/>
              <a:t>AlphaFold</a:t>
            </a:r>
            <a:r>
              <a:rPr lang="en-US" dirty="0" smtClean="0"/>
              <a:t> uses deep neural networks to predict protein folding based on:</a:t>
            </a:r>
          </a:p>
          <a:p>
            <a:r>
              <a:rPr lang="en-US" dirty="0" smtClean="0"/>
              <a:t>Evolutionary information (MSA) </a:t>
            </a:r>
          </a:p>
          <a:p>
            <a:r>
              <a:rPr lang="en-US" dirty="0" smtClean="0"/>
              <a:t>Residue-residue interactions </a:t>
            </a:r>
          </a:p>
          <a:p>
            <a:r>
              <a:rPr lang="en-US" dirty="0" smtClean="0"/>
              <a:t>Spatial geometry </a:t>
            </a:r>
          </a:p>
          <a:p>
            <a:r>
              <a:rPr lang="en-US" b="1" dirty="0" smtClean="0"/>
              <a:t>📊 </a:t>
            </a:r>
            <a:r>
              <a:rPr lang="en-US" b="1" dirty="0" err="1" smtClean="0"/>
              <a:t>pLDDT</a:t>
            </a:r>
            <a:r>
              <a:rPr lang="en-US" b="1" dirty="0" smtClean="0"/>
              <a:t> Score Interpretation</a:t>
            </a:r>
          </a:p>
          <a:p>
            <a:r>
              <a:rPr lang="en-US" b="1" dirty="0" smtClean="0"/>
              <a:t>&gt; 90</a:t>
            </a:r>
            <a:r>
              <a:rPr lang="en-US" dirty="0" smtClean="0"/>
              <a:t> → Very high confidence </a:t>
            </a:r>
          </a:p>
          <a:p>
            <a:r>
              <a:rPr lang="en-US" b="1" dirty="0" smtClean="0"/>
              <a:t>70–90</a:t>
            </a:r>
            <a:r>
              <a:rPr lang="en-US" dirty="0" smtClean="0"/>
              <a:t> → Good confidence </a:t>
            </a:r>
          </a:p>
          <a:p>
            <a:r>
              <a:rPr lang="en-US" b="1" dirty="0" smtClean="0"/>
              <a:t>&lt; 70</a:t>
            </a:r>
            <a:r>
              <a:rPr lang="en-US" dirty="0" smtClean="0"/>
              <a:t> → Low confidence </a:t>
            </a:r>
          </a:p>
          <a:p>
            <a:r>
              <a:rPr lang="en-US" dirty="0" smtClean="0"/>
              <a:t>These scores help assess reliability of predicted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57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b="1" dirty="0"/>
              <a:t>Step 1: Input Protein Sequence</a:t>
            </a:r>
          </a:p>
          <a:p>
            <a:r>
              <a:rPr lang="en-US" sz="2400" dirty="0"/>
              <a:t>Protein sequences are provided in FASTA format.</a:t>
            </a:r>
          </a:p>
          <a:p>
            <a:r>
              <a:rPr lang="en-US" sz="2400" b="1" dirty="0"/>
              <a:t>Step 2: Structure Prediction</a:t>
            </a:r>
          </a:p>
          <a:p>
            <a:r>
              <a:rPr lang="en-US" sz="2400" dirty="0"/>
              <a:t>Prediction is performed using:</a:t>
            </a:r>
          </a:p>
          <a:p>
            <a:r>
              <a:rPr lang="en-US" sz="2400" b="1" dirty="0" err="1"/>
              <a:t>ColabFold</a:t>
            </a:r>
            <a:r>
              <a:rPr lang="en-US" sz="2400" dirty="0"/>
              <a:t> (efficient version of </a:t>
            </a:r>
            <a:r>
              <a:rPr lang="en-US" sz="2400" dirty="0" err="1"/>
              <a:t>AlphaFold</a:t>
            </a:r>
            <a:r>
              <a:rPr lang="en-US" sz="2400" dirty="0"/>
              <a:t>)</a:t>
            </a:r>
          </a:p>
          <a:p>
            <a:r>
              <a:rPr lang="en-US" sz="2400" b="1" dirty="0"/>
              <a:t>Step 3: Data Extraction</a:t>
            </a:r>
            <a:endParaRPr lang="en-US" sz="2400" b="1" dirty="0" smtClean="0"/>
          </a:p>
          <a:p>
            <a:r>
              <a:rPr lang="en-US" sz="2400" dirty="0"/>
              <a:t>From </a:t>
            </a:r>
            <a:r>
              <a:rPr lang="en-US" sz="2400" dirty="0" err="1"/>
              <a:t>AlphaFold</a:t>
            </a:r>
            <a:r>
              <a:rPr lang="en-US" sz="2400" dirty="0"/>
              <a:t> output</a:t>
            </a:r>
            <a:r>
              <a:rPr lang="en-US" sz="2400" dirty="0" smtClean="0"/>
              <a:t>: </a:t>
            </a:r>
          </a:p>
          <a:p>
            <a:pPr lvl="0"/>
            <a:r>
              <a:rPr lang="en-US" altLang="en-US" sz="2400" dirty="0"/>
              <a:t>Extract </a:t>
            </a:r>
            <a:r>
              <a:rPr lang="en-US" altLang="en-US" sz="2400" b="1" dirty="0" err="1"/>
              <a:t>pLDDT</a:t>
            </a:r>
            <a:r>
              <a:rPr lang="en-US" altLang="en-US" sz="2400" b="1" dirty="0"/>
              <a:t> scores</a:t>
            </a:r>
            <a:r>
              <a:rPr lang="en-US" altLang="en-US" sz="2400" dirty="0"/>
              <a:t> from .</a:t>
            </a:r>
            <a:r>
              <a:rPr lang="en-US" altLang="en-US" sz="2400" dirty="0" err="1"/>
              <a:t>json</a:t>
            </a:r>
            <a:r>
              <a:rPr lang="en-US" altLang="en-US" sz="2400" dirty="0"/>
              <a:t> file </a:t>
            </a:r>
          </a:p>
          <a:p>
            <a:r>
              <a:rPr lang="en-US" sz="2400" dirty="0" smtClean="0"/>
              <a:t>Segment </a:t>
            </a:r>
            <a:r>
              <a:rPr lang="en-US" sz="2400" dirty="0"/>
              <a:t>protein into regions:</a:t>
            </a:r>
          </a:p>
          <a:p>
            <a:r>
              <a:rPr lang="en-US" sz="2400" b="1" dirty="0"/>
              <a:t>Step 4: Data Categorization</a:t>
            </a:r>
          </a:p>
          <a:p>
            <a:endParaRPr lang="en-US" sz="2400" dirty="0" smtClean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262255" y="468753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682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N-terminal </a:t>
            </a:r>
          </a:p>
          <a:p>
            <a:r>
              <a:rPr lang="en-US" dirty="0"/>
              <a:t>Core </a:t>
            </a:r>
          </a:p>
          <a:p>
            <a:r>
              <a:rPr lang="en-US" dirty="0" smtClean="0"/>
              <a:t>C-terminal</a:t>
            </a:r>
          </a:p>
          <a:p>
            <a:r>
              <a:rPr lang="en-US" b="1" dirty="0"/>
              <a:t>Step 5: Visualization</a:t>
            </a:r>
          </a:p>
          <a:p>
            <a:r>
              <a:rPr lang="en-US" dirty="0"/>
              <a:t>Use </a:t>
            </a:r>
            <a:r>
              <a:rPr lang="en-US" b="1" dirty="0" err="1"/>
              <a:t>Matplotlib</a:t>
            </a:r>
            <a:r>
              <a:rPr lang="en-US" dirty="0"/>
              <a:t> to create:</a:t>
            </a:r>
          </a:p>
          <a:p>
            <a:r>
              <a:rPr lang="en-US" dirty="0"/>
              <a:t>Combined stacked bar charts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2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Results and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combined stacked bar chart reveals:</a:t>
            </a:r>
          </a:p>
          <a:p>
            <a:r>
              <a:rPr lang="en-US" b="1" dirty="0"/>
              <a:t>Core region</a:t>
            </a:r>
            <a:r>
              <a:rPr lang="en-US" dirty="0"/>
              <a:t> shows highest number of high-confidence residues </a:t>
            </a:r>
          </a:p>
          <a:p>
            <a:r>
              <a:rPr lang="en-US" b="1" dirty="0"/>
              <a:t>Terminal regions</a:t>
            </a:r>
            <a:r>
              <a:rPr lang="en-US" dirty="0"/>
              <a:t> show increased low-confidence predictions </a:t>
            </a:r>
          </a:p>
          <a:p>
            <a:r>
              <a:rPr lang="en-US" dirty="0"/>
              <a:t>Protein A demonstrates higher structural reliability compared to Protein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5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results align with known biological principles:</a:t>
            </a:r>
          </a:p>
          <a:p>
            <a:r>
              <a:rPr lang="en-US" dirty="0"/>
              <a:t>Core regions are structurally stable → higher confidence </a:t>
            </a:r>
          </a:p>
          <a:p>
            <a:r>
              <a:rPr lang="en-US" dirty="0"/>
              <a:t>Terminal regions are flexible → lower confidence </a:t>
            </a:r>
          </a:p>
          <a:p>
            <a:r>
              <a:rPr lang="en-US" dirty="0"/>
              <a:t>The use of combined stacked bar charts allows:</a:t>
            </a:r>
          </a:p>
          <a:p>
            <a:r>
              <a:rPr lang="en-US" dirty="0"/>
              <a:t>Simultaneous comparison of multiple proteins </a:t>
            </a:r>
          </a:p>
          <a:p>
            <a:r>
              <a:rPr lang="en-US" dirty="0"/>
              <a:t>Clear visualization of confidence distribution </a:t>
            </a:r>
          </a:p>
          <a:p>
            <a:r>
              <a:rPr lang="en-US" dirty="0"/>
              <a:t>Better interpretability of prediction 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4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3672" y="1690688"/>
            <a:ext cx="84235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AlphaFold</a:t>
            </a:r>
            <a:r>
              <a:rPr lang="en-US" altLang="en-US" sz="2400" dirty="0">
                <a:latin typeface="Arial" panose="020B0604020202020204" pitchFamily="34" charset="0"/>
              </a:rPr>
              <a:t> predictions may be less accurate for: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Disordered regions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Novel proteins with limited evolutionary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Visualization depends on correct region segmentation </a:t>
            </a:r>
          </a:p>
        </p:txBody>
      </p:sp>
    </p:spTree>
    <p:extLst>
      <p:ext uri="{BB962C8B-B14F-4D97-AF65-F5344CB8AC3E}">
        <p14:creationId xmlns:p14="http://schemas.microsoft.com/office/powerpoint/2010/main" val="1115127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5345" y="1554218"/>
            <a:ext cx="87699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Integrate real-time visualization dashboards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Use </a:t>
            </a:r>
            <a:r>
              <a:rPr lang="en-US" altLang="en-US" sz="2400" b="1" dirty="0" err="1"/>
              <a:t>PyMOL</a:t>
            </a:r>
            <a:r>
              <a:rPr lang="en-US" altLang="en-US" sz="2400" dirty="0"/>
              <a:t> for 3D structure validation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Compare predicted structures with experimental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Extend analysis to large protein datasets </a:t>
            </a:r>
          </a:p>
        </p:txBody>
      </p:sp>
    </p:spTree>
    <p:extLst>
      <p:ext uri="{BB962C8B-B14F-4D97-AF65-F5344CB8AC3E}">
        <p14:creationId xmlns:p14="http://schemas.microsoft.com/office/powerpoint/2010/main" val="717251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effectiveness of </a:t>
            </a:r>
            <a:r>
              <a:rPr lang="en-US" b="1" dirty="0" err="1"/>
              <a:t>AlphaFold</a:t>
            </a:r>
            <a:r>
              <a:rPr lang="en-US" dirty="0"/>
              <a:t> in predicting protein structures from sequences. The integration of </a:t>
            </a:r>
            <a:r>
              <a:rPr lang="en-US" b="1" dirty="0"/>
              <a:t>combined stacked bar charts</a:t>
            </a:r>
            <a:r>
              <a:rPr lang="en-US" dirty="0"/>
              <a:t> enhances understanding of prediction confidence across protein regions.</a:t>
            </a:r>
          </a:p>
          <a:p>
            <a:r>
              <a:rPr lang="en-US" dirty="0"/>
              <a:t>The approach provides:</a:t>
            </a:r>
          </a:p>
          <a:p>
            <a:r>
              <a:rPr lang="en-US" dirty="0"/>
              <a:t>Accurate structural insights </a:t>
            </a:r>
          </a:p>
          <a:p>
            <a:r>
              <a:rPr lang="en-US" dirty="0"/>
              <a:t>Clear visualization </a:t>
            </a:r>
          </a:p>
          <a:p>
            <a:r>
              <a:rPr lang="en-US" dirty="0"/>
              <a:t>Scalable analysis framework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22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4618" y="155421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AlphaFold</a:t>
            </a:r>
            <a:r>
              <a:rPr lang="en-US" altLang="en-US" sz="2400" dirty="0">
                <a:latin typeface="Arial" panose="020B0604020202020204" pitchFamily="34" charset="0"/>
              </a:rPr>
              <a:t> Research Papers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DeepMind Publications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Bioinformatics resources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Matplotlib</a:t>
            </a:r>
            <a:r>
              <a:rPr lang="en-US" altLang="en-US" sz="2400" dirty="0">
                <a:latin typeface="Arial" panose="020B0604020202020204" pitchFamily="34" charset="0"/>
              </a:rPr>
              <a:t>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412166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Bonus (For Higher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add:</a:t>
            </a:r>
          </a:p>
          <a:p>
            <a:r>
              <a:rPr lang="en-US" dirty="0"/>
              <a:t>Screenshot of structure visualization </a:t>
            </a:r>
          </a:p>
          <a:p>
            <a:r>
              <a:rPr lang="en-US" dirty="0"/>
              <a:t>Comparison with known PDB structure </a:t>
            </a:r>
          </a:p>
          <a:p>
            <a:r>
              <a:rPr lang="en-US" dirty="0"/>
              <a:t>Additional graphs (line plot of </a:t>
            </a:r>
            <a:r>
              <a:rPr lang="en-US" dirty="0" err="1"/>
              <a:t>pLDDT</a:t>
            </a:r>
            <a:r>
              <a:rPr lang="en-US" dirty="0"/>
              <a:t>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270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510</Words>
  <Application>Microsoft Office PowerPoint</Application>
  <PresentationFormat>Widescreen</PresentationFormat>
  <Paragraphs>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CIDFont+F1</vt:lpstr>
      <vt:lpstr>Office Theme</vt:lpstr>
      <vt:lpstr>Protein sequence analysis for structure prediction with AlphaFold</vt:lpstr>
      <vt:lpstr>Google Colab URL</vt:lpstr>
      <vt:lpstr>Introduction </vt:lpstr>
      <vt:lpstr>Objectives</vt:lpstr>
      <vt:lpstr>Background</vt:lpstr>
      <vt:lpstr>Methodology</vt:lpstr>
      <vt:lpstr>Methodology</vt:lpstr>
      <vt:lpstr>Results and Analysis</vt:lpstr>
      <vt:lpstr>Discussion</vt:lpstr>
      <vt:lpstr>Limitations</vt:lpstr>
      <vt:lpstr>Future Work</vt:lpstr>
      <vt:lpstr>Conclusion</vt:lpstr>
      <vt:lpstr>References</vt:lpstr>
      <vt:lpstr>Bonus (For Higher Marks)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sequence analysis for structure prediction with AlphaFold</dc:title>
  <dc:creator>KUMAR</dc:creator>
  <cp:lastModifiedBy>KUMAR</cp:lastModifiedBy>
  <cp:revision>17</cp:revision>
  <dcterms:created xsi:type="dcterms:W3CDTF">2026-03-30T11:56:12Z</dcterms:created>
  <dcterms:modified xsi:type="dcterms:W3CDTF">2026-03-30T22:37:54Z</dcterms:modified>
</cp:coreProperties>
</file>