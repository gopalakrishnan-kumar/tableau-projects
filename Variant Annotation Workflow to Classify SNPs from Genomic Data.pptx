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73" r:id="rId12"/>
    <p:sldId id="274" r:id="rId13"/>
    <p:sldId id="275" r:id="rId14"/>
    <p:sldId id="27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641DF-556B-4A6F-9F9F-C2914F515DF3}"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2B6F5-924B-48F6-9460-54226D0583DB}" type="slidenum">
              <a:rPr lang="en-US" smtClean="0"/>
              <a:t>‹#›</a:t>
            </a:fld>
            <a:endParaRPr lang="en-US"/>
          </a:p>
        </p:txBody>
      </p:sp>
    </p:spTree>
    <p:extLst>
      <p:ext uri="{BB962C8B-B14F-4D97-AF65-F5344CB8AC3E}">
        <p14:creationId xmlns:p14="http://schemas.microsoft.com/office/powerpoint/2010/main" val="1711436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22B6F5-924B-48F6-9460-54226D0583DB}" type="slidenum">
              <a:rPr lang="en-US" smtClean="0"/>
              <a:t>5</a:t>
            </a:fld>
            <a:endParaRPr lang="en-US"/>
          </a:p>
        </p:txBody>
      </p:sp>
    </p:spTree>
    <p:extLst>
      <p:ext uri="{BB962C8B-B14F-4D97-AF65-F5344CB8AC3E}">
        <p14:creationId xmlns:p14="http://schemas.microsoft.com/office/powerpoint/2010/main" val="3091580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2DE91C-E727-488D-9B76-4E4983F587DF}"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580581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2DE91C-E727-488D-9B76-4E4983F587DF}"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1485403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2DE91C-E727-488D-9B76-4E4983F587DF}"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285351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2DE91C-E727-488D-9B76-4E4983F587DF}"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1698506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2DE91C-E727-488D-9B76-4E4983F587DF}"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719881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2DE91C-E727-488D-9B76-4E4983F587DF}"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2623364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2DE91C-E727-488D-9B76-4E4983F587DF}"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781417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2DE91C-E727-488D-9B76-4E4983F587DF}"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2463632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2DE91C-E727-488D-9B76-4E4983F587DF}"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2892777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2DE91C-E727-488D-9B76-4E4983F587DF}"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3649338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2DE91C-E727-488D-9B76-4E4983F587DF}"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9A49D2-079C-4EF3-ACAC-ECF9FB986064}" type="slidenum">
              <a:rPr lang="en-US" smtClean="0"/>
              <a:t>‹#›</a:t>
            </a:fld>
            <a:endParaRPr lang="en-US"/>
          </a:p>
        </p:txBody>
      </p:sp>
    </p:spTree>
    <p:extLst>
      <p:ext uri="{BB962C8B-B14F-4D97-AF65-F5344CB8AC3E}">
        <p14:creationId xmlns:p14="http://schemas.microsoft.com/office/powerpoint/2010/main" val="981173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2DE91C-E727-488D-9B76-4E4983F587DF}" type="datetimeFigureOut">
              <a:rPr lang="en-US" smtClean="0"/>
              <a:t>3/21/2026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A49D2-079C-4EF3-ACAC-ECF9FB986064}" type="slidenum">
              <a:rPr lang="en-US" smtClean="0"/>
              <a:t>‹#›</a:t>
            </a:fld>
            <a:endParaRPr lang="en-US"/>
          </a:p>
        </p:txBody>
      </p:sp>
    </p:spTree>
    <p:extLst>
      <p:ext uri="{BB962C8B-B14F-4D97-AF65-F5344CB8AC3E}">
        <p14:creationId xmlns:p14="http://schemas.microsoft.com/office/powerpoint/2010/main" val="253123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nSTByEqoQqYJqs8mB8VE2kO-nxolxK6m?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Variant Annotation Workflow to Classify SNPs from Genomic Data </a:t>
            </a:r>
            <a:endParaRPr lang="en-US" b="1" dirty="0"/>
          </a:p>
        </p:txBody>
      </p:sp>
      <p:sp>
        <p:nvSpPr>
          <p:cNvPr id="4" name="Subtitle 2"/>
          <p:cNvSpPr>
            <a:spLocks noGrp="1"/>
          </p:cNvSpPr>
          <p:nvPr>
            <p:ph type="subTitle" idx="1"/>
          </p:nvPr>
        </p:nvSpPr>
        <p:spPr>
          <a:xfrm>
            <a:off x="1524000" y="3572308"/>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Github:https://www.github.com/Gopal21236</a:t>
            </a:r>
            <a:endParaRPr lang="en-US" dirty="0" smtClean="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28941461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smtClean="0">
                <a:hlinkClick r:id="rId2"/>
              </a:rPr>
              <a:t>https://colab.research.google.com/drive/1nSTByEqoQqYJqs8mB8VE2kO-nxolxK6m?usp=sharing</a:t>
            </a:r>
            <a:endParaRPr lang="en-US" smtClean="0"/>
          </a:p>
          <a:p>
            <a:endParaRPr lang="en-US" dirty="0"/>
          </a:p>
        </p:txBody>
      </p:sp>
    </p:spTree>
    <p:extLst>
      <p:ext uri="{BB962C8B-B14F-4D97-AF65-F5344CB8AC3E}">
        <p14:creationId xmlns:p14="http://schemas.microsoft.com/office/powerpoint/2010/main" val="2481176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lstStyle/>
          <a:p>
            <a:r>
              <a:rPr lang="en-US" dirty="0"/>
              <a:t>Genomic variations play a crucial role in understanding genetic diversity and disease mechanisms. Among these variations, </a:t>
            </a:r>
            <a:r>
              <a:rPr lang="en-US" b="1" dirty="0"/>
              <a:t>Single Nucleotide Polymorphisms (SNPs)</a:t>
            </a:r>
            <a:r>
              <a:rPr lang="en-US" dirty="0"/>
              <a:t> are the most common type. SNPs can influence gene function and may lead to diseases if they are pathogenic.</a:t>
            </a:r>
          </a:p>
          <a:p>
            <a:r>
              <a:rPr lang="en-US" dirty="0"/>
              <a:t>This project focuses on developing a </a:t>
            </a:r>
            <a:r>
              <a:rPr lang="en-US" b="1" dirty="0"/>
              <a:t>machine learning-based pipeline</a:t>
            </a:r>
            <a:r>
              <a:rPr lang="en-US" dirty="0"/>
              <a:t> to analyze genomic data, annotate SNPs, and classify them as </a:t>
            </a:r>
            <a:r>
              <a:rPr lang="en-US" b="1" dirty="0"/>
              <a:t>pathogenic or benign</a:t>
            </a:r>
            <a:r>
              <a:rPr lang="en-US" dirty="0"/>
              <a:t>. The integration of bioinformatics tools and machine learning enables efficient and scalable genomic analysis.</a:t>
            </a:r>
          </a:p>
          <a:p>
            <a:endParaRPr lang="en-US" dirty="0"/>
          </a:p>
        </p:txBody>
      </p:sp>
    </p:spTree>
    <p:extLst>
      <p:ext uri="{BB962C8B-B14F-4D97-AF65-F5344CB8AC3E}">
        <p14:creationId xmlns:p14="http://schemas.microsoft.com/office/powerpoint/2010/main" val="1540365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a:t>
            </a:r>
          </a:p>
        </p:txBody>
      </p:sp>
      <p:sp>
        <p:nvSpPr>
          <p:cNvPr id="4" name="Rectangle 1"/>
          <p:cNvSpPr>
            <a:spLocks noGrp="1" noChangeArrowheads="1"/>
          </p:cNvSpPr>
          <p:nvPr>
            <p:ph idx="1"/>
          </p:nvPr>
        </p:nvSpPr>
        <p:spPr bwMode="auto">
          <a:xfrm>
            <a:off x="838200" y="1424671"/>
            <a:ext cx="908165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To process genomic data (VCF/CSV format)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To perform SNP extraction and preprocessing</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To annotate variants with biological information</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To build a machine learning model for SNP classification</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To evaluate model performance using standard metrics</a:t>
            </a:r>
          </a:p>
        </p:txBody>
      </p:sp>
    </p:spTree>
    <p:extLst>
      <p:ext uri="{BB962C8B-B14F-4D97-AF65-F5344CB8AC3E}">
        <p14:creationId xmlns:p14="http://schemas.microsoft.com/office/powerpoint/2010/main" val="17373831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Background</a:t>
            </a:r>
          </a:p>
        </p:txBody>
      </p:sp>
      <p:sp>
        <p:nvSpPr>
          <p:cNvPr id="3" name="Content Placeholder 2"/>
          <p:cNvSpPr>
            <a:spLocks noGrp="1"/>
          </p:cNvSpPr>
          <p:nvPr>
            <p:ph idx="1"/>
          </p:nvPr>
        </p:nvSpPr>
        <p:spPr/>
        <p:txBody>
          <a:bodyPr/>
          <a:lstStyle/>
          <a:p>
            <a:r>
              <a:rPr lang="en-US" dirty="0"/>
              <a:t>SNPs represent a change in a single nucleotide (A, T, C, G) in the DNA sequence. These variations can be:</a:t>
            </a:r>
          </a:p>
          <a:p>
            <a:r>
              <a:rPr lang="en-US" b="1" dirty="0"/>
              <a:t>Synonymous</a:t>
            </a:r>
            <a:r>
              <a:rPr lang="en-US" dirty="0"/>
              <a:t> → No change in protein</a:t>
            </a:r>
          </a:p>
          <a:p>
            <a:r>
              <a:rPr lang="en-US" b="1" dirty="0"/>
              <a:t>Non-synonymous</a:t>
            </a:r>
            <a:r>
              <a:rPr lang="en-US" dirty="0"/>
              <a:t> → Alters protein function</a:t>
            </a:r>
          </a:p>
          <a:p>
            <a:r>
              <a:rPr lang="en-US" b="1" dirty="0"/>
              <a:t>Nonsense</a:t>
            </a:r>
            <a:r>
              <a:rPr lang="en-US" dirty="0"/>
              <a:t> → Introduces stop codon</a:t>
            </a:r>
          </a:p>
          <a:p>
            <a:r>
              <a:rPr lang="en-US" dirty="0"/>
              <a:t>Annotation tools like </a:t>
            </a:r>
            <a:r>
              <a:rPr lang="en-US" dirty="0" err="1"/>
              <a:t>Ensembl</a:t>
            </a:r>
            <a:r>
              <a:rPr lang="en-US" dirty="0"/>
              <a:t> VEP and </a:t>
            </a:r>
            <a:r>
              <a:rPr lang="en-US" dirty="0" err="1"/>
              <a:t>SnpEff</a:t>
            </a:r>
            <a:r>
              <a:rPr lang="en-US" dirty="0"/>
              <a:t> provide functional information about SNPs, which is essential for classification.</a:t>
            </a:r>
          </a:p>
          <a:p>
            <a:endParaRPr lang="en-US" dirty="0"/>
          </a:p>
        </p:txBody>
      </p:sp>
    </p:spTree>
    <p:extLst>
      <p:ext uri="{BB962C8B-B14F-4D97-AF65-F5344CB8AC3E}">
        <p14:creationId xmlns:p14="http://schemas.microsoft.com/office/powerpoint/2010/main" val="42306533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Collection</a:t>
            </a:r>
          </a:p>
        </p:txBody>
      </p:sp>
      <p:sp>
        <p:nvSpPr>
          <p:cNvPr id="3" name="Content Placeholder 2"/>
          <p:cNvSpPr>
            <a:spLocks noGrp="1"/>
          </p:cNvSpPr>
          <p:nvPr>
            <p:ph idx="1"/>
          </p:nvPr>
        </p:nvSpPr>
        <p:spPr/>
        <p:txBody>
          <a:bodyPr/>
          <a:lstStyle/>
          <a:p>
            <a:r>
              <a:rPr lang="en-US" dirty="0"/>
              <a:t>The dataset used in this project includes annotated SNP data obtained from:</a:t>
            </a:r>
          </a:p>
          <a:p>
            <a:r>
              <a:rPr lang="en-US" dirty="0" err="1"/>
              <a:t>ClinVar</a:t>
            </a:r>
            <a:endParaRPr lang="en-US" dirty="0"/>
          </a:p>
          <a:p>
            <a:r>
              <a:rPr lang="en-US" dirty="0" err="1"/>
              <a:t>Kaggle</a:t>
            </a:r>
            <a:r>
              <a:rPr lang="en-US" dirty="0"/>
              <a:t> genomic datasets</a:t>
            </a:r>
          </a:p>
          <a:p>
            <a:r>
              <a:rPr lang="en-US" b="1" dirty="0"/>
              <a:t>Data Format:</a:t>
            </a:r>
          </a:p>
          <a:p>
            <a:r>
              <a:rPr lang="en-US" dirty="0"/>
              <a:t>VCF (raw genomic data)</a:t>
            </a:r>
          </a:p>
          <a:p>
            <a:r>
              <a:rPr lang="en-US" dirty="0"/>
              <a:t>CSV (annotated and ML-ready data)</a:t>
            </a:r>
          </a:p>
          <a:p>
            <a:endParaRPr lang="en-US" dirty="0"/>
          </a:p>
        </p:txBody>
      </p:sp>
    </p:spTree>
    <p:extLst>
      <p:ext uri="{BB962C8B-B14F-4D97-AF65-F5344CB8AC3E}">
        <p14:creationId xmlns:p14="http://schemas.microsoft.com/office/powerpoint/2010/main" val="1944913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Preprocessing</a:t>
            </a:r>
          </a:p>
        </p:txBody>
      </p:sp>
      <p:sp>
        <p:nvSpPr>
          <p:cNvPr id="3" name="Content Placeholder 2"/>
          <p:cNvSpPr>
            <a:spLocks noGrp="1"/>
          </p:cNvSpPr>
          <p:nvPr>
            <p:ph idx="1"/>
          </p:nvPr>
        </p:nvSpPr>
        <p:spPr/>
        <p:txBody>
          <a:bodyPr>
            <a:normAutofit fontScale="92500" lnSpcReduction="20000"/>
          </a:bodyPr>
          <a:lstStyle/>
          <a:p>
            <a:r>
              <a:rPr lang="en-US" b="1" dirty="0"/>
              <a:t>Steps:</a:t>
            </a:r>
          </a:p>
          <a:p>
            <a:r>
              <a:rPr lang="en-US" dirty="0"/>
              <a:t>Removal of missing values</a:t>
            </a:r>
          </a:p>
          <a:p>
            <a:r>
              <a:rPr lang="en-US" dirty="0"/>
              <a:t>Filtering SNPs (single nucleotide variants)</a:t>
            </a:r>
          </a:p>
          <a:p>
            <a:r>
              <a:rPr lang="en-US" dirty="0"/>
              <a:t>Encoding categorical variables</a:t>
            </a:r>
          </a:p>
          <a:p>
            <a:r>
              <a:rPr lang="en-US" dirty="0"/>
              <a:t>Normalization of numerical features</a:t>
            </a:r>
          </a:p>
          <a:p>
            <a:r>
              <a:rPr lang="en-US" b="1" dirty="0"/>
              <a:t>DNA Encoding:</a:t>
            </a:r>
          </a:p>
          <a:p>
            <a:r>
              <a:rPr lang="en-US" dirty="0"/>
              <a:t>A → 0</a:t>
            </a:r>
          </a:p>
          <a:p>
            <a:r>
              <a:rPr lang="en-US" dirty="0"/>
              <a:t>C → 1</a:t>
            </a:r>
          </a:p>
          <a:p>
            <a:r>
              <a:rPr lang="en-US" dirty="0"/>
              <a:t>G → 2</a:t>
            </a:r>
          </a:p>
          <a:p>
            <a:r>
              <a:rPr lang="en-US" dirty="0"/>
              <a:t>T → 3</a:t>
            </a:r>
          </a:p>
          <a:p>
            <a:endParaRPr lang="en-US" dirty="0"/>
          </a:p>
        </p:txBody>
      </p:sp>
    </p:spTree>
    <p:extLst>
      <p:ext uri="{BB962C8B-B14F-4D97-AF65-F5344CB8AC3E}">
        <p14:creationId xmlns:p14="http://schemas.microsoft.com/office/powerpoint/2010/main" val="35936873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Feature Engineering</a:t>
            </a:r>
          </a:p>
        </p:txBody>
      </p:sp>
      <p:sp>
        <p:nvSpPr>
          <p:cNvPr id="4" name="Rectangle 1"/>
          <p:cNvSpPr>
            <a:spLocks noGrp="1" noChangeArrowheads="1"/>
          </p:cNvSpPr>
          <p:nvPr>
            <p:ph idx="1"/>
          </p:nvPr>
        </p:nvSpPr>
        <p:spPr bwMode="auto">
          <a:xfrm>
            <a:off x="838200" y="1489571"/>
            <a:ext cx="1064721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dirty="0" smtClean="0">
                <a:latin typeface="Arial" panose="020B0604020202020204" pitchFamily="34" charset="0"/>
              </a:rPr>
              <a:t> Important </a:t>
            </a:r>
            <a:r>
              <a:rPr lang="en-US" altLang="en-US" sz="2400" dirty="0">
                <a:latin typeface="Arial" panose="020B0604020202020204" pitchFamily="34" charset="0"/>
              </a:rPr>
              <a:t>features extracted</a:t>
            </a:r>
            <a:r>
              <a:rPr lang="en-US" altLang="en-US" sz="2400" dirty="0" smtClean="0">
                <a:latin typeface="Arial" panose="020B0604020202020204" pitchFamily="34" charset="0"/>
              </a:rPr>
              <a:t>: </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Chromosome (</a:t>
            </a:r>
            <a:r>
              <a:rPr lang="en-US" altLang="en-US" sz="2400" dirty="0" err="1">
                <a:latin typeface="Arial Unicode MS"/>
              </a:rPr>
              <a:t>chrom</a:t>
            </a:r>
            <a:r>
              <a:rPr lang="en-US" altLang="en-US" sz="2400" dirty="0"/>
              <a:t>)</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Position (</a:t>
            </a:r>
            <a:r>
              <a:rPr lang="en-US" altLang="en-US" sz="2400" dirty="0" err="1">
                <a:latin typeface="Arial Unicode MS"/>
              </a:rPr>
              <a:t>pos</a:t>
            </a:r>
            <a:r>
              <a:rPr lang="en-US" altLang="en-US" sz="2400" dirty="0"/>
              <a:t>)</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Gene name</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Variant consequence</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Impact level</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Reference and alternate alleles</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rPr>
              <a:t>These features help the model learn biological patterns.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1923795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Machine Learning Model</a:t>
            </a:r>
          </a:p>
        </p:txBody>
      </p:sp>
      <p:sp>
        <p:nvSpPr>
          <p:cNvPr id="3" name="Content Placeholder 2"/>
          <p:cNvSpPr>
            <a:spLocks noGrp="1"/>
          </p:cNvSpPr>
          <p:nvPr>
            <p:ph idx="1"/>
          </p:nvPr>
        </p:nvSpPr>
        <p:spPr/>
        <p:txBody>
          <a:bodyPr/>
          <a:lstStyle/>
          <a:p>
            <a:r>
              <a:rPr lang="en-US" b="1" dirty="0"/>
              <a:t>Model Used:</a:t>
            </a:r>
          </a:p>
          <a:p>
            <a:r>
              <a:rPr lang="en-US" dirty="0"/>
              <a:t>Random Forest Classifier</a:t>
            </a:r>
          </a:p>
          <a:p>
            <a:r>
              <a:rPr lang="en-US" b="1" dirty="0"/>
              <a:t>Why Random Forest?</a:t>
            </a:r>
          </a:p>
          <a:p>
            <a:r>
              <a:rPr lang="en-US" dirty="0"/>
              <a:t>Handles categorical + numerical data</a:t>
            </a:r>
          </a:p>
          <a:p>
            <a:r>
              <a:rPr lang="en-US" dirty="0"/>
              <a:t>Robust to overfitting</a:t>
            </a:r>
          </a:p>
          <a:p>
            <a:r>
              <a:rPr lang="en-US" dirty="0"/>
              <a:t>Provides feature importance</a:t>
            </a:r>
          </a:p>
          <a:p>
            <a:endParaRPr lang="en-US" dirty="0"/>
          </a:p>
        </p:txBody>
      </p:sp>
    </p:spTree>
    <p:extLst>
      <p:ext uri="{BB962C8B-B14F-4D97-AF65-F5344CB8AC3E}">
        <p14:creationId xmlns:p14="http://schemas.microsoft.com/office/powerpoint/2010/main" val="12466809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Model Training</a:t>
            </a:r>
          </a:p>
        </p:txBody>
      </p:sp>
      <p:sp>
        <p:nvSpPr>
          <p:cNvPr id="3" name="Content Placeholder 2"/>
          <p:cNvSpPr>
            <a:spLocks noGrp="1"/>
          </p:cNvSpPr>
          <p:nvPr>
            <p:ph idx="1"/>
          </p:nvPr>
        </p:nvSpPr>
        <p:spPr/>
        <p:txBody>
          <a:bodyPr/>
          <a:lstStyle/>
          <a:p>
            <a:r>
              <a:rPr lang="en-US"/>
              <a:t>Steps involved:</a:t>
            </a:r>
          </a:p>
          <a:p>
            <a:r>
              <a:rPr lang="en-US"/>
              <a:t>Train-test split (80:20)</a:t>
            </a:r>
          </a:p>
          <a:p>
            <a:r>
              <a:rPr lang="en-US"/>
              <a:t>Feature scaling using StandardScaler</a:t>
            </a:r>
          </a:p>
          <a:p>
            <a:r>
              <a:rPr lang="en-US"/>
              <a:t>Model training using Random Forest</a:t>
            </a:r>
          </a:p>
        </p:txBody>
      </p:sp>
    </p:spTree>
    <p:extLst>
      <p:ext uri="{BB962C8B-B14F-4D97-AF65-F5344CB8AC3E}">
        <p14:creationId xmlns:p14="http://schemas.microsoft.com/office/powerpoint/2010/main" val="12575816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3086" y="1921030"/>
            <a:ext cx="5385827" cy="4160528"/>
          </a:xfrm>
        </p:spPr>
      </p:pic>
    </p:spTree>
    <p:extLst>
      <p:ext uri="{BB962C8B-B14F-4D97-AF65-F5344CB8AC3E}">
        <p14:creationId xmlns:p14="http://schemas.microsoft.com/office/powerpoint/2010/main" val="37726470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3086" y="1943890"/>
            <a:ext cx="5385827" cy="4114808"/>
          </a:xfrm>
        </p:spPr>
      </p:pic>
    </p:spTree>
    <p:extLst>
      <p:ext uri="{BB962C8B-B14F-4D97-AF65-F5344CB8AC3E}">
        <p14:creationId xmlns:p14="http://schemas.microsoft.com/office/powerpoint/2010/main" val="15915280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8447" y="1825625"/>
            <a:ext cx="5055105" cy="4351338"/>
          </a:xfrm>
        </p:spPr>
      </p:pic>
    </p:spTree>
    <p:extLst>
      <p:ext uri="{BB962C8B-B14F-4D97-AF65-F5344CB8AC3E}">
        <p14:creationId xmlns:p14="http://schemas.microsoft.com/office/powerpoint/2010/main" val="15633115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22121" y="1825625"/>
            <a:ext cx="4947757" cy="4351338"/>
          </a:xfrm>
        </p:spPr>
      </p:pic>
    </p:spTree>
    <p:extLst>
      <p:ext uri="{BB962C8B-B14F-4D97-AF65-F5344CB8AC3E}">
        <p14:creationId xmlns:p14="http://schemas.microsoft.com/office/powerpoint/2010/main" val="1480129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Model Evaluation</a:t>
            </a:r>
          </a:p>
        </p:txBody>
      </p:sp>
      <p:sp>
        <p:nvSpPr>
          <p:cNvPr id="3" name="Content Placeholder 2"/>
          <p:cNvSpPr>
            <a:spLocks noGrp="1"/>
          </p:cNvSpPr>
          <p:nvPr>
            <p:ph idx="1"/>
          </p:nvPr>
        </p:nvSpPr>
        <p:spPr/>
        <p:txBody>
          <a:bodyPr>
            <a:normAutofit lnSpcReduction="10000"/>
          </a:bodyPr>
          <a:lstStyle/>
          <a:p>
            <a:r>
              <a:rPr lang="en-US" dirty="0"/>
              <a:t>Metrics used:</a:t>
            </a:r>
          </a:p>
          <a:p>
            <a:r>
              <a:rPr lang="en-US" dirty="0"/>
              <a:t>Accuracy</a:t>
            </a:r>
          </a:p>
          <a:p>
            <a:r>
              <a:rPr lang="en-US" dirty="0"/>
              <a:t>Precision</a:t>
            </a:r>
          </a:p>
          <a:p>
            <a:r>
              <a:rPr lang="en-US" dirty="0"/>
              <a:t>Recall</a:t>
            </a:r>
          </a:p>
          <a:p>
            <a:r>
              <a:rPr lang="en-US" dirty="0"/>
              <a:t>F1-score</a:t>
            </a:r>
          </a:p>
          <a:p>
            <a:r>
              <a:rPr lang="en-US" dirty="0"/>
              <a:t>ROC-AUC</a:t>
            </a:r>
          </a:p>
          <a:p>
            <a:r>
              <a:rPr lang="en-US" b="1" dirty="0"/>
              <a:t>Key Insight:</a:t>
            </a:r>
          </a:p>
          <a:p>
            <a:r>
              <a:rPr lang="en-US" dirty="0"/>
              <a:t>The model achieved good performance in distinguishing pathogenic and benign SNPs.</a:t>
            </a:r>
          </a:p>
          <a:p>
            <a:endParaRPr lang="en-US" dirty="0"/>
          </a:p>
        </p:txBody>
      </p:sp>
    </p:spTree>
    <p:extLst>
      <p:ext uri="{BB962C8B-B14F-4D97-AF65-F5344CB8AC3E}">
        <p14:creationId xmlns:p14="http://schemas.microsoft.com/office/powerpoint/2010/main" val="6299351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Results</a:t>
            </a:r>
          </a:p>
        </p:txBody>
      </p:sp>
      <p:sp>
        <p:nvSpPr>
          <p:cNvPr id="4" name="Rectangle 1"/>
          <p:cNvSpPr>
            <a:spLocks noGrp="1" noChangeArrowheads="1"/>
          </p:cNvSpPr>
          <p:nvPr>
            <p:ph idx="1"/>
          </p:nvPr>
        </p:nvSpPr>
        <p:spPr bwMode="auto">
          <a:xfrm>
            <a:off x="838200" y="1390260"/>
            <a:ext cx="103008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The model successfully classified SNPs based on input features</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Variant consequence and impact were found to be highly influential</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Visualization revealed patterns in mutation distribution</a:t>
            </a:r>
          </a:p>
        </p:txBody>
      </p:sp>
    </p:spTree>
    <p:extLst>
      <p:ext uri="{BB962C8B-B14F-4D97-AF65-F5344CB8AC3E}">
        <p14:creationId xmlns:p14="http://schemas.microsoft.com/office/powerpoint/2010/main" val="15141488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Applications</a:t>
            </a:r>
          </a:p>
        </p:txBody>
      </p:sp>
      <p:sp>
        <p:nvSpPr>
          <p:cNvPr id="5" name="Rectangle 4"/>
          <p:cNvSpPr/>
          <p:nvPr/>
        </p:nvSpPr>
        <p:spPr>
          <a:xfrm>
            <a:off x="1440872" y="1484945"/>
            <a:ext cx="8118763" cy="1569660"/>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Disease prediction</a:t>
            </a:r>
          </a:p>
          <a:p>
            <a:pPr lvl="0" eaLnBrk="0" fontAlgn="base" hangingPunct="0">
              <a:spcBef>
                <a:spcPct val="0"/>
              </a:spcBef>
              <a:spcAft>
                <a:spcPct val="0"/>
              </a:spcAft>
              <a:buFontTx/>
              <a:buChar char="•"/>
            </a:pPr>
            <a:r>
              <a:rPr lang="en-US" altLang="en-US" sz="2400" dirty="0">
                <a:latin typeface="Arial" panose="020B0604020202020204" pitchFamily="34" charset="0"/>
              </a:rPr>
              <a:t>Precision medicine</a:t>
            </a:r>
          </a:p>
          <a:p>
            <a:pPr lvl="0" eaLnBrk="0" fontAlgn="base" hangingPunct="0">
              <a:spcBef>
                <a:spcPct val="0"/>
              </a:spcBef>
              <a:spcAft>
                <a:spcPct val="0"/>
              </a:spcAft>
              <a:buFontTx/>
              <a:buChar char="•"/>
            </a:pPr>
            <a:r>
              <a:rPr lang="en-US" altLang="en-US" sz="2400" dirty="0">
                <a:latin typeface="Arial" panose="020B0604020202020204" pitchFamily="34" charset="0"/>
              </a:rPr>
              <a:t>Genetic research</a:t>
            </a:r>
          </a:p>
          <a:p>
            <a:pPr lvl="0" eaLnBrk="0" fontAlgn="base" hangingPunct="0">
              <a:spcBef>
                <a:spcPct val="0"/>
              </a:spcBef>
              <a:spcAft>
                <a:spcPct val="0"/>
              </a:spcAft>
              <a:buFontTx/>
              <a:buChar char="•"/>
            </a:pPr>
            <a:r>
              <a:rPr lang="en-US" altLang="en-US" sz="2400" dirty="0">
                <a:latin typeface="Arial" panose="020B0604020202020204" pitchFamily="34" charset="0"/>
              </a:rPr>
              <a:t>Drug discovery</a:t>
            </a:r>
          </a:p>
        </p:txBody>
      </p:sp>
    </p:spTree>
    <p:extLst>
      <p:ext uri="{BB962C8B-B14F-4D97-AF65-F5344CB8AC3E}">
        <p14:creationId xmlns:p14="http://schemas.microsoft.com/office/powerpoint/2010/main" val="11276815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Challenges</a:t>
            </a:r>
          </a:p>
        </p:txBody>
      </p:sp>
      <p:sp>
        <p:nvSpPr>
          <p:cNvPr id="5" name="Rectangle 4"/>
          <p:cNvSpPr/>
          <p:nvPr/>
        </p:nvSpPr>
        <p:spPr>
          <a:xfrm>
            <a:off x="1662544" y="1690688"/>
            <a:ext cx="8562109" cy="1569660"/>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High-dimensional genomic data</a:t>
            </a:r>
          </a:p>
          <a:p>
            <a:pPr lvl="0" eaLnBrk="0" fontAlgn="base" hangingPunct="0">
              <a:spcBef>
                <a:spcPct val="0"/>
              </a:spcBef>
              <a:spcAft>
                <a:spcPct val="0"/>
              </a:spcAft>
              <a:buFontTx/>
              <a:buChar char="•"/>
            </a:pPr>
            <a:r>
              <a:rPr lang="en-US" altLang="en-US" sz="2400" dirty="0">
                <a:latin typeface="Arial" panose="020B0604020202020204" pitchFamily="34" charset="0"/>
              </a:rPr>
              <a:t>Class imbalance</a:t>
            </a:r>
          </a:p>
          <a:p>
            <a:pPr lvl="0" eaLnBrk="0" fontAlgn="base" hangingPunct="0">
              <a:spcBef>
                <a:spcPct val="0"/>
              </a:spcBef>
              <a:spcAft>
                <a:spcPct val="0"/>
              </a:spcAft>
              <a:buFontTx/>
              <a:buChar char="•"/>
            </a:pPr>
            <a:r>
              <a:rPr lang="en-US" altLang="en-US" sz="2400" dirty="0">
                <a:latin typeface="Arial" panose="020B0604020202020204" pitchFamily="34" charset="0"/>
              </a:rPr>
              <a:t>Lack of labeled datasets</a:t>
            </a:r>
          </a:p>
          <a:p>
            <a:pPr lvl="0" eaLnBrk="0" fontAlgn="base" hangingPunct="0">
              <a:spcBef>
                <a:spcPct val="0"/>
              </a:spcBef>
              <a:spcAft>
                <a:spcPct val="0"/>
              </a:spcAft>
              <a:buFontTx/>
              <a:buChar char="•"/>
            </a:pPr>
            <a:r>
              <a:rPr lang="en-US" altLang="en-US" sz="2400" dirty="0">
                <a:latin typeface="Arial" panose="020B0604020202020204" pitchFamily="34" charset="0"/>
              </a:rPr>
              <a:t>Complexity in biological interpretation</a:t>
            </a:r>
          </a:p>
        </p:txBody>
      </p:sp>
    </p:spTree>
    <p:extLst>
      <p:ext uri="{BB962C8B-B14F-4D97-AF65-F5344CB8AC3E}">
        <p14:creationId xmlns:p14="http://schemas.microsoft.com/office/powerpoint/2010/main" val="7391645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Scope</a:t>
            </a:r>
          </a:p>
        </p:txBody>
      </p:sp>
      <p:sp>
        <p:nvSpPr>
          <p:cNvPr id="3" name="Content Placeholder 2"/>
          <p:cNvSpPr>
            <a:spLocks noGrp="1"/>
          </p:cNvSpPr>
          <p:nvPr>
            <p:ph idx="1"/>
          </p:nvPr>
        </p:nvSpPr>
        <p:spPr/>
        <p:txBody>
          <a:bodyPr/>
          <a:lstStyle/>
          <a:p>
            <a:r>
              <a:rPr lang="en-US" dirty="0"/>
              <a:t>Use Deep Learning (CNN, LSTM)</a:t>
            </a:r>
          </a:p>
          <a:p>
            <a:r>
              <a:rPr lang="en-US" dirty="0"/>
              <a:t>Integrate real-time genomic pipelines</a:t>
            </a:r>
          </a:p>
          <a:p>
            <a:r>
              <a:rPr lang="en-US" dirty="0"/>
              <a:t>Use larger datasets</a:t>
            </a:r>
          </a:p>
          <a:p>
            <a:r>
              <a:rPr lang="en-US" dirty="0"/>
              <a:t>Deploy as a web application</a:t>
            </a:r>
          </a:p>
          <a:p>
            <a:r>
              <a:rPr lang="en-US" dirty="0"/>
              <a:t>Incorporate multi-omics data</a:t>
            </a:r>
          </a:p>
          <a:p>
            <a:endParaRPr lang="en-US" dirty="0"/>
          </a:p>
        </p:txBody>
      </p:sp>
    </p:spTree>
    <p:extLst>
      <p:ext uri="{BB962C8B-B14F-4D97-AF65-F5344CB8AC3E}">
        <p14:creationId xmlns:p14="http://schemas.microsoft.com/office/powerpoint/2010/main" val="3524040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This project demonstrates the effective use of machine learning in genomic data analysis. By integrating variant annotation and predictive modeling, the system can classify SNPs efficiently. The approach enhances the ability to interpret genetic variations and contributes to advancements in precision medicine.</a:t>
            </a:r>
          </a:p>
        </p:txBody>
      </p:sp>
    </p:spTree>
    <p:extLst>
      <p:ext uri="{BB962C8B-B14F-4D97-AF65-F5344CB8AC3E}">
        <p14:creationId xmlns:p14="http://schemas.microsoft.com/office/powerpoint/2010/main" val="35923598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534</Words>
  <Application>Microsoft Office PowerPoint</Application>
  <PresentationFormat>Widescreen</PresentationFormat>
  <Paragraphs>100</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Unicode MS</vt:lpstr>
      <vt:lpstr>Calibri</vt:lpstr>
      <vt:lpstr>Calibri Light</vt:lpstr>
      <vt:lpstr>CIDFont+F1</vt:lpstr>
      <vt:lpstr>Office Theme</vt:lpstr>
      <vt:lpstr>Variant Annotation Workflow to Classify SNPs from Genomic Data </vt:lpstr>
      <vt:lpstr>Google Colab URL</vt:lpstr>
      <vt:lpstr>Introduction</vt:lpstr>
      <vt:lpstr>Objectives</vt:lpstr>
      <vt:lpstr>Background</vt:lpstr>
      <vt:lpstr>Data Collection</vt:lpstr>
      <vt:lpstr>Data Preprocessing</vt:lpstr>
      <vt:lpstr>Feature Engineering</vt:lpstr>
      <vt:lpstr>Machine Learning Model</vt:lpstr>
      <vt:lpstr>Model Training</vt:lpstr>
      <vt:lpstr>Data Visualization </vt:lpstr>
      <vt:lpstr>Data Visualization</vt:lpstr>
      <vt:lpstr>Data Visualization</vt:lpstr>
      <vt:lpstr>Data Visualization </vt:lpstr>
      <vt:lpstr>Model Evaluation</vt:lpstr>
      <vt:lpstr>Results</vt:lpstr>
      <vt:lpstr>Applications</vt:lpstr>
      <vt:lpstr>Challenges</vt:lpstr>
      <vt:lpstr>Future Scope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Variant Annotation Workflow to Classify SNPs from Genomic Data </dc:title>
  <dc:creator>KUMAR</dc:creator>
  <cp:lastModifiedBy>KUMAR</cp:lastModifiedBy>
  <cp:revision>20</cp:revision>
  <dcterms:created xsi:type="dcterms:W3CDTF">2026-03-20T07:35:05Z</dcterms:created>
  <dcterms:modified xsi:type="dcterms:W3CDTF">2026-03-21T02:38:58Z</dcterms:modified>
</cp:coreProperties>
</file>