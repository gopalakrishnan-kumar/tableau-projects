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4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2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0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1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7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07CA-0597-4F3E-9B54-793AE993E8A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7CF01-D6E3-4221-A742-DD3021747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6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h_DjA0mpVUx2CsmjnrsgpLpybqwoxQdH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Transformers for Sequence-Based Drug–Target Binding Prediction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51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https://colab.research.google.com/drive/1h_DjA0mpVUx2CsmjnrsgpLpybqwoxQdH?usp=sharing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27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Drug–target interaction (DTI) prediction plays a crucial role in modern drug discovery by identifying potential binding relationships between chemical compounds and biological targets. Traditional experimental methods are time-consuming and expensive, motivating the adoption of </a:t>
            </a:r>
            <a:r>
              <a:rPr lang="en-US" b="1" dirty="0"/>
              <a:t>machine learning and deep learning approaches</a:t>
            </a:r>
            <a:r>
              <a:rPr lang="en-US" dirty="0"/>
              <a:t> to accelerate virtual screening</a:t>
            </a:r>
            <a:r>
              <a:rPr lang="en-US" dirty="0" smtClean="0"/>
              <a:t>.</a:t>
            </a:r>
          </a:p>
          <a:p>
            <a:r>
              <a:rPr lang="en-US" dirty="0"/>
              <a:t>Recent advances in </a:t>
            </a:r>
            <a:r>
              <a:rPr lang="en-US" b="1" dirty="0"/>
              <a:t>Transformer architectures</a:t>
            </a:r>
            <a:r>
              <a:rPr lang="en-US" dirty="0"/>
              <a:t>, originally developed for natural language processing, have demonstrated strong performance in sequence modeling tasks. Since both </a:t>
            </a:r>
            <a:r>
              <a:rPr lang="en-US" b="1" dirty="0"/>
              <a:t>drug molecules (SMILES sequences)</a:t>
            </a:r>
            <a:r>
              <a:rPr lang="en-US" dirty="0"/>
              <a:t> and </a:t>
            </a:r>
            <a:r>
              <a:rPr lang="en-US" b="1" dirty="0"/>
              <a:t>protein targets (amino acid sequences)</a:t>
            </a:r>
            <a:r>
              <a:rPr lang="en-US" dirty="0"/>
              <a:t> can be represented as sequences, Transformers are well-suited for modeling complex, long-range dependencies in drug–target binding prediction.</a:t>
            </a:r>
          </a:p>
          <a:p>
            <a:pPr marL="0" indent="0">
              <a:buNone/>
            </a:pPr>
            <a:r>
              <a:rPr lang="en-US" dirty="0"/>
              <a:t>This project explores the use of a </a:t>
            </a:r>
            <a:r>
              <a:rPr lang="en-US" b="1" dirty="0"/>
              <a:t>Transformer-based model</a:t>
            </a:r>
            <a:r>
              <a:rPr lang="en-US" dirty="0"/>
              <a:t> to predict binding affinity scores between drugs and targets and evaluates the predictions through multiple visualization techniques.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89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key objectives of this project are:</a:t>
            </a:r>
          </a:p>
          <a:p>
            <a:r>
              <a:rPr lang="en-US" dirty="0"/>
              <a:t>Predict drug–target binding affinity using Transformer-based sequence modeling</a:t>
            </a:r>
          </a:p>
          <a:p>
            <a:r>
              <a:rPr lang="en-US" dirty="0"/>
              <a:t>Analyze the distribution of predicted binding scores</a:t>
            </a:r>
          </a:p>
          <a:p>
            <a:r>
              <a:rPr lang="en-US" dirty="0"/>
              <a:t>Categorize interactions into weak, moderate, and strong binding classes</a:t>
            </a:r>
          </a:p>
          <a:p>
            <a:r>
              <a:rPr lang="en-US" dirty="0"/>
              <a:t>Assess toxicity-aware binding quality</a:t>
            </a:r>
          </a:p>
          <a:p>
            <a:r>
              <a:rPr lang="en-US" dirty="0"/>
              <a:t>Compare model performance across optimization rounds</a:t>
            </a:r>
          </a:p>
          <a:p>
            <a:r>
              <a:rPr lang="en-US" dirty="0"/>
              <a:t>Provide interpretable visualizations for decision-making in drug discovery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9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Due to limited access to large proprietary datasets, a </a:t>
            </a:r>
            <a:r>
              <a:rPr lang="en-US" b="1" dirty="0"/>
              <a:t>synthetic dataset</a:t>
            </a:r>
            <a:r>
              <a:rPr lang="en-US" dirty="0"/>
              <a:t> was generated to simulate realistic drug–target binding predictions inspired by real-world resources such as </a:t>
            </a:r>
            <a:r>
              <a:rPr lang="en-US" b="1" dirty="0" err="1"/>
              <a:t>DrugBank</a:t>
            </a:r>
            <a:r>
              <a:rPr lang="en-US" b="1" dirty="0"/>
              <a:t> and </a:t>
            </a:r>
            <a:r>
              <a:rPr lang="en-US" b="1" dirty="0" err="1"/>
              <a:t>BindingDB</a:t>
            </a:r>
            <a:r>
              <a:rPr lang="en-US" dirty="0"/>
              <a:t>.</a:t>
            </a:r>
          </a:p>
          <a:p>
            <a:r>
              <a:rPr lang="en-US" b="1" dirty="0"/>
              <a:t>Dataset Characteristics:</a:t>
            </a:r>
          </a:p>
          <a:p>
            <a:r>
              <a:rPr lang="en-US" b="1" dirty="0"/>
              <a:t>Drug representations:</a:t>
            </a:r>
            <a:r>
              <a:rPr lang="en-US" dirty="0"/>
              <a:t> Encoded molecular sequences (SMILES-like)</a:t>
            </a:r>
          </a:p>
          <a:p>
            <a:r>
              <a:rPr lang="en-US" b="1" dirty="0"/>
              <a:t>Target representations:</a:t>
            </a:r>
            <a:r>
              <a:rPr lang="en-US" dirty="0"/>
              <a:t> Protein amino acid sequences</a:t>
            </a:r>
          </a:p>
          <a:p>
            <a:r>
              <a:rPr lang="en-US" b="1" dirty="0"/>
              <a:t>Model output:</a:t>
            </a:r>
            <a:r>
              <a:rPr lang="en-US" dirty="0"/>
              <a:t> Continuous binding affinity scores (0–1 range)</a:t>
            </a:r>
          </a:p>
          <a:p>
            <a:r>
              <a:rPr lang="en-US" b="1" dirty="0"/>
              <a:t>Additional labels:</a:t>
            </a:r>
            <a:r>
              <a:rPr lang="en-US" dirty="0"/>
              <a:t> Toxic vs non-toxic interaction flags</a:t>
            </a:r>
          </a:p>
          <a:p>
            <a:r>
              <a:rPr lang="en-US" b="1" dirty="0"/>
              <a:t>Prediction rounds:</a:t>
            </a:r>
            <a:endParaRPr lang="en-US" dirty="0"/>
          </a:p>
          <a:p>
            <a:pPr lvl="1"/>
            <a:r>
              <a:rPr lang="en-US" dirty="0"/>
              <a:t>Round 1: Initial Transformer predictions</a:t>
            </a:r>
          </a:p>
          <a:p>
            <a:pPr lvl="1"/>
            <a:r>
              <a:rPr lang="en-US" dirty="0"/>
              <a:t>Round 2: Optimized Transformer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4.1 Model Architecture</a:t>
            </a:r>
          </a:p>
          <a:p>
            <a:r>
              <a:rPr lang="en-US" dirty="0"/>
              <a:t>Transformer encoder with self-attention</a:t>
            </a:r>
          </a:p>
          <a:p>
            <a:r>
              <a:rPr lang="en-US" dirty="0"/>
              <a:t>Positional encoding for sequence order</a:t>
            </a:r>
          </a:p>
          <a:p>
            <a:r>
              <a:rPr lang="en-US" dirty="0"/>
              <a:t>Fully connected output layer for affinity prediction</a:t>
            </a:r>
          </a:p>
          <a:p>
            <a:r>
              <a:rPr lang="en-US" b="1" dirty="0"/>
              <a:t>4.2 Prediction Pipeline</a:t>
            </a:r>
          </a:p>
          <a:p>
            <a:r>
              <a:rPr lang="en-US" dirty="0"/>
              <a:t>Input drug and protein sequences</a:t>
            </a:r>
          </a:p>
          <a:p>
            <a:r>
              <a:rPr lang="en-US" dirty="0"/>
              <a:t>Tokenization and embedding</a:t>
            </a:r>
          </a:p>
          <a:p>
            <a:r>
              <a:rPr lang="en-US" dirty="0"/>
              <a:t>Transformer-based encoding</a:t>
            </a:r>
          </a:p>
          <a:p>
            <a:r>
              <a:rPr lang="en-US" dirty="0"/>
              <a:t>Binding affinity score prediction</a:t>
            </a:r>
          </a:p>
          <a:p>
            <a:r>
              <a:rPr lang="en-US" dirty="0"/>
              <a:t>Post-processing for categorization and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71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155" y="1825625"/>
            <a:ext cx="7885689" cy="4351338"/>
          </a:xfrm>
        </p:spPr>
      </p:pic>
    </p:spTree>
    <p:extLst>
      <p:ext uri="{BB962C8B-B14F-4D97-AF65-F5344CB8AC3E}">
        <p14:creationId xmlns:p14="http://schemas.microsoft.com/office/powerpoint/2010/main" val="42632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5.1 Histogram Plot – Binding Score Distribution</a:t>
            </a:r>
          </a:p>
          <a:p>
            <a:r>
              <a:rPr lang="en-US" b="1" dirty="0"/>
              <a:t>Description:</a:t>
            </a:r>
          </a:p>
          <a:p>
            <a:r>
              <a:rPr lang="en-US" dirty="0"/>
              <a:t>The histogram visualizes the </a:t>
            </a:r>
            <a:r>
              <a:rPr lang="en-US" b="1" dirty="0"/>
              <a:t>distribution of predicted drug–target binding scores</a:t>
            </a:r>
            <a:r>
              <a:rPr lang="en-US" dirty="0"/>
              <a:t> produced by the Transformer model.</a:t>
            </a:r>
          </a:p>
          <a:p>
            <a:r>
              <a:rPr lang="en-US" b="1" dirty="0"/>
              <a:t>Observations:</a:t>
            </a:r>
          </a:p>
          <a:p>
            <a:r>
              <a:rPr lang="en-US" dirty="0"/>
              <a:t>Scores follow an approximately normal distribution</a:t>
            </a:r>
          </a:p>
          <a:p>
            <a:r>
              <a:rPr lang="en-US" dirty="0"/>
              <a:t>Majority of predictions cluster around moderate-to-high affinity</a:t>
            </a:r>
          </a:p>
          <a:p>
            <a:r>
              <a:rPr lang="en-US" dirty="0"/>
              <a:t>Few extreme low or high scores, indicating stable predictions</a:t>
            </a:r>
          </a:p>
          <a:p>
            <a:r>
              <a:rPr lang="en-US" b="1" dirty="0"/>
              <a:t>Interpretation:</a:t>
            </a:r>
          </a:p>
          <a:p>
            <a:r>
              <a:rPr lang="en-US" dirty="0"/>
              <a:t>This suggests that the Transformer model effectively captures general interaction patterns rather than producing random or highly skewed outputs.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7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393121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5.2 Bar Chart – Binding Strength Categories</a:t>
            </a:r>
          </a:p>
          <a:p>
            <a:r>
              <a:rPr lang="en-US" b="1" dirty="0"/>
              <a:t>Description:</a:t>
            </a:r>
          </a:p>
          <a:p>
            <a:r>
              <a:rPr lang="en-US" dirty="0"/>
              <a:t>Binding scores were discretized into:</a:t>
            </a:r>
          </a:p>
          <a:p>
            <a:r>
              <a:rPr lang="en-US" b="1" dirty="0"/>
              <a:t>Weak binding</a:t>
            </a:r>
            <a:endParaRPr lang="en-US" dirty="0"/>
          </a:p>
          <a:p>
            <a:r>
              <a:rPr lang="en-US" b="1" dirty="0"/>
              <a:t>Moderate binding</a:t>
            </a:r>
            <a:endParaRPr lang="en-US" dirty="0"/>
          </a:p>
          <a:p>
            <a:r>
              <a:rPr lang="en-US" b="1" dirty="0"/>
              <a:t>Strong binding</a:t>
            </a:r>
            <a:endParaRPr lang="en-US" dirty="0"/>
          </a:p>
          <a:p>
            <a:r>
              <a:rPr lang="en-US" dirty="0"/>
              <a:t>The bar chart displays the count of interactions in each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8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19255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5.3 Stacked Bar Chart – Binding Strength vs Toxicity</a:t>
            </a:r>
          </a:p>
          <a:p>
            <a:r>
              <a:rPr lang="en-US" b="1" dirty="0"/>
              <a:t>Description:</a:t>
            </a:r>
          </a:p>
          <a:p>
            <a:r>
              <a:rPr lang="en-US" dirty="0"/>
              <a:t>This plot stacks </a:t>
            </a:r>
            <a:r>
              <a:rPr lang="en-US" b="1" dirty="0"/>
              <a:t>toxic and non-toxic interactions</a:t>
            </a:r>
            <a:r>
              <a:rPr lang="en-US" dirty="0"/>
              <a:t> within each binding strength category.</a:t>
            </a:r>
          </a:p>
          <a:p>
            <a:r>
              <a:rPr lang="en-US" b="1" dirty="0"/>
              <a:t>Observations:</a:t>
            </a:r>
          </a:p>
          <a:p>
            <a:r>
              <a:rPr lang="en-US" dirty="0"/>
              <a:t>Non-toxic interactions dominate across all categories</a:t>
            </a:r>
          </a:p>
          <a:p>
            <a:r>
              <a:rPr lang="en-US" dirty="0"/>
              <a:t>Strong binding interactions show the </a:t>
            </a:r>
            <a:r>
              <a:rPr lang="en-US" b="1" dirty="0"/>
              <a:t>lowest toxicity proportion</a:t>
            </a:r>
            <a:endParaRPr lang="en-US" dirty="0"/>
          </a:p>
          <a:p>
            <a:r>
              <a:rPr lang="en-US" dirty="0"/>
              <a:t>Weak binding interactions contain relatively higher toxic fraction</a:t>
            </a:r>
          </a:p>
          <a:p>
            <a:r>
              <a:rPr lang="en-US" b="1" dirty="0"/>
              <a:t>Interpretation:</a:t>
            </a:r>
          </a:p>
          <a:p>
            <a:r>
              <a:rPr lang="en-US" dirty="0"/>
              <a:t>The Transformer model demonstrates toxicity-aware prediction behavior, which is critical for early-stage drug safety assessment.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7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01" y="1825625"/>
            <a:ext cx="8782598" cy="4351338"/>
          </a:xfrm>
        </p:spPr>
      </p:pic>
    </p:spTree>
    <p:extLst>
      <p:ext uri="{BB962C8B-B14F-4D97-AF65-F5344CB8AC3E}">
        <p14:creationId xmlns:p14="http://schemas.microsoft.com/office/powerpoint/2010/main" val="117463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5.4 Combined Stacked Bar Chart – Model Optimization Comparison</a:t>
            </a:r>
          </a:p>
          <a:p>
            <a:r>
              <a:rPr lang="en-US" b="1" dirty="0"/>
              <a:t>Description:</a:t>
            </a:r>
          </a:p>
          <a:p>
            <a:r>
              <a:rPr lang="en-US" dirty="0"/>
              <a:t>This combined visualization compares:</a:t>
            </a:r>
          </a:p>
          <a:p>
            <a:r>
              <a:rPr lang="en-US" b="1" dirty="0"/>
              <a:t>Round 1 vs Round 2 predictions</a:t>
            </a:r>
            <a:endParaRPr lang="en-US" dirty="0"/>
          </a:p>
          <a:p>
            <a:r>
              <a:rPr lang="en-US" dirty="0"/>
              <a:t>Stacked toxicity composition within each round</a:t>
            </a:r>
          </a:p>
          <a:p>
            <a:r>
              <a:rPr lang="en-US" dirty="0"/>
              <a:t>Grouped bars across binding strength categories</a:t>
            </a:r>
          </a:p>
          <a:p>
            <a:r>
              <a:rPr lang="en-US" b="1" dirty="0"/>
              <a:t>Observations:</a:t>
            </a:r>
          </a:p>
          <a:p>
            <a:r>
              <a:rPr lang="en-US" dirty="0"/>
              <a:t>Round 2 shows increased non-toxic interactions</a:t>
            </a:r>
          </a:p>
          <a:p>
            <a:r>
              <a:rPr lang="en-US" dirty="0"/>
              <a:t>Toxic interactions decrease after optimization</a:t>
            </a:r>
          </a:p>
          <a:p>
            <a:r>
              <a:rPr lang="en-US" dirty="0"/>
              <a:t>Strong binding non-toxic pairs increase notably in Round 2</a:t>
            </a:r>
          </a:p>
          <a:p>
            <a:r>
              <a:rPr lang="en-US" b="1" dirty="0"/>
              <a:t>Interpretation:</a:t>
            </a:r>
          </a:p>
          <a:p>
            <a:r>
              <a:rPr lang="en-US" dirty="0"/>
              <a:t>Model optimization significantly improves both </a:t>
            </a:r>
            <a:r>
              <a:rPr lang="en-US" b="1" dirty="0"/>
              <a:t>binding quality and safety</a:t>
            </a:r>
            <a:r>
              <a:rPr lang="en-US" dirty="0"/>
              <a:t>, confirming the effectiveness of Transformer fine-tuning.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8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Results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059559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041662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267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13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Binding Score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Stable, realistic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2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Dominant Binding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Moderate binding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494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Strong Binding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High non-toxic proportion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944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Optimization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Reduced toxicity, improved binding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08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Model 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Consistent predictions across rounds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746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44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Transformer-based DTI framework can be applied to:</a:t>
            </a:r>
          </a:p>
          <a:p>
            <a:r>
              <a:rPr lang="en-US" dirty="0"/>
              <a:t>Virtual screening of large compound libraries</a:t>
            </a:r>
          </a:p>
          <a:p>
            <a:r>
              <a:rPr lang="en-US" dirty="0"/>
              <a:t>Drug repurposing studies</a:t>
            </a:r>
          </a:p>
          <a:p>
            <a:r>
              <a:rPr lang="en-US" dirty="0"/>
              <a:t>Lead prioritization and optimization</a:t>
            </a:r>
          </a:p>
          <a:p>
            <a:r>
              <a:rPr lang="en-US" dirty="0"/>
              <a:t>Toxicity-aware drug discovery pipelines</a:t>
            </a:r>
          </a:p>
          <a:p>
            <a:r>
              <a:rPr lang="en-US" dirty="0"/>
              <a:t>Academic research and pharmaceutical R&amp;D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40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075" y="1690688"/>
            <a:ext cx="84707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Synthetic dataset used instead of fully real-world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No experimental validation included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Protein structural information not incorporated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Toxicity labels are simulated</a:t>
            </a:r>
          </a:p>
        </p:txBody>
      </p:sp>
    </p:spTree>
    <p:extLst>
      <p:ext uri="{BB962C8B-B14F-4D97-AF65-F5344CB8AC3E}">
        <p14:creationId xmlns:p14="http://schemas.microsoft.com/office/powerpoint/2010/main" val="199270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142" y="1389756"/>
            <a:ext cx="100936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Integration with </a:t>
            </a:r>
            <a:r>
              <a:rPr lang="en-US" altLang="en-US" sz="2400" b="1" dirty="0">
                <a:latin typeface="Arial" panose="020B0604020202020204" pitchFamily="34" charset="0"/>
              </a:rPr>
              <a:t>real datasets (</a:t>
            </a:r>
            <a:r>
              <a:rPr lang="en-US" altLang="en-US" sz="2400" b="1" dirty="0" err="1">
                <a:latin typeface="Arial" panose="020B0604020202020204" pitchFamily="34" charset="0"/>
              </a:rPr>
              <a:t>DrugBank</a:t>
            </a:r>
            <a:r>
              <a:rPr lang="en-US" altLang="en-US" sz="2400" b="1" dirty="0">
                <a:latin typeface="Arial" panose="020B0604020202020204" pitchFamily="34" charset="0"/>
              </a:rPr>
              <a:t>, </a:t>
            </a:r>
            <a:r>
              <a:rPr lang="en-US" altLang="en-US" sz="2400" b="1" dirty="0" err="1">
                <a:latin typeface="Arial" panose="020B0604020202020204" pitchFamily="34" charset="0"/>
              </a:rPr>
              <a:t>BindingDB</a:t>
            </a:r>
            <a:r>
              <a:rPr lang="en-US" altLang="en-US" sz="2400" b="1" dirty="0">
                <a:latin typeface="Arial" panose="020B0604020202020204" pitchFamily="34" charset="0"/>
              </a:rPr>
              <a:t>, </a:t>
            </a:r>
            <a:r>
              <a:rPr lang="en-US" altLang="en-US" sz="2400" b="1" dirty="0" err="1">
                <a:latin typeface="Arial" panose="020B0604020202020204" pitchFamily="34" charset="0"/>
              </a:rPr>
              <a:t>ChEMBL</a:t>
            </a:r>
            <a:r>
              <a:rPr lang="en-US" altLang="en-US" sz="2400" b="1" dirty="0">
                <a:latin typeface="Arial" panose="020B0604020202020204" pitchFamily="34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Incorporation of </a:t>
            </a:r>
            <a:r>
              <a:rPr lang="en-US" altLang="en-US" sz="2400" b="1" dirty="0">
                <a:latin typeface="Arial" panose="020B0604020202020204" pitchFamily="34" charset="0"/>
              </a:rPr>
              <a:t>Graph Neural Networks (GNNs)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Multi-task learning for affinity + toxicity + solubility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Transfer learning using pre-trained protein language models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Experimental wet-lab validation</a:t>
            </a:r>
          </a:p>
        </p:txBody>
      </p:sp>
    </p:spTree>
    <p:extLst>
      <p:ext uri="{BB962C8B-B14F-4D97-AF65-F5344CB8AC3E}">
        <p14:creationId xmlns:p14="http://schemas.microsoft.com/office/powerpoint/2010/main" val="393996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that </a:t>
            </a:r>
            <a:r>
              <a:rPr lang="en-US" b="1" dirty="0"/>
              <a:t>Transformer architectures are highly effective for sequence-based drug–target binding prediction</a:t>
            </a:r>
            <a:r>
              <a:rPr lang="en-US" dirty="0"/>
              <a:t>. Through comprehensive visual analysis, the model shows strong capability in identifying meaningful, non-toxic interactions while benefiting significantly from optimization. The approach is scalable, interpretable, and well-suited for real-world drug discovery workflows.</a:t>
            </a:r>
          </a:p>
        </p:txBody>
      </p:sp>
    </p:spTree>
    <p:extLst>
      <p:ext uri="{BB962C8B-B14F-4D97-AF65-F5344CB8AC3E}">
        <p14:creationId xmlns:p14="http://schemas.microsoft.com/office/powerpoint/2010/main" val="115394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NEWMIC~1</Template>
  <TotalTime>116</TotalTime>
  <Words>805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CIDFont+F1</vt:lpstr>
      <vt:lpstr>Office Theme</vt:lpstr>
      <vt:lpstr>Transformers for Sequence-Based Drug–Target Binding Prediction</vt:lpstr>
      <vt:lpstr>Google Colab URL</vt:lpstr>
      <vt:lpstr>Introduction</vt:lpstr>
      <vt:lpstr>Objectives</vt:lpstr>
      <vt:lpstr>Dataset Description</vt:lpstr>
      <vt:lpstr>Methodology</vt:lpstr>
      <vt:lpstr>Data Visualization </vt:lpstr>
      <vt:lpstr>Visualization &amp; Analysis</vt:lpstr>
      <vt:lpstr>Data Visualization </vt:lpstr>
      <vt:lpstr>Visualization &amp; Analysis</vt:lpstr>
      <vt:lpstr>Data Visualization </vt:lpstr>
      <vt:lpstr>Visualization &amp; Analysis</vt:lpstr>
      <vt:lpstr>Data Visualization</vt:lpstr>
      <vt:lpstr>Visualization &amp; Analysis</vt:lpstr>
      <vt:lpstr>Key Results Summary</vt:lpstr>
      <vt:lpstr>Applications</vt:lpstr>
      <vt:lpstr>Limitations</vt:lpstr>
      <vt:lpstr>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 for Sequence-Based Drug–Target Binding Prediction</dc:title>
  <dc:creator>KUMAR</dc:creator>
  <cp:lastModifiedBy>KUMAR</cp:lastModifiedBy>
  <cp:revision>23</cp:revision>
  <dcterms:created xsi:type="dcterms:W3CDTF">2025-12-25T05:50:21Z</dcterms:created>
  <dcterms:modified xsi:type="dcterms:W3CDTF">2025-12-28T12:42:36Z</dcterms:modified>
</cp:coreProperties>
</file>