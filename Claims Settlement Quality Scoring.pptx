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8A41671-3CB4-4039-8353-63729D81B68F}"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4108669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A41671-3CB4-4039-8353-63729D81B68F}"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3751722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8A41671-3CB4-4039-8353-63729D81B68F}"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674769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8A41671-3CB4-4039-8353-63729D81B68F}"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410804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8A41671-3CB4-4039-8353-63729D81B68F}"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2979572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8A41671-3CB4-4039-8353-63729D81B68F}"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48561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A41671-3CB4-4039-8353-63729D81B68F}"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2333108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8A41671-3CB4-4039-8353-63729D81B68F}"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111256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8A41671-3CB4-4039-8353-63729D81B68F}"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194785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A41671-3CB4-4039-8353-63729D81B68F}"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3713815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A41671-3CB4-4039-8353-63729D81B68F}"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874E28-9B19-4DD8-925B-962974BEFB8D}" type="slidenum">
              <a:rPr lang="en-US" smtClean="0"/>
              <a:t>‹#›</a:t>
            </a:fld>
            <a:endParaRPr lang="en-US"/>
          </a:p>
        </p:txBody>
      </p:sp>
    </p:spTree>
    <p:extLst>
      <p:ext uri="{BB962C8B-B14F-4D97-AF65-F5344CB8AC3E}">
        <p14:creationId xmlns:p14="http://schemas.microsoft.com/office/powerpoint/2010/main" val="2843026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A41671-3CB4-4039-8353-63729D81B68F}" type="datetimeFigureOut">
              <a:rPr lang="en-US" smtClean="0"/>
              <a:t>2/23/2026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874E28-9B19-4DD8-925B-962974BEFB8D}" type="slidenum">
              <a:rPr lang="en-US" smtClean="0"/>
              <a:t>‹#›</a:t>
            </a:fld>
            <a:endParaRPr lang="en-US"/>
          </a:p>
        </p:txBody>
      </p:sp>
    </p:spTree>
    <p:extLst>
      <p:ext uri="{BB962C8B-B14F-4D97-AF65-F5344CB8AC3E}">
        <p14:creationId xmlns:p14="http://schemas.microsoft.com/office/powerpoint/2010/main" val="1220265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fu7jaSLGfkO8mk8lfXAbQ6hCaH7MC-hx?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Claims Settlement Quality Scoring</a:t>
            </a:r>
            <a:endParaRPr lang="en-US" b="1" dirty="0"/>
          </a:p>
        </p:txBody>
      </p:sp>
      <p:sp>
        <p:nvSpPr>
          <p:cNvPr id="4" name="Subtitle 2"/>
          <p:cNvSpPr>
            <a:spLocks noGrp="1"/>
          </p:cNvSpPr>
          <p:nvPr>
            <p:ph type="subTitle" idx="1"/>
          </p:nvPr>
        </p:nvSpPr>
        <p:spPr>
          <a:xfrm>
            <a:off x="1524000" y="3602038"/>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38595457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https://colab.research.google.com/drive/1fu7jaSLGfkO8mk8lfXAbQ6hCaH7MC-hx?usp=sharing</a:t>
            </a:r>
            <a:endParaRPr lang="en-US" dirty="0" smtClean="0"/>
          </a:p>
          <a:p>
            <a:endParaRPr lang="en-US" dirty="0" smtClean="0"/>
          </a:p>
          <a:p>
            <a:endParaRPr lang="en-US" dirty="0"/>
          </a:p>
        </p:txBody>
      </p:sp>
    </p:spTree>
    <p:extLst>
      <p:ext uri="{BB962C8B-B14F-4D97-AF65-F5344CB8AC3E}">
        <p14:creationId xmlns:p14="http://schemas.microsoft.com/office/powerpoint/2010/main" val="15525357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Executive Summary</a:t>
            </a:r>
            <a:endParaRPr lang="en-US" b="1" dirty="0"/>
          </a:p>
        </p:txBody>
      </p:sp>
      <p:sp>
        <p:nvSpPr>
          <p:cNvPr id="3" name="Content Placeholder 2"/>
          <p:cNvSpPr>
            <a:spLocks noGrp="1"/>
          </p:cNvSpPr>
          <p:nvPr>
            <p:ph idx="1"/>
          </p:nvPr>
        </p:nvSpPr>
        <p:spPr/>
        <p:txBody>
          <a:bodyPr/>
          <a:lstStyle/>
          <a:p>
            <a:r>
              <a:rPr lang="en-US" dirty="0" smtClean="0"/>
              <a:t>Efficient and high-quality claim settlement is critical for insurance companies to maintain customer trust, regulatory compliance, and operational profitability. However, inconsistent processing time, repeated rework, fraud exposure, and poor customer satisfaction often reduce settlement effectiveness.</a:t>
            </a:r>
          </a:p>
          <a:p>
            <a:r>
              <a:rPr lang="en-US" dirty="0" smtClean="0"/>
              <a:t>This project introduces a </a:t>
            </a:r>
            <a:r>
              <a:rPr lang="en-US" b="1" dirty="0" smtClean="0"/>
              <a:t>multi-factor Claims Settlement Quality Scoring Framework</a:t>
            </a:r>
            <a:r>
              <a:rPr lang="en-US" dirty="0" smtClean="0"/>
              <a:t> that objectively measures settlement performance using operational, risk, and customer-centric metrics.</a:t>
            </a:r>
          </a:p>
          <a:p>
            <a:r>
              <a:rPr lang="en-US" dirty="0" smtClean="0"/>
              <a:t>The model standardizes claim evaluation and enables performance benchmarking across branches, teams, and claim types.</a:t>
            </a:r>
          </a:p>
          <a:p>
            <a:endParaRPr lang="en-US" dirty="0"/>
          </a:p>
        </p:txBody>
      </p:sp>
    </p:spTree>
    <p:extLst>
      <p:ext uri="{BB962C8B-B14F-4D97-AF65-F5344CB8AC3E}">
        <p14:creationId xmlns:p14="http://schemas.microsoft.com/office/powerpoint/2010/main" val="35981552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Business Problem</a:t>
            </a:r>
            <a:endParaRPr lang="en-US" b="1" dirty="0"/>
          </a:p>
        </p:txBody>
      </p:sp>
      <p:sp>
        <p:nvSpPr>
          <p:cNvPr id="3" name="Content Placeholder 2"/>
          <p:cNvSpPr>
            <a:spLocks noGrp="1"/>
          </p:cNvSpPr>
          <p:nvPr>
            <p:ph idx="1"/>
          </p:nvPr>
        </p:nvSpPr>
        <p:spPr/>
        <p:txBody>
          <a:bodyPr/>
          <a:lstStyle/>
          <a:p>
            <a:r>
              <a:rPr lang="en-US" dirty="0" smtClean="0"/>
              <a:t>Insurance companies face challenges such as:</a:t>
            </a:r>
          </a:p>
          <a:p>
            <a:r>
              <a:rPr lang="en-US" dirty="0" smtClean="0"/>
              <a:t>Delayed claim processing</a:t>
            </a:r>
          </a:p>
          <a:p>
            <a:r>
              <a:rPr lang="en-US" dirty="0" smtClean="0"/>
              <a:t>High rework frequency</a:t>
            </a:r>
          </a:p>
          <a:p>
            <a:r>
              <a:rPr lang="en-US" dirty="0" smtClean="0"/>
              <a:t>Fraud leakage</a:t>
            </a:r>
          </a:p>
          <a:p>
            <a:r>
              <a:rPr lang="en-US" dirty="0" smtClean="0"/>
              <a:t>Poor customer satisfaction ratings</a:t>
            </a:r>
          </a:p>
          <a:p>
            <a:r>
              <a:rPr lang="en-US" dirty="0" smtClean="0"/>
              <a:t>Lack of standardized quality measurement</a:t>
            </a:r>
          </a:p>
          <a:p>
            <a:r>
              <a:rPr lang="en-US" dirty="0" smtClean="0"/>
              <a:t>Without a measurable quality index, settlement performance remains subjective and difficult to optimize.</a:t>
            </a:r>
          </a:p>
          <a:p>
            <a:endParaRPr lang="en-US" dirty="0"/>
          </a:p>
        </p:txBody>
      </p:sp>
    </p:spTree>
    <p:extLst>
      <p:ext uri="{BB962C8B-B14F-4D97-AF65-F5344CB8AC3E}">
        <p14:creationId xmlns:p14="http://schemas.microsoft.com/office/powerpoint/2010/main" val="83649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Project Objectives</a:t>
            </a:r>
            <a:endParaRPr lang="en-US" b="1" dirty="0"/>
          </a:p>
        </p:txBody>
      </p:sp>
      <p:sp>
        <p:nvSpPr>
          <p:cNvPr id="3" name="Content Placeholder 2"/>
          <p:cNvSpPr>
            <a:spLocks noGrp="1"/>
          </p:cNvSpPr>
          <p:nvPr>
            <p:ph idx="1"/>
          </p:nvPr>
        </p:nvSpPr>
        <p:spPr/>
        <p:txBody>
          <a:bodyPr/>
          <a:lstStyle/>
          <a:p>
            <a:r>
              <a:rPr lang="en-US" dirty="0" smtClean="0"/>
              <a:t>The primary objectives are:</a:t>
            </a:r>
          </a:p>
          <a:p>
            <a:r>
              <a:rPr lang="en-US" dirty="0" smtClean="0"/>
              <a:t>Develop a weighted settlement quality score</a:t>
            </a:r>
          </a:p>
          <a:p>
            <a:r>
              <a:rPr lang="en-US" dirty="0" smtClean="0"/>
              <a:t>Quantify operational efficiency</a:t>
            </a:r>
          </a:p>
          <a:p>
            <a:r>
              <a:rPr lang="en-US" dirty="0" smtClean="0"/>
              <a:t>Measure fraud impact on quality</a:t>
            </a:r>
          </a:p>
          <a:p>
            <a:r>
              <a:rPr lang="en-US" dirty="0" smtClean="0"/>
              <a:t>Integrate customer satisfaction into performance scoring</a:t>
            </a:r>
          </a:p>
          <a:p>
            <a:r>
              <a:rPr lang="en-US" dirty="0" smtClean="0"/>
              <a:t>Provide data-driven visualization insights</a:t>
            </a:r>
          </a:p>
          <a:p>
            <a:r>
              <a:rPr lang="en-US" dirty="0" smtClean="0"/>
              <a:t>Enable performance benchmarking</a:t>
            </a:r>
          </a:p>
          <a:p>
            <a:endParaRPr lang="en-US" dirty="0"/>
          </a:p>
        </p:txBody>
      </p:sp>
    </p:spTree>
    <p:extLst>
      <p:ext uri="{BB962C8B-B14F-4D97-AF65-F5344CB8AC3E}">
        <p14:creationId xmlns:p14="http://schemas.microsoft.com/office/powerpoint/2010/main" val="26052226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Overview</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The simulated dataset includes:</a:t>
            </a:r>
          </a:p>
          <a:p>
            <a:r>
              <a:rPr lang="en-US" dirty="0" smtClean="0"/>
              <a:t>Processing Time (Days)</a:t>
            </a:r>
          </a:p>
          <a:p>
            <a:r>
              <a:rPr lang="en-US" dirty="0" smtClean="0"/>
              <a:t>Rework Count</a:t>
            </a:r>
          </a:p>
          <a:p>
            <a:r>
              <a:rPr lang="en-US" dirty="0" smtClean="0"/>
              <a:t>Fraud Flag (Yes/No)</a:t>
            </a:r>
          </a:p>
          <a:p>
            <a:r>
              <a:rPr lang="en-US" dirty="0" smtClean="0"/>
              <a:t>Customer Rating (1–5)</a:t>
            </a:r>
          </a:p>
          <a:p>
            <a:r>
              <a:rPr lang="en-US" dirty="0" smtClean="0"/>
              <a:t>Derived fields:</a:t>
            </a:r>
          </a:p>
          <a:p>
            <a:r>
              <a:rPr lang="en-US" dirty="0" smtClean="0"/>
              <a:t>Time Score (normalized efficiency metric)</a:t>
            </a:r>
          </a:p>
          <a:p>
            <a:r>
              <a:rPr lang="en-US" dirty="0" smtClean="0"/>
              <a:t>Rework Score (process accuracy metric)</a:t>
            </a:r>
          </a:p>
          <a:p>
            <a:r>
              <a:rPr lang="en-US" dirty="0" smtClean="0"/>
              <a:t>Fraud Score (risk discipline metric)</a:t>
            </a:r>
          </a:p>
          <a:p>
            <a:r>
              <a:rPr lang="en-US" dirty="0" smtClean="0"/>
              <a:t>Customer Score (service quality metric)</a:t>
            </a:r>
          </a:p>
          <a:p>
            <a:r>
              <a:rPr lang="en-US" dirty="0" smtClean="0"/>
              <a:t>Final Settlement Quality Score</a:t>
            </a:r>
          </a:p>
          <a:p>
            <a:endParaRPr lang="en-US" dirty="0"/>
          </a:p>
        </p:txBody>
      </p:sp>
    </p:spTree>
    <p:extLst>
      <p:ext uri="{BB962C8B-B14F-4D97-AF65-F5344CB8AC3E}">
        <p14:creationId xmlns:p14="http://schemas.microsoft.com/office/powerpoint/2010/main" val="17757758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Scoring Methodology</a:t>
            </a:r>
            <a:endParaRPr lang="en-US" b="1" dirty="0"/>
          </a:p>
        </p:txBody>
      </p:sp>
      <p:sp>
        <p:nvSpPr>
          <p:cNvPr id="3" name="Content Placeholder 2"/>
          <p:cNvSpPr>
            <a:spLocks noGrp="1"/>
          </p:cNvSpPr>
          <p:nvPr>
            <p:ph idx="1"/>
          </p:nvPr>
        </p:nvSpPr>
        <p:spPr/>
        <p:txBody>
          <a:bodyPr/>
          <a:lstStyle/>
          <a:p>
            <a:r>
              <a:rPr lang="en-US" b="1" dirty="0" smtClean="0"/>
              <a:t>5.1 Normalization Logic</a:t>
            </a:r>
          </a:p>
          <a:p>
            <a:r>
              <a:rPr lang="en-US" dirty="0" smtClean="0"/>
              <a:t>To ensure comparability:</a:t>
            </a:r>
          </a:p>
          <a:p>
            <a:r>
              <a:rPr lang="en-US" dirty="0" smtClean="0"/>
              <a:t>Lower processing time → Higher Time Score</a:t>
            </a:r>
          </a:p>
          <a:p>
            <a:r>
              <a:rPr lang="en-US" dirty="0" smtClean="0"/>
              <a:t>Lower rework → Higher Rework Score</a:t>
            </a:r>
          </a:p>
          <a:p>
            <a:r>
              <a:rPr lang="en-US" dirty="0" smtClean="0"/>
              <a:t>No fraud → Full Fraud Score</a:t>
            </a:r>
          </a:p>
          <a:p>
            <a:r>
              <a:rPr lang="en-US" dirty="0" smtClean="0"/>
              <a:t>Higher customer rating → Higher Customer Score</a:t>
            </a:r>
          </a:p>
          <a:p>
            <a:endParaRPr lang="en-US" dirty="0"/>
          </a:p>
        </p:txBody>
      </p:sp>
    </p:spTree>
    <p:extLst>
      <p:ext uri="{BB962C8B-B14F-4D97-AF65-F5344CB8AC3E}">
        <p14:creationId xmlns:p14="http://schemas.microsoft.com/office/powerpoint/2010/main" val="40778969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Scoring Methodology</a:t>
            </a:r>
            <a:endParaRPr lang="en-US" b="1" dirty="0"/>
          </a:p>
        </p:txBody>
      </p:sp>
      <p:sp>
        <p:nvSpPr>
          <p:cNvPr id="3" name="Content Placeholder 2"/>
          <p:cNvSpPr>
            <a:spLocks noGrp="1"/>
          </p:cNvSpPr>
          <p:nvPr>
            <p:ph idx="1"/>
          </p:nvPr>
        </p:nvSpPr>
        <p:spPr/>
        <p:txBody>
          <a:bodyPr/>
          <a:lstStyle/>
          <a:p>
            <a:r>
              <a:rPr lang="en-US" b="1" dirty="0" smtClean="0"/>
              <a:t>5.2 Weighted Model</a:t>
            </a:r>
          </a:p>
          <a:p>
            <a:r>
              <a:rPr lang="en-US" dirty="0" smtClean="0"/>
              <a:t>Final Settlement Quality Score is calculated as:</a:t>
            </a:r>
          </a:p>
          <a:p>
            <a:r>
              <a:rPr lang="en-US" dirty="0" smtClean="0"/>
              <a:t>Processing Efficiency → 30%</a:t>
            </a:r>
          </a:p>
          <a:p>
            <a:r>
              <a:rPr lang="en-US" dirty="0" smtClean="0"/>
              <a:t>Rework Control → 25%</a:t>
            </a:r>
          </a:p>
          <a:p>
            <a:r>
              <a:rPr lang="en-US" dirty="0" smtClean="0"/>
              <a:t>Fraud Discipline → 20%</a:t>
            </a:r>
          </a:p>
          <a:p>
            <a:r>
              <a:rPr lang="en-US" dirty="0" smtClean="0"/>
              <a:t>Customer Satisfaction → 25%</a:t>
            </a:r>
          </a:p>
          <a:p>
            <a:r>
              <a:rPr lang="en-US" dirty="0" smtClean="0"/>
              <a:t>This ensures a balanced operational-risk-customer framework.</a:t>
            </a:r>
          </a:p>
          <a:p>
            <a:endParaRPr lang="en-US" dirty="0"/>
          </a:p>
        </p:txBody>
      </p:sp>
    </p:spTree>
    <p:extLst>
      <p:ext uri="{BB962C8B-B14F-4D97-AF65-F5344CB8AC3E}">
        <p14:creationId xmlns:p14="http://schemas.microsoft.com/office/powerpoint/2010/main" val="7615499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Scoring Methodology</a:t>
            </a:r>
            <a:endParaRPr lang="en-US" b="1" dirty="0"/>
          </a:p>
        </p:txBody>
      </p:sp>
      <p:sp>
        <p:nvSpPr>
          <p:cNvPr id="3" name="Content Placeholder 2"/>
          <p:cNvSpPr>
            <a:spLocks noGrp="1"/>
          </p:cNvSpPr>
          <p:nvPr>
            <p:ph idx="1"/>
          </p:nvPr>
        </p:nvSpPr>
        <p:spPr/>
        <p:txBody>
          <a:bodyPr/>
          <a:lstStyle/>
          <a:p>
            <a:r>
              <a:rPr lang="en-US" b="1" dirty="0" smtClean="0"/>
              <a:t>5.3 Quality Categorization</a:t>
            </a:r>
          </a:p>
          <a:p>
            <a:r>
              <a:rPr lang="en-US" dirty="0" smtClean="0"/>
              <a:t>Scores are segmented into:</a:t>
            </a:r>
          </a:p>
          <a:p>
            <a:r>
              <a:rPr lang="en-US" b="1" dirty="0" smtClean="0"/>
              <a:t>Low Quality (0–0.5)</a:t>
            </a:r>
            <a:endParaRPr lang="en-US" dirty="0" smtClean="0"/>
          </a:p>
          <a:p>
            <a:r>
              <a:rPr lang="en-US" b="1" dirty="0" smtClean="0"/>
              <a:t>Medium Quality (0.5–0.75)</a:t>
            </a:r>
            <a:endParaRPr lang="en-US" dirty="0" smtClean="0"/>
          </a:p>
          <a:p>
            <a:r>
              <a:rPr lang="en-US" b="1" dirty="0" smtClean="0"/>
              <a:t>High Quality (0.75–1.0)</a:t>
            </a:r>
            <a:endParaRPr lang="en-US" dirty="0" smtClean="0"/>
          </a:p>
          <a:p>
            <a:r>
              <a:rPr lang="en-US" dirty="0" smtClean="0"/>
              <a:t>This enables clear managerial reporting.</a:t>
            </a:r>
          </a:p>
          <a:p>
            <a:endParaRPr lang="en-US" dirty="0"/>
          </a:p>
        </p:txBody>
      </p:sp>
    </p:spTree>
    <p:extLst>
      <p:ext uri="{BB962C8B-B14F-4D97-AF65-F5344CB8AC3E}">
        <p14:creationId xmlns:p14="http://schemas.microsoft.com/office/powerpoint/2010/main" val="3112868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6531" y="1921030"/>
            <a:ext cx="5138938" cy="4160528"/>
          </a:xfrm>
        </p:spPr>
      </p:pic>
    </p:spTree>
    <p:extLst>
      <p:ext uri="{BB962C8B-B14F-4D97-AF65-F5344CB8AC3E}">
        <p14:creationId xmlns:p14="http://schemas.microsoft.com/office/powerpoint/2010/main" val="27028387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Visualization &amp; Analytics</a:t>
            </a:r>
            <a:endParaRPr lang="en-US" b="1" dirty="0"/>
          </a:p>
        </p:txBody>
      </p:sp>
      <p:sp>
        <p:nvSpPr>
          <p:cNvPr id="3" name="Content Placeholder 2"/>
          <p:cNvSpPr>
            <a:spLocks noGrp="1"/>
          </p:cNvSpPr>
          <p:nvPr>
            <p:ph idx="1"/>
          </p:nvPr>
        </p:nvSpPr>
        <p:spPr/>
        <p:txBody>
          <a:bodyPr/>
          <a:lstStyle/>
          <a:p>
            <a:r>
              <a:rPr lang="en-US" b="1" dirty="0" smtClean="0"/>
              <a:t>6.1 Histogram – Quality Score Distribution</a:t>
            </a:r>
          </a:p>
          <a:p>
            <a:r>
              <a:rPr lang="en-US" b="1" dirty="0" smtClean="0"/>
              <a:t>Purpose:</a:t>
            </a:r>
            <a:r>
              <a:rPr lang="en-US" dirty="0" smtClean="0"/>
              <a:t/>
            </a:r>
            <a:br>
              <a:rPr lang="en-US" dirty="0" smtClean="0"/>
            </a:br>
            <a:r>
              <a:rPr lang="en-US" dirty="0" smtClean="0"/>
              <a:t>Displays spread of overall settlement quality scores.</a:t>
            </a:r>
          </a:p>
          <a:p>
            <a:r>
              <a:rPr lang="en-US" b="1" dirty="0" smtClean="0"/>
              <a:t>Insights:</a:t>
            </a:r>
            <a:endParaRPr lang="en-US" dirty="0" smtClean="0"/>
          </a:p>
          <a:p>
            <a:r>
              <a:rPr lang="en-US" dirty="0" smtClean="0"/>
              <a:t>Majority of claims fall within medium-to-high quality range</a:t>
            </a:r>
          </a:p>
          <a:p>
            <a:r>
              <a:rPr lang="en-US" dirty="0" smtClean="0"/>
              <a:t>Low-score outliers indicate operational inefficiencies</a:t>
            </a:r>
          </a:p>
          <a:p>
            <a:r>
              <a:rPr lang="en-US" b="1" dirty="0" smtClean="0"/>
              <a:t>Business Value:</a:t>
            </a:r>
            <a:r>
              <a:rPr lang="en-US" dirty="0" smtClean="0"/>
              <a:t/>
            </a:r>
            <a:br>
              <a:rPr lang="en-US" dirty="0" smtClean="0"/>
            </a:br>
            <a:r>
              <a:rPr lang="en-US" dirty="0" smtClean="0"/>
              <a:t>Helps identify SLA risk areas.</a:t>
            </a:r>
          </a:p>
          <a:p>
            <a:endParaRPr lang="en-US" dirty="0"/>
          </a:p>
        </p:txBody>
      </p:sp>
    </p:spTree>
    <p:extLst>
      <p:ext uri="{BB962C8B-B14F-4D97-AF65-F5344CB8AC3E}">
        <p14:creationId xmlns:p14="http://schemas.microsoft.com/office/powerpoint/2010/main" val="42142888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5383" y="1921030"/>
            <a:ext cx="5221234" cy="4160528"/>
          </a:xfrm>
        </p:spPr>
      </p:pic>
    </p:spTree>
    <p:extLst>
      <p:ext uri="{BB962C8B-B14F-4D97-AF65-F5344CB8AC3E}">
        <p14:creationId xmlns:p14="http://schemas.microsoft.com/office/powerpoint/2010/main" val="15370401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&amp; Analytics</a:t>
            </a:r>
          </a:p>
        </p:txBody>
      </p:sp>
      <p:sp>
        <p:nvSpPr>
          <p:cNvPr id="3" name="Content Placeholder 2"/>
          <p:cNvSpPr>
            <a:spLocks noGrp="1"/>
          </p:cNvSpPr>
          <p:nvPr>
            <p:ph idx="1"/>
          </p:nvPr>
        </p:nvSpPr>
        <p:spPr/>
        <p:txBody>
          <a:bodyPr/>
          <a:lstStyle/>
          <a:p>
            <a:r>
              <a:rPr lang="en-US" b="1" dirty="0"/>
              <a:t>6.2 Bar Chart – Quality Category Distribution</a:t>
            </a:r>
          </a:p>
          <a:p>
            <a:r>
              <a:rPr lang="en-US" b="1" dirty="0"/>
              <a:t>Purpose:</a:t>
            </a:r>
            <a:r>
              <a:rPr lang="en-US" dirty="0"/>
              <a:t/>
            </a:r>
            <a:br>
              <a:rPr lang="en-US" dirty="0"/>
            </a:br>
            <a:r>
              <a:rPr lang="en-US" dirty="0"/>
              <a:t>Shows volume of Low, Medium, and High Quality settlements.</a:t>
            </a:r>
          </a:p>
          <a:p>
            <a:r>
              <a:rPr lang="en-US" b="1" dirty="0"/>
              <a:t>Insights:</a:t>
            </a:r>
            <a:endParaRPr lang="en-US" dirty="0"/>
          </a:p>
          <a:p>
            <a:r>
              <a:rPr lang="en-US" dirty="0"/>
              <a:t>Medium Quality dominates</a:t>
            </a:r>
          </a:p>
          <a:p>
            <a:r>
              <a:rPr lang="en-US" dirty="0"/>
              <a:t>High Quality represents operational excellence</a:t>
            </a:r>
          </a:p>
          <a:p>
            <a:r>
              <a:rPr lang="en-US" dirty="0"/>
              <a:t>Low Quality indicates improvement areas</a:t>
            </a:r>
          </a:p>
          <a:p>
            <a:r>
              <a:rPr lang="en-US" b="1" dirty="0"/>
              <a:t>Business Value:</a:t>
            </a:r>
            <a:r>
              <a:rPr lang="en-US" dirty="0"/>
              <a:t/>
            </a:r>
            <a:br>
              <a:rPr lang="en-US" dirty="0"/>
            </a:br>
            <a:r>
              <a:rPr lang="en-US" dirty="0"/>
              <a:t>Supports team performance benchmarking</a:t>
            </a:r>
          </a:p>
          <a:p>
            <a:endParaRPr lang="en-US" dirty="0"/>
          </a:p>
        </p:txBody>
      </p:sp>
    </p:spTree>
    <p:extLst>
      <p:ext uri="{BB962C8B-B14F-4D97-AF65-F5344CB8AC3E}">
        <p14:creationId xmlns:p14="http://schemas.microsoft.com/office/powerpoint/2010/main" val="1722872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5383" y="1921030"/>
            <a:ext cx="5221234" cy="4160528"/>
          </a:xfrm>
        </p:spPr>
      </p:pic>
    </p:spTree>
    <p:extLst>
      <p:ext uri="{BB962C8B-B14F-4D97-AF65-F5344CB8AC3E}">
        <p14:creationId xmlns:p14="http://schemas.microsoft.com/office/powerpoint/2010/main" val="72136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&amp; Analytics</a:t>
            </a:r>
          </a:p>
        </p:txBody>
      </p:sp>
      <p:sp>
        <p:nvSpPr>
          <p:cNvPr id="3" name="Content Placeholder 2"/>
          <p:cNvSpPr>
            <a:spLocks noGrp="1"/>
          </p:cNvSpPr>
          <p:nvPr>
            <p:ph idx="1"/>
          </p:nvPr>
        </p:nvSpPr>
        <p:spPr/>
        <p:txBody>
          <a:bodyPr/>
          <a:lstStyle/>
          <a:p>
            <a:r>
              <a:rPr lang="en-US" b="1" dirty="0"/>
              <a:t>6.3 Stacked Bar Chart – Quality vs Fraud</a:t>
            </a:r>
          </a:p>
          <a:p>
            <a:r>
              <a:rPr lang="en-US" b="1" dirty="0"/>
              <a:t>Purpose:</a:t>
            </a:r>
            <a:r>
              <a:rPr lang="en-US" dirty="0"/>
              <a:t/>
            </a:r>
            <a:br>
              <a:rPr lang="en-US" dirty="0"/>
            </a:br>
            <a:r>
              <a:rPr lang="en-US" dirty="0"/>
              <a:t>Breaks down fraud presence across quality categories.</a:t>
            </a:r>
          </a:p>
          <a:p>
            <a:r>
              <a:rPr lang="en-US" b="1" dirty="0"/>
              <a:t>Insights:</a:t>
            </a:r>
            <a:endParaRPr lang="en-US" dirty="0"/>
          </a:p>
          <a:p>
            <a:r>
              <a:rPr lang="en-US" dirty="0"/>
              <a:t>Fraud cases concentrate in Low Quality settlements</a:t>
            </a:r>
          </a:p>
          <a:p>
            <a:r>
              <a:rPr lang="en-US" dirty="0"/>
              <a:t>High Quality settlements show minimal fraud impact</a:t>
            </a:r>
          </a:p>
          <a:p>
            <a:r>
              <a:rPr lang="en-US" b="1" dirty="0"/>
              <a:t>Business Value:</a:t>
            </a:r>
            <a:r>
              <a:rPr lang="en-US" dirty="0"/>
              <a:t/>
            </a:r>
            <a:br>
              <a:rPr lang="en-US" dirty="0"/>
            </a:br>
            <a:r>
              <a:rPr lang="en-US" dirty="0"/>
              <a:t>Establishes direct relationship between process discipline and fraud control.</a:t>
            </a:r>
          </a:p>
          <a:p>
            <a:endParaRPr lang="en-US" dirty="0"/>
          </a:p>
        </p:txBody>
      </p:sp>
    </p:spTree>
    <p:extLst>
      <p:ext uri="{BB962C8B-B14F-4D97-AF65-F5344CB8AC3E}">
        <p14:creationId xmlns:p14="http://schemas.microsoft.com/office/powerpoint/2010/main" val="3643070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5383" y="1921030"/>
            <a:ext cx="5221234" cy="4160528"/>
          </a:xfrm>
        </p:spPr>
      </p:pic>
    </p:spTree>
    <p:extLst>
      <p:ext uri="{BB962C8B-B14F-4D97-AF65-F5344CB8AC3E}">
        <p14:creationId xmlns:p14="http://schemas.microsoft.com/office/powerpoint/2010/main" val="2390917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&amp; Analytics</a:t>
            </a:r>
          </a:p>
        </p:txBody>
      </p:sp>
      <p:sp>
        <p:nvSpPr>
          <p:cNvPr id="3" name="Content Placeholder 2"/>
          <p:cNvSpPr>
            <a:spLocks noGrp="1"/>
          </p:cNvSpPr>
          <p:nvPr>
            <p:ph idx="1"/>
          </p:nvPr>
        </p:nvSpPr>
        <p:spPr/>
        <p:txBody>
          <a:bodyPr>
            <a:normAutofit lnSpcReduction="10000"/>
          </a:bodyPr>
          <a:lstStyle/>
          <a:p>
            <a:r>
              <a:rPr lang="en-US" b="1" dirty="0"/>
              <a:t>6.4 Combined Stacked Bar Chart – Executive Dashboard View</a:t>
            </a:r>
          </a:p>
          <a:p>
            <a:r>
              <a:rPr lang="en-US" b="1" dirty="0"/>
              <a:t>Purpose:</a:t>
            </a:r>
            <a:r>
              <a:rPr lang="en-US" dirty="0"/>
              <a:t/>
            </a:r>
            <a:br>
              <a:rPr lang="en-US" dirty="0"/>
            </a:br>
            <a:r>
              <a:rPr lang="en-US" dirty="0"/>
              <a:t>Displays total claim volume per quality category with fraud composition.</a:t>
            </a:r>
          </a:p>
          <a:p>
            <a:r>
              <a:rPr lang="en-US" b="1" dirty="0"/>
              <a:t>Insights:</a:t>
            </a:r>
            <a:endParaRPr lang="en-US" dirty="0"/>
          </a:p>
          <a:p>
            <a:r>
              <a:rPr lang="en-US" dirty="0"/>
              <a:t>Clear fraud-risk concentration in low-quality group</a:t>
            </a:r>
          </a:p>
          <a:p>
            <a:r>
              <a:rPr lang="en-US" dirty="0"/>
              <a:t>Medium Quality drives operational workload</a:t>
            </a:r>
          </a:p>
          <a:p>
            <a:r>
              <a:rPr lang="en-US" dirty="0"/>
              <a:t>High Quality represents best-practice settlement processes</a:t>
            </a:r>
          </a:p>
          <a:p>
            <a:r>
              <a:rPr lang="en-US" b="1" dirty="0"/>
              <a:t>Business Value:</a:t>
            </a:r>
            <a:r>
              <a:rPr lang="en-US" dirty="0"/>
              <a:t/>
            </a:r>
            <a:br>
              <a:rPr lang="en-US" dirty="0"/>
            </a:br>
            <a:r>
              <a:rPr lang="en-US" dirty="0"/>
              <a:t>Board-level performance monitoring.</a:t>
            </a:r>
          </a:p>
          <a:p>
            <a:endParaRPr lang="en-US" dirty="0"/>
          </a:p>
        </p:txBody>
      </p:sp>
    </p:spTree>
    <p:extLst>
      <p:ext uri="{BB962C8B-B14F-4D97-AF65-F5344CB8AC3E}">
        <p14:creationId xmlns:p14="http://schemas.microsoft.com/office/powerpoint/2010/main" val="3556410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Insights</a:t>
            </a:r>
          </a:p>
        </p:txBody>
      </p:sp>
      <p:sp>
        <p:nvSpPr>
          <p:cNvPr id="5" name="Rectangle 4"/>
          <p:cNvSpPr/>
          <p:nvPr/>
        </p:nvSpPr>
        <p:spPr>
          <a:xfrm>
            <a:off x="1519988" y="1883949"/>
            <a:ext cx="9007644" cy="3108543"/>
          </a:xfrm>
          <a:prstGeom prst="rect">
            <a:avLst/>
          </a:prstGeom>
        </p:spPr>
        <p:txBody>
          <a:bodyPr wrap="square">
            <a:spAutoFit/>
          </a:bodyPr>
          <a:lstStyle/>
          <a:p>
            <a:pPr lvl="0" eaLnBrk="0" fontAlgn="base" hangingPunct="0">
              <a:spcBef>
                <a:spcPct val="0"/>
              </a:spcBef>
              <a:spcAft>
                <a:spcPct val="0"/>
              </a:spcAft>
              <a:buFontTx/>
              <a:buChar char="•"/>
            </a:pPr>
            <a:r>
              <a:rPr lang="en-US" altLang="en-US" sz="2800" b="1" dirty="0"/>
              <a:t>Settlement quality strongly correlates with fraud exposure</a:t>
            </a:r>
          </a:p>
          <a:p>
            <a:pPr lvl="0" eaLnBrk="0" fontAlgn="base" hangingPunct="0">
              <a:spcBef>
                <a:spcPct val="0"/>
              </a:spcBef>
              <a:spcAft>
                <a:spcPct val="0"/>
              </a:spcAft>
              <a:buFontTx/>
              <a:buChar char="•"/>
            </a:pPr>
            <a:r>
              <a:rPr lang="en-US" altLang="en-US" sz="2800" b="1" dirty="0"/>
              <a:t>Rework frequency significantly reduces overall quality score</a:t>
            </a:r>
          </a:p>
          <a:p>
            <a:pPr lvl="0" eaLnBrk="0" fontAlgn="base" hangingPunct="0">
              <a:spcBef>
                <a:spcPct val="0"/>
              </a:spcBef>
              <a:spcAft>
                <a:spcPct val="0"/>
              </a:spcAft>
              <a:buFontTx/>
              <a:buChar char="•"/>
            </a:pPr>
            <a:r>
              <a:rPr lang="en-US" altLang="en-US" sz="2800" b="1" dirty="0"/>
              <a:t>Customer satisfaction improves when processing time decreases</a:t>
            </a:r>
          </a:p>
          <a:p>
            <a:pPr lvl="0" eaLnBrk="0" fontAlgn="base" hangingPunct="0">
              <a:spcBef>
                <a:spcPct val="0"/>
              </a:spcBef>
              <a:spcAft>
                <a:spcPct val="0"/>
              </a:spcAft>
              <a:buFontTx/>
              <a:buChar char="•"/>
            </a:pPr>
            <a:r>
              <a:rPr lang="en-US" altLang="en-US" sz="2800" b="1" dirty="0"/>
              <a:t>High-quality settlements show operational consistency</a:t>
            </a:r>
          </a:p>
          <a:p>
            <a:pPr lvl="0" eaLnBrk="0" fontAlgn="base" hangingPunct="0">
              <a:spcBef>
                <a:spcPct val="0"/>
              </a:spcBef>
              <a:spcAft>
                <a:spcPct val="0"/>
              </a:spcAft>
              <a:buFontTx/>
              <a:buChar char="•"/>
            </a:pPr>
            <a:r>
              <a:rPr lang="en-US" altLang="en-US" sz="2800" b="1" dirty="0"/>
              <a:t>Low-quality clusters signal process breakdown</a:t>
            </a:r>
          </a:p>
        </p:txBody>
      </p:sp>
    </p:spTree>
    <p:extLst>
      <p:ext uri="{BB962C8B-B14F-4D97-AF65-F5344CB8AC3E}">
        <p14:creationId xmlns:p14="http://schemas.microsoft.com/office/powerpoint/2010/main" val="1319993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Strategic Business Impact</a:t>
            </a:r>
          </a:p>
        </p:txBody>
      </p:sp>
      <p:sp>
        <p:nvSpPr>
          <p:cNvPr id="3" name="Content Placeholder 2"/>
          <p:cNvSpPr>
            <a:spLocks noGrp="1"/>
          </p:cNvSpPr>
          <p:nvPr>
            <p:ph idx="1"/>
          </p:nvPr>
        </p:nvSpPr>
        <p:spPr/>
        <p:txBody>
          <a:bodyPr/>
          <a:lstStyle/>
          <a:p>
            <a:r>
              <a:rPr lang="en-US" dirty="0"/>
              <a:t>Implementing a Quality Scoring Framework enables:</a:t>
            </a:r>
          </a:p>
          <a:p>
            <a:r>
              <a:rPr lang="en-US" dirty="0"/>
              <a:t>Standardized performance measurement</a:t>
            </a:r>
          </a:p>
          <a:p>
            <a:r>
              <a:rPr lang="en-US" dirty="0"/>
              <a:t>Early fraud-risk detection</a:t>
            </a:r>
          </a:p>
          <a:p>
            <a:r>
              <a:rPr lang="en-US" dirty="0"/>
              <a:t>Reduced claim leakage</a:t>
            </a:r>
          </a:p>
          <a:p>
            <a:r>
              <a:rPr lang="en-US" dirty="0"/>
              <a:t>Improved customer retention</a:t>
            </a:r>
          </a:p>
          <a:p>
            <a:r>
              <a:rPr lang="en-US" dirty="0"/>
              <a:t>Data-driven operational governance</a:t>
            </a:r>
          </a:p>
          <a:p>
            <a:r>
              <a:rPr lang="en-US" dirty="0"/>
              <a:t>Branch/team ranking capability</a:t>
            </a:r>
          </a:p>
          <a:p>
            <a:endParaRPr lang="en-US" dirty="0"/>
          </a:p>
        </p:txBody>
      </p:sp>
    </p:spTree>
    <p:extLst>
      <p:ext uri="{BB962C8B-B14F-4D97-AF65-F5344CB8AC3E}">
        <p14:creationId xmlns:p14="http://schemas.microsoft.com/office/powerpoint/2010/main" val="2458939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Operational Benefits</a:t>
            </a:r>
          </a:p>
        </p:txBody>
      </p:sp>
      <p:sp>
        <p:nvSpPr>
          <p:cNvPr id="5" name="Rectangle 4"/>
          <p:cNvSpPr/>
          <p:nvPr/>
        </p:nvSpPr>
        <p:spPr>
          <a:xfrm>
            <a:off x="1375609" y="1884220"/>
            <a:ext cx="8754979" cy="2246769"/>
          </a:xfrm>
          <a:prstGeom prst="rect">
            <a:avLst/>
          </a:prstGeom>
        </p:spPr>
        <p:txBody>
          <a:bodyPr wrap="square">
            <a:spAutoFit/>
          </a:bodyPr>
          <a:lstStyle/>
          <a:p>
            <a:pPr lvl="0" eaLnBrk="0" fontAlgn="base" hangingPunct="0">
              <a:spcBef>
                <a:spcPct val="0"/>
              </a:spcBef>
              <a:spcAft>
                <a:spcPct val="0"/>
              </a:spcAft>
              <a:buFontTx/>
              <a:buChar char="•"/>
            </a:pPr>
            <a:r>
              <a:rPr lang="en-US" altLang="en-US" sz="2800" dirty="0"/>
              <a:t>Faster SLA adherence</a:t>
            </a:r>
          </a:p>
          <a:p>
            <a:pPr lvl="0" eaLnBrk="0" fontAlgn="base" hangingPunct="0">
              <a:spcBef>
                <a:spcPct val="0"/>
              </a:spcBef>
              <a:spcAft>
                <a:spcPct val="0"/>
              </a:spcAft>
              <a:buFontTx/>
              <a:buChar char="•"/>
            </a:pPr>
            <a:r>
              <a:rPr lang="en-US" altLang="en-US" sz="2800" dirty="0"/>
              <a:t>Reduced manual rework cost</a:t>
            </a:r>
          </a:p>
          <a:p>
            <a:pPr lvl="0" eaLnBrk="0" fontAlgn="base" hangingPunct="0">
              <a:spcBef>
                <a:spcPct val="0"/>
              </a:spcBef>
              <a:spcAft>
                <a:spcPct val="0"/>
              </a:spcAft>
              <a:buFontTx/>
              <a:buChar char="•"/>
            </a:pPr>
            <a:r>
              <a:rPr lang="en-US" altLang="en-US" sz="2800" dirty="0"/>
              <a:t>Improved customer trust</a:t>
            </a:r>
          </a:p>
          <a:p>
            <a:pPr lvl="0" eaLnBrk="0" fontAlgn="base" hangingPunct="0">
              <a:spcBef>
                <a:spcPct val="0"/>
              </a:spcBef>
              <a:spcAft>
                <a:spcPct val="0"/>
              </a:spcAft>
              <a:buFontTx/>
              <a:buChar char="•"/>
            </a:pPr>
            <a:r>
              <a:rPr lang="en-US" altLang="en-US" sz="2800" dirty="0"/>
              <a:t>Risk-adjusted settlement control</a:t>
            </a:r>
          </a:p>
          <a:p>
            <a:pPr lvl="0" eaLnBrk="0" fontAlgn="base" hangingPunct="0">
              <a:spcBef>
                <a:spcPct val="0"/>
              </a:spcBef>
              <a:spcAft>
                <a:spcPct val="0"/>
              </a:spcAft>
              <a:buFontTx/>
              <a:buChar char="•"/>
            </a:pPr>
            <a:r>
              <a:rPr lang="en-US" altLang="en-US" sz="2800" dirty="0"/>
              <a:t>Transparent audit mechanism</a:t>
            </a:r>
          </a:p>
        </p:txBody>
      </p:sp>
    </p:spTree>
    <p:extLst>
      <p:ext uri="{BB962C8B-B14F-4D97-AF65-F5344CB8AC3E}">
        <p14:creationId xmlns:p14="http://schemas.microsoft.com/office/powerpoint/2010/main" val="2593483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Limitations</a:t>
            </a:r>
          </a:p>
        </p:txBody>
      </p:sp>
      <p:sp>
        <p:nvSpPr>
          <p:cNvPr id="5" name="Rectangle 4"/>
          <p:cNvSpPr/>
          <p:nvPr/>
        </p:nvSpPr>
        <p:spPr>
          <a:xfrm>
            <a:off x="1243263" y="1690688"/>
            <a:ext cx="7070558" cy="1815882"/>
          </a:xfrm>
          <a:prstGeom prst="rect">
            <a:avLst/>
          </a:prstGeom>
        </p:spPr>
        <p:txBody>
          <a:bodyPr wrap="square">
            <a:spAutoFit/>
          </a:bodyPr>
          <a:lstStyle/>
          <a:p>
            <a:pPr lvl="0" eaLnBrk="0" fontAlgn="base" hangingPunct="0">
              <a:spcBef>
                <a:spcPct val="0"/>
              </a:spcBef>
              <a:spcAft>
                <a:spcPct val="0"/>
              </a:spcAft>
              <a:buFontTx/>
              <a:buChar char="•"/>
            </a:pPr>
            <a:r>
              <a:rPr lang="en-US" altLang="en-US" sz="2800" dirty="0"/>
              <a:t>Simulated dataset</a:t>
            </a:r>
          </a:p>
          <a:p>
            <a:pPr lvl="0" eaLnBrk="0" fontAlgn="base" hangingPunct="0">
              <a:spcBef>
                <a:spcPct val="0"/>
              </a:spcBef>
              <a:spcAft>
                <a:spcPct val="0"/>
              </a:spcAft>
              <a:buFontTx/>
              <a:buChar char="•"/>
            </a:pPr>
            <a:r>
              <a:rPr lang="en-US" altLang="en-US" sz="2800" dirty="0"/>
              <a:t>Static weight assignments</a:t>
            </a:r>
          </a:p>
          <a:p>
            <a:pPr lvl="0" eaLnBrk="0" fontAlgn="base" hangingPunct="0">
              <a:spcBef>
                <a:spcPct val="0"/>
              </a:spcBef>
              <a:spcAft>
                <a:spcPct val="0"/>
              </a:spcAft>
              <a:buFontTx/>
              <a:buChar char="•"/>
            </a:pPr>
            <a:r>
              <a:rPr lang="en-US" altLang="en-US" sz="2800" dirty="0"/>
              <a:t>No predictive ML enhancement</a:t>
            </a:r>
          </a:p>
          <a:p>
            <a:pPr lvl="0" eaLnBrk="0" fontAlgn="base" hangingPunct="0">
              <a:spcBef>
                <a:spcPct val="0"/>
              </a:spcBef>
              <a:spcAft>
                <a:spcPct val="0"/>
              </a:spcAft>
              <a:buFontTx/>
              <a:buChar char="•"/>
            </a:pPr>
            <a:r>
              <a:rPr lang="en-US" altLang="en-US" sz="2800" dirty="0"/>
              <a:t>No real-time integration</a:t>
            </a:r>
          </a:p>
        </p:txBody>
      </p:sp>
    </p:spTree>
    <p:extLst>
      <p:ext uri="{BB962C8B-B14F-4D97-AF65-F5344CB8AC3E}">
        <p14:creationId xmlns:p14="http://schemas.microsoft.com/office/powerpoint/2010/main" val="809765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Enhancements</a:t>
            </a:r>
          </a:p>
        </p:txBody>
      </p:sp>
      <p:sp>
        <p:nvSpPr>
          <p:cNvPr id="4" name="Rectangle 1"/>
          <p:cNvSpPr>
            <a:spLocks noGrp="1" noChangeArrowheads="1"/>
          </p:cNvSpPr>
          <p:nvPr>
            <p:ph idx="1"/>
          </p:nvPr>
        </p:nvSpPr>
        <p:spPr bwMode="auto">
          <a:xfrm>
            <a:off x="838200" y="1503790"/>
            <a:ext cx="858252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dirty="0"/>
              <a:t>Machine Learning quality prediction</a:t>
            </a:r>
          </a:p>
          <a:p>
            <a:pPr marL="0" lvl="0" indent="0" eaLnBrk="0" fontAlgn="base" hangingPunct="0">
              <a:lnSpc>
                <a:spcPct val="100000"/>
              </a:lnSpc>
              <a:spcBef>
                <a:spcPct val="0"/>
              </a:spcBef>
              <a:spcAft>
                <a:spcPct val="0"/>
              </a:spcAft>
              <a:buFontTx/>
              <a:buChar char="•"/>
            </a:pPr>
            <a:r>
              <a:rPr lang="en-US" altLang="en-US" dirty="0"/>
              <a:t>Dynamic weight optimization</a:t>
            </a:r>
          </a:p>
          <a:p>
            <a:pPr marL="0" lvl="0" indent="0" eaLnBrk="0" fontAlgn="base" hangingPunct="0">
              <a:lnSpc>
                <a:spcPct val="100000"/>
              </a:lnSpc>
              <a:spcBef>
                <a:spcPct val="0"/>
              </a:spcBef>
              <a:spcAft>
                <a:spcPct val="0"/>
              </a:spcAft>
              <a:buFontTx/>
              <a:buChar char="•"/>
            </a:pPr>
            <a:r>
              <a:rPr lang="en-US" altLang="en-US" dirty="0"/>
              <a:t>Real-time settlement dashboard</a:t>
            </a:r>
          </a:p>
          <a:p>
            <a:pPr marL="0" lvl="0" indent="0" eaLnBrk="0" fontAlgn="base" hangingPunct="0">
              <a:lnSpc>
                <a:spcPct val="100000"/>
              </a:lnSpc>
              <a:spcBef>
                <a:spcPct val="0"/>
              </a:spcBef>
              <a:spcAft>
                <a:spcPct val="0"/>
              </a:spcAft>
              <a:buFontTx/>
              <a:buChar char="•"/>
            </a:pPr>
            <a:r>
              <a:rPr lang="en-US" altLang="en-US" dirty="0"/>
              <a:t>Branch-level KPI tracking</a:t>
            </a:r>
          </a:p>
          <a:p>
            <a:pPr marL="0" lvl="0" indent="0" eaLnBrk="0" fontAlgn="base" hangingPunct="0">
              <a:lnSpc>
                <a:spcPct val="100000"/>
              </a:lnSpc>
              <a:spcBef>
                <a:spcPct val="0"/>
              </a:spcBef>
              <a:spcAft>
                <a:spcPct val="0"/>
              </a:spcAft>
              <a:buFontTx/>
              <a:buChar char="•"/>
            </a:pPr>
            <a:r>
              <a:rPr lang="en-US" altLang="en-US" dirty="0"/>
              <a:t>Fraud anomaly detection integration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626270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Claims Settlement Quality Scoring transforms subjective claim evaluation into a measurable, analytics-driven framework. By integrating operational efficiency, fraud discipline, and customer satisfaction into a unified score, insurers can significantly enhance governance, performance benchmarking, and customer experience.</a:t>
            </a:r>
          </a:p>
          <a:p>
            <a:r>
              <a:rPr lang="en-US" dirty="0"/>
              <a:t>This project demonstrates how quantitative quality measurement drives strategic improvement in claims operations.</a:t>
            </a:r>
          </a:p>
          <a:p>
            <a:endParaRPr lang="en-US" dirty="0"/>
          </a:p>
        </p:txBody>
      </p:sp>
    </p:spTree>
    <p:extLst>
      <p:ext uri="{BB962C8B-B14F-4D97-AF65-F5344CB8AC3E}">
        <p14:creationId xmlns:p14="http://schemas.microsoft.com/office/powerpoint/2010/main" val="348447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594</Words>
  <Application>Microsoft Office PowerPoint</Application>
  <PresentationFormat>Widescreen</PresentationFormat>
  <Paragraphs>131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CIDFont+F1</vt:lpstr>
      <vt:lpstr>Office Theme</vt:lpstr>
      <vt:lpstr>Claims Settlement Quality Scoring</vt:lpstr>
      <vt:lpstr>Google Colab URL</vt:lpstr>
      <vt:lpstr>Executive Summary</vt:lpstr>
      <vt:lpstr>Business Problem</vt:lpstr>
      <vt:lpstr>Project Objectives</vt:lpstr>
      <vt:lpstr>Data Overview</vt:lpstr>
      <vt:lpstr>Scoring Methodology</vt:lpstr>
      <vt:lpstr>Scoring Methodology</vt:lpstr>
      <vt:lpstr>Scoring Methodology</vt:lpstr>
      <vt:lpstr>Data Visualization</vt:lpstr>
      <vt:lpstr>Visualization &amp; Analytics</vt:lpstr>
      <vt:lpstr>Data Visualization</vt:lpstr>
      <vt:lpstr>Visualization &amp; Analytics</vt:lpstr>
      <vt:lpstr>Data Visualization</vt:lpstr>
      <vt:lpstr>Visualization &amp; Analytics</vt:lpstr>
      <vt:lpstr>Data Visualization</vt:lpstr>
      <vt:lpstr>Visualization &amp; Analytics</vt:lpstr>
      <vt:lpstr>Key Insights</vt:lpstr>
      <vt:lpstr>Strategic Business Impact</vt:lpstr>
      <vt:lpstr>Operational Benefits</vt:lpstr>
      <vt:lpstr>Limitations</vt:lpstr>
      <vt:lpstr>Future Enhancements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 Settlement Quality Scoring</dc:title>
  <dc:creator>KUMAR</dc:creator>
  <cp:lastModifiedBy>KUMAR</cp:lastModifiedBy>
  <cp:revision>26</cp:revision>
  <dcterms:created xsi:type="dcterms:W3CDTF">2026-02-22T11:18:13Z</dcterms:created>
  <dcterms:modified xsi:type="dcterms:W3CDTF">2026-02-23T01:06:12Z</dcterms:modified>
</cp:coreProperties>
</file>