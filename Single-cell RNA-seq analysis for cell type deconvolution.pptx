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B43DFF-D3B8-4328-8859-887F8865B60D}" type="datetimeFigureOut">
              <a:rPr lang="en-US" smtClean="0"/>
              <a:t>7/1/2026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0DBFEA-E912-414A-A179-1CE07F0732C4}" type="slidenum">
              <a:rPr lang="en-US" smtClean="0"/>
              <a:t>‹#›</a:t>
            </a:fld>
            <a:endParaRPr lang="en-US"/>
          </a:p>
        </p:txBody>
      </p:sp>
    </p:spTree>
    <p:extLst>
      <p:ext uri="{BB962C8B-B14F-4D97-AF65-F5344CB8AC3E}">
        <p14:creationId xmlns:p14="http://schemas.microsoft.com/office/powerpoint/2010/main" val="1012390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0DBFEA-E912-414A-A179-1CE07F0732C4}" type="slidenum">
              <a:rPr lang="en-US" smtClean="0"/>
              <a:t>17</a:t>
            </a:fld>
            <a:endParaRPr lang="en-US"/>
          </a:p>
        </p:txBody>
      </p:sp>
    </p:spTree>
    <p:extLst>
      <p:ext uri="{BB962C8B-B14F-4D97-AF65-F5344CB8AC3E}">
        <p14:creationId xmlns:p14="http://schemas.microsoft.com/office/powerpoint/2010/main" val="444377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556FA35-2A77-4FC7-AF96-6B50FDA057FF}"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CD0EC4-50E6-4CE9-B703-C6E2FA3150B0}" type="slidenum">
              <a:rPr lang="en-US" smtClean="0"/>
              <a:t>‹#›</a:t>
            </a:fld>
            <a:endParaRPr lang="en-US"/>
          </a:p>
        </p:txBody>
      </p:sp>
    </p:spTree>
    <p:extLst>
      <p:ext uri="{BB962C8B-B14F-4D97-AF65-F5344CB8AC3E}">
        <p14:creationId xmlns:p14="http://schemas.microsoft.com/office/powerpoint/2010/main" val="344708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556FA35-2A77-4FC7-AF96-6B50FDA057FF}"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CD0EC4-50E6-4CE9-B703-C6E2FA3150B0}" type="slidenum">
              <a:rPr lang="en-US" smtClean="0"/>
              <a:t>‹#›</a:t>
            </a:fld>
            <a:endParaRPr lang="en-US"/>
          </a:p>
        </p:txBody>
      </p:sp>
    </p:spTree>
    <p:extLst>
      <p:ext uri="{BB962C8B-B14F-4D97-AF65-F5344CB8AC3E}">
        <p14:creationId xmlns:p14="http://schemas.microsoft.com/office/powerpoint/2010/main" val="4126549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556FA35-2A77-4FC7-AF96-6B50FDA057FF}"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CD0EC4-50E6-4CE9-B703-C6E2FA3150B0}" type="slidenum">
              <a:rPr lang="en-US" smtClean="0"/>
              <a:t>‹#›</a:t>
            </a:fld>
            <a:endParaRPr lang="en-US"/>
          </a:p>
        </p:txBody>
      </p:sp>
    </p:spTree>
    <p:extLst>
      <p:ext uri="{BB962C8B-B14F-4D97-AF65-F5344CB8AC3E}">
        <p14:creationId xmlns:p14="http://schemas.microsoft.com/office/powerpoint/2010/main" val="1884505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556FA35-2A77-4FC7-AF96-6B50FDA057FF}" type="datetimeFigureOut">
              <a:rPr lang="en-US" smtClean="0"/>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CD0EC4-50E6-4CE9-B703-C6E2FA3150B0}" type="slidenum">
              <a:rPr lang="en-US" smtClean="0"/>
              <a:t>‹#›</a:t>
            </a:fld>
            <a:endParaRPr lang="en-US"/>
          </a:p>
        </p:txBody>
      </p:sp>
    </p:spTree>
    <p:extLst>
      <p:ext uri="{BB962C8B-B14F-4D97-AF65-F5344CB8AC3E}">
        <p14:creationId xmlns:p14="http://schemas.microsoft.com/office/powerpoint/2010/main" val="949655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556FA35-2A77-4FC7-AF96-6B50FDA057FF}" type="datetimeFigureOut">
              <a:rPr lang="en-US" smtClean="0"/>
              <a:t>7/1/2026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CD0EC4-50E6-4CE9-B703-C6E2FA3150B0}" type="slidenum">
              <a:rPr lang="en-US" smtClean="0"/>
              <a:t>‹#›</a:t>
            </a:fld>
            <a:endParaRPr lang="en-US"/>
          </a:p>
        </p:txBody>
      </p:sp>
    </p:spTree>
    <p:extLst>
      <p:ext uri="{BB962C8B-B14F-4D97-AF65-F5344CB8AC3E}">
        <p14:creationId xmlns:p14="http://schemas.microsoft.com/office/powerpoint/2010/main" val="2229932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556FA35-2A77-4FC7-AF96-6B50FDA057FF}" type="datetimeFigureOut">
              <a:rPr lang="en-US" smtClean="0"/>
              <a:t>7/1/2026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CD0EC4-50E6-4CE9-B703-C6E2FA3150B0}" type="slidenum">
              <a:rPr lang="en-US" smtClean="0"/>
              <a:t>‹#›</a:t>
            </a:fld>
            <a:endParaRPr lang="en-US"/>
          </a:p>
        </p:txBody>
      </p:sp>
    </p:spTree>
    <p:extLst>
      <p:ext uri="{BB962C8B-B14F-4D97-AF65-F5344CB8AC3E}">
        <p14:creationId xmlns:p14="http://schemas.microsoft.com/office/powerpoint/2010/main" val="1975616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56FA35-2A77-4FC7-AF96-6B50FDA057FF}" type="datetimeFigureOut">
              <a:rPr lang="en-US" smtClean="0"/>
              <a:t>7/1/2026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2CD0EC4-50E6-4CE9-B703-C6E2FA3150B0}" type="slidenum">
              <a:rPr lang="en-US" smtClean="0"/>
              <a:t>‹#›</a:t>
            </a:fld>
            <a:endParaRPr lang="en-US"/>
          </a:p>
        </p:txBody>
      </p:sp>
    </p:spTree>
    <p:extLst>
      <p:ext uri="{BB962C8B-B14F-4D97-AF65-F5344CB8AC3E}">
        <p14:creationId xmlns:p14="http://schemas.microsoft.com/office/powerpoint/2010/main" val="3138129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556FA35-2A77-4FC7-AF96-6B50FDA057FF}" type="datetimeFigureOut">
              <a:rPr lang="en-US" smtClean="0"/>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CD0EC4-50E6-4CE9-B703-C6E2FA3150B0}" type="slidenum">
              <a:rPr lang="en-US" smtClean="0"/>
              <a:t>‹#›</a:t>
            </a:fld>
            <a:endParaRPr lang="en-US"/>
          </a:p>
        </p:txBody>
      </p:sp>
    </p:spTree>
    <p:extLst>
      <p:ext uri="{BB962C8B-B14F-4D97-AF65-F5344CB8AC3E}">
        <p14:creationId xmlns:p14="http://schemas.microsoft.com/office/powerpoint/2010/main" val="221267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556FA35-2A77-4FC7-AF96-6B50FDA057FF}" type="datetimeFigureOut">
              <a:rPr lang="en-US" smtClean="0"/>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CD0EC4-50E6-4CE9-B703-C6E2FA3150B0}" type="slidenum">
              <a:rPr lang="en-US" smtClean="0"/>
              <a:t>‹#›</a:t>
            </a:fld>
            <a:endParaRPr lang="en-US"/>
          </a:p>
        </p:txBody>
      </p:sp>
    </p:spTree>
    <p:extLst>
      <p:ext uri="{BB962C8B-B14F-4D97-AF65-F5344CB8AC3E}">
        <p14:creationId xmlns:p14="http://schemas.microsoft.com/office/powerpoint/2010/main" val="1641124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556FA35-2A77-4FC7-AF96-6B50FDA057FF}"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CD0EC4-50E6-4CE9-B703-C6E2FA3150B0}" type="slidenum">
              <a:rPr lang="en-US" smtClean="0"/>
              <a:t>‹#›</a:t>
            </a:fld>
            <a:endParaRPr lang="en-US"/>
          </a:p>
        </p:txBody>
      </p:sp>
    </p:spTree>
    <p:extLst>
      <p:ext uri="{BB962C8B-B14F-4D97-AF65-F5344CB8AC3E}">
        <p14:creationId xmlns:p14="http://schemas.microsoft.com/office/powerpoint/2010/main" val="1524817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556FA35-2A77-4FC7-AF96-6B50FDA057FF}"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CD0EC4-50E6-4CE9-B703-C6E2FA3150B0}" type="slidenum">
              <a:rPr lang="en-US" smtClean="0"/>
              <a:t>‹#›</a:t>
            </a:fld>
            <a:endParaRPr lang="en-US"/>
          </a:p>
        </p:txBody>
      </p:sp>
    </p:spTree>
    <p:extLst>
      <p:ext uri="{BB962C8B-B14F-4D97-AF65-F5344CB8AC3E}">
        <p14:creationId xmlns:p14="http://schemas.microsoft.com/office/powerpoint/2010/main" val="3176954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56FA35-2A77-4FC7-AF96-6B50FDA057FF}" type="datetimeFigureOut">
              <a:rPr lang="en-US" smtClean="0"/>
              <a:t>7/1/2026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CD0EC4-50E6-4CE9-B703-C6E2FA3150B0}" type="slidenum">
              <a:rPr lang="en-US" smtClean="0"/>
              <a:t>‹#›</a:t>
            </a:fld>
            <a:endParaRPr lang="en-US"/>
          </a:p>
        </p:txBody>
      </p:sp>
    </p:spTree>
    <p:extLst>
      <p:ext uri="{BB962C8B-B14F-4D97-AF65-F5344CB8AC3E}">
        <p14:creationId xmlns:p14="http://schemas.microsoft.com/office/powerpoint/2010/main" val="25450531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Gopal21236/" TargetMode="External"/><Relationship Id="rId2" Type="http://schemas.openxmlformats.org/officeDocument/2006/relationships/hyperlink" Target="https://www.linkedin.com/in/gopalakrishnankumar-a73301110/" TargetMode="External"/><Relationship Id="rId1" Type="http://schemas.openxmlformats.org/officeDocument/2006/relationships/slideLayout" Target="../slideLayouts/slideLayout1.xml"/><Relationship Id="rId4" Type="http://schemas.openxmlformats.org/officeDocument/2006/relationships/hyperlink" Target="https://www.kaggle.com/gopalkk2" TargetMode="External"/></Relationships>
</file>

<file path=ppt/slides/_rels/slide2.xml.rels><?xml version="1.0" encoding="UTF-8" standalone="yes"?>
<Relationships xmlns="http://schemas.openxmlformats.org/package/2006/relationships"><Relationship Id="rId2" Type="http://schemas.openxmlformats.org/officeDocument/2006/relationships/hyperlink" Target="https://colab.research.google.com/drive/12cJihdmka8skAG9_XkP09VRf3l6eeWf2?usp=shar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Single-cell RNA-</a:t>
            </a:r>
            <a:r>
              <a:rPr lang="en-US" b="1" dirty="0" err="1" smtClean="0"/>
              <a:t>seq</a:t>
            </a:r>
            <a:r>
              <a:rPr lang="en-US" b="1" dirty="0" smtClean="0"/>
              <a:t> analysis for cell type deconvolution</a:t>
            </a:r>
            <a:endParaRPr lang="en-US" b="1" dirty="0"/>
          </a:p>
        </p:txBody>
      </p:sp>
      <p:sp>
        <p:nvSpPr>
          <p:cNvPr id="5" name="Subtitle 2"/>
          <p:cNvSpPr>
            <a:spLocks noGrp="1"/>
          </p:cNvSpPr>
          <p:nvPr>
            <p:ph type="subTitle" idx="1"/>
          </p:nvPr>
        </p:nvSpPr>
        <p:spPr>
          <a:xfrm>
            <a:off x="1524000" y="3509963"/>
            <a:ext cx="9144000" cy="1655762"/>
          </a:xfrm>
        </p:spPr>
        <p:txBody>
          <a:bodyPr/>
          <a:lstStyle/>
          <a:p>
            <a:r>
              <a:rPr lang="en-US" b="1" dirty="0" smtClean="0"/>
              <a:t>By </a:t>
            </a:r>
            <a:r>
              <a:rPr lang="en-US" b="1" dirty="0" err="1" smtClean="0"/>
              <a:t>Gopalakrishnan</a:t>
            </a:r>
            <a:r>
              <a:rPr lang="en-US" b="1" dirty="0" smtClean="0"/>
              <a:t> Kumar, </a:t>
            </a:r>
            <a:r>
              <a:rPr lang="en-US" b="1" dirty="0" err="1" smtClean="0"/>
              <a:t>MTech</a:t>
            </a:r>
            <a:r>
              <a:rPr lang="en-US" b="1" dirty="0" smtClean="0"/>
              <a:t> IIT-Bombay,</a:t>
            </a:r>
          </a:p>
          <a:p>
            <a:r>
              <a:rPr lang="en-US" b="1" dirty="0" smtClean="0"/>
              <a:t>Consultant Data Scientist</a:t>
            </a:r>
          </a:p>
          <a:p>
            <a:endParaRPr lang="en-US" dirty="0"/>
          </a:p>
        </p:txBody>
      </p:sp>
      <p:sp>
        <p:nvSpPr>
          <p:cNvPr id="6" name="Rectangle 5"/>
          <p:cNvSpPr/>
          <p:nvPr/>
        </p:nvSpPr>
        <p:spPr>
          <a:xfrm>
            <a:off x="2355273" y="4519136"/>
            <a:ext cx="6096000" cy="1477328"/>
          </a:xfrm>
          <a:prstGeom prst="rect">
            <a:avLst/>
          </a:prstGeom>
        </p:spPr>
        <p:txBody>
          <a:bodyPr>
            <a:spAutoFit/>
          </a:bodyPr>
          <a:lstStyle/>
          <a:p>
            <a:r>
              <a:rPr lang="en-US" dirty="0" smtClean="0">
                <a:solidFill>
                  <a:srgbClr val="0D0D0D"/>
                </a:solidFill>
                <a:latin typeface="CIDFont+F1"/>
              </a:rPr>
              <a:t>LinkedIn: Profile Link : </a:t>
            </a:r>
            <a:r>
              <a:rPr lang="en-US" dirty="0" smtClean="0">
                <a:solidFill>
                  <a:srgbClr val="0D0D0D"/>
                </a:solidFill>
                <a:latin typeface="CIDFont+F1"/>
                <a:hlinkClick r:id="rId2"/>
              </a:rPr>
              <a:t>https://www.linkedin.com/in/gopalakrishnankumar-a73301110/</a:t>
            </a:r>
            <a:endParaRPr lang="en-US" dirty="0" smtClean="0">
              <a:solidFill>
                <a:srgbClr val="0D0D0D"/>
              </a:solidFill>
              <a:latin typeface="CIDFont+F1"/>
            </a:endParaRPr>
          </a:p>
          <a:p>
            <a:endParaRPr lang="en-US" dirty="0" smtClean="0">
              <a:solidFill>
                <a:srgbClr val="0D0D0D"/>
              </a:solidFill>
              <a:latin typeface="CIDFont+F1"/>
            </a:endParaRPr>
          </a:p>
          <a:p>
            <a:r>
              <a:rPr lang="en-US" dirty="0" smtClean="0">
                <a:solidFill>
                  <a:srgbClr val="0D0D0D"/>
                </a:solidFill>
                <a:latin typeface="CIDFont+F1"/>
                <a:hlinkClick r:id="rId3"/>
              </a:rPr>
              <a:t>Github:</a:t>
            </a:r>
            <a:r>
              <a:rPr lang="en-US" dirty="0">
                <a:solidFill>
                  <a:srgbClr val="0D0D0D"/>
                </a:solidFill>
                <a:latin typeface="CIDFont+F1"/>
                <a:hlinkClick r:id="rId3"/>
              </a:rPr>
              <a:t>https://github.com/Gopal21236/</a:t>
            </a:r>
            <a:endParaRPr lang="en-US" dirty="0">
              <a:solidFill>
                <a:srgbClr val="0D0D0D"/>
              </a:solidFill>
              <a:latin typeface="CIDFont+F1"/>
            </a:endParaRPr>
          </a:p>
        </p:txBody>
      </p:sp>
      <p:sp>
        <p:nvSpPr>
          <p:cNvPr id="7" name="TextBox 6"/>
          <p:cNvSpPr txBox="1"/>
          <p:nvPr/>
        </p:nvSpPr>
        <p:spPr>
          <a:xfrm>
            <a:off x="2355273" y="6065737"/>
            <a:ext cx="6150280" cy="707886"/>
          </a:xfrm>
          <a:prstGeom prst="rect">
            <a:avLst/>
          </a:prstGeom>
          <a:noFill/>
        </p:spPr>
        <p:txBody>
          <a:bodyPr wrap="square" rtlCol="0">
            <a:spAutoFit/>
          </a:bodyPr>
          <a:lstStyle/>
          <a:p>
            <a:r>
              <a:rPr lang="en-US" sz="2000" dirty="0" err="1" smtClean="0"/>
              <a:t>Kaggle</a:t>
            </a:r>
            <a:r>
              <a:rPr lang="en-US" sz="2000" dirty="0" smtClean="0"/>
              <a:t> URL- </a:t>
            </a:r>
            <a:r>
              <a:rPr lang="en-US" sz="2000" dirty="0" smtClean="0">
                <a:hlinkClick r:id="rId4"/>
              </a:rPr>
              <a:t>https://www.kaggle.com/gopalkk2</a:t>
            </a:r>
            <a:endParaRPr lang="en-US" sz="2000" dirty="0" smtClean="0"/>
          </a:p>
          <a:p>
            <a:endParaRPr lang="en-US" sz="2000" dirty="0"/>
          </a:p>
        </p:txBody>
      </p:sp>
    </p:spTree>
    <p:extLst>
      <p:ext uri="{BB962C8B-B14F-4D97-AF65-F5344CB8AC3E}">
        <p14:creationId xmlns:p14="http://schemas.microsoft.com/office/powerpoint/2010/main" val="8142407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Google Colab URL</a:t>
            </a:r>
            <a:endParaRPr lang="en-US" b="1" dirty="0"/>
          </a:p>
        </p:txBody>
      </p:sp>
      <p:sp>
        <p:nvSpPr>
          <p:cNvPr id="3" name="Content Placeholder 2"/>
          <p:cNvSpPr>
            <a:spLocks noGrp="1"/>
          </p:cNvSpPr>
          <p:nvPr>
            <p:ph idx="1"/>
          </p:nvPr>
        </p:nvSpPr>
        <p:spPr/>
        <p:txBody>
          <a:bodyPr/>
          <a:lstStyle/>
          <a:p>
            <a:r>
              <a:rPr lang="en-US" dirty="0">
                <a:hlinkClick r:id="rId2"/>
              </a:rPr>
              <a:t>https://</a:t>
            </a:r>
            <a:r>
              <a:rPr lang="en-US" dirty="0" smtClean="0">
                <a:hlinkClick r:id="rId2"/>
              </a:rPr>
              <a:t>colab.research.google.com/drive/12cJihdmka8skAG9_XkP09VRf3l6eeWf2?usp=sharing</a:t>
            </a:r>
            <a:endParaRPr lang="en-US" dirty="0" smtClean="0"/>
          </a:p>
          <a:p>
            <a:endParaRPr lang="en-US" dirty="0"/>
          </a:p>
        </p:txBody>
      </p:sp>
    </p:spTree>
    <p:extLst>
      <p:ext uri="{BB962C8B-B14F-4D97-AF65-F5344CB8AC3E}">
        <p14:creationId xmlns:p14="http://schemas.microsoft.com/office/powerpoint/2010/main" val="21744433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Introduction</a:t>
            </a:r>
          </a:p>
        </p:txBody>
      </p:sp>
      <p:sp>
        <p:nvSpPr>
          <p:cNvPr id="3" name="Content Placeholder 2"/>
          <p:cNvSpPr>
            <a:spLocks noGrp="1"/>
          </p:cNvSpPr>
          <p:nvPr>
            <p:ph idx="1"/>
          </p:nvPr>
        </p:nvSpPr>
        <p:spPr/>
        <p:txBody>
          <a:bodyPr>
            <a:normAutofit/>
          </a:bodyPr>
          <a:lstStyle/>
          <a:p>
            <a:r>
              <a:rPr lang="en-US" dirty="0"/>
              <a:t>Single-cell RNA sequencing (</a:t>
            </a:r>
            <a:r>
              <a:rPr lang="en-US" dirty="0" err="1"/>
              <a:t>scRNA-seq</a:t>
            </a:r>
            <a:r>
              <a:rPr lang="en-US" dirty="0"/>
              <a:t>) enables transcriptomic profiling at the individual cell level, allowing researchers to investigate cellular heterogeneity, identify distinct cell populations, and study gene expression dynamics. Quality control (QC) is a critical step in </a:t>
            </a:r>
            <a:r>
              <a:rPr lang="en-US" dirty="0" err="1"/>
              <a:t>scRNA-seq</a:t>
            </a:r>
            <a:r>
              <a:rPr lang="en-US" dirty="0"/>
              <a:t> analysis to ensure that downstream analyses are performed on high-quality cells.</a:t>
            </a:r>
          </a:p>
          <a:p>
            <a:endParaRPr lang="en-US" dirty="0"/>
          </a:p>
        </p:txBody>
      </p:sp>
    </p:spTree>
    <p:extLst>
      <p:ext uri="{BB962C8B-B14F-4D97-AF65-F5344CB8AC3E}">
        <p14:creationId xmlns:p14="http://schemas.microsoft.com/office/powerpoint/2010/main" val="139437365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Introduction</a:t>
            </a:r>
            <a:endParaRPr lang="en-US" dirty="0"/>
          </a:p>
        </p:txBody>
      </p:sp>
      <p:sp>
        <p:nvSpPr>
          <p:cNvPr id="3" name="Content Placeholder 2"/>
          <p:cNvSpPr>
            <a:spLocks noGrp="1"/>
          </p:cNvSpPr>
          <p:nvPr>
            <p:ph idx="1"/>
          </p:nvPr>
        </p:nvSpPr>
        <p:spPr/>
        <p:txBody>
          <a:bodyPr>
            <a:normAutofit fontScale="70000" lnSpcReduction="20000"/>
          </a:bodyPr>
          <a:lstStyle/>
          <a:p>
            <a:r>
              <a:rPr lang="en-US" dirty="0"/>
              <a:t>In this analysis, the dataset was loaded as an </a:t>
            </a:r>
            <a:r>
              <a:rPr lang="en-US" dirty="0" err="1"/>
              <a:t>AnnData</a:t>
            </a:r>
            <a:r>
              <a:rPr lang="en-US" dirty="0"/>
              <a:t> object and quality control metrics were examined. The metadata available in the dataset included:</a:t>
            </a:r>
          </a:p>
          <a:p>
            <a:r>
              <a:rPr lang="en-US" dirty="0" err="1"/>
              <a:t>n_genes_by_counts</a:t>
            </a:r>
            <a:endParaRPr lang="en-US" dirty="0"/>
          </a:p>
          <a:p>
            <a:r>
              <a:rPr lang="en-US" dirty="0"/>
              <a:t>log1p_n_genes_by_counts</a:t>
            </a:r>
          </a:p>
          <a:p>
            <a:r>
              <a:rPr lang="en-US" dirty="0" err="1"/>
              <a:t>total_counts</a:t>
            </a:r>
            <a:endParaRPr lang="en-US" dirty="0"/>
          </a:p>
          <a:p>
            <a:r>
              <a:rPr lang="en-US" dirty="0"/>
              <a:t>log1p_total_counts</a:t>
            </a:r>
          </a:p>
          <a:p>
            <a:r>
              <a:rPr lang="en-US" dirty="0"/>
              <a:t>pct_counts_in_top_50_genes</a:t>
            </a:r>
          </a:p>
          <a:p>
            <a:r>
              <a:rPr lang="en-US" dirty="0"/>
              <a:t>pct_counts_in_top_100_genes</a:t>
            </a:r>
          </a:p>
          <a:p>
            <a:r>
              <a:rPr lang="en-US" dirty="0"/>
              <a:t>pct_counts_in_top_200_genes</a:t>
            </a:r>
          </a:p>
          <a:p>
            <a:r>
              <a:rPr lang="en-US" dirty="0"/>
              <a:t>pct_counts_in_top_500_genes</a:t>
            </a:r>
          </a:p>
          <a:p>
            <a:r>
              <a:rPr lang="en-US" dirty="0" err="1"/>
              <a:t>expr_group</a:t>
            </a:r>
            <a:endParaRPr lang="en-US" dirty="0"/>
          </a:p>
          <a:p>
            <a:r>
              <a:rPr lang="en-US" dirty="0"/>
              <a:t>Since cell-type annotations were unavailable, cells were grouped using expression-based quality metrics. Additional categorical variables were generated from gene counts and total counts to facilitate exploratory visualization.</a:t>
            </a:r>
          </a:p>
          <a:p>
            <a:endParaRPr lang="en-US" dirty="0"/>
          </a:p>
        </p:txBody>
      </p:sp>
    </p:spTree>
    <p:extLst>
      <p:ext uri="{BB962C8B-B14F-4D97-AF65-F5344CB8AC3E}">
        <p14:creationId xmlns:p14="http://schemas.microsoft.com/office/powerpoint/2010/main" val="37368302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Objective</a:t>
            </a:r>
          </a:p>
        </p:txBody>
      </p:sp>
      <p:sp>
        <p:nvSpPr>
          <p:cNvPr id="3" name="Content Placeholder 2"/>
          <p:cNvSpPr>
            <a:spLocks noGrp="1"/>
          </p:cNvSpPr>
          <p:nvPr>
            <p:ph idx="1"/>
          </p:nvPr>
        </p:nvSpPr>
        <p:spPr/>
        <p:txBody>
          <a:bodyPr/>
          <a:lstStyle/>
          <a:p>
            <a:r>
              <a:rPr lang="en-US" dirty="0"/>
              <a:t>The objective of this analysis was to investigate the relationship between cellular expression levels, detected gene counts, and sequencing depth using a combined stacked bar chart.</a:t>
            </a:r>
          </a:p>
          <a:p>
            <a:r>
              <a:rPr lang="en-US" dirty="0"/>
              <a:t>Specifically, the analysis aimed to:</a:t>
            </a:r>
          </a:p>
          <a:p>
            <a:r>
              <a:rPr lang="en-US" dirty="0"/>
              <a:t>Categorize cells according to overall expression levels.</a:t>
            </a:r>
          </a:p>
          <a:p>
            <a:r>
              <a:rPr lang="en-US" dirty="0"/>
              <a:t>Classify cells based on detected gene counts.</a:t>
            </a:r>
          </a:p>
          <a:p>
            <a:r>
              <a:rPr lang="en-US" dirty="0"/>
              <a:t>Classify cells based on total sequencing counts.</a:t>
            </a:r>
          </a:p>
          <a:p>
            <a:r>
              <a:rPr lang="en-US" dirty="0"/>
              <a:t>Visualize the distribution of these categories across expression groups.</a:t>
            </a:r>
          </a:p>
          <a:p>
            <a:endParaRPr lang="en-US" dirty="0"/>
          </a:p>
        </p:txBody>
      </p:sp>
    </p:spTree>
    <p:extLst>
      <p:ext uri="{BB962C8B-B14F-4D97-AF65-F5344CB8AC3E}">
        <p14:creationId xmlns:p14="http://schemas.microsoft.com/office/powerpoint/2010/main" val="37280966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Methodology</a:t>
            </a:r>
          </a:p>
        </p:txBody>
      </p:sp>
      <p:sp>
        <p:nvSpPr>
          <p:cNvPr id="3" name="Content Placeholder 2"/>
          <p:cNvSpPr>
            <a:spLocks noGrp="1"/>
          </p:cNvSpPr>
          <p:nvPr>
            <p:ph idx="1"/>
          </p:nvPr>
        </p:nvSpPr>
        <p:spPr/>
        <p:txBody>
          <a:bodyPr/>
          <a:lstStyle/>
          <a:p>
            <a:r>
              <a:rPr lang="en-US" b="1" dirty="0"/>
              <a:t>Expression Group Classification</a:t>
            </a:r>
          </a:p>
          <a:p>
            <a:r>
              <a:rPr lang="en-US" dirty="0"/>
              <a:t>Cells were assigned to expression groups based on overall expression levels:</a:t>
            </a:r>
          </a:p>
          <a:p>
            <a:r>
              <a:rPr lang="en-US" dirty="0"/>
              <a:t>Low Expression</a:t>
            </a:r>
          </a:p>
          <a:p>
            <a:r>
              <a:rPr lang="en-US" dirty="0"/>
              <a:t>Medium Expression</a:t>
            </a:r>
          </a:p>
          <a:p>
            <a:r>
              <a:rPr lang="en-US" dirty="0"/>
              <a:t>High Expression</a:t>
            </a:r>
          </a:p>
          <a:p>
            <a:endParaRPr lang="en-US" dirty="0"/>
          </a:p>
        </p:txBody>
      </p:sp>
      <p:sp>
        <p:nvSpPr>
          <p:cNvPr id="4" name="Rectangle 3"/>
          <p:cNvSpPr/>
          <p:nvPr/>
        </p:nvSpPr>
        <p:spPr>
          <a:xfrm>
            <a:off x="1015999" y="4774978"/>
            <a:ext cx="9768115" cy="830997"/>
          </a:xfrm>
          <a:prstGeom prst="rect">
            <a:avLst/>
          </a:prstGeom>
        </p:spPr>
        <p:txBody>
          <a:bodyPr wrap="square">
            <a:spAutoFit/>
          </a:bodyPr>
          <a:lstStyle/>
          <a:p>
            <a:r>
              <a:rPr lang="en-US" sz="2400" dirty="0"/>
              <a:t>These categories were stored in the variable:</a:t>
            </a:r>
          </a:p>
          <a:p>
            <a:r>
              <a:rPr lang="en-US" sz="2400" b="1" dirty="0" err="1"/>
              <a:t>expr_group</a:t>
            </a:r>
            <a:endParaRPr lang="en-US" sz="2400" b="1" dirty="0"/>
          </a:p>
        </p:txBody>
      </p:sp>
    </p:spTree>
    <p:extLst>
      <p:ext uri="{BB962C8B-B14F-4D97-AF65-F5344CB8AC3E}">
        <p14:creationId xmlns:p14="http://schemas.microsoft.com/office/powerpoint/2010/main" val="29146569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Methodology</a:t>
            </a:r>
          </a:p>
        </p:txBody>
      </p:sp>
      <p:sp>
        <p:nvSpPr>
          <p:cNvPr id="3" name="Content Placeholder 2"/>
          <p:cNvSpPr>
            <a:spLocks noGrp="1"/>
          </p:cNvSpPr>
          <p:nvPr>
            <p:ph idx="1"/>
          </p:nvPr>
        </p:nvSpPr>
        <p:spPr/>
        <p:txBody>
          <a:bodyPr/>
          <a:lstStyle/>
          <a:p>
            <a:r>
              <a:rPr lang="en-US" b="1" dirty="0"/>
              <a:t>Gene Count Categorization</a:t>
            </a:r>
          </a:p>
          <a:p>
            <a:r>
              <a:rPr lang="en-US" dirty="0"/>
              <a:t>Cells were divided into three equal quantile-based groups according to the number of detected genes:</a:t>
            </a:r>
          </a:p>
          <a:p>
            <a:r>
              <a:rPr lang="en-US" dirty="0" err="1"/>
              <a:t>Low_Genes</a:t>
            </a:r>
            <a:endParaRPr lang="en-US" dirty="0"/>
          </a:p>
          <a:p>
            <a:r>
              <a:rPr lang="en-US" dirty="0" err="1"/>
              <a:t>Medium_Genes</a:t>
            </a:r>
            <a:endParaRPr lang="en-US" dirty="0"/>
          </a:p>
          <a:p>
            <a:r>
              <a:rPr lang="en-US" dirty="0" err="1"/>
              <a:t>High_Genes</a:t>
            </a:r>
            <a:endParaRPr lang="en-US" dirty="0"/>
          </a:p>
          <a:p>
            <a:r>
              <a:rPr lang="en-US" dirty="0"/>
              <a:t>The categorization was performed using pandas </a:t>
            </a:r>
            <a:r>
              <a:rPr lang="en-US" dirty="0" err="1"/>
              <a:t>qcut</a:t>
            </a:r>
            <a:r>
              <a:rPr lang="en-US" dirty="0"/>
              <a:t>().</a:t>
            </a:r>
          </a:p>
          <a:p>
            <a:endParaRPr lang="en-US" dirty="0"/>
          </a:p>
        </p:txBody>
      </p:sp>
    </p:spTree>
    <p:extLst>
      <p:ext uri="{BB962C8B-B14F-4D97-AF65-F5344CB8AC3E}">
        <p14:creationId xmlns:p14="http://schemas.microsoft.com/office/powerpoint/2010/main" val="343918367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Methodology</a:t>
            </a:r>
          </a:p>
        </p:txBody>
      </p:sp>
      <p:sp>
        <p:nvSpPr>
          <p:cNvPr id="3" name="Content Placeholder 2"/>
          <p:cNvSpPr>
            <a:spLocks noGrp="1"/>
          </p:cNvSpPr>
          <p:nvPr>
            <p:ph idx="1"/>
          </p:nvPr>
        </p:nvSpPr>
        <p:spPr/>
        <p:txBody>
          <a:bodyPr/>
          <a:lstStyle/>
          <a:p>
            <a:r>
              <a:rPr lang="en-US" b="1" dirty="0"/>
              <a:t>Total Count Categorization</a:t>
            </a:r>
          </a:p>
          <a:p>
            <a:r>
              <a:rPr lang="en-US" dirty="0"/>
              <a:t>Similarly, cells were grouped according to sequencing depth (total UMI counts):</a:t>
            </a:r>
          </a:p>
          <a:p>
            <a:r>
              <a:rPr lang="en-US" dirty="0" err="1"/>
              <a:t>Low_Counts</a:t>
            </a:r>
            <a:endParaRPr lang="en-US" dirty="0"/>
          </a:p>
          <a:p>
            <a:r>
              <a:rPr lang="en-US" dirty="0" err="1"/>
              <a:t>Medium_Counts</a:t>
            </a:r>
            <a:endParaRPr lang="en-US" dirty="0"/>
          </a:p>
          <a:p>
            <a:r>
              <a:rPr lang="en-US" dirty="0" err="1"/>
              <a:t>High_Counts</a:t>
            </a:r>
            <a:endParaRPr lang="en-US" dirty="0"/>
          </a:p>
          <a:p>
            <a:r>
              <a:rPr lang="en-US" dirty="0"/>
              <a:t>This approach ensured balanced category sizes and facilitated comparative analysis.</a:t>
            </a:r>
          </a:p>
          <a:p>
            <a:endParaRPr lang="en-US" dirty="0"/>
          </a:p>
        </p:txBody>
      </p:sp>
    </p:spTree>
    <p:extLst>
      <p:ext uri="{BB962C8B-B14F-4D97-AF65-F5344CB8AC3E}">
        <p14:creationId xmlns:p14="http://schemas.microsoft.com/office/powerpoint/2010/main" val="7262769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Methodology</a:t>
            </a:r>
            <a:endParaRPr lang="en-US" dirty="0"/>
          </a:p>
        </p:txBody>
      </p:sp>
      <p:sp>
        <p:nvSpPr>
          <p:cNvPr id="3" name="Content Placeholder 2"/>
          <p:cNvSpPr>
            <a:spLocks noGrp="1"/>
          </p:cNvSpPr>
          <p:nvPr>
            <p:ph idx="1"/>
          </p:nvPr>
        </p:nvSpPr>
        <p:spPr/>
        <p:txBody>
          <a:bodyPr/>
          <a:lstStyle/>
          <a:p>
            <a:r>
              <a:rPr lang="en-US" dirty="0"/>
              <a:t>Two contingency tables were generated:</a:t>
            </a:r>
          </a:p>
          <a:p>
            <a:r>
              <a:rPr lang="en-US" dirty="0"/>
              <a:t>Expression Group × Gene Category</a:t>
            </a:r>
          </a:p>
          <a:p>
            <a:r>
              <a:rPr lang="en-US" dirty="0"/>
              <a:t>Expression Group × Count Category</a:t>
            </a:r>
          </a:p>
          <a:p>
            <a:r>
              <a:rPr lang="en-US" dirty="0"/>
              <a:t>The tables were merged and visualized using a stacked bar chart. Each bar represented an expression group, while the stacked segments represented the distribution of cells across gene-count and sequencing-depth categories.</a:t>
            </a:r>
          </a:p>
          <a:p>
            <a:endParaRPr lang="en-US" dirty="0"/>
          </a:p>
        </p:txBody>
      </p:sp>
    </p:spTree>
    <p:extLst>
      <p:ext uri="{BB962C8B-B14F-4D97-AF65-F5344CB8AC3E}">
        <p14:creationId xmlns:p14="http://schemas.microsoft.com/office/powerpoint/2010/main" val="327933047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18453" y="1852449"/>
            <a:ext cx="6355093" cy="4297689"/>
          </a:xfrm>
        </p:spPr>
      </p:pic>
    </p:spTree>
    <p:extLst>
      <p:ext uri="{BB962C8B-B14F-4D97-AF65-F5344CB8AC3E}">
        <p14:creationId xmlns:p14="http://schemas.microsoft.com/office/powerpoint/2010/main" val="127508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Histogram Plot</a:t>
            </a:r>
            <a:endParaRPr lang="en-US" b="1" dirty="0"/>
          </a:p>
        </p:txBody>
      </p:sp>
      <p:sp>
        <p:nvSpPr>
          <p:cNvPr id="5" name="Content Placeholder 4"/>
          <p:cNvSpPr>
            <a:spLocks noGrp="1"/>
          </p:cNvSpPr>
          <p:nvPr>
            <p:ph idx="1"/>
          </p:nvPr>
        </p:nvSpPr>
        <p:spPr/>
        <p:txBody>
          <a:bodyPr>
            <a:normAutofit fontScale="92500"/>
          </a:bodyPr>
          <a:lstStyle/>
          <a:p>
            <a:r>
              <a:rPr lang="en-US" dirty="0"/>
              <a:t>Cells were grouped into:</a:t>
            </a:r>
          </a:p>
          <a:p>
            <a:r>
              <a:rPr lang="en-US" dirty="0"/>
              <a:t>Low Expression</a:t>
            </a:r>
          </a:p>
          <a:p>
            <a:r>
              <a:rPr lang="en-US" dirty="0"/>
              <a:t>Medium Expression</a:t>
            </a:r>
          </a:p>
          <a:p>
            <a:r>
              <a:rPr lang="en-US" dirty="0"/>
              <a:t>High Expression</a:t>
            </a:r>
          </a:p>
          <a:p>
            <a:r>
              <a:rPr lang="en-US" dirty="0"/>
              <a:t>These categories summarize the overall transcriptional activity of each cell.</a:t>
            </a:r>
          </a:p>
          <a:p>
            <a:r>
              <a:rPr lang="en-US" dirty="0"/>
              <a:t>Higher expression groups generally correspond to:</a:t>
            </a:r>
          </a:p>
          <a:p>
            <a:r>
              <a:rPr lang="en-US" dirty="0"/>
              <a:t>Higher RNA content</a:t>
            </a:r>
          </a:p>
          <a:p>
            <a:r>
              <a:rPr lang="en-US" dirty="0"/>
              <a:t>Increased biological activity</a:t>
            </a:r>
          </a:p>
          <a:p>
            <a:r>
              <a:rPr lang="en-US" dirty="0"/>
              <a:t>Greater transcript diversity</a:t>
            </a:r>
          </a:p>
          <a:p>
            <a:endParaRPr lang="en-US" dirty="0"/>
          </a:p>
        </p:txBody>
      </p:sp>
    </p:spTree>
    <p:extLst>
      <p:ext uri="{BB962C8B-B14F-4D97-AF65-F5344CB8AC3E}">
        <p14:creationId xmlns:p14="http://schemas.microsoft.com/office/powerpoint/2010/main" val="112628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11474" y="1825625"/>
            <a:ext cx="8769052" cy="4351338"/>
          </a:xfrm>
        </p:spPr>
      </p:pic>
    </p:spTree>
    <p:extLst>
      <p:ext uri="{BB962C8B-B14F-4D97-AF65-F5344CB8AC3E}">
        <p14:creationId xmlns:p14="http://schemas.microsoft.com/office/powerpoint/2010/main" val="26426545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Bar Chart Plot</a:t>
            </a:r>
            <a:endParaRPr lang="en-US" b="1" dirty="0"/>
          </a:p>
        </p:txBody>
      </p:sp>
      <p:sp>
        <p:nvSpPr>
          <p:cNvPr id="3" name="Content Placeholder 2"/>
          <p:cNvSpPr>
            <a:spLocks noGrp="1"/>
          </p:cNvSpPr>
          <p:nvPr>
            <p:ph idx="1"/>
          </p:nvPr>
        </p:nvSpPr>
        <p:spPr/>
        <p:txBody>
          <a:bodyPr/>
          <a:lstStyle/>
          <a:p>
            <a:r>
              <a:rPr lang="en-US" dirty="0"/>
              <a:t>The variable </a:t>
            </a:r>
            <a:r>
              <a:rPr lang="en-US" dirty="0" err="1"/>
              <a:t>n_genes_by_counts</a:t>
            </a:r>
            <a:r>
              <a:rPr lang="en-US" dirty="0"/>
              <a:t> was divided into three quantile-based categories:</a:t>
            </a:r>
          </a:p>
          <a:p>
            <a:r>
              <a:rPr lang="en-US" dirty="0" err="1"/>
              <a:t>Low_Genes</a:t>
            </a:r>
            <a:endParaRPr lang="en-US" dirty="0"/>
          </a:p>
          <a:p>
            <a:r>
              <a:rPr lang="en-US" dirty="0" err="1"/>
              <a:t>Medium_Genes</a:t>
            </a:r>
            <a:endParaRPr lang="en-US" dirty="0"/>
          </a:p>
          <a:p>
            <a:r>
              <a:rPr lang="en-US" dirty="0" err="1"/>
              <a:t>High_Genes</a:t>
            </a:r>
            <a:endParaRPr lang="en-US" dirty="0"/>
          </a:p>
          <a:p>
            <a:r>
              <a:rPr lang="en-US" dirty="0"/>
              <a:t>Quantile categorization ensures approximately equal numbers of cells in each category while facilitating comparative visualization.</a:t>
            </a:r>
          </a:p>
          <a:p>
            <a:endParaRPr lang="en-US" dirty="0"/>
          </a:p>
        </p:txBody>
      </p:sp>
    </p:spTree>
    <p:extLst>
      <p:ext uri="{BB962C8B-B14F-4D97-AF65-F5344CB8AC3E}">
        <p14:creationId xmlns:p14="http://schemas.microsoft.com/office/powerpoint/2010/main" val="2684979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48989" y="1825625"/>
            <a:ext cx="7294022" cy="4351338"/>
          </a:xfrm>
        </p:spPr>
      </p:pic>
    </p:spTree>
    <p:extLst>
      <p:ext uri="{BB962C8B-B14F-4D97-AF65-F5344CB8AC3E}">
        <p14:creationId xmlns:p14="http://schemas.microsoft.com/office/powerpoint/2010/main" val="22323358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Stacked Bar Plot </a:t>
            </a:r>
            <a:endParaRPr lang="en-US" b="1" dirty="0"/>
          </a:p>
        </p:txBody>
      </p:sp>
      <p:sp>
        <p:nvSpPr>
          <p:cNvPr id="3" name="Content Placeholder 2"/>
          <p:cNvSpPr>
            <a:spLocks noGrp="1"/>
          </p:cNvSpPr>
          <p:nvPr>
            <p:ph idx="1"/>
          </p:nvPr>
        </p:nvSpPr>
        <p:spPr/>
        <p:txBody>
          <a:bodyPr/>
          <a:lstStyle/>
          <a:p>
            <a:r>
              <a:rPr lang="en-US" dirty="0"/>
              <a:t>Similarly, </a:t>
            </a:r>
            <a:r>
              <a:rPr lang="en-US" dirty="0" err="1"/>
              <a:t>total_counts</a:t>
            </a:r>
            <a:r>
              <a:rPr lang="en-US" dirty="0"/>
              <a:t> was divided into:</a:t>
            </a:r>
          </a:p>
          <a:p>
            <a:r>
              <a:rPr lang="en-US" dirty="0" err="1"/>
              <a:t>Low_Counts</a:t>
            </a:r>
            <a:endParaRPr lang="en-US" dirty="0"/>
          </a:p>
          <a:p>
            <a:r>
              <a:rPr lang="en-US" dirty="0" err="1"/>
              <a:t>Medium_Counts</a:t>
            </a:r>
            <a:endParaRPr lang="en-US" dirty="0"/>
          </a:p>
          <a:p>
            <a:r>
              <a:rPr lang="en-US" dirty="0" err="1"/>
              <a:t>High_Counts</a:t>
            </a:r>
            <a:endParaRPr lang="en-US" dirty="0"/>
          </a:p>
          <a:p>
            <a:r>
              <a:rPr lang="en-US" dirty="0"/>
              <a:t>These categories represent different sequencing-depth levels.</a:t>
            </a:r>
          </a:p>
        </p:txBody>
      </p:sp>
    </p:spTree>
    <p:extLst>
      <p:ext uri="{BB962C8B-B14F-4D97-AF65-F5344CB8AC3E}">
        <p14:creationId xmlns:p14="http://schemas.microsoft.com/office/powerpoint/2010/main" val="1534418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48989" y="1825625"/>
            <a:ext cx="7294022" cy="4351338"/>
          </a:xfrm>
        </p:spPr>
      </p:pic>
    </p:spTree>
    <p:extLst>
      <p:ext uri="{BB962C8B-B14F-4D97-AF65-F5344CB8AC3E}">
        <p14:creationId xmlns:p14="http://schemas.microsoft.com/office/powerpoint/2010/main" val="36949135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Combined Stacked Bart Plot</a:t>
            </a:r>
            <a:endParaRPr lang="en-US" b="1" dirty="0"/>
          </a:p>
        </p:txBody>
      </p:sp>
      <p:sp>
        <p:nvSpPr>
          <p:cNvPr id="5" name="Content Placeholder 4"/>
          <p:cNvSpPr>
            <a:spLocks noGrp="1"/>
          </p:cNvSpPr>
          <p:nvPr>
            <p:ph idx="1"/>
          </p:nvPr>
        </p:nvSpPr>
        <p:spPr/>
        <p:txBody>
          <a:bodyPr/>
          <a:lstStyle/>
          <a:p>
            <a:r>
              <a:rPr lang="en-US" dirty="0"/>
              <a:t>Two contingency tables were generated:</a:t>
            </a:r>
          </a:p>
          <a:p>
            <a:r>
              <a:rPr lang="en-US" dirty="0"/>
              <a:t>Expression Group × Gene Category</a:t>
            </a:r>
          </a:p>
          <a:p>
            <a:r>
              <a:rPr lang="en-US" dirty="0"/>
              <a:t>Expression Group × Count Category</a:t>
            </a:r>
          </a:p>
          <a:p>
            <a:r>
              <a:rPr lang="en-US" dirty="0"/>
              <a:t>Both tables were merged into a single visualization.</a:t>
            </a:r>
          </a:p>
          <a:p>
            <a:r>
              <a:rPr lang="en-US" dirty="0"/>
              <a:t>Each stacked bar represents an expression group.</a:t>
            </a:r>
          </a:p>
          <a:p>
            <a:r>
              <a:rPr lang="en-US" dirty="0"/>
              <a:t>Each colored segment corresponds to one of the gene-count or sequencing-depth categories.</a:t>
            </a:r>
          </a:p>
          <a:p>
            <a:r>
              <a:rPr lang="en-US" dirty="0"/>
              <a:t>This visualization simultaneously summarizes multiple QC metrics.</a:t>
            </a:r>
          </a:p>
          <a:p>
            <a:endParaRPr lang="en-US" b="1" dirty="0"/>
          </a:p>
        </p:txBody>
      </p:sp>
    </p:spTree>
    <p:extLst>
      <p:ext uri="{BB962C8B-B14F-4D97-AF65-F5344CB8AC3E}">
        <p14:creationId xmlns:p14="http://schemas.microsoft.com/office/powerpoint/2010/main" val="1654896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Key Insights</a:t>
            </a:r>
            <a:endParaRPr lang="en-US" b="1" dirty="0"/>
          </a:p>
        </p:txBody>
      </p:sp>
      <p:sp>
        <p:nvSpPr>
          <p:cNvPr id="3" name="Content Placeholder 2"/>
          <p:cNvSpPr>
            <a:spLocks noGrp="1"/>
          </p:cNvSpPr>
          <p:nvPr>
            <p:ph idx="1"/>
          </p:nvPr>
        </p:nvSpPr>
        <p:spPr/>
        <p:txBody>
          <a:bodyPr>
            <a:normAutofit fontScale="92500" lnSpcReduction="10000"/>
          </a:bodyPr>
          <a:lstStyle/>
          <a:p>
            <a:r>
              <a:rPr lang="en-US" b="1" dirty="0"/>
              <a:t>Expression Level Positively Correlates with Gene Detection</a:t>
            </a:r>
            <a:endParaRPr lang="en-US" dirty="0"/>
          </a:p>
          <a:p>
            <a:r>
              <a:rPr lang="en-US" dirty="0"/>
              <a:t>The combined stacked bar chart indicates that cells classified within the </a:t>
            </a:r>
            <a:r>
              <a:rPr lang="en-US" b="1" dirty="0"/>
              <a:t>High Expression</a:t>
            </a:r>
            <a:r>
              <a:rPr lang="en-US" dirty="0"/>
              <a:t> group generally contain a larger proportion of </a:t>
            </a:r>
            <a:r>
              <a:rPr lang="en-US" b="1" dirty="0" err="1"/>
              <a:t>High_Genes</a:t>
            </a:r>
            <a:r>
              <a:rPr lang="en-US" dirty="0"/>
              <a:t> cells. This suggests that increased transcriptional activity is associated with a greater number of detected genes, reflecting higher transcriptomic complexity.</a:t>
            </a:r>
          </a:p>
          <a:p>
            <a:r>
              <a:rPr lang="en-US" b="1" dirty="0"/>
              <a:t>Sequencing Depth Influences Cellular Complexity</a:t>
            </a:r>
            <a:endParaRPr lang="en-US" dirty="0"/>
          </a:p>
          <a:p>
            <a:r>
              <a:rPr lang="en-US" dirty="0"/>
              <a:t>Cells with higher </a:t>
            </a:r>
            <a:r>
              <a:rPr lang="en-US" b="1" dirty="0" err="1"/>
              <a:t>total_counts</a:t>
            </a:r>
            <a:r>
              <a:rPr lang="en-US" dirty="0"/>
              <a:t> are more frequently observed within the </a:t>
            </a:r>
            <a:r>
              <a:rPr lang="en-US" b="1" dirty="0"/>
              <a:t>High Expression</a:t>
            </a:r>
            <a:r>
              <a:rPr lang="en-US" dirty="0"/>
              <a:t> category. Greater sequencing depth increases the probability of detecting low-abundance transcripts, resulting in improved gene coverage and more comprehensive expression profiles.</a:t>
            </a:r>
          </a:p>
          <a:p>
            <a:endParaRPr lang="en-US" dirty="0"/>
          </a:p>
        </p:txBody>
      </p:sp>
    </p:spTree>
    <p:extLst>
      <p:ext uri="{BB962C8B-B14F-4D97-AF65-F5344CB8AC3E}">
        <p14:creationId xmlns:p14="http://schemas.microsoft.com/office/powerpoint/2010/main" val="530281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Key Insights</a:t>
            </a:r>
            <a:endParaRPr lang="en-US" b="1" dirty="0"/>
          </a:p>
        </p:txBody>
      </p:sp>
      <p:sp>
        <p:nvSpPr>
          <p:cNvPr id="3" name="Content Placeholder 2"/>
          <p:cNvSpPr>
            <a:spLocks noGrp="1"/>
          </p:cNvSpPr>
          <p:nvPr>
            <p:ph idx="1"/>
          </p:nvPr>
        </p:nvSpPr>
        <p:spPr/>
        <p:txBody>
          <a:bodyPr/>
          <a:lstStyle/>
          <a:p>
            <a:r>
              <a:rPr lang="en-US" b="1" dirty="0"/>
              <a:t>Low Expression Cells May Represent Lower-Quality Observations</a:t>
            </a:r>
            <a:endParaRPr lang="en-US" dirty="0"/>
          </a:p>
          <a:p>
            <a:r>
              <a:rPr lang="en-US" dirty="0"/>
              <a:t>Cells belonging to the </a:t>
            </a:r>
            <a:r>
              <a:rPr lang="en-US" b="1" dirty="0"/>
              <a:t>Low Expression</a:t>
            </a:r>
            <a:r>
              <a:rPr lang="en-US" dirty="0"/>
              <a:t> group are often associated with </a:t>
            </a:r>
            <a:r>
              <a:rPr lang="en-US" b="1" dirty="0" err="1"/>
              <a:t>Low_Genes</a:t>
            </a:r>
            <a:r>
              <a:rPr lang="en-US" dirty="0"/>
              <a:t> and </a:t>
            </a:r>
            <a:r>
              <a:rPr lang="en-US" b="1" dirty="0" err="1"/>
              <a:t>Low_Counts</a:t>
            </a:r>
            <a:r>
              <a:rPr lang="en-US" dirty="0"/>
              <a:t> categories. These cells may correspond to damaged cells, empty droplets, low RNA-content cells, or technical artifacts. Such observations should be carefully evaluated during quality-control filtering.</a:t>
            </a:r>
          </a:p>
          <a:p>
            <a:endParaRPr lang="en-US" dirty="0"/>
          </a:p>
        </p:txBody>
      </p:sp>
    </p:spTree>
    <p:extLst>
      <p:ext uri="{BB962C8B-B14F-4D97-AF65-F5344CB8AC3E}">
        <p14:creationId xmlns:p14="http://schemas.microsoft.com/office/powerpoint/2010/main" val="12245123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Key Insights</a:t>
            </a:r>
            <a:endParaRPr lang="en-US" b="1" dirty="0"/>
          </a:p>
        </p:txBody>
      </p:sp>
      <p:sp>
        <p:nvSpPr>
          <p:cNvPr id="3" name="Content Placeholder 2"/>
          <p:cNvSpPr>
            <a:spLocks noGrp="1"/>
          </p:cNvSpPr>
          <p:nvPr>
            <p:ph idx="1"/>
          </p:nvPr>
        </p:nvSpPr>
        <p:spPr/>
        <p:txBody>
          <a:bodyPr/>
          <a:lstStyle/>
          <a:p>
            <a:r>
              <a:rPr lang="en-US" b="1" dirty="0"/>
              <a:t>Gene Count and Total Count Show Consistent Trends</a:t>
            </a:r>
            <a:endParaRPr lang="en-US" dirty="0"/>
          </a:p>
          <a:p>
            <a:r>
              <a:rPr lang="en-US" dirty="0"/>
              <a:t>The distribution of </a:t>
            </a:r>
            <a:r>
              <a:rPr lang="en-US" b="1" dirty="0"/>
              <a:t>gene categories</a:t>
            </a:r>
            <a:r>
              <a:rPr lang="en-US" dirty="0"/>
              <a:t> and </a:t>
            </a:r>
            <a:r>
              <a:rPr lang="en-US" b="1" dirty="0"/>
              <a:t>count categories</a:t>
            </a:r>
            <a:r>
              <a:rPr lang="en-US" dirty="0"/>
              <a:t> across expression groups demonstrates a consistent positive relationship. Cells with higher sequencing depth typically exhibit higher gene detection, confirming the expected dependence between sequencing coverage and transcript recovery.</a:t>
            </a:r>
          </a:p>
          <a:p>
            <a:endParaRPr lang="en-US" dirty="0"/>
          </a:p>
        </p:txBody>
      </p:sp>
    </p:spTree>
    <p:extLst>
      <p:ext uri="{BB962C8B-B14F-4D97-AF65-F5344CB8AC3E}">
        <p14:creationId xmlns:p14="http://schemas.microsoft.com/office/powerpoint/2010/main" val="35231039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Key Insights</a:t>
            </a:r>
            <a:endParaRPr lang="en-US" b="1" dirty="0"/>
          </a:p>
        </p:txBody>
      </p:sp>
      <p:sp>
        <p:nvSpPr>
          <p:cNvPr id="3" name="Content Placeholder 2"/>
          <p:cNvSpPr>
            <a:spLocks noGrp="1"/>
          </p:cNvSpPr>
          <p:nvPr>
            <p:ph idx="1"/>
          </p:nvPr>
        </p:nvSpPr>
        <p:spPr/>
        <p:txBody>
          <a:bodyPr>
            <a:normAutofit fontScale="92500" lnSpcReduction="10000"/>
          </a:bodyPr>
          <a:lstStyle/>
          <a:p>
            <a:r>
              <a:rPr lang="en-US" b="1" dirty="0"/>
              <a:t>Quality-Control Metrics Are Internally Consistent</a:t>
            </a:r>
            <a:endParaRPr lang="en-US" dirty="0"/>
          </a:p>
          <a:p>
            <a:r>
              <a:rPr lang="en-US" dirty="0"/>
              <a:t>The agreement among </a:t>
            </a:r>
            <a:r>
              <a:rPr lang="en-US" b="1" dirty="0"/>
              <a:t>expression level</a:t>
            </a:r>
            <a:r>
              <a:rPr lang="en-US" dirty="0"/>
              <a:t>, </a:t>
            </a:r>
            <a:r>
              <a:rPr lang="en-US" b="1" dirty="0"/>
              <a:t>detected genes</a:t>
            </a:r>
            <a:r>
              <a:rPr lang="en-US" dirty="0"/>
              <a:t>, and </a:t>
            </a:r>
            <a:r>
              <a:rPr lang="en-US" b="1" dirty="0"/>
              <a:t>total counts</a:t>
            </a:r>
            <a:r>
              <a:rPr lang="en-US" dirty="0"/>
              <a:t> suggests that the dataset exhibits internally consistent quality-control characteristics. These metrics collectively provide confidence that the majority of cells follow expected biological and technical patterns.</a:t>
            </a:r>
          </a:p>
          <a:p>
            <a:r>
              <a:rPr lang="en-US" b="1" dirty="0"/>
              <a:t>Cellular Heterogeneity Is Evident</a:t>
            </a:r>
            <a:endParaRPr lang="en-US" dirty="0"/>
          </a:p>
          <a:p>
            <a:r>
              <a:rPr lang="en-US" dirty="0"/>
              <a:t>The presence of distinct Low, Medium, and High expression groups demonstrates considerable heterogeneity within the dataset. Such variability is characteristic of </a:t>
            </a:r>
            <a:r>
              <a:rPr lang="en-US" dirty="0" err="1"/>
              <a:t>scRNA-seq</a:t>
            </a:r>
            <a:r>
              <a:rPr lang="en-US" dirty="0"/>
              <a:t> experiments and indicates that the dataset contains cells with differing transcriptional activities and molecular complexities.</a:t>
            </a:r>
          </a:p>
          <a:p>
            <a:endParaRPr lang="en-US" dirty="0"/>
          </a:p>
        </p:txBody>
      </p:sp>
    </p:spTree>
    <p:extLst>
      <p:ext uri="{BB962C8B-B14F-4D97-AF65-F5344CB8AC3E}">
        <p14:creationId xmlns:p14="http://schemas.microsoft.com/office/powerpoint/2010/main" val="24651253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Key Insights</a:t>
            </a:r>
            <a:endParaRPr lang="en-US" b="1" dirty="0"/>
          </a:p>
        </p:txBody>
      </p:sp>
      <p:sp>
        <p:nvSpPr>
          <p:cNvPr id="3" name="Content Placeholder 2"/>
          <p:cNvSpPr>
            <a:spLocks noGrp="1"/>
          </p:cNvSpPr>
          <p:nvPr>
            <p:ph idx="1"/>
          </p:nvPr>
        </p:nvSpPr>
        <p:spPr/>
        <p:txBody>
          <a:bodyPr/>
          <a:lstStyle/>
          <a:p>
            <a:r>
              <a:rPr lang="en-US" b="1" dirty="0"/>
              <a:t>Combined Visualization Improves Data Interpretation</a:t>
            </a:r>
            <a:endParaRPr lang="en-US" dirty="0"/>
          </a:p>
          <a:p>
            <a:r>
              <a:rPr lang="en-US" dirty="0"/>
              <a:t>Integrating gene-count categories and sequencing-depth categories into a single stacked bar chart enables simultaneous comparison of multiple quality-control metrics. This approach provides a clearer overview than analyzing each metric independently and helps identify broad trends across expression groups.</a:t>
            </a:r>
          </a:p>
          <a:p>
            <a:endParaRPr lang="en-US" dirty="0"/>
          </a:p>
        </p:txBody>
      </p:sp>
    </p:spTree>
    <p:extLst>
      <p:ext uri="{BB962C8B-B14F-4D97-AF65-F5344CB8AC3E}">
        <p14:creationId xmlns:p14="http://schemas.microsoft.com/office/powerpoint/2010/main" val="36546738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Key Insights</a:t>
            </a:r>
            <a:endParaRPr lang="en-US" b="1" dirty="0"/>
          </a:p>
        </p:txBody>
      </p:sp>
      <p:sp>
        <p:nvSpPr>
          <p:cNvPr id="3" name="Content Placeholder 2"/>
          <p:cNvSpPr>
            <a:spLocks noGrp="1"/>
          </p:cNvSpPr>
          <p:nvPr>
            <p:ph idx="1"/>
          </p:nvPr>
        </p:nvSpPr>
        <p:spPr/>
        <p:txBody>
          <a:bodyPr>
            <a:normAutofit fontScale="92500" lnSpcReduction="10000"/>
          </a:bodyPr>
          <a:lstStyle/>
          <a:p>
            <a:r>
              <a:rPr lang="en-US" b="1" dirty="0"/>
              <a:t>Current Analysis Represents Exploratory Quality Assessment</a:t>
            </a:r>
            <a:endParaRPr lang="en-US" dirty="0"/>
          </a:p>
          <a:p>
            <a:r>
              <a:rPr lang="en-US" dirty="0"/>
              <a:t>Because the dataset does not contain annotated cell-type labels, the present analysis should be interpreted as an exploratory quality-control assessment rather than a biological comparison of cell populations. Biological conclusions regarding specific cell types cannot yet be drawn.</a:t>
            </a:r>
          </a:p>
          <a:p>
            <a:r>
              <a:rPr lang="en-US" b="1" dirty="0"/>
              <a:t>Dataset Appears Suitable for Downstream Analysis</a:t>
            </a:r>
            <a:endParaRPr lang="en-US" dirty="0"/>
          </a:p>
          <a:p>
            <a:r>
              <a:rPr lang="en-US" dirty="0"/>
              <a:t>The observed relationships among expression level, gene detection, and sequencing depth indicate that the dataset is appropriate for subsequent preprocessing and analysis. Following standard quality-control filtering, the data can be used for normalization, dimensionality reduction, clustering, and marker-gene identification.</a:t>
            </a:r>
          </a:p>
          <a:p>
            <a:endParaRPr lang="en-US" dirty="0"/>
          </a:p>
        </p:txBody>
      </p:sp>
    </p:spTree>
    <p:extLst>
      <p:ext uri="{BB962C8B-B14F-4D97-AF65-F5344CB8AC3E}">
        <p14:creationId xmlns:p14="http://schemas.microsoft.com/office/powerpoint/2010/main" val="30838975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Key Insights</a:t>
            </a:r>
            <a:endParaRPr lang="en-US" b="1" dirty="0"/>
          </a:p>
        </p:txBody>
      </p:sp>
      <p:sp>
        <p:nvSpPr>
          <p:cNvPr id="3" name="Content Placeholder 2"/>
          <p:cNvSpPr>
            <a:spLocks noGrp="1"/>
          </p:cNvSpPr>
          <p:nvPr>
            <p:ph idx="1"/>
          </p:nvPr>
        </p:nvSpPr>
        <p:spPr/>
        <p:txBody>
          <a:bodyPr/>
          <a:lstStyle/>
          <a:p>
            <a:r>
              <a:rPr lang="en-US" b="1" dirty="0"/>
              <a:t>Future Analyses Will Enhance Biological Interpretation</a:t>
            </a:r>
            <a:endParaRPr lang="en-US" dirty="0"/>
          </a:p>
          <a:p>
            <a:r>
              <a:rPr lang="en-US" dirty="0"/>
              <a:t>To obtain biologically meaningful insights, the dataset should undergo additional analyses, including highly variable gene selection, Principal Component Analysis (PCA), neighborhood graph construction, Leiden clustering, UMAP visualization, marker gene detection, automated cell-type annotation, differential expression analysis, pathway enrichment, and cell-type deconvolution using reference datasets.</a:t>
            </a:r>
          </a:p>
          <a:p>
            <a:endParaRPr lang="en-US" dirty="0"/>
          </a:p>
        </p:txBody>
      </p:sp>
    </p:spTree>
    <p:extLst>
      <p:ext uri="{BB962C8B-B14F-4D97-AF65-F5344CB8AC3E}">
        <p14:creationId xmlns:p14="http://schemas.microsoft.com/office/powerpoint/2010/main" val="33452438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Discussion</a:t>
            </a:r>
          </a:p>
        </p:txBody>
      </p:sp>
      <p:sp>
        <p:nvSpPr>
          <p:cNvPr id="3" name="Content Placeholder 2"/>
          <p:cNvSpPr>
            <a:spLocks noGrp="1"/>
          </p:cNvSpPr>
          <p:nvPr>
            <p:ph idx="1"/>
          </p:nvPr>
        </p:nvSpPr>
        <p:spPr/>
        <p:txBody>
          <a:bodyPr/>
          <a:lstStyle/>
          <a:p>
            <a:r>
              <a:rPr lang="en-US" dirty="0"/>
              <a:t>Although no biological cell-type labels were available, the QC analysis provides valuable insight into dataset quality.</a:t>
            </a:r>
          </a:p>
          <a:p>
            <a:r>
              <a:rPr lang="en-US" dirty="0"/>
              <a:t>The absence of cell-type annotations prevents biological interpretation of individual cell populations.</a:t>
            </a:r>
          </a:p>
          <a:p>
            <a:r>
              <a:rPr lang="en-US" dirty="0"/>
              <a:t>However, the QC metrics strongly suggest that expression level, detected genes, and sequencing depth are positively associated.</a:t>
            </a:r>
          </a:p>
          <a:p>
            <a:r>
              <a:rPr lang="en-US" dirty="0"/>
              <a:t>These observations justify proceeding with downstream analyses such as normalization, dimensionality reduction, clustering, and annotation.</a:t>
            </a:r>
          </a:p>
          <a:p>
            <a:endParaRPr lang="en-US" dirty="0"/>
          </a:p>
        </p:txBody>
      </p:sp>
    </p:spTree>
    <p:extLst>
      <p:ext uri="{BB962C8B-B14F-4D97-AF65-F5344CB8AC3E}">
        <p14:creationId xmlns:p14="http://schemas.microsoft.com/office/powerpoint/2010/main" val="28515958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Limitations</a:t>
            </a:r>
          </a:p>
        </p:txBody>
      </p:sp>
      <p:sp>
        <p:nvSpPr>
          <p:cNvPr id="3" name="Content Placeholder 2"/>
          <p:cNvSpPr>
            <a:spLocks noGrp="1"/>
          </p:cNvSpPr>
          <p:nvPr>
            <p:ph idx="1"/>
          </p:nvPr>
        </p:nvSpPr>
        <p:spPr/>
        <p:txBody>
          <a:bodyPr/>
          <a:lstStyle/>
          <a:p>
            <a:r>
              <a:rPr lang="en-US" dirty="0"/>
              <a:t>Several limitations should be acknowledged.</a:t>
            </a:r>
          </a:p>
          <a:p>
            <a:r>
              <a:rPr lang="en-US" dirty="0"/>
              <a:t>No cell-type annotations were available.</a:t>
            </a:r>
          </a:p>
          <a:p>
            <a:r>
              <a:rPr lang="en-US" dirty="0"/>
              <a:t>Clustering analysis was not performed.</a:t>
            </a:r>
          </a:p>
          <a:p>
            <a:r>
              <a:rPr lang="en-US" dirty="0"/>
              <a:t>Marker-gene analysis was unavailable.</a:t>
            </a:r>
          </a:p>
          <a:p>
            <a:r>
              <a:rPr lang="en-US" dirty="0"/>
              <a:t>QC categories were generated statistically rather than biologically.</a:t>
            </a:r>
          </a:p>
          <a:p>
            <a:r>
              <a:rPr lang="en-US" dirty="0"/>
              <a:t>Doublet detection and mitochondrial RNA filtering were not included.</a:t>
            </a:r>
          </a:p>
          <a:p>
            <a:r>
              <a:rPr lang="en-US" dirty="0"/>
              <a:t>Batch effects were not assessed.</a:t>
            </a:r>
          </a:p>
          <a:p>
            <a:endParaRPr lang="en-US" dirty="0"/>
          </a:p>
        </p:txBody>
      </p:sp>
    </p:spTree>
    <p:extLst>
      <p:ext uri="{BB962C8B-B14F-4D97-AF65-F5344CB8AC3E}">
        <p14:creationId xmlns:p14="http://schemas.microsoft.com/office/powerpoint/2010/main" val="39009060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Conclusion</a:t>
            </a:r>
            <a:endParaRPr lang="en-US" b="1" dirty="0"/>
          </a:p>
        </p:txBody>
      </p:sp>
      <p:sp>
        <p:nvSpPr>
          <p:cNvPr id="3" name="Content Placeholder 2"/>
          <p:cNvSpPr>
            <a:spLocks noGrp="1"/>
          </p:cNvSpPr>
          <p:nvPr>
            <p:ph idx="1"/>
          </p:nvPr>
        </p:nvSpPr>
        <p:spPr/>
        <p:txBody>
          <a:bodyPr>
            <a:normAutofit fontScale="92500" lnSpcReduction="10000"/>
          </a:bodyPr>
          <a:lstStyle/>
          <a:p>
            <a:r>
              <a:rPr lang="en-US" dirty="0"/>
              <a:t>This exploratory quality-control analysis demonstrates the utility of combined stacked bar charts for summarizing multiple </a:t>
            </a:r>
            <a:r>
              <a:rPr lang="en-US" dirty="0" err="1"/>
              <a:t>scRNA-seq</a:t>
            </a:r>
            <a:r>
              <a:rPr lang="en-US" dirty="0"/>
              <a:t> quality metrics. The visualization highlights the association between expression level, detected gene counts, and sequencing depth, providing a concise overview of cellular heterogeneity and sequencing quality. Although biological interpretation is limited by the absence of cell-type annotations, the dataset appears suitable for advanced downstream analyses after appropriate preprocessing. Subsequent steps such as normalization, clustering, marker-gene detection, and cell-type annotation will enable a deeper understanding of the biological composition of the dataset and support robust cell-type deconvolution and comparative transcriptomic analyses.</a:t>
            </a:r>
          </a:p>
        </p:txBody>
      </p:sp>
    </p:spTree>
    <p:extLst>
      <p:ext uri="{BB962C8B-B14F-4D97-AF65-F5344CB8AC3E}">
        <p14:creationId xmlns:p14="http://schemas.microsoft.com/office/powerpoint/2010/main" val="19318826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1269</Words>
  <Application>Microsoft Office PowerPoint</Application>
  <PresentationFormat>Widescreen</PresentationFormat>
  <Paragraphs>133</Paragraphs>
  <Slides>27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Calibri Light</vt:lpstr>
      <vt:lpstr>CIDFont+F1</vt:lpstr>
      <vt:lpstr>Office Theme</vt:lpstr>
      <vt:lpstr>Single-cell RNA-seq analysis for cell type deconvolution</vt:lpstr>
      <vt:lpstr>Google Colab URL</vt:lpstr>
      <vt:lpstr>Introduction</vt:lpstr>
      <vt:lpstr>Introduction</vt:lpstr>
      <vt:lpstr>Objective</vt:lpstr>
      <vt:lpstr>Methodology</vt:lpstr>
      <vt:lpstr>Methodology</vt:lpstr>
      <vt:lpstr>Methodology</vt:lpstr>
      <vt:lpstr>Methodology</vt:lpstr>
      <vt:lpstr>Data Visualization</vt:lpstr>
      <vt:lpstr>Histogram Plot</vt:lpstr>
      <vt:lpstr>Data Visualization</vt:lpstr>
      <vt:lpstr>Bar Chart Plot</vt:lpstr>
      <vt:lpstr>PowerPoint Presentation</vt:lpstr>
      <vt:lpstr>Stacked Bar Plot </vt:lpstr>
      <vt:lpstr>Data Visualization</vt:lpstr>
      <vt:lpstr>Combined Stacked Bart Plot</vt:lpstr>
      <vt:lpstr>Key Insights</vt:lpstr>
      <vt:lpstr>Key Insights</vt:lpstr>
      <vt:lpstr>Key Insights</vt:lpstr>
      <vt:lpstr>Key Insights</vt:lpstr>
      <vt:lpstr>Key Insights</vt:lpstr>
      <vt:lpstr>Key Insights</vt:lpstr>
      <vt:lpstr>Key Insights</vt:lpstr>
      <vt:lpstr>Discussion</vt:lpstr>
      <vt:lpstr>Limitations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Single-cell RNA-seq analysis for cell type deconvolution</dc:title>
  <dc:creator>KUMAR</dc:creator>
  <cp:lastModifiedBy>KUMAR</cp:lastModifiedBy>
  <cp:revision>38</cp:revision>
  <dcterms:created xsi:type="dcterms:W3CDTF">2026-06-12T09:06:09Z</dcterms:created>
  <dcterms:modified xsi:type="dcterms:W3CDTF">2026-07-01T07:18:49Z</dcterms:modified>
</cp:coreProperties>
</file>