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F0F52-308A-422E-8A7E-FF0C92192C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C1EA-8083-4096-B50D-7AB3F22F8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9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AC1EA-8083-4096-B50D-7AB3F22F84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90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6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2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4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4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9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1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1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0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5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C2BC4-4BB0-4638-B320-81D8CB4527E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6473E-E8CE-4637-A2F7-0BEF527EF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5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xVdcCMcnqkYaiYZ9dtc3slD-2xGiVpYj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Claims Process Digitization 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650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https://colab.research.google.com/drive/1xVdcCMcnqkYaiYZ9dtc3slD-2xGiVpYj?usp=sharing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0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Executive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Insurance claims processing is traditionally manual, time-consuming, and prone to delays. This project digitizes the end-to-end claims lifecycle by simulating structured workflows, automating approval logic, and measuring operational performance using analytics and visualization techniques.</a:t>
            </a:r>
          </a:p>
          <a:p>
            <a:r>
              <a:rPr lang="en-US" dirty="0" smtClean="0"/>
              <a:t>The objective is to improve </a:t>
            </a:r>
            <a:r>
              <a:rPr lang="en-US" b="1" dirty="0" smtClean="0"/>
              <a:t>turnaround time (TAT), operational efficiency, fraud detection, and customer satisfaction</a:t>
            </a:r>
            <a:r>
              <a:rPr lang="en-US" dirty="0" smtClean="0"/>
              <a:t> through data-driven process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93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Business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Insurance companies face several operational challenges:</a:t>
            </a:r>
          </a:p>
          <a:p>
            <a:r>
              <a:rPr lang="en-US" dirty="0" smtClean="0"/>
              <a:t>Long claim settlement timelines</a:t>
            </a:r>
          </a:p>
          <a:p>
            <a:r>
              <a:rPr lang="en-US" dirty="0" smtClean="0"/>
              <a:t>Manual verification delays</a:t>
            </a:r>
          </a:p>
          <a:p>
            <a:r>
              <a:rPr lang="en-US" dirty="0" smtClean="0"/>
              <a:t>High operational costs</a:t>
            </a:r>
          </a:p>
          <a:p>
            <a:r>
              <a:rPr lang="en-US" dirty="0" smtClean="0"/>
              <a:t>Inconsistent fraud detection</a:t>
            </a:r>
          </a:p>
          <a:p>
            <a:r>
              <a:rPr lang="en-US" dirty="0" smtClean="0"/>
              <a:t>Poor SLA monitoring</a:t>
            </a:r>
          </a:p>
          <a:p>
            <a:r>
              <a:rPr lang="en-US" dirty="0" smtClean="0"/>
              <a:t>Without digitization, claims processing becomes fragmented and inefficient, impacting both profitability and customer trust.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6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project aims to:</a:t>
            </a:r>
          </a:p>
          <a:p>
            <a:r>
              <a:rPr lang="en-US" dirty="0" smtClean="0"/>
              <a:t>Simulate a digitized claims workflow</a:t>
            </a:r>
          </a:p>
          <a:p>
            <a:r>
              <a:rPr lang="en-US" dirty="0" smtClean="0"/>
              <a:t>Automate claim approval and fraud screening</a:t>
            </a:r>
          </a:p>
          <a:p>
            <a:r>
              <a:rPr lang="en-US" dirty="0" smtClean="0"/>
              <a:t>Track processing time across stages</a:t>
            </a:r>
          </a:p>
          <a:p>
            <a:r>
              <a:rPr lang="en-US" dirty="0" smtClean="0"/>
              <a:t>Monitor approval vs rejection rates</a:t>
            </a:r>
          </a:p>
          <a:p>
            <a:r>
              <a:rPr lang="en-US" dirty="0" smtClean="0"/>
              <a:t>Identify bottlenecks using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9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Digitized Workflow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Stage 1 – Digital Submission</a:t>
            </a:r>
          </a:p>
          <a:p>
            <a:r>
              <a:rPr lang="en-US" dirty="0" smtClean="0"/>
              <a:t>Claims submitted via:</a:t>
            </a:r>
          </a:p>
          <a:p>
            <a:r>
              <a:rPr lang="en-US" dirty="0" smtClean="0"/>
              <a:t>Mobile App</a:t>
            </a:r>
          </a:p>
          <a:p>
            <a:r>
              <a:rPr lang="en-US" dirty="0" smtClean="0"/>
              <a:t>Web Portal</a:t>
            </a:r>
          </a:p>
          <a:p>
            <a:r>
              <a:rPr lang="en-US" dirty="0" smtClean="0"/>
              <a:t>Agent</a:t>
            </a:r>
          </a:p>
          <a:p>
            <a:r>
              <a:rPr lang="en-US" dirty="0" smtClean="0"/>
              <a:t>Automation captures structured claim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Digitized Workflow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Stage 2 – Automated Verification</a:t>
            </a:r>
          </a:p>
          <a:p>
            <a:r>
              <a:rPr lang="en-US" dirty="0" smtClean="0"/>
              <a:t>Policy validation</a:t>
            </a:r>
          </a:p>
          <a:p>
            <a:r>
              <a:rPr lang="en-US" dirty="0" smtClean="0"/>
              <a:t>KYC check</a:t>
            </a:r>
          </a:p>
          <a:p>
            <a:r>
              <a:rPr lang="en-US" dirty="0" smtClean="0"/>
              <a:t>Fraud screening</a:t>
            </a:r>
          </a:p>
          <a:p>
            <a:r>
              <a:rPr lang="en-US" dirty="0" smtClean="0"/>
              <a:t>Initial document verification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8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Digitized Workflow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Stage 3 – Assessment</a:t>
            </a:r>
          </a:p>
          <a:p>
            <a:r>
              <a:rPr lang="en-US" dirty="0" smtClean="0"/>
              <a:t>Medical / Damage evaluation</a:t>
            </a:r>
          </a:p>
          <a:p>
            <a:r>
              <a:rPr lang="en-US" dirty="0" smtClean="0"/>
              <a:t>Amount validation</a:t>
            </a:r>
          </a:p>
          <a:p>
            <a:r>
              <a:rPr lang="en-US" dirty="0" smtClean="0"/>
              <a:t>Risk scoring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5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Key Performance Indicators (KPIs)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Approval Rate (%)</a:t>
            </a:r>
          </a:p>
          <a:p>
            <a:r>
              <a:rPr lang="en-US" dirty="0" smtClean="0"/>
              <a:t>Rejection Rate (%)</a:t>
            </a:r>
          </a:p>
          <a:p>
            <a:r>
              <a:rPr lang="en-US" dirty="0" smtClean="0"/>
              <a:t>Average Processing Time (TAT)</a:t>
            </a:r>
          </a:p>
          <a:p>
            <a:r>
              <a:rPr lang="en-US" dirty="0" smtClean="0"/>
              <a:t>Total Claim Amount Processed</a:t>
            </a:r>
          </a:p>
          <a:p>
            <a:r>
              <a:rPr lang="en-US" dirty="0" smtClean="0"/>
              <a:t>Fraud Detection Ratio</a:t>
            </a:r>
          </a:p>
          <a:p>
            <a:r>
              <a:rPr lang="en-US" dirty="0" smtClean="0"/>
              <a:t>These KPIs help evaluate operational efficiency and risk exposure.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80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4247599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7.1 Histogram – Processing Time Distribution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Shows distribution of total claim processing time.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Majority of claims cluster within standard processing window</a:t>
            </a:r>
          </a:p>
          <a:p>
            <a:r>
              <a:rPr lang="en-US" dirty="0"/>
              <a:t>Long-tail delays indicate bottlenecks</a:t>
            </a:r>
          </a:p>
          <a:p>
            <a:r>
              <a:rPr lang="en-US" dirty="0"/>
              <a:t>Helps define SLA thresholds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Enables turnaround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81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83" y="1921030"/>
            <a:ext cx="5221234" cy="4160528"/>
          </a:xfrm>
        </p:spPr>
      </p:pic>
    </p:spTree>
    <p:extLst>
      <p:ext uri="{BB962C8B-B14F-4D97-AF65-F5344CB8AC3E}">
        <p14:creationId xmlns:p14="http://schemas.microsoft.com/office/powerpoint/2010/main" val="120868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7.2 Bar Chart – Claim Approval vs Rejection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Displays volume of approved vs rejected claims.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Measures underwriting strictness</a:t>
            </a:r>
          </a:p>
          <a:p>
            <a:r>
              <a:rPr lang="en-US" dirty="0"/>
              <a:t>Highlights fraud impact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portfolio risk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8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276248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7.3 Stacked Bar Chart – Claim Type vs Status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Breaks down approval/rejection by claim type.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Certain claim types may show higher rejection</a:t>
            </a:r>
          </a:p>
          <a:p>
            <a:r>
              <a:rPr lang="en-US" dirty="0"/>
              <a:t>Helps identify risk-heavy segments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Improves underwriting refinement by product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6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243" y="1921030"/>
            <a:ext cx="5175514" cy="4160528"/>
          </a:xfrm>
        </p:spPr>
      </p:pic>
    </p:spTree>
    <p:extLst>
      <p:ext uri="{BB962C8B-B14F-4D97-AF65-F5344CB8AC3E}">
        <p14:creationId xmlns:p14="http://schemas.microsoft.com/office/powerpoint/2010/main" val="1832819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7.4 Combined Stacked Bar Chart – Executive View</a:t>
            </a:r>
          </a:p>
          <a:p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Combines:</a:t>
            </a:r>
          </a:p>
          <a:p>
            <a:r>
              <a:rPr lang="en-US" dirty="0"/>
              <a:t>Total claims per type</a:t>
            </a:r>
          </a:p>
          <a:p>
            <a:r>
              <a:rPr lang="en-US" dirty="0"/>
              <a:t>Approval composition</a:t>
            </a:r>
          </a:p>
          <a:p>
            <a:r>
              <a:rPr lang="en-US" dirty="0"/>
              <a:t>Annotated totals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Provides single-view decision dashboard.</a:t>
            </a:r>
          </a:p>
          <a:p>
            <a:r>
              <a:rPr lang="en-US" b="1" dirty="0"/>
              <a:t>Business Value: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Ideal for management-level reporting.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026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7327" y="1690688"/>
            <a:ext cx="8815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Digitization reduces manual bottlenecks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Automated decision rules improve consistency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Fraud screening significantly impacts rejection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Health claims often show longer TAT due to medical validation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Real-time monitoring enhances SLA adherence</a:t>
            </a:r>
          </a:p>
        </p:txBody>
      </p:sp>
    </p:spTree>
    <p:extLst>
      <p:ext uri="{BB962C8B-B14F-4D97-AF65-F5344CB8AC3E}">
        <p14:creationId xmlns:p14="http://schemas.microsoft.com/office/powerpoint/2010/main" val="36514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digitized framework enables:</a:t>
            </a:r>
          </a:p>
          <a:p>
            <a:r>
              <a:rPr lang="en-US" dirty="0"/>
              <a:t>Faster claim settlement</a:t>
            </a:r>
          </a:p>
          <a:p>
            <a:r>
              <a:rPr lang="en-US" dirty="0"/>
              <a:t>Reduced operational costs</a:t>
            </a:r>
          </a:p>
          <a:p>
            <a:r>
              <a:rPr lang="en-US" dirty="0"/>
              <a:t>Improved fraud detection</a:t>
            </a:r>
          </a:p>
          <a:p>
            <a:r>
              <a:rPr lang="en-US" dirty="0"/>
              <a:t>Enhanced customer experience</a:t>
            </a:r>
          </a:p>
          <a:p>
            <a:r>
              <a:rPr lang="en-US" dirty="0"/>
              <a:t>Better regulatory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47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7641" y="1571672"/>
            <a:ext cx="6805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Simulated dataset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real-time API integration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ML-based predictive risk scoring</a:t>
            </a:r>
          </a:p>
        </p:txBody>
      </p:sp>
    </p:spTree>
    <p:extLst>
      <p:ext uri="{BB962C8B-B14F-4D97-AF65-F5344CB8AC3E}">
        <p14:creationId xmlns:p14="http://schemas.microsoft.com/office/powerpoint/2010/main" val="267842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5294" y="1690688"/>
            <a:ext cx="81293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ML-based fraud prediction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Real-time claims dashboard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OCR document automation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AI-powered medical assessment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Predictive TAT optimization</a:t>
            </a:r>
          </a:p>
        </p:txBody>
      </p:sp>
    </p:spTree>
    <p:extLst>
      <p:ext uri="{BB962C8B-B14F-4D97-AF65-F5344CB8AC3E}">
        <p14:creationId xmlns:p14="http://schemas.microsoft.com/office/powerpoint/2010/main" val="3628996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Claims Process Digitization transforms traditional manual workflows into structured, analytics-driven systems. By combining automation, KPI tracking, and visualization techniques, insurers can significantly improve efficiency, reduce fraud exposure, and enhance customer satisfaction.</a:t>
            </a:r>
          </a:p>
          <a:p>
            <a:r>
              <a:rPr lang="en-US" dirty="0"/>
              <a:t>This project demonstrates how data analytics enables measurable improvements in operational performance and risk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547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467</Words>
  <Application>Microsoft Office PowerPoint</Application>
  <PresentationFormat>Widescreen</PresentationFormat>
  <Paragraphs>113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Claims Process Digitization </vt:lpstr>
      <vt:lpstr>Google Colab URL</vt:lpstr>
      <vt:lpstr>Executive Summary</vt:lpstr>
      <vt:lpstr>Business Problem</vt:lpstr>
      <vt:lpstr>Project Objectives</vt:lpstr>
      <vt:lpstr>Digitized Workflow Design</vt:lpstr>
      <vt:lpstr>Digitized Workflow Design</vt:lpstr>
      <vt:lpstr>Digitized Workflow Design</vt:lpstr>
      <vt:lpstr>Key Performance Indicators (KPIs)</vt:lpstr>
      <vt:lpstr>Data Visualization </vt:lpstr>
      <vt:lpstr>Visualization &amp; Analytics</vt:lpstr>
      <vt:lpstr>Data Visualization</vt:lpstr>
      <vt:lpstr>Visualization &amp; Analytics</vt:lpstr>
      <vt:lpstr>Data Visualization </vt:lpstr>
      <vt:lpstr>Visualization &amp; Analytics</vt:lpstr>
      <vt:lpstr>Data Visualization</vt:lpstr>
      <vt:lpstr>Visualization &amp; Analytics</vt:lpstr>
      <vt:lpstr>Key Insights</vt:lpstr>
      <vt:lpstr>Business Impact</vt:lpstr>
      <vt:lpstr>Limitations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 Process Digitization </dc:title>
  <dc:creator>KUMAR</dc:creator>
  <cp:lastModifiedBy>KUMAR</cp:lastModifiedBy>
  <cp:revision>21</cp:revision>
  <dcterms:created xsi:type="dcterms:W3CDTF">2026-02-12T00:31:32Z</dcterms:created>
  <dcterms:modified xsi:type="dcterms:W3CDTF">2026-02-14T13:08:02Z</dcterms:modified>
</cp:coreProperties>
</file>