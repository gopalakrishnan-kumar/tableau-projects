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9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660"/>
  </p:normalViewPr>
  <p:slideViewPr>
    <p:cSldViewPr snapToGrid="0">
      <p:cViewPr varScale="1">
        <p:scale>
          <a:sx n="66" d="100"/>
          <a:sy n="66" d="100"/>
        </p:scale>
        <p:origin x="8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0ADA2-1C17-4D00-948C-B4F44A4B01E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967F2-E7CC-4A7D-8404-F9071ECC8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51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967F2-E7CC-4A7D-8404-F9071ECC8C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9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ABE8E-9E8C-415F-B874-9D080929938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298F-C60C-4969-92B8-6A1A12A9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5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ABE8E-9E8C-415F-B874-9D080929938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298F-C60C-4969-92B8-6A1A12A9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385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ABE8E-9E8C-415F-B874-9D080929938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298F-C60C-4969-92B8-6A1A12A9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2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ABE8E-9E8C-415F-B874-9D080929938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298F-C60C-4969-92B8-6A1A12A9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81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ABE8E-9E8C-415F-B874-9D080929938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298F-C60C-4969-92B8-6A1A12A9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63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ABE8E-9E8C-415F-B874-9D080929938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298F-C60C-4969-92B8-6A1A12A9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ABE8E-9E8C-415F-B874-9D080929938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298F-C60C-4969-92B8-6A1A12A9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6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ABE8E-9E8C-415F-B874-9D080929938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298F-C60C-4969-92B8-6A1A12A9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ABE8E-9E8C-415F-B874-9D080929938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298F-C60C-4969-92B8-6A1A12A9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39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ABE8E-9E8C-415F-B874-9D080929938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298F-C60C-4969-92B8-6A1A12A9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793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ABE8E-9E8C-415F-B874-9D080929938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D298F-C60C-4969-92B8-6A1A12A9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85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ABE8E-9E8C-415F-B874-9D080929938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D298F-C60C-4969-92B8-6A1A12A9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75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opalakrishnankumar-a7330111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kaggle.com/gopalkk2" TargetMode="External"/><Relationship Id="rId4" Type="http://schemas.openxmlformats.org/officeDocument/2006/relationships/hyperlink" Target="https://github.com/Gopal21236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tWGJGY8L77zglBhlPWc1frS4Sku0239M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Graph Neural Networks for Molecular Property Prediction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357230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>
                <a:solidFill>
                  <a:srgbClr val="0D0D0D"/>
                </a:solidFill>
                <a:latin typeface="CIDFont+F1"/>
                <a:hlinkClick r:id="rId4"/>
              </a:rPr>
              <a:t>Github:https://github.com/Gopal21236</a:t>
            </a:r>
            <a:endParaRPr lang="en-US" dirty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5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091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colab.research.google.com/drive/1tWGJGY8L77zglBhlPWc1frS4Sku0239M?usp=sharing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88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Accurate prediction of molecular properties is a central challenge in </a:t>
            </a:r>
            <a:r>
              <a:rPr lang="en-US" b="1"/>
              <a:t>computational chemistry and drug discovery</a:t>
            </a:r>
            <a:r>
              <a:rPr lang="en-US"/>
              <a:t>. Traditional Quantitative Structure–Activity Relationship (QSAR) models rely on handcrafted molecular descriptors, which often fail to fully capture the complex relational structure of chemical compounds.</a:t>
            </a:r>
          </a:p>
          <a:p>
            <a:r>
              <a:rPr lang="en-US" b="1"/>
              <a:t>Graph Neural Networks (GNNs)</a:t>
            </a:r>
            <a:r>
              <a:rPr lang="en-US"/>
              <a:t> have emerged as a powerful alternative by directly modeling molecules as graphs, where atoms are represented as nodes and chemical bonds as edges. This graph-based representation allows deep learning models to naturally learn </a:t>
            </a:r>
            <a:r>
              <a:rPr lang="en-US" b="1"/>
              <a:t>structure–property relationships</a:t>
            </a:r>
            <a:r>
              <a:rPr lang="en-US"/>
              <a:t>, making GNNs highly suitable for molecular property prediction tasks such as bioactivity, toxicity, solubility, and permeability.</a:t>
            </a:r>
          </a:p>
          <a:p>
            <a:r>
              <a:rPr lang="en-US"/>
              <a:t>This project demonstrates the application of </a:t>
            </a:r>
            <a:r>
              <a:rPr lang="en-US" b="1"/>
              <a:t>Graph Neural Networks</a:t>
            </a:r>
            <a:r>
              <a:rPr lang="en-US"/>
              <a:t> to predict molecular properties, supported by </a:t>
            </a:r>
            <a:r>
              <a:rPr lang="en-US" b="1"/>
              <a:t>statistical visualizations</a:t>
            </a:r>
            <a:r>
              <a:rPr lang="en-US"/>
              <a:t> and </a:t>
            </a:r>
            <a:r>
              <a:rPr lang="en-US" b="1"/>
              <a:t>comparative analysis across optimization rounds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120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primary objectives of this project are:</a:t>
            </a:r>
          </a:p>
          <a:p>
            <a:r>
              <a:rPr lang="en-US" dirty="0"/>
              <a:t>To represent molecules as </a:t>
            </a:r>
            <a:r>
              <a:rPr lang="en-US" b="1" dirty="0"/>
              <a:t>graph structures</a:t>
            </a:r>
            <a:endParaRPr lang="en-US" dirty="0"/>
          </a:p>
          <a:p>
            <a:r>
              <a:rPr lang="en-US" dirty="0"/>
              <a:t>To apply </a:t>
            </a:r>
            <a:r>
              <a:rPr lang="en-US" b="1" dirty="0"/>
              <a:t>Graph Neural Networks</a:t>
            </a:r>
            <a:r>
              <a:rPr lang="en-US" dirty="0"/>
              <a:t> for molecular property prediction</a:t>
            </a:r>
          </a:p>
          <a:p>
            <a:r>
              <a:rPr lang="en-US" dirty="0"/>
              <a:t>To analyze predicted molecular activity and toxicity</a:t>
            </a:r>
          </a:p>
          <a:p>
            <a:r>
              <a:rPr lang="en-US" dirty="0"/>
              <a:t>To evaluate model improvements across training iterations</a:t>
            </a:r>
          </a:p>
          <a:p>
            <a:r>
              <a:rPr lang="en-US" dirty="0"/>
              <a:t>To visualize results using histogram, bar chart, stacked bar chart, and combined stacked bar chart plots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51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smtClean="0"/>
              <a:t/>
            </a:r>
            <a:br>
              <a:rPr lang="en-US" b="1" smtClean="0"/>
            </a:br>
            <a:r>
              <a:rPr lang="en-US" b="1" smtClean="0"/>
              <a:t>Dataset Description</a:t>
            </a:r>
            <a:br>
              <a:rPr lang="en-US" b="1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Due to limited availability of proprietary chemical datasets, a </a:t>
            </a:r>
            <a:r>
              <a:rPr lang="en-US" b="1" dirty="0"/>
              <a:t>synthetic molecular graph dataset</a:t>
            </a:r>
            <a:r>
              <a:rPr lang="en-US" dirty="0"/>
              <a:t> was used while maintaining realistic chemical patterns.</a:t>
            </a:r>
          </a:p>
          <a:p>
            <a:r>
              <a:rPr lang="en-US" b="1" dirty="0"/>
              <a:t>Dataset Characteristics</a:t>
            </a:r>
          </a:p>
          <a:p>
            <a:r>
              <a:rPr lang="en-US" dirty="0"/>
              <a:t>Nodes represent </a:t>
            </a:r>
            <a:r>
              <a:rPr lang="en-US" b="1" dirty="0"/>
              <a:t>atoms</a:t>
            </a:r>
            <a:endParaRPr lang="en-US" dirty="0"/>
          </a:p>
          <a:p>
            <a:r>
              <a:rPr lang="en-US" dirty="0"/>
              <a:t>Edges represent </a:t>
            </a:r>
            <a:r>
              <a:rPr lang="en-US" b="1" dirty="0"/>
              <a:t>chemical bonds</a:t>
            </a:r>
            <a:endParaRPr lang="en-US" dirty="0"/>
          </a:p>
          <a:p>
            <a:r>
              <a:rPr lang="en-US" dirty="0"/>
              <a:t>Node features include synthetic atomic descriptors</a:t>
            </a:r>
          </a:p>
          <a:p>
            <a:r>
              <a:rPr lang="en-US" dirty="0"/>
              <a:t>Target variables:</a:t>
            </a:r>
          </a:p>
          <a:p>
            <a:pPr lvl="1"/>
            <a:r>
              <a:rPr lang="en-US" b="1" dirty="0"/>
              <a:t>Molecular activity score</a:t>
            </a:r>
            <a:endParaRPr lang="en-US" dirty="0"/>
          </a:p>
          <a:p>
            <a:pPr lvl="1"/>
            <a:r>
              <a:rPr lang="en-US" b="1" dirty="0"/>
              <a:t>Toxicity classification</a:t>
            </a:r>
            <a:endParaRPr lang="en-US" dirty="0"/>
          </a:p>
          <a:p>
            <a:r>
              <a:rPr lang="en-US" dirty="0"/>
              <a:t>Two prediction rounds considered:</a:t>
            </a:r>
          </a:p>
          <a:p>
            <a:pPr lvl="1"/>
            <a:r>
              <a:rPr lang="en-US" b="1" dirty="0"/>
              <a:t>Round 1:</a:t>
            </a:r>
            <a:r>
              <a:rPr lang="en-US" dirty="0"/>
              <a:t> Initial GNN predictions</a:t>
            </a:r>
          </a:p>
          <a:p>
            <a:pPr lvl="1"/>
            <a:r>
              <a:rPr lang="en-US" b="1" dirty="0"/>
              <a:t>Round 2:</a:t>
            </a:r>
            <a:r>
              <a:rPr lang="en-US" dirty="0"/>
              <a:t> Predictions after model optimization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11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4.1 Molecular Graph Representation</a:t>
            </a:r>
          </a:p>
          <a:p>
            <a:r>
              <a:rPr lang="en-US" dirty="0"/>
              <a:t>Each molecule is represented as a graph:</a:t>
            </a:r>
          </a:p>
          <a:p>
            <a:r>
              <a:rPr lang="en-US" b="1" dirty="0"/>
              <a:t>Nodes:</a:t>
            </a:r>
            <a:r>
              <a:rPr lang="en-US" dirty="0"/>
              <a:t> Atoms with feature vectors</a:t>
            </a:r>
          </a:p>
          <a:p>
            <a:r>
              <a:rPr lang="en-US" b="1" dirty="0"/>
              <a:t>Edges:</a:t>
            </a:r>
            <a:r>
              <a:rPr lang="en-US" dirty="0"/>
              <a:t> Bonds connecting atoms</a:t>
            </a:r>
          </a:p>
          <a:p>
            <a:r>
              <a:rPr lang="en-US" b="1" dirty="0"/>
              <a:t>Global pooling:</a:t>
            </a:r>
            <a:r>
              <a:rPr lang="en-US" dirty="0"/>
              <a:t> Aggregates atomic </a:t>
            </a:r>
            <a:r>
              <a:rPr lang="en-US" dirty="0" err="1"/>
              <a:t>embeddings</a:t>
            </a:r>
            <a:r>
              <a:rPr lang="en-US" dirty="0"/>
              <a:t> into a molecular representation</a:t>
            </a:r>
          </a:p>
          <a:p>
            <a:r>
              <a:rPr lang="en-US" dirty="0"/>
              <a:t>This approach preserves molecular topology and chemical connectivity.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063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4.2 Graph Neural Network Architecture</a:t>
            </a:r>
          </a:p>
          <a:p>
            <a:r>
              <a:rPr lang="en-US" dirty="0"/>
              <a:t>The implemented GNN consists of:</a:t>
            </a:r>
          </a:p>
          <a:p>
            <a:r>
              <a:rPr lang="en-US" b="1" dirty="0"/>
              <a:t>Graph Convolutional Layers (GCN)</a:t>
            </a:r>
            <a:endParaRPr lang="en-US" dirty="0"/>
          </a:p>
          <a:p>
            <a:r>
              <a:rPr lang="en-US" b="1" dirty="0"/>
              <a:t>ReLU activation functions</a:t>
            </a:r>
            <a:endParaRPr lang="en-US" dirty="0"/>
          </a:p>
          <a:p>
            <a:r>
              <a:rPr lang="en-US" b="1" dirty="0"/>
              <a:t>Global Mean Pooling</a:t>
            </a:r>
            <a:endParaRPr lang="en-US" dirty="0"/>
          </a:p>
          <a:p>
            <a:r>
              <a:rPr lang="en-US" b="1" dirty="0"/>
              <a:t>Fully Connected Output Layer</a:t>
            </a:r>
            <a:endParaRPr lang="en-US" dirty="0"/>
          </a:p>
          <a:p>
            <a:r>
              <a:rPr lang="en-US" dirty="0"/>
              <a:t>The model learns molecular </a:t>
            </a:r>
            <a:r>
              <a:rPr lang="en-US" dirty="0" err="1"/>
              <a:t>embeddings</a:t>
            </a:r>
            <a:r>
              <a:rPr lang="en-US" dirty="0"/>
              <a:t> through </a:t>
            </a:r>
            <a:r>
              <a:rPr lang="en-US" b="1" dirty="0"/>
              <a:t>message passing</a:t>
            </a:r>
            <a:r>
              <a:rPr lang="en-US" dirty="0"/>
              <a:t>, allowing atoms to exchange information with their neighbors.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504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4.3 Training Strategy</a:t>
            </a:r>
          </a:p>
          <a:p>
            <a:r>
              <a:rPr lang="en-US" dirty="0"/>
              <a:t>Loss Function: </a:t>
            </a:r>
            <a:r>
              <a:rPr lang="en-US" b="1" dirty="0"/>
              <a:t>Mean Squared Error (MSE)</a:t>
            </a:r>
            <a:endParaRPr lang="en-US" dirty="0"/>
          </a:p>
          <a:p>
            <a:r>
              <a:rPr lang="en-US" dirty="0"/>
              <a:t>Optimizer: </a:t>
            </a:r>
            <a:r>
              <a:rPr lang="en-US" b="1" dirty="0"/>
              <a:t>Adam</a:t>
            </a:r>
            <a:endParaRPr lang="en-US" dirty="0"/>
          </a:p>
          <a:p>
            <a:r>
              <a:rPr lang="en-US" dirty="0"/>
              <a:t>Learning Objective: Minimize prediction error of molecular properties</a:t>
            </a:r>
          </a:p>
          <a:p>
            <a:r>
              <a:rPr lang="en-US" dirty="0"/>
              <a:t>Iterative optimization improves prediction stability and quality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8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188562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Analysis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5.1 Histogram Plot – Molecular Property Distribution</a:t>
            </a:r>
          </a:p>
          <a:p>
            <a:r>
              <a:rPr lang="en-US" dirty="0"/>
              <a:t>The histogram visualizes the distribution of predicted molecular property values.</a:t>
            </a:r>
          </a:p>
          <a:p>
            <a:r>
              <a:rPr lang="en-US" b="1" dirty="0"/>
              <a:t>Observations</a:t>
            </a:r>
          </a:p>
          <a:p>
            <a:r>
              <a:rPr lang="en-US" dirty="0"/>
              <a:t>Predictions follow a </a:t>
            </a:r>
            <a:r>
              <a:rPr lang="en-US" b="1" dirty="0"/>
              <a:t>near-normal distribution</a:t>
            </a:r>
            <a:endParaRPr lang="en-US" dirty="0"/>
          </a:p>
          <a:p>
            <a:r>
              <a:rPr lang="en-US" dirty="0"/>
              <a:t>Majority of molecules fall within a moderate activity range</a:t>
            </a:r>
          </a:p>
          <a:p>
            <a:r>
              <a:rPr lang="en-US" dirty="0"/>
              <a:t>Limited presence of extreme values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38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Analysis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Significance</a:t>
            </a:r>
          </a:p>
          <a:p>
            <a:r>
              <a:rPr lang="en-US" dirty="0"/>
              <a:t>Indicates </a:t>
            </a:r>
            <a:r>
              <a:rPr lang="en-US" b="1" dirty="0"/>
              <a:t>stable learning</a:t>
            </a:r>
            <a:endParaRPr lang="en-US" dirty="0"/>
          </a:p>
          <a:p>
            <a:r>
              <a:rPr lang="en-US" dirty="0"/>
              <a:t>Confirms absence of prediction bias</a:t>
            </a:r>
          </a:p>
          <a:p>
            <a:r>
              <a:rPr lang="en-US" dirty="0"/>
              <a:t>Suggests good generalization capability of the GNN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69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277443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5.2 Bar Chart – Molecular Activity Levels</a:t>
            </a:r>
          </a:p>
          <a:p>
            <a:r>
              <a:rPr lang="en-US" dirty="0"/>
              <a:t>Molecules were categorized into:</a:t>
            </a:r>
          </a:p>
          <a:p>
            <a:r>
              <a:rPr lang="en-US" dirty="0"/>
              <a:t>Low Activity</a:t>
            </a:r>
          </a:p>
          <a:p>
            <a:r>
              <a:rPr lang="en-US" dirty="0"/>
              <a:t>Moderate Activity</a:t>
            </a:r>
          </a:p>
          <a:p>
            <a:r>
              <a:rPr lang="en-US" dirty="0"/>
              <a:t>High Activity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78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Insights</a:t>
            </a:r>
          </a:p>
          <a:p>
            <a:r>
              <a:rPr lang="en-US" dirty="0"/>
              <a:t>Most molecules exhibit </a:t>
            </a:r>
            <a:r>
              <a:rPr lang="en-US" b="1" dirty="0"/>
              <a:t>moderate activity</a:t>
            </a:r>
            <a:endParaRPr lang="en-US" dirty="0"/>
          </a:p>
          <a:p>
            <a:r>
              <a:rPr lang="en-US" dirty="0"/>
              <a:t>High-activity molecules represent promising lead candidates</a:t>
            </a:r>
          </a:p>
          <a:p>
            <a:r>
              <a:rPr lang="en-US" dirty="0"/>
              <a:t>Low-activity molecules can be deprioritized early</a:t>
            </a:r>
          </a:p>
          <a:p>
            <a:r>
              <a:rPr lang="en-US" b="1" dirty="0"/>
              <a:t>Importance</a:t>
            </a:r>
          </a:p>
          <a:p>
            <a:r>
              <a:rPr lang="en-US" dirty="0"/>
              <a:t>Supports </a:t>
            </a:r>
            <a:r>
              <a:rPr lang="en-US" b="1" dirty="0"/>
              <a:t>lead prioritization</a:t>
            </a:r>
            <a:endParaRPr lang="en-US" dirty="0"/>
          </a:p>
          <a:p>
            <a:r>
              <a:rPr lang="en-US" dirty="0"/>
              <a:t>Reduces downstream screening costs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188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3761894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5.3 Stacked Bar Chart – Activity vs Toxicity</a:t>
            </a:r>
          </a:p>
          <a:p>
            <a:r>
              <a:rPr lang="en-US" dirty="0"/>
              <a:t>This plot evaluates </a:t>
            </a:r>
            <a:r>
              <a:rPr lang="en-US" b="1" dirty="0"/>
              <a:t>activity and safety simultaneously</a:t>
            </a:r>
            <a:r>
              <a:rPr lang="en-US" dirty="0"/>
              <a:t>.</a:t>
            </a:r>
          </a:p>
          <a:p>
            <a:r>
              <a:rPr lang="en-US" b="1" dirty="0"/>
              <a:t>Key Findings</a:t>
            </a:r>
          </a:p>
          <a:p>
            <a:r>
              <a:rPr lang="en-US" dirty="0"/>
              <a:t>Moderate and high activity molecules show a larger proportion of </a:t>
            </a:r>
            <a:r>
              <a:rPr lang="en-US" b="1" dirty="0"/>
              <a:t>non-toxic compounds</a:t>
            </a:r>
            <a:endParaRPr lang="en-US" dirty="0"/>
          </a:p>
          <a:p>
            <a:r>
              <a:rPr lang="en-US" dirty="0"/>
              <a:t>Low activity molecules exhibit relatively higher toxicity ratios</a:t>
            </a:r>
          </a:p>
          <a:p>
            <a:r>
              <a:rPr lang="en-US" dirty="0"/>
              <a:t>Demonstrates the GNN’s ability to capture </a:t>
            </a:r>
            <a:r>
              <a:rPr lang="en-US" b="1" dirty="0"/>
              <a:t>activity–toxicity relationships</a:t>
            </a:r>
            <a:endParaRPr lang="en-US" dirty="0"/>
          </a:p>
          <a:p>
            <a:r>
              <a:rPr lang="en-US" b="1" dirty="0"/>
              <a:t>Relevance</a:t>
            </a:r>
          </a:p>
          <a:p>
            <a:r>
              <a:rPr lang="en-US" dirty="0"/>
              <a:t>Early toxicity-aware filtering is critical in drug discovery to avoid late-stage failures.</a:t>
            </a:r>
          </a:p>
        </p:txBody>
      </p:sp>
    </p:spTree>
    <p:extLst>
      <p:ext uri="{BB962C8B-B14F-4D97-AF65-F5344CB8AC3E}">
        <p14:creationId xmlns:p14="http://schemas.microsoft.com/office/powerpoint/2010/main" val="3506309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701" y="1825625"/>
            <a:ext cx="8782598" cy="4351338"/>
          </a:xfrm>
        </p:spPr>
      </p:pic>
    </p:spTree>
    <p:extLst>
      <p:ext uri="{BB962C8B-B14F-4D97-AF65-F5344CB8AC3E}">
        <p14:creationId xmlns:p14="http://schemas.microsoft.com/office/powerpoint/2010/main" val="2902305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5.4 Combined Stacked Bar Chart – Model Comparison</a:t>
            </a:r>
          </a:p>
          <a:p>
            <a:r>
              <a:rPr lang="en-US" dirty="0"/>
              <a:t>This visualization compares predictions from:</a:t>
            </a:r>
          </a:p>
          <a:p>
            <a:r>
              <a:rPr lang="en-US" b="1" dirty="0"/>
              <a:t>Round 1 (Initial model)</a:t>
            </a:r>
            <a:endParaRPr lang="en-US" dirty="0"/>
          </a:p>
          <a:p>
            <a:r>
              <a:rPr lang="en-US" b="1" dirty="0"/>
              <a:t>Round 2 (Optimized model)</a:t>
            </a:r>
            <a:endParaRPr lang="en-US" dirty="0"/>
          </a:p>
          <a:p>
            <a:r>
              <a:rPr lang="en-US" b="1" dirty="0"/>
              <a:t>Round 1</a:t>
            </a:r>
          </a:p>
          <a:p>
            <a:r>
              <a:rPr lang="en-US" dirty="0"/>
              <a:t>Higher number of toxic predictions</a:t>
            </a:r>
          </a:p>
          <a:p>
            <a:r>
              <a:rPr lang="en-US" dirty="0"/>
              <a:t>Lower proportion of high-activity, non-toxic molecules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87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Round 2</a:t>
            </a:r>
          </a:p>
          <a:p>
            <a:r>
              <a:rPr lang="en-US" dirty="0"/>
              <a:t>Increased non-toxic molecules across all activity levels</a:t>
            </a:r>
          </a:p>
          <a:p>
            <a:r>
              <a:rPr lang="en-US" dirty="0"/>
              <a:t>Significant improvement in high-activity predictions</a:t>
            </a:r>
          </a:p>
          <a:p>
            <a:r>
              <a:rPr lang="en-US" dirty="0"/>
              <a:t>Reduced toxicity rates</a:t>
            </a:r>
          </a:p>
          <a:p>
            <a:r>
              <a:rPr lang="en-US" b="1" dirty="0"/>
              <a:t>Conclusion</a:t>
            </a:r>
          </a:p>
          <a:p>
            <a:r>
              <a:rPr lang="en-US" dirty="0"/>
              <a:t>The optimization process enhances </a:t>
            </a:r>
            <a:r>
              <a:rPr lang="en-US" b="1" dirty="0"/>
              <a:t>prediction quality and safety awareness</a:t>
            </a:r>
            <a:r>
              <a:rPr lang="en-US" dirty="0"/>
              <a:t>, validating the effectiveness of the GNN training strategy.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985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 and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3714" y="1690688"/>
            <a:ext cx="96519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GNN effectively learns molecular graph representations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Predictions remain stable across the dataset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Model optimization improves </a:t>
            </a:r>
            <a:r>
              <a:rPr lang="en-US" altLang="en-US" sz="2400" b="1" dirty="0"/>
              <a:t>activity prediction accuracy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Toxicity predictions become more conservative and reliable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Visual analysis supports quantitative performance improvements</a:t>
            </a:r>
          </a:p>
        </p:txBody>
      </p:sp>
    </p:spTree>
    <p:extLst>
      <p:ext uri="{BB962C8B-B14F-4D97-AF65-F5344CB8AC3E}">
        <p14:creationId xmlns:p14="http://schemas.microsoft.com/office/powerpoint/2010/main" val="2758856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Advantages of Using GNNs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✔ Direct modeling of molecular structure</a:t>
            </a:r>
            <a:br>
              <a:rPr lang="en-US" dirty="0"/>
            </a:br>
            <a:r>
              <a:rPr lang="en-US" dirty="0"/>
              <a:t>✔ No need for handcrafted descriptors</a:t>
            </a:r>
            <a:br>
              <a:rPr lang="en-US" dirty="0"/>
            </a:br>
            <a:r>
              <a:rPr lang="en-US" dirty="0"/>
              <a:t>✔ Captures long-range atomic interactions</a:t>
            </a:r>
            <a:br>
              <a:rPr lang="en-US" dirty="0"/>
            </a:br>
            <a:r>
              <a:rPr lang="en-US" dirty="0"/>
              <a:t>✔ Scalable to large chemical libraries</a:t>
            </a:r>
            <a:br>
              <a:rPr lang="en-US" dirty="0"/>
            </a:br>
            <a:r>
              <a:rPr lang="en-US" dirty="0"/>
              <a:t>✔ Highly adaptable to multi-task 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03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7942" y="1690688"/>
            <a:ext cx="102325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Synthetic data may not capture full chemical diversity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No explicit chemical validation without cheminformatics tools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Performance depends on graph quality and 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150442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can be extended by:</a:t>
            </a:r>
          </a:p>
          <a:p>
            <a:r>
              <a:rPr lang="en-US" dirty="0"/>
              <a:t>Integrating </a:t>
            </a:r>
            <a:r>
              <a:rPr lang="en-US" b="1" dirty="0" err="1"/>
              <a:t>RDKit</a:t>
            </a:r>
            <a:r>
              <a:rPr lang="en-US" dirty="0"/>
              <a:t> for real molecular graphs</a:t>
            </a:r>
          </a:p>
          <a:p>
            <a:r>
              <a:rPr lang="en-US" dirty="0"/>
              <a:t>Using </a:t>
            </a:r>
            <a:r>
              <a:rPr lang="en-US" b="1" dirty="0"/>
              <a:t>Message Passing Neural Networks (MPNN)</a:t>
            </a:r>
            <a:endParaRPr lang="en-US" dirty="0"/>
          </a:p>
          <a:p>
            <a:r>
              <a:rPr lang="en-US" dirty="0"/>
              <a:t>Multi-task learning (activity + toxicity + solubility)</a:t>
            </a:r>
          </a:p>
          <a:p>
            <a:r>
              <a:rPr lang="en-US" dirty="0"/>
              <a:t>Incorporating </a:t>
            </a:r>
            <a:r>
              <a:rPr lang="en-US" b="1" dirty="0"/>
              <a:t>attention-based GNNs (GAT)</a:t>
            </a:r>
            <a:endParaRPr lang="en-US" dirty="0"/>
          </a:p>
          <a:p>
            <a:r>
              <a:rPr lang="en-US" dirty="0"/>
              <a:t>Applying the model to </a:t>
            </a:r>
            <a:r>
              <a:rPr lang="en-US" b="1" dirty="0" err="1"/>
              <a:t>DrugBank</a:t>
            </a:r>
            <a:r>
              <a:rPr lang="en-US" b="1" dirty="0"/>
              <a:t> / </a:t>
            </a:r>
            <a:r>
              <a:rPr lang="en-US" b="1" dirty="0" err="1"/>
              <a:t>ChEMBL</a:t>
            </a:r>
            <a:r>
              <a:rPr lang="en-US" b="1" dirty="0"/>
              <a:t> datasets</a:t>
            </a:r>
            <a:endParaRPr lang="en-US" dirty="0"/>
          </a:p>
          <a:p>
            <a:r>
              <a:rPr lang="en-US" dirty="0"/>
              <a:t>Deploying as a </a:t>
            </a:r>
            <a:r>
              <a:rPr lang="en-US" b="1" dirty="0"/>
              <a:t>drug discovery decision-support system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242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809</Words>
  <Application>Microsoft Office PowerPoint</Application>
  <PresentationFormat>Widescreen</PresentationFormat>
  <Paragraphs>128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CIDFont+F1</vt:lpstr>
      <vt:lpstr>Office Theme</vt:lpstr>
      <vt:lpstr>Graph Neural Networks for Molecular Property Prediction</vt:lpstr>
      <vt:lpstr>Google Colab URL</vt:lpstr>
      <vt:lpstr>Introduction</vt:lpstr>
      <vt:lpstr>Objectives</vt:lpstr>
      <vt:lpstr> Dataset Description </vt:lpstr>
      <vt:lpstr>Methodology</vt:lpstr>
      <vt:lpstr>Methodology</vt:lpstr>
      <vt:lpstr>Methodology</vt:lpstr>
      <vt:lpstr>Data Visualization </vt:lpstr>
      <vt:lpstr>Data Visualization and Analysis</vt:lpstr>
      <vt:lpstr>Data Visualization and Analysis</vt:lpstr>
      <vt:lpstr>Data Visualization </vt:lpstr>
      <vt:lpstr>Data Visualization and Analysis</vt:lpstr>
      <vt:lpstr>Data Visualization and Analysis</vt:lpstr>
      <vt:lpstr>Data Visualization </vt:lpstr>
      <vt:lpstr>Data Visualization and Analysis</vt:lpstr>
      <vt:lpstr>Data Visualization</vt:lpstr>
      <vt:lpstr>Data Visualization and Analysis</vt:lpstr>
      <vt:lpstr>Data Visualization and Analysis</vt:lpstr>
      <vt:lpstr>Results and Discussion</vt:lpstr>
      <vt:lpstr>Advantages of Using GNNs</vt:lpstr>
      <vt:lpstr>Limitations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Neural Networks for Molecular Property Prediction</dc:title>
  <dc:creator>KUMAR</dc:creator>
  <cp:lastModifiedBy>KUMAR</cp:lastModifiedBy>
  <cp:revision>33</cp:revision>
  <dcterms:created xsi:type="dcterms:W3CDTF">2025-12-21T23:33:36Z</dcterms:created>
  <dcterms:modified xsi:type="dcterms:W3CDTF">2025-12-23T05:57:04Z</dcterms:modified>
</cp:coreProperties>
</file>