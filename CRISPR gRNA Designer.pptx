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257" r:id="rId3"/>
    <p:sldId id="258" r:id="rId4"/>
    <p:sldId id="259" r:id="rId5"/>
    <p:sldId id="260" r:id="rId6"/>
    <p:sldId id="261" r:id="rId7"/>
    <p:sldId id="273" r:id="rId8"/>
    <p:sldId id="274" r:id="rId9"/>
    <p:sldId id="275" r:id="rId10"/>
    <p:sldId id="276" r:id="rId11"/>
    <p:sldId id="272" r:id="rId12"/>
    <p:sldId id="262" r:id="rId13"/>
    <p:sldId id="263" r:id="rId14"/>
    <p:sldId id="277" r:id="rId15"/>
    <p:sldId id="278" r:id="rId16"/>
    <p:sldId id="279" r:id="rId17"/>
    <p:sldId id="266" r:id="rId18"/>
    <p:sldId id="267" r:id="rId19"/>
    <p:sldId id="268" r:id="rId20"/>
    <p:sldId id="269" r:id="rId21"/>
    <p:sldId id="280" r:id="rId22"/>
    <p:sldId id="281" r:id="rId23"/>
    <p:sldId id="282" r:id="rId24"/>
    <p:sldId id="283" r:id="rId25"/>
    <p:sldId id="284" r:id="rId26"/>
    <p:sldId id="285" r:id="rId27"/>
    <p:sldId id="286"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838" autoAdjust="0"/>
    <p:restoredTop sz="94660"/>
  </p:normalViewPr>
  <p:slideViewPr>
    <p:cSldViewPr snapToGrid="0">
      <p:cViewPr varScale="1">
        <p:scale>
          <a:sx n="69" d="100"/>
          <a:sy n="69" d="100"/>
        </p:scale>
        <p:origin x="70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4DEAEA-1172-441D-B2B1-6B011233C34A}" type="datetimeFigureOut">
              <a:rPr lang="en-US" smtClean="0"/>
              <a:t>4/30/2026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1544A1-1251-4C9E-82D3-0391E7B5AE48}" type="slidenum">
              <a:rPr lang="en-US" smtClean="0"/>
              <a:t>‹#›</a:t>
            </a:fld>
            <a:endParaRPr lang="en-US"/>
          </a:p>
        </p:txBody>
      </p:sp>
    </p:spTree>
    <p:extLst>
      <p:ext uri="{BB962C8B-B14F-4D97-AF65-F5344CB8AC3E}">
        <p14:creationId xmlns:p14="http://schemas.microsoft.com/office/powerpoint/2010/main" val="24442084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C1544A1-1251-4C9E-82D3-0391E7B5AE48}" type="slidenum">
              <a:rPr lang="en-US" smtClean="0"/>
              <a:t>20</a:t>
            </a:fld>
            <a:endParaRPr lang="en-US"/>
          </a:p>
        </p:txBody>
      </p:sp>
    </p:spTree>
    <p:extLst>
      <p:ext uri="{BB962C8B-B14F-4D97-AF65-F5344CB8AC3E}">
        <p14:creationId xmlns:p14="http://schemas.microsoft.com/office/powerpoint/2010/main" val="6280903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C1544A1-1251-4C9E-82D3-0391E7B5AE48}" type="slidenum">
              <a:rPr lang="en-US" smtClean="0"/>
              <a:t>25</a:t>
            </a:fld>
            <a:endParaRPr lang="en-US"/>
          </a:p>
        </p:txBody>
      </p:sp>
    </p:spTree>
    <p:extLst>
      <p:ext uri="{BB962C8B-B14F-4D97-AF65-F5344CB8AC3E}">
        <p14:creationId xmlns:p14="http://schemas.microsoft.com/office/powerpoint/2010/main" val="31510710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9A4E155-1A9C-4600-B4D9-1CACBDF3F987}"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B99D3C-D73E-4195-9430-4C210E986212}" type="slidenum">
              <a:rPr lang="en-US" smtClean="0"/>
              <a:t>‹#›</a:t>
            </a:fld>
            <a:endParaRPr lang="en-US"/>
          </a:p>
        </p:txBody>
      </p:sp>
    </p:spTree>
    <p:extLst>
      <p:ext uri="{BB962C8B-B14F-4D97-AF65-F5344CB8AC3E}">
        <p14:creationId xmlns:p14="http://schemas.microsoft.com/office/powerpoint/2010/main" val="13206681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9A4E155-1A9C-4600-B4D9-1CACBDF3F987}"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B99D3C-D73E-4195-9430-4C210E986212}" type="slidenum">
              <a:rPr lang="en-US" smtClean="0"/>
              <a:t>‹#›</a:t>
            </a:fld>
            <a:endParaRPr lang="en-US"/>
          </a:p>
        </p:txBody>
      </p:sp>
    </p:spTree>
    <p:extLst>
      <p:ext uri="{BB962C8B-B14F-4D97-AF65-F5344CB8AC3E}">
        <p14:creationId xmlns:p14="http://schemas.microsoft.com/office/powerpoint/2010/main" val="4479135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9A4E155-1A9C-4600-B4D9-1CACBDF3F987}"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B99D3C-D73E-4195-9430-4C210E986212}" type="slidenum">
              <a:rPr lang="en-US" smtClean="0"/>
              <a:t>‹#›</a:t>
            </a:fld>
            <a:endParaRPr lang="en-US"/>
          </a:p>
        </p:txBody>
      </p:sp>
    </p:spTree>
    <p:extLst>
      <p:ext uri="{BB962C8B-B14F-4D97-AF65-F5344CB8AC3E}">
        <p14:creationId xmlns:p14="http://schemas.microsoft.com/office/powerpoint/2010/main" val="20714436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9A4E155-1A9C-4600-B4D9-1CACBDF3F987}" type="datetimeFigureOut">
              <a:rPr lang="en-US" smtClean="0"/>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BB99D3C-D73E-4195-9430-4C210E986212}" type="slidenum">
              <a:rPr lang="en-US" smtClean="0"/>
              <a:t>‹#›</a:t>
            </a:fld>
            <a:endParaRPr lang="en-US"/>
          </a:p>
        </p:txBody>
      </p:sp>
    </p:spTree>
    <p:extLst>
      <p:ext uri="{BB962C8B-B14F-4D97-AF65-F5344CB8AC3E}">
        <p14:creationId xmlns:p14="http://schemas.microsoft.com/office/powerpoint/2010/main" val="29081017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9A4E155-1A9C-4600-B4D9-1CACBDF3F987}" type="datetimeFigureOut">
              <a:rPr lang="en-US" smtClean="0"/>
              <a:t>4/30/2026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BB99D3C-D73E-4195-9430-4C210E986212}" type="slidenum">
              <a:rPr lang="en-US" smtClean="0"/>
              <a:t>‹#›</a:t>
            </a:fld>
            <a:endParaRPr lang="en-US"/>
          </a:p>
        </p:txBody>
      </p:sp>
    </p:spTree>
    <p:extLst>
      <p:ext uri="{BB962C8B-B14F-4D97-AF65-F5344CB8AC3E}">
        <p14:creationId xmlns:p14="http://schemas.microsoft.com/office/powerpoint/2010/main" val="33120394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9A4E155-1A9C-4600-B4D9-1CACBDF3F987}" type="datetimeFigureOut">
              <a:rPr lang="en-US" smtClean="0"/>
              <a:t>4/30/2026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BB99D3C-D73E-4195-9430-4C210E986212}" type="slidenum">
              <a:rPr lang="en-US" smtClean="0"/>
              <a:t>‹#›</a:t>
            </a:fld>
            <a:endParaRPr lang="en-US"/>
          </a:p>
        </p:txBody>
      </p:sp>
    </p:spTree>
    <p:extLst>
      <p:ext uri="{BB962C8B-B14F-4D97-AF65-F5344CB8AC3E}">
        <p14:creationId xmlns:p14="http://schemas.microsoft.com/office/powerpoint/2010/main" val="26731333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9A4E155-1A9C-4600-B4D9-1CACBDF3F987}" type="datetimeFigureOut">
              <a:rPr lang="en-US" smtClean="0"/>
              <a:t>4/30/2026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BB99D3C-D73E-4195-9430-4C210E986212}" type="slidenum">
              <a:rPr lang="en-US" smtClean="0"/>
              <a:t>‹#›</a:t>
            </a:fld>
            <a:endParaRPr lang="en-US"/>
          </a:p>
        </p:txBody>
      </p:sp>
    </p:spTree>
    <p:extLst>
      <p:ext uri="{BB962C8B-B14F-4D97-AF65-F5344CB8AC3E}">
        <p14:creationId xmlns:p14="http://schemas.microsoft.com/office/powerpoint/2010/main" val="16233679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A9A4E155-1A9C-4600-B4D9-1CACBDF3F987}" type="datetimeFigureOut">
              <a:rPr lang="en-US" smtClean="0"/>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BB99D3C-D73E-4195-9430-4C210E986212}" type="slidenum">
              <a:rPr lang="en-US" smtClean="0"/>
              <a:t>‹#›</a:t>
            </a:fld>
            <a:endParaRPr lang="en-US"/>
          </a:p>
        </p:txBody>
      </p:sp>
    </p:spTree>
    <p:extLst>
      <p:ext uri="{BB962C8B-B14F-4D97-AF65-F5344CB8AC3E}">
        <p14:creationId xmlns:p14="http://schemas.microsoft.com/office/powerpoint/2010/main" val="8554328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A9A4E155-1A9C-4600-B4D9-1CACBDF3F987}" type="datetimeFigureOut">
              <a:rPr lang="en-US" smtClean="0"/>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BB99D3C-D73E-4195-9430-4C210E986212}" type="slidenum">
              <a:rPr lang="en-US" smtClean="0"/>
              <a:t>‹#›</a:t>
            </a:fld>
            <a:endParaRPr lang="en-US"/>
          </a:p>
        </p:txBody>
      </p:sp>
    </p:spTree>
    <p:extLst>
      <p:ext uri="{BB962C8B-B14F-4D97-AF65-F5344CB8AC3E}">
        <p14:creationId xmlns:p14="http://schemas.microsoft.com/office/powerpoint/2010/main" val="23632672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9A4E155-1A9C-4600-B4D9-1CACBDF3F987}"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B99D3C-D73E-4195-9430-4C210E986212}" type="slidenum">
              <a:rPr lang="en-US" smtClean="0"/>
              <a:t>‹#›</a:t>
            </a:fld>
            <a:endParaRPr lang="en-US"/>
          </a:p>
        </p:txBody>
      </p:sp>
    </p:spTree>
    <p:extLst>
      <p:ext uri="{BB962C8B-B14F-4D97-AF65-F5344CB8AC3E}">
        <p14:creationId xmlns:p14="http://schemas.microsoft.com/office/powerpoint/2010/main" val="29661697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9A4E155-1A9C-4600-B4D9-1CACBDF3F987}"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B99D3C-D73E-4195-9430-4C210E986212}" type="slidenum">
              <a:rPr lang="en-US" smtClean="0"/>
              <a:t>‹#›</a:t>
            </a:fld>
            <a:endParaRPr lang="en-US"/>
          </a:p>
        </p:txBody>
      </p:sp>
    </p:spTree>
    <p:extLst>
      <p:ext uri="{BB962C8B-B14F-4D97-AF65-F5344CB8AC3E}">
        <p14:creationId xmlns:p14="http://schemas.microsoft.com/office/powerpoint/2010/main" val="16157529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9A4E155-1A9C-4600-B4D9-1CACBDF3F987}" type="datetimeFigureOut">
              <a:rPr lang="en-US" smtClean="0"/>
              <a:t>4/30/2026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BB99D3C-D73E-4195-9430-4C210E986212}" type="slidenum">
              <a:rPr lang="en-US" smtClean="0"/>
              <a:t>‹#›</a:t>
            </a:fld>
            <a:endParaRPr lang="en-US"/>
          </a:p>
        </p:txBody>
      </p:sp>
    </p:spTree>
    <p:extLst>
      <p:ext uri="{BB962C8B-B14F-4D97-AF65-F5344CB8AC3E}">
        <p14:creationId xmlns:p14="http://schemas.microsoft.com/office/powerpoint/2010/main" val="39260672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Gopal21236/" TargetMode="External"/><Relationship Id="rId2" Type="http://schemas.openxmlformats.org/officeDocument/2006/relationships/hyperlink" Target="https://www.linkedin.com/in/gopalakrishnankumar-a73301110/" TargetMode="External"/><Relationship Id="rId1" Type="http://schemas.openxmlformats.org/officeDocument/2006/relationships/slideLayout" Target="../slideLayouts/slideLayout1.xml"/><Relationship Id="rId4" Type="http://schemas.openxmlformats.org/officeDocument/2006/relationships/hyperlink" Target="https://www.kaggle.com/gopalkk2" TargetMode="External"/></Relationships>
</file>

<file path=ppt/slides/_rels/slide2.xml.rels><?xml version="1.0" encoding="UTF-8" standalone="yes"?>
<Relationships xmlns="http://schemas.openxmlformats.org/package/2006/relationships"><Relationship Id="rId2" Type="http://schemas.openxmlformats.org/officeDocument/2006/relationships/hyperlink" Target="https://colab.research.google.com/drive/1lXNPxhAvD--WZ0jRfF8tUcJkbANlYgem?usp=sharing"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CRISPR gRNA designer to evaluate off-target effects</a:t>
            </a:r>
            <a:endParaRPr lang="en-US" b="1" dirty="0"/>
          </a:p>
        </p:txBody>
      </p:sp>
      <p:sp>
        <p:nvSpPr>
          <p:cNvPr id="4" name="Subtitle 2"/>
          <p:cNvSpPr>
            <a:spLocks noGrp="1"/>
          </p:cNvSpPr>
          <p:nvPr>
            <p:ph type="subTitle" idx="1"/>
          </p:nvPr>
        </p:nvSpPr>
        <p:spPr>
          <a:xfrm>
            <a:off x="1524000" y="3509963"/>
            <a:ext cx="9144000" cy="1655762"/>
          </a:xfrm>
        </p:spPr>
        <p:txBody>
          <a:bodyPr/>
          <a:lstStyle/>
          <a:p>
            <a:r>
              <a:rPr lang="en-US" b="1" dirty="0" smtClean="0"/>
              <a:t>By </a:t>
            </a:r>
            <a:r>
              <a:rPr lang="en-US" b="1" dirty="0" err="1" smtClean="0"/>
              <a:t>Gopalakrishnan</a:t>
            </a:r>
            <a:r>
              <a:rPr lang="en-US" b="1" dirty="0" smtClean="0"/>
              <a:t> Kumar, </a:t>
            </a:r>
            <a:r>
              <a:rPr lang="en-US" b="1" dirty="0" err="1" smtClean="0"/>
              <a:t>MTech</a:t>
            </a:r>
            <a:r>
              <a:rPr lang="en-US" b="1" dirty="0" smtClean="0"/>
              <a:t> IIT-Bombay,</a:t>
            </a:r>
          </a:p>
          <a:p>
            <a:r>
              <a:rPr lang="en-US" b="1" dirty="0" smtClean="0"/>
              <a:t>Freelance Data Science Consultant</a:t>
            </a:r>
          </a:p>
          <a:p>
            <a:endParaRPr lang="en-US" dirty="0"/>
          </a:p>
        </p:txBody>
      </p:sp>
      <p:sp>
        <p:nvSpPr>
          <p:cNvPr id="5" name="Rectangle 4"/>
          <p:cNvSpPr/>
          <p:nvPr/>
        </p:nvSpPr>
        <p:spPr>
          <a:xfrm>
            <a:off x="2355273" y="4519136"/>
            <a:ext cx="6096000" cy="1477328"/>
          </a:xfrm>
          <a:prstGeom prst="rect">
            <a:avLst/>
          </a:prstGeom>
        </p:spPr>
        <p:txBody>
          <a:bodyPr>
            <a:spAutoFit/>
          </a:bodyPr>
          <a:lstStyle/>
          <a:p>
            <a:r>
              <a:rPr lang="en-US" dirty="0" smtClean="0">
                <a:solidFill>
                  <a:srgbClr val="0D0D0D"/>
                </a:solidFill>
                <a:latin typeface="CIDFont+F1"/>
              </a:rPr>
              <a:t>LinkedIn: Profile Link : </a:t>
            </a:r>
            <a:r>
              <a:rPr lang="en-US" dirty="0" smtClean="0">
                <a:solidFill>
                  <a:srgbClr val="0D0D0D"/>
                </a:solidFill>
                <a:latin typeface="CIDFont+F1"/>
                <a:hlinkClick r:id="rId2"/>
              </a:rPr>
              <a:t>https://www.linkedin.com/in/gopalakrishnankumar-a73301110/</a:t>
            </a:r>
            <a:endParaRPr lang="en-US" dirty="0" smtClean="0">
              <a:solidFill>
                <a:srgbClr val="0D0D0D"/>
              </a:solidFill>
              <a:latin typeface="CIDFont+F1"/>
            </a:endParaRPr>
          </a:p>
          <a:p>
            <a:endParaRPr lang="en-US" dirty="0" smtClean="0">
              <a:solidFill>
                <a:srgbClr val="0D0D0D"/>
              </a:solidFill>
              <a:latin typeface="CIDFont+F1"/>
            </a:endParaRPr>
          </a:p>
          <a:p>
            <a:r>
              <a:rPr lang="en-US" dirty="0" smtClean="0">
                <a:solidFill>
                  <a:srgbClr val="0D0D0D"/>
                </a:solidFill>
                <a:latin typeface="CIDFont+F1"/>
                <a:hlinkClick r:id="rId3"/>
              </a:rPr>
              <a:t>Github:</a:t>
            </a:r>
            <a:r>
              <a:rPr lang="en-US" dirty="0">
                <a:solidFill>
                  <a:srgbClr val="0D0D0D"/>
                </a:solidFill>
                <a:latin typeface="CIDFont+F1"/>
                <a:hlinkClick r:id="rId3"/>
              </a:rPr>
              <a:t>https://github.com/Gopal21236/</a:t>
            </a:r>
            <a:endParaRPr lang="en-US" dirty="0">
              <a:solidFill>
                <a:srgbClr val="0D0D0D"/>
              </a:solidFill>
              <a:latin typeface="CIDFont+F1"/>
            </a:endParaRPr>
          </a:p>
        </p:txBody>
      </p:sp>
      <p:sp>
        <p:nvSpPr>
          <p:cNvPr id="6" name="TextBox 5"/>
          <p:cNvSpPr txBox="1"/>
          <p:nvPr/>
        </p:nvSpPr>
        <p:spPr>
          <a:xfrm>
            <a:off x="2355273" y="6065737"/>
            <a:ext cx="6150280" cy="707886"/>
          </a:xfrm>
          <a:prstGeom prst="rect">
            <a:avLst/>
          </a:prstGeom>
          <a:noFill/>
        </p:spPr>
        <p:txBody>
          <a:bodyPr wrap="square" rtlCol="0">
            <a:spAutoFit/>
          </a:bodyPr>
          <a:lstStyle/>
          <a:p>
            <a:r>
              <a:rPr lang="en-US" sz="2000" dirty="0" err="1" smtClean="0"/>
              <a:t>Kaggle</a:t>
            </a:r>
            <a:r>
              <a:rPr lang="en-US" sz="2000" dirty="0" smtClean="0"/>
              <a:t> URL- </a:t>
            </a:r>
            <a:r>
              <a:rPr lang="en-US" sz="2000" dirty="0" smtClean="0">
                <a:hlinkClick r:id="rId4"/>
              </a:rPr>
              <a:t>https://www.kaggle.com/gopalkk2</a:t>
            </a:r>
            <a:endParaRPr lang="en-US" sz="2000" dirty="0" smtClean="0"/>
          </a:p>
          <a:p>
            <a:endParaRPr lang="en-US" sz="2000" dirty="0"/>
          </a:p>
        </p:txBody>
      </p:sp>
    </p:spTree>
    <p:extLst>
      <p:ext uri="{BB962C8B-B14F-4D97-AF65-F5344CB8AC3E}">
        <p14:creationId xmlns:p14="http://schemas.microsoft.com/office/powerpoint/2010/main" val="6952546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Google Colab URL</a:t>
            </a:r>
            <a:endParaRPr lang="en-US" b="1" dirty="0"/>
          </a:p>
        </p:txBody>
      </p:sp>
      <p:sp>
        <p:nvSpPr>
          <p:cNvPr id="3" name="Content Placeholder 2"/>
          <p:cNvSpPr>
            <a:spLocks noGrp="1"/>
          </p:cNvSpPr>
          <p:nvPr>
            <p:ph idx="1"/>
          </p:nvPr>
        </p:nvSpPr>
        <p:spPr/>
        <p:txBody>
          <a:bodyPr/>
          <a:lstStyle/>
          <a:p>
            <a:r>
              <a:rPr lang="en-US" dirty="0" smtClean="0">
                <a:hlinkClick r:id="rId2"/>
              </a:rPr>
              <a:t>https://colab.research.google.com/drive/1lXNPxhAvD--WZ0jRfF8tUcJkbANlYgem?usp=sharing</a:t>
            </a:r>
            <a:endParaRPr lang="en-US" dirty="0" smtClean="0"/>
          </a:p>
          <a:p>
            <a:endParaRPr lang="en-US" dirty="0"/>
          </a:p>
        </p:txBody>
      </p:sp>
    </p:spTree>
    <p:extLst>
      <p:ext uri="{BB962C8B-B14F-4D97-AF65-F5344CB8AC3E}">
        <p14:creationId xmlns:p14="http://schemas.microsoft.com/office/powerpoint/2010/main" val="312410329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Abstract</a:t>
            </a:r>
            <a:endParaRPr lang="en-US" b="1" dirty="0"/>
          </a:p>
        </p:txBody>
      </p:sp>
      <p:sp>
        <p:nvSpPr>
          <p:cNvPr id="3" name="Content Placeholder 2"/>
          <p:cNvSpPr>
            <a:spLocks noGrp="1"/>
          </p:cNvSpPr>
          <p:nvPr>
            <p:ph idx="1"/>
          </p:nvPr>
        </p:nvSpPr>
        <p:spPr/>
        <p:txBody>
          <a:bodyPr/>
          <a:lstStyle/>
          <a:p>
            <a:r>
              <a:rPr lang="en-US" dirty="0"/>
              <a:t>The CRISPR-Cas9 system has emerged as a revolutionary genome editing technology, enabling precise modification of DNA sequences. A critical component of this system is the guide RNA (gRNA), which directs the Cas9 enzyme to a specific genomic location. However, unintended edits, known as off-target effects, pose significant challenges to its safe application. This study presents a computational framework for designing gRNAs and evaluating their off-target potential using sequence analysis techniques. The approach includes identification of candidate gRNAs, genome-wide mismatch analysis, and scoring mechanisms to rank guide efficiency and specificity.</a:t>
            </a:r>
            <a:endParaRPr lang="en-US" dirty="0"/>
          </a:p>
        </p:txBody>
      </p:sp>
    </p:spTree>
    <p:extLst>
      <p:ext uri="{BB962C8B-B14F-4D97-AF65-F5344CB8AC3E}">
        <p14:creationId xmlns:p14="http://schemas.microsoft.com/office/powerpoint/2010/main" val="106076017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Introduction</a:t>
            </a:r>
            <a:endParaRPr lang="en-US" b="1" dirty="0"/>
          </a:p>
        </p:txBody>
      </p:sp>
      <p:sp>
        <p:nvSpPr>
          <p:cNvPr id="3" name="Content Placeholder 2"/>
          <p:cNvSpPr>
            <a:spLocks noGrp="1"/>
          </p:cNvSpPr>
          <p:nvPr>
            <p:ph idx="1"/>
          </p:nvPr>
        </p:nvSpPr>
        <p:spPr/>
        <p:txBody>
          <a:bodyPr>
            <a:normAutofit fontScale="92500" lnSpcReduction="10000"/>
          </a:bodyPr>
          <a:lstStyle/>
          <a:p>
            <a:r>
              <a:rPr lang="en-US" dirty="0"/>
              <a:t>The </a:t>
            </a:r>
            <a:r>
              <a:rPr lang="en-US" b="1" dirty="0"/>
              <a:t>CRISPR-Cas9</a:t>
            </a:r>
            <a:r>
              <a:rPr lang="en-US" dirty="0"/>
              <a:t> system has transformed molecular biology by enabling targeted genome editing with high efficiency. It consists of two main components:</a:t>
            </a:r>
          </a:p>
          <a:p>
            <a:r>
              <a:rPr lang="en-US" dirty="0"/>
              <a:t>Cas9 nuclease </a:t>
            </a:r>
          </a:p>
          <a:p>
            <a:r>
              <a:rPr lang="en-US" dirty="0"/>
              <a:t>Guide RNA (gRNA) </a:t>
            </a:r>
          </a:p>
          <a:p>
            <a:r>
              <a:rPr lang="en-US" dirty="0"/>
              <a:t>The gRNA binds to a complementary DNA sequence adjacent to a </a:t>
            </a:r>
            <a:r>
              <a:rPr lang="en-US" dirty="0" err="1"/>
              <a:t>Protospacer</a:t>
            </a:r>
            <a:r>
              <a:rPr lang="en-US" dirty="0"/>
              <a:t> Adjacent Motif (PAM), typically </a:t>
            </a:r>
            <a:r>
              <a:rPr lang="en-US" b="1" dirty="0"/>
              <a:t>NGG</a:t>
            </a:r>
            <a:r>
              <a:rPr lang="en-US" dirty="0"/>
              <a:t> for SpCas9, directing Cas9 to introduce double-strand breaks.</a:t>
            </a:r>
          </a:p>
          <a:p>
            <a:r>
              <a:rPr lang="en-US" dirty="0"/>
              <a:t>Despite its precision, CRISPR-Cas9 can bind to sequences with partial mismatches, leading to </a:t>
            </a:r>
            <a:r>
              <a:rPr lang="en-US" b="1" dirty="0"/>
              <a:t>off-target effects</a:t>
            </a:r>
            <a:r>
              <a:rPr lang="en-US" dirty="0"/>
              <a:t>, which may result in unintended mutations and potential safety risks.</a:t>
            </a:r>
          </a:p>
          <a:p>
            <a:endParaRPr lang="en-US" dirty="0"/>
          </a:p>
        </p:txBody>
      </p:sp>
    </p:spTree>
    <p:extLst>
      <p:ext uri="{BB962C8B-B14F-4D97-AF65-F5344CB8AC3E}">
        <p14:creationId xmlns:p14="http://schemas.microsoft.com/office/powerpoint/2010/main" val="265371761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Objectives</a:t>
            </a:r>
            <a:endParaRPr lang="en-US" b="1" dirty="0"/>
          </a:p>
        </p:txBody>
      </p:sp>
      <p:sp>
        <p:nvSpPr>
          <p:cNvPr id="5" name="Rectangle 4"/>
          <p:cNvSpPr/>
          <p:nvPr/>
        </p:nvSpPr>
        <p:spPr>
          <a:xfrm>
            <a:off x="1371599" y="1360393"/>
            <a:ext cx="10196945" cy="2308324"/>
          </a:xfrm>
          <a:prstGeom prst="rect">
            <a:avLst/>
          </a:prstGeom>
        </p:spPr>
        <p:txBody>
          <a:bodyPr wrap="square">
            <a:spAutoFit/>
          </a:bodyPr>
          <a:lstStyle/>
          <a:p>
            <a:r>
              <a:rPr lang="en-US" sz="2400" dirty="0"/>
              <a:t>The objectives of this study are:</a:t>
            </a:r>
          </a:p>
          <a:p>
            <a:r>
              <a:rPr lang="en-US" sz="2400" dirty="0"/>
              <a:t>To design candidate gRNAs from target DNA sequences </a:t>
            </a:r>
          </a:p>
          <a:p>
            <a:r>
              <a:rPr lang="en-US" sz="2400" dirty="0"/>
              <a:t>To identify potential off-target sites across the genome </a:t>
            </a:r>
          </a:p>
          <a:p>
            <a:r>
              <a:rPr lang="en-US" sz="2400" dirty="0"/>
              <a:t>To quantify mismatch-based similarity </a:t>
            </a:r>
          </a:p>
          <a:p>
            <a:r>
              <a:rPr lang="en-US" sz="2400" dirty="0"/>
              <a:t>To develop a scoring mechanism for ranking gRNAs </a:t>
            </a:r>
          </a:p>
          <a:p>
            <a:r>
              <a:rPr lang="en-US" sz="2400" dirty="0"/>
              <a:t>To provide a computational framework for safe genome editing</a:t>
            </a:r>
          </a:p>
        </p:txBody>
      </p:sp>
    </p:spTree>
    <p:extLst>
      <p:ext uri="{BB962C8B-B14F-4D97-AF65-F5344CB8AC3E}">
        <p14:creationId xmlns:p14="http://schemas.microsoft.com/office/powerpoint/2010/main" val="145446019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Background</a:t>
            </a:r>
            <a:endParaRPr lang="en-US" b="1" dirty="0"/>
          </a:p>
        </p:txBody>
      </p:sp>
      <p:sp>
        <p:nvSpPr>
          <p:cNvPr id="3" name="Content Placeholder 2"/>
          <p:cNvSpPr>
            <a:spLocks noGrp="1"/>
          </p:cNvSpPr>
          <p:nvPr>
            <p:ph idx="1"/>
          </p:nvPr>
        </p:nvSpPr>
        <p:spPr/>
        <p:txBody>
          <a:bodyPr>
            <a:normAutofit fontScale="92500" lnSpcReduction="10000"/>
          </a:bodyPr>
          <a:lstStyle/>
          <a:p>
            <a:r>
              <a:rPr lang="en-US" dirty="0" smtClean="0"/>
              <a:t>Existing tools like:</a:t>
            </a:r>
          </a:p>
          <a:p>
            <a:r>
              <a:rPr lang="en-US" dirty="0" smtClean="0"/>
              <a:t>CRISPOR </a:t>
            </a:r>
          </a:p>
          <a:p>
            <a:r>
              <a:rPr lang="en-US" dirty="0" smtClean="0"/>
              <a:t>CHOPCHOP </a:t>
            </a:r>
          </a:p>
          <a:p>
            <a:pPr marL="0" indent="0">
              <a:buNone/>
            </a:pPr>
            <a:r>
              <a:rPr lang="en-US" dirty="0" smtClean="0"/>
              <a:t>   provide advanced off-target prediction using machine learning and   </a:t>
            </a:r>
          </a:p>
          <a:p>
            <a:pPr marL="0" indent="0">
              <a:buNone/>
            </a:pPr>
            <a:r>
              <a:rPr lang="en-US" dirty="0"/>
              <a:t> </a:t>
            </a:r>
            <a:r>
              <a:rPr lang="en-US" dirty="0" smtClean="0"/>
              <a:t>  genome-wide indexing. However, they are often:</a:t>
            </a:r>
          </a:p>
          <a:p>
            <a:r>
              <a:rPr lang="en-US" dirty="0" smtClean="0"/>
              <a:t>Complex </a:t>
            </a:r>
          </a:p>
          <a:p>
            <a:r>
              <a:rPr lang="en-US" dirty="0" smtClean="0"/>
              <a:t>Computationally intensive </a:t>
            </a:r>
          </a:p>
          <a:p>
            <a:r>
              <a:rPr lang="en-US" dirty="0" smtClean="0"/>
              <a:t>Less customizable </a:t>
            </a:r>
          </a:p>
          <a:p>
            <a:r>
              <a:rPr lang="en-US" dirty="0" smtClean="0"/>
              <a:t>This project provides a </a:t>
            </a:r>
            <a:r>
              <a:rPr lang="en-US" b="1" dirty="0" smtClean="0"/>
              <a:t>lightweight and customizable alternative</a:t>
            </a:r>
            <a:r>
              <a:rPr lang="en-US" dirty="0" smtClean="0"/>
              <a:t> for educational and research purposes.</a:t>
            </a:r>
          </a:p>
          <a:p>
            <a:endParaRPr lang="en-US" dirty="0"/>
          </a:p>
        </p:txBody>
      </p:sp>
    </p:spTree>
    <p:extLst>
      <p:ext uri="{BB962C8B-B14F-4D97-AF65-F5344CB8AC3E}">
        <p14:creationId xmlns:p14="http://schemas.microsoft.com/office/powerpoint/2010/main" val="85136604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Background</a:t>
            </a:r>
            <a:endParaRPr lang="en-US" b="1" dirty="0"/>
          </a:p>
        </p:txBody>
      </p:sp>
      <p:sp>
        <p:nvSpPr>
          <p:cNvPr id="3" name="Content Placeholder 2"/>
          <p:cNvSpPr>
            <a:spLocks noGrp="1"/>
          </p:cNvSpPr>
          <p:nvPr>
            <p:ph idx="1"/>
          </p:nvPr>
        </p:nvSpPr>
        <p:spPr/>
        <p:txBody>
          <a:bodyPr/>
          <a:lstStyle/>
          <a:p>
            <a:r>
              <a:rPr lang="en-US" b="1" dirty="0"/>
              <a:t>3.1 gRNA Design Principles</a:t>
            </a:r>
          </a:p>
          <a:p>
            <a:r>
              <a:rPr lang="en-US" dirty="0"/>
              <a:t>A typical gRNA consists of:</a:t>
            </a:r>
          </a:p>
          <a:p>
            <a:r>
              <a:rPr lang="en-US" dirty="0"/>
              <a:t>A 20-nucleotide guide sequence </a:t>
            </a:r>
          </a:p>
          <a:p>
            <a:r>
              <a:rPr lang="en-US" dirty="0"/>
              <a:t>A PAM sequence (e.g., NGG) </a:t>
            </a:r>
          </a:p>
          <a:p>
            <a:r>
              <a:rPr lang="en-US" dirty="0"/>
              <a:t>Key considerations include:</a:t>
            </a:r>
          </a:p>
          <a:p>
            <a:r>
              <a:rPr lang="en-US" dirty="0"/>
              <a:t>GC content (optimal: 40–60%) </a:t>
            </a:r>
          </a:p>
          <a:p>
            <a:r>
              <a:rPr lang="en-US" dirty="0"/>
              <a:t>Avoidance of repetitive sequences </a:t>
            </a:r>
          </a:p>
          <a:p>
            <a:r>
              <a:rPr lang="en-US" dirty="0"/>
              <a:t>Minimization of secondary structures</a:t>
            </a:r>
          </a:p>
        </p:txBody>
      </p:sp>
    </p:spTree>
    <p:extLst>
      <p:ext uri="{BB962C8B-B14F-4D97-AF65-F5344CB8AC3E}">
        <p14:creationId xmlns:p14="http://schemas.microsoft.com/office/powerpoint/2010/main" val="20093235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Background</a:t>
            </a:r>
            <a:endParaRPr lang="en-US" b="1" dirty="0"/>
          </a:p>
        </p:txBody>
      </p:sp>
      <p:sp>
        <p:nvSpPr>
          <p:cNvPr id="3" name="Content Placeholder 2"/>
          <p:cNvSpPr>
            <a:spLocks noGrp="1"/>
          </p:cNvSpPr>
          <p:nvPr>
            <p:ph idx="1"/>
          </p:nvPr>
        </p:nvSpPr>
        <p:spPr/>
        <p:txBody>
          <a:bodyPr/>
          <a:lstStyle/>
          <a:p>
            <a:r>
              <a:rPr lang="en-US" b="1" dirty="0"/>
              <a:t>3.2 Off-Target Effects</a:t>
            </a:r>
          </a:p>
          <a:p>
            <a:r>
              <a:rPr lang="en-US" dirty="0"/>
              <a:t>Off-target effects occur when the gRNA binds to sequences that are similar but not identical to the intended target. Factors influencing off-target binding include:</a:t>
            </a:r>
          </a:p>
          <a:p>
            <a:r>
              <a:rPr lang="en-US" dirty="0"/>
              <a:t>Number of mismatches </a:t>
            </a:r>
          </a:p>
          <a:p>
            <a:r>
              <a:rPr lang="en-US" dirty="0"/>
              <a:t>Position of mismatches (seed region sensitivity) </a:t>
            </a:r>
          </a:p>
          <a:p>
            <a:r>
              <a:rPr lang="en-US" dirty="0"/>
              <a:t>Chromatin accessibility</a:t>
            </a:r>
          </a:p>
          <a:p>
            <a:endParaRPr lang="en-US" dirty="0"/>
          </a:p>
        </p:txBody>
      </p:sp>
    </p:spTree>
    <p:extLst>
      <p:ext uri="{BB962C8B-B14F-4D97-AF65-F5344CB8AC3E}">
        <p14:creationId xmlns:p14="http://schemas.microsoft.com/office/powerpoint/2010/main" val="19732415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Background</a:t>
            </a:r>
            <a:endParaRPr lang="en-US" b="1" dirty="0"/>
          </a:p>
        </p:txBody>
      </p:sp>
      <p:sp>
        <p:nvSpPr>
          <p:cNvPr id="3" name="Content Placeholder 2"/>
          <p:cNvSpPr>
            <a:spLocks noGrp="1"/>
          </p:cNvSpPr>
          <p:nvPr>
            <p:ph idx="1"/>
          </p:nvPr>
        </p:nvSpPr>
        <p:spPr/>
        <p:txBody>
          <a:bodyPr/>
          <a:lstStyle/>
          <a:p>
            <a:r>
              <a:rPr lang="en-US" b="1" dirty="0"/>
              <a:t>3.3 Scoring Methods</a:t>
            </a:r>
          </a:p>
          <a:p>
            <a:r>
              <a:rPr lang="en-US" dirty="0"/>
              <a:t>Common scoring approaches include:</a:t>
            </a:r>
          </a:p>
          <a:p>
            <a:r>
              <a:rPr lang="en-US" b="1" dirty="0"/>
              <a:t>MIT score</a:t>
            </a:r>
            <a:r>
              <a:rPr lang="en-US" dirty="0"/>
              <a:t> (position-weighted mismatches) </a:t>
            </a:r>
          </a:p>
          <a:p>
            <a:r>
              <a:rPr lang="en-US" b="1" dirty="0"/>
              <a:t>CFD score</a:t>
            </a:r>
            <a:r>
              <a:rPr lang="en-US" dirty="0"/>
              <a:t> (Cutting Frequency Determination) </a:t>
            </a:r>
          </a:p>
          <a:p>
            <a:r>
              <a:rPr lang="en-US" dirty="0"/>
              <a:t>Simple mismatch penalty models</a:t>
            </a:r>
          </a:p>
          <a:p>
            <a:endParaRPr lang="en-US" dirty="0"/>
          </a:p>
        </p:txBody>
      </p:sp>
    </p:spTree>
    <p:extLst>
      <p:ext uri="{BB962C8B-B14F-4D97-AF65-F5344CB8AC3E}">
        <p14:creationId xmlns:p14="http://schemas.microsoft.com/office/powerpoint/2010/main" val="20212847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Methodology</a:t>
            </a:r>
          </a:p>
        </p:txBody>
      </p:sp>
      <p:sp>
        <p:nvSpPr>
          <p:cNvPr id="3" name="Content Placeholder 2"/>
          <p:cNvSpPr>
            <a:spLocks noGrp="1"/>
          </p:cNvSpPr>
          <p:nvPr>
            <p:ph idx="1"/>
          </p:nvPr>
        </p:nvSpPr>
        <p:spPr/>
        <p:txBody>
          <a:bodyPr/>
          <a:lstStyle/>
          <a:p>
            <a:r>
              <a:rPr lang="en-US" b="1" dirty="0"/>
              <a:t>Step 1: Input Data</a:t>
            </a:r>
          </a:p>
          <a:p>
            <a:r>
              <a:rPr lang="en-US" dirty="0"/>
              <a:t>Target DNA sequence (FASTA format) </a:t>
            </a:r>
          </a:p>
          <a:p>
            <a:r>
              <a:rPr lang="en-US" dirty="0"/>
              <a:t>Reference genome sequence</a:t>
            </a:r>
          </a:p>
          <a:p>
            <a:r>
              <a:rPr lang="en-US" b="1" dirty="0"/>
              <a:t>Step 2: gRNA Candidate Identification</a:t>
            </a:r>
          </a:p>
          <a:p>
            <a:r>
              <a:rPr lang="en-US" dirty="0"/>
              <a:t>Using pattern matching:</a:t>
            </a:r>
          </a:p>
          <a:p>
            <a:r>
              <a:rPr lang="en-US" dirty="0"/>
              <a:t>Extract all 20 </a:t>
            </a:r>
            <a:r>
              <a:rPr lang="en-US" dirty="0" err="1"/>
              <a:t>bp</a:t>
            </a:r>
            <a:r>
              <a:rPr lang="en-US" dirty="0"/>
              <a:t> sequences followed by PAM (NGG) </a:t>
            </a:r>
          </a:p>
          <a:p>
            <a:r>
              <a:rPr lang="en-US" dirty="0"/>
              <a:t>Identify candidates on both forward and reverse strands</a:t>
            </a:r>
          </a:p>
          <a:p>
            <a:endParaRPr lang="en-US" dirty="0"/>
          </a:p>
        </p:txBody>
      </p:sp>
    </p:spTree>
    <p:extLst>
      <p:ext uri="{BB962C8B-B14F-4D97-AF65-F5344CB8AC3E}">
        <p14:creationId xmlns:p14="http://schemas.microsoft.com/office/powerpoint/2010/main" val="26962979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Background</a:t>
            </a:r>
          </a:p>
        </p:txBody>
      </p:sp>
      <p:sp>
        <p:nvSpPr>
          <p:cNvPr id="3" name="Content Placeholder 2"/>
          <p:cNvSpPr>
            <a:spLocks noGrp="1"/>
          </p:cNvSpPr>
          <p:nvPr>
            <p:ph idx="1"/>
          </p:nvPr>
        </p:nvSpPr>
        <p:spPr/>
        <p:txBody>
          <a:bodyPr/>
          <a:lstStyle/>
          <a:p>
            <a:r>
              <a:rPr lang="en-US" b="1" dirty="0"/>
              <a:t>3.3 Scoring Methods</a:t>
            </a:r>
          </a:p>
          <a:p>
            <a:r>
              <a:rPr lang="en-US" dirty="0"/>
              <a:t>Common scoring approaches include:</a:t>
            </a:r>
          </a:p>
          <a:p>
            <a:r>
              <a:rPr lang="en-US" b="1" dirty="0"/>
              <a:t>MIT score</a:t>
            </a:r>
            <a:r>
              <a:rPr lang="en-US" dirty="0"/>
              <a:t> (position-weighted mismatches) </a:t>
            </a:r>
          </a:p>
          <a:p>
            <a:r>
              <a:rPr lang="en-US" b="1" dirty="0"/>
              <a:t>CFD score</a:t>
            </a:r>
            <a:r>
              <a:rPr lang="en-US" dirty="0"/>
              <a:t> (Cutting Frequency Determination) </a:t>
            </a:r>
          </a:p>
          <a:p>
            <a:r>
              <a:rPr lang="en-US" dirty="0"/>
              <a:t>Simple mismatch penalty models</a:t>
            </a:r>
          </a:p>
          <a:p>
            <a:endParaRPr lang="en-US" dirty="0"/>
          </a:p>
        </p:txBody>
      </p:sp>
    </p:spTree>
    <p:extLst>
      <p:ext uri="{BB962C8B-B14F-4D97-AF65-F5344CB8AC3E}">
        <p14:creationId xmlns:p14="http://schemas.microsoft.com/office/powerpoint/2010/main" val="751623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Methodology</a:t>
            </a:r>
            <a:endParaRPr lang="en-US" b="1" dirty="0"/>
          </a:p>
        </p:txBody>
      </p:sp>
      <p:sp>
        <p:nvSpPr>
          <p:cNvPr id="3" name="Content Placeholder 2"/>
          <p:cNvSpPr>
            <a:spLocks noGrp="1"/>
          </p:cNvSpPr>
          <p:nvPr>
            <p:ph idx="1"/>
          </p:nvPr>
        </p:nvSpPr>
        <p:spPr/>
        <p:txBody>
          <a:bodyPr/>
          <a:lstStyle/>
          <a:p>
            <a:r>
              <a:rPr lang="en-US" b="1" dirty="0"/>
              <a:t>Step 1: Input Data</a:t>
            </a:r>
          </a:p>
          <a:p>
            <a:r>
              <a:rPr lang="en-US" dirty="0"/>
              <a:t>Target DNA sequence (FASTA format) </a:t>
            </a:r>
          </a:p>
          <a:p>
            <a:r>
              <a:rPr lang="en-US" dirty="0"/>
              <a:t>Reference genome sequence</a:t>
            </a:r>
          </a:p>
          <a:p>
            <a:endParaRPr lang="en-US" dirty="0"/>
          </a:p>
        </p:txBody>
      </p:sp>
      <p:sp>
        <p:nvSpPr>
          <p:cNvPr id="6" name="Rectangle 5"/>
          <p:cNvSpPr/>
          <p:nvPr/>
        </p:nvSpPr>
        <p:spPr>
          <a:xfrm>
            <a:off x="1025235" y="3682639"/>
            <a:ext cx="7744691" cy="2246769"/>
          </a:xfrm>
          <a:prstGeom prst="rect">
            <a:avLst/>
          </a:prstGeom>
        </p:spPr>
        <p:txBody>
          <a:bodyPr wrap="square">
            <a:spAutoFit/>
          </a:bodyPr>
          <a:lstStyle/>
          <a:p>
            <a:r>
              <a:rPr lang="en-US" sz="2800" b="1" dirty="0"/>
              <a:t>Step 2: gRNA Candidate Identification</a:t>
            </a:r>
          </a:p>
          <a:p>
            <a:r>
              <a:rPr lang="en-US" sz="2800" dirty="0"/>
              <a:t>Using pattern matching:</a:t>
            </a:r>
          </a:p>
          <a:p>
            <a:pPr>
              <a:buFont typeface="Arial" panose="020B0604020202020204" pitchFamily="34" charset="0"/>
              <a:buChar char="•"/>
            </a:pPr>
            <a:r>
              <a:rPr lang="en-US" sz="2800" dirty="0"/>
              <a:t>Extract all 20 </a:t>
            </a:r>
            <a:r>
              <a:rPr lang="en-US" sz="2800" dirty="0" err="1"/>
              <a:t>bp</a:t>
            </a:r>
            <a:r>
              <a:rPr lang="en-US" sz="2800" dirty="0"/>
              <a:t> sequences followed by PAM (NGG) </a:t>
            </a:r>
          </a:p>
          <a:p>
            <a:pPr>
              <a:buFont typeface="Arial" panose="020B0604020202020204" pitchFamily="34" charset="0"/>
              <a:buChar char="•"/>
            </a:pPr>
            <a:r>
              <a:rPr lang="en-US" sz="2800" dirty="0"/>
              <a:t>Identify candidates on both forward and reverse strands</a:t>
            </a:r>
          </a:p>
        </p:txBody>
      </p:sp>
    </p:spTree>
    <p:extLst>
      <p:ext uri="{BB962C8B-B14F-4D97-AF65-F5344CB8AC3E}">
        <p14:creationId xmlns:p14="http://schemas.microsoft.com/office/powerpoint/2010/main" val="424820066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Methodology</a:t>
            </a:r>
            <a:endParaRPr lang="en-US" b="1" dirty="0"/>
          </a:p>
        </p:txBody>
      </p:sp>
      <p:sp>
        <p:nvSpPr>
          <p:cNvPr id="3" name="Content Placeholder 2"/>
          <p:cNvSpPr>
            <a:spLocks noGrp="1"/>
          </p:cNvSpPr>
          <p:nvPr>
            <p:ph idx="1"/>
          </p:nvPr>
        </p:nvSpPr>
        <p:spPr/>
        <p:txBody>
          <a:bodyPr/>
          <a:lstStyle/>
          <a:p>
            <a:r>
              <a:rPr lang="en-US" b="1" dirty="0"/>
              <a:t>Step 3: Off-Target Search</a:t>
            </a:r>
          </a:p>
          <a:p>
            <a:r>
              <a:rPr lang="en-US" dirty="0"/>
              <a:t>For each candidate gRNA:</a:t>
            </a:r>
          </a:p>
          <a:p>
            <a:r>
              <a:rPr lang="en-US" dirty="0"/>
              <a:t>Slide a window across the genome </a:t>
            </a:r>
          </a:p>
          <a:p>
            <a:r>
              <a:rPr lang="en-US" dirty="0"/>
              <a:t>Compare sequences of equal length </a:t>
            </a:r>
          </a:p>
          <a:p>
            <a:r>
              <a:rPr lang="en-US" dirty="0"/>
              <a:t>Count mismatches </a:t>
            </a:r>
          </a:p>
          <a:p>
            <a:r>
              <a:rPr lang="en-US" dirty="0"/>
              <a:t>Criteria:</a:t>
            </a:r>
          </a:p>
          <a:p>
            <a:r>
              <a:rPr lang="en-US" dirty="0"/>
              <a:t>Allow up to 3 mismatches</a:t>
            </a:r>
          </a:p>
          <a:p>
            <a:endParaRPr lang="en-US" dirty="0"/>
          </a:p>
        </p:txBody>
      </p:sp>
    </p:spTree>
    <p:extLst>
      <p:ext uri="{BB962C8B-B14F-4D97-AF65-F5344CB8AC3E}">
        <p14:creationId xmlns:p14="http://schemas.microsoft.com/office/powerpoint/2010/main" val="318371677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Methodology</a:t>
            </a:r>
            <a:endParaRPr lang="en-US" b="1"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r>
                  <a:rPr lang="en-US" b="1" dirty="0" smtClean="0"/>
                  <a:t>Step 4: Scoring Mechanism</a:t>
                </a:r>
              </a:p>
              <a:p>
                <a:r>
                  <a:rPr lang="en-US" dirty="0"/>
                  <a:t>Each gRNA is scored based on:</a:t>
                </a:r>
              </a:p>
              <a:p>
                <a:r>
                  <a:rPr lang="en-US" dirty="0"/>
                  <a:t>Number of off-target sites </a:t>
                </a:r>
              </a:p>
              <a:p>
                <a:r>
                  <a:rPr lang="en-US" dirty="0"/>
                  <a:t>Severity of mismatches </a:t>
                </a:r>
              </a:p>
              <a:p>
                <a:r>
                  <a:rPr lang="en-US" dirty="0"/>
                  <a:t>Example scoring formula</a:t>
                </a:r>
                <a:r>
                  <a:rPr lang="en-US" dirty="0" smtClean="0"/>
                  <a:t>:</a:t>
                </a:r>
              </a:p>
              <a:p>
                <a14:m>
                  <m:oMath xmlns:m="http://schemas.openxmlformats.org/officeDocument/2006/math">
                    <m:r>
                      <a:rPr lang="en-US" b="0" i="1" smtClean="0">
                        <a:latin typeface="Cambria Math" panose="02040503050406030204" pitchFamily="18" charset="0"/>
                      </a:rPr>
                      <m:t>𝑆𝑐𝑜𝑟𝑒</m:t>
                    </m:r>
                    <m:r>
                      <a:rPr lang="en-US" b="0" i="1" smtClean="0">
                        <a:latin typeface="Cambria Math" panose="02040503050406030204" pitchFamily="18" charset="0"/>
                      </a:rPr>
                      <m:t>=100 −</m:t>
                    </m:r>
                    <m:nary>
                      <m:naryPr>
                        <m:chr m:val="∑"/>
                        <m:subHide m:val="on"/>
                        <m:supHide m:val="on"/>
                        <m:ctrlPr>
                          <a:rPr lang="en-US" b="0" i="1" smtClean="0">
                            <a:latin typeface="Cambria Math" panose="02040503050406030204" pitchFamily="18" charset="0"/>
                          </a:rPr>
                        </m:ctrlPr>
                      </m:naryPr>
                      <m:sub/>
                      <m:sup/>
                      <m:e>
                        <m:d>
                          <m:dPr>
                            <m:ctrlPr>
                              <a:rPr lang="en-US" b="0" i="1" smtClean="0">
                                <a:latin typeface="Cambria Math" panose="02040503050406030204" pitchFamily="18" charset="0"/>
                              </a:rPr>
                            </m:ctrlPr>
                          </m:dPr>
                          <m:e>
                            <m:r>
                              <a:rPr lang="en-US" b="0" i="1" smtClean="0">
                                <a:latin typeface="Cambria Math" panose="02040503050406030204" pitchFamily="18" charset="0"/>
                              </a:rPr>
                              <m:t>4 −</m:t>
                            </m:r>
                            <m:r>
                              <a:rPr lang="en-US" b="0" i="1" smtClean="0">
                                <a:latin typeface="Cambria Math" panose="02040503050406030204" pitchFamily="18" charset="0"/>
                              </a:rPr>
                              <m:t>𝑚𝑖𝑠𝑚𝑎𝑡𝑐h𝑒𝑠</m:t>
                            </m:r>
                          </m:e>
                        </m:d>
                      </m:e>
                    </m:nary>
                  </m:oMath>
                </a14:m>
                <a:endParaRPr lang="en-US" b="0" dirty="0" smtClean="0"/>
              </a:p>
              <a:p>
                <a:r>
                  <a:rPr lang="en-US" dirty="0"/>
                  <a:t>Higher scores indicate better specificity.</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29765534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Methodology</a:t>
            </a:r>
            <a:endParaRPr lang="en-US" b="1" dirty="0"/>
          </a:p>
        </p:txBody>
      </p:sp>
      <p:sp>
        <p:nvSpPr>
          <p:cNvPr id="3" name="Content Placeholder 2"/>
          <p:cNvSpPr>
            <a:spLocks noGrp="1"/>
          </p:cNvSpPr>
          <p:nvPr>
            <p:ph idx="1"/>
          </p:nvPr>
        </p:nvSpPr>
        <p:spPr/>
        <p:txBody>
          <a:bodyPr/>
          <a:lstStyle/>
          <a:p>
            <a:r>
              <a:rPr lang="en-US" b="1" dirty="0"/>
              <a:t>Step 5: Ranking and Selection</a:t>
            </a:r>
          </a:p>
          <a:p>
            <a:r>
              <a:rPr lang="en-US" dirty="0"/>
              <a:t>Rank gRNAs based on scores </a:t>
            </a:r>
          </a:p>
          <a:p>
            <a:r>
              <a:rPr lang="en-US" dirty="0"/>
              <a:t>Select top candidates with minimal off-target effects</a:t>
            </a:r>
          </a:p>
          <a:p>
            <a:endParaRPr lang="en-US" dirty="0"/>
          </a:p>
        </p:txBody>
      </p:sp>
    </p:spTree>
    <p:extLst>
      <p:ext uri="{BB962C8B-B14F-4D97-AF65-F5344CB8AC3E}">
        <p14:creationId xmlns:p14="http://schemas.microsoft.com/office/powerpoint/2010/main" val="15633293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Implementation (Python Overview)</a:t>
            </a:r>
          </a:p>
        </p:txBody>
      </p:sp>
      <p:sp>
        <p:nvSpPr>
          <p:cNvPr id="3" name="Content Placeholder 2"/>
          <p:cNvSpPr>
            <a:spLocks noGrp="1"/>
          </p:cNvSpPr>
          <p:nvPr>
            <p:ph idx="1"/>
          </p:nvPr>
        </p:nvSpPr>
        <p:spPr/>
        <p:txBody>
          <a:bodyPr/>
          <a:lstStyle/>
          <a:p>
            <a:r>
              <a:rPr lang="en-US" dirty="0"/>
              <a:t>Key components of the implementation include:</a:t>
            </a:r>
          </a:p>
          <a:p>
            <a:r>
              <a:rPr lang="en-US" dirty="0"/>
              <a:t>Sequence parsing using </a:t>
            </a:r>
            <a:r>
              <a:rPr lang="en-US" b="1" dirty="0" err="1"/>
              <a:t>BioPython</a:t>
            </a:r>
            <a:r>
              <a:rPr lang="en-US" dirty="0"/>
              <a:t> </a:t>
            </a:r>
          </a:p>
          <a:p>
            <a:r>
              <a:rPr lang="en-US" dirty="0"/>
              <a:t>Regular expression-based PAM detection </a:t>
            </a:r>
          </a:p>
          <a:p>
            <a:r>
              <a:rPr lang="en-US" dirty="0"/>
              <a:t>Mismatch counting functions </a:t>
            </a:r>
          </a:p>
          <a:p>
            <a:r>
              <a:rPr lang="en-US" dirty="0"/>
              <a:t>Genome-wide scanning </a:t>
            </a:r>
          </a:p>
          <a:p>
            <a:r>
              <a:rPr lang="en-US" dirty="0"/>
              <a:t>Sorting and ranking results</a:t>
            </a:r>
          </a:p>
          <a:p>
            <a:endParaRPr lang="en-US" dirty="0"/>
          </a:p>
        </p:txBody>
      </p:sp>
    </p:spTree>
    <p:extLst>
      <p:ext uri="{BB962C8B-B14F-4D97-AF65-F5344CB8AC3E}">
        <p14:creationId xmlns:p14="http://schemas.microsoft.com/office/powerpoint/2010/main" val="19100435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Data Visualization</a:t>
            </a:r>
            <a:endParaRPr lang="en-US"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85383" y="1921030"/>
            <a:ext cx="5221234" cy="4160528"/>
          </a:xfrm>
        </p:spPr>
      </p:pic>
    </p:spTree>
    <p:extLst>
      <p:ext uri="{BB962C8B-B14F-4D97-AF65-F5344CB8AC3E}">
        <p14:creationId xmlns:p14="http://schemas.microsoft.com/office/powerpoint/2010/main" val="13584926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Data Visualization</a:t>
            </a:r>
            <a:endParaRPr lang="en-US"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26531" y="1921030"/>
            <a:ext cx="5138938" cy="4160528"/>
          </a:xfrm>
        </p:spPr>
      </p:pic>
    </p:spTree>
    <p:extLst>
      <p:ext uri="{BB962C8B-B14F-4D97-AF65-F5344CB8AC3E}">
        <p14:creationId xmlns:p14="http://schemas.microsoft.com/office/powerpoint/2010/main" val="17942590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Data Visualization</a:t>
            </a:r>
            <a:endParaRPr lang="en-US"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26531" y="1921030"/>
            <a:ext cx="5138938" cy="4160528"/>
          </a:xfrm>
        </p:spPr>
      </p:pic>
    </p:spTree>
    <p:extLst>
      <p:ext uri="{BB962C8B-B14F-4D97-AF65-F5344CB8AC3E}">
        <p14:creationId xmlns:p14="http://schemas.microsoft.com/office/powerpoint/2010/main" val="30018141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Data Visualization</a:t>
            </a:r>
            <a:endParaRPr lang="en-US" b="1" dirty="0"/>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526531" y="1921030"/>
            <a:ext cx="5138938" cy="4160528"/>
          </a:xfrm>
        </p:spPr>
      </p:pic>
    </p:spTree>
    <p:extLst>
      <p:ext uri="{BB962C8B-B14F-4D97-AF65-F5344CB8AC3E}">
        <p14:creationId xmlns:p14="http://schemas.microsoft.com/office/powerpoint/2010/main" val="33410190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Results and Analysis</a:t>
            </a:r>
          </a:p>
        </p:txBody>
      </p:sp>
      <p:sp>
        <p:nvSpPr>
          <p:cNvPr id="3" name="Content Placeholder 2"/>
          <p:cNvSpPr>
            <a:spLocks noGrp="1"/>
          </p:cNvSpPr>
          <p:nvPr>
            <p:ph idx="1"/>
          </p:nvPr>
        </p:nvSpPr>
        <p:spPr/>
        <p:txBody>
          <a:bodyPr/>
          <a:lstStyle/>
          <a:p>
            <a:r>
              <a:rPr lang="en-US" dirty="0"/>
              <a:t>The computational pipeline produces:</a:t>
            </a:r>
          </a:p>
          <a:p>
            <a:r>
              <a:rPr lang="en-US" dirty="0"/>
              <a:t>List of candidate gRNAs </a:t>
            </a:r>
          </a:p>
          <a:p>
            <a:r>
              <a:rPr lang="en-US" dirty="0"/>
              <a:t>Number of off-target matches per guide </a:t>
            </a:r>
          </a:p>
          <a:p>
            <a:r>
              <a:rPr lang="en-US" dirty="0"/>
              <a:t>Specificity score </a:t>
            </a:r>
          </a:p>
          <a:p>
            <a:r>
              <a:rPr lang="en-US" b="1" dirty="0"/>
              <a:t>Observations:</a:t>
            </a:r>
          </a:p>
          <a:p>
            <a:r>
              <a:rPr lang="en-US" dirty="0"/>
              <a:t>gRNAs with fewer mismatches show higher specificity </a:t>
            </a:r>
          </a:p>
          <a:p>
            <a:r>
              <a:rPr lang="en-US" dirty="0"/>
              <a:t>Guides targeting unique regions perform better </a:t>
            </a:r>
          </a:p>
          <a:p>
            <a:r>
              <a:rPr lang="en-US" dirty="0"/>
              <a:t>Some sequences exhibit multiple off-target sites, reducing reliability</a:t>
            </a:r>
          </a:p>
          <a:p>
            <a:endParaRPr lang="en-US" dirty="0"/>
          </a:p>
        </p:txBody>
      </p:sp>
    </p:spTree>
    <p:extLst>
      <p:ext uri="{BB962C8B-B14F-4D97-AF65-F5344CB8AC3E}">
        <p14:creationId xmlns:p14="http://schemas.microsoft.com/office/powerpoint/2010/main" val="18207470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Discussion</a:t>
            </a:r>
          </a:p>
        </p:txBody>
      </p:sp>
      <p:sp>
        <p:nvSpPr>
          <p:cNvPr id="3" name="Content Placeholder 2"/>
          <p:cNvSpPr>
            <a:spLocks noGrp="1"/>
          </p:cNvSpPr>
          <p:nvPr>
            <p:ph idx="1"/>
          </p:nvPr>
        </p:nvSpPr>
        <p:spPr/>
        <p:txBody>
          <a:bodyPr/>
          <a:lstStyle/>
          <a:p>
            <a:r>
              <a:rPr lang="en-US" dirty="0"/>
              <a:t>The study highlights the importance of computational screening in CRISPR applications. While experimental validation is essential, in </a:t>
            </a:r>
            <a:r>
              <a:rPr lang="en-US" dirty="0" err="1"/>
              <a:t>silico</a:t>
            </a:r>
            <a:r>
              <a:rPr lang="en-US" dirty="0"/>
              <a:t> methods significantly reduce the search space and improve efficiency.</a:t>
            </a:r>
          </a:p>
          <a:p>
            <a:r>
              <a:rPr lang="en-US" dirty="0"/>
              <a:t>Advantages of the proposed approach:</a:t>
            </a:r>
          </a:p>
          <a:p>
            <a:r>
              <a:rPr lang="en-US" dirty="0"/>
              <a:t>Simple and interpretable </a:t>
            </a:r>
          </a:p>
          <a:p>
            <a:r>
              <a:rPr lang="en-US" dirty="0"/>
              <a:t>Adaptable to different genomes </a:t>
            </a:r>
          </a:p>
          <a:p>
            <a:r>
              <a:rPr lang="en-US" dirty="0"/>
              <a:t>Scalable with optimization</a:t>
            </a:r>
          </a:p>
          <a:p>
            <a:endParaRPr lang="en-US" dirty="0"/>
          </a:p>
        </p:txBody>
      </p:sp>
    </p:spTree>
    <p:extLst>
      <p:ext uri="{BB962C8B-B14F-4D97-AF65-F5344CB8AC3E}">
        <p14:creationId xmlns:p14="http://schemas.microsoft.com/office/powerpoint/2010/main" val="22990607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Limitations</a:t>
            </a:r>
          </a:p>
        </p:txBody>
      </p:sp>
      <p:sp>
        <p:nvSpPr>
          <p:cNvPr id="5" name="Rectangle 4"/>
          <p:cNvSpPr/>
          <p:nvPr/>
        </p:nvSpPr>
        <p:spPr>
          <a:xfrm>
            <a:off x="1136072" y="1690688"/>
            <a:ext cx="10113819" cy="1815882"/>
          </a:xfrm>
          <a:prstGeom prst="rect">
            <a:avLst/>
          </a:prstGeom>
        </p:spPr>
        <p:txBody>
          <a:bodyPr wrap="square">
            <a:spAutoFit/>
          </a:bodyPr>
          <a:lstStyle/>
          <a:p>
            <a:pPr lvl="0" eaLnBrk="0" fontAlgn="base" hangingPunct="0">
              <a:spcBef>
                <a:spcPct val="0"/>
              </a:spcBef>
              <a:spcAft>
                <a:spcPct val="0"/>
              </a:spcAft>
              <a:buFontTx/>
              <a:buChar char="•"/>
            </a:pPr>
            <a:r>
              <a:rPr lang="en-US" altLang="en-US" sz="2800" dirty="0">
                <a:latin typeface="Arial" panose="020B0604020202020204" pitchFamily="34" charset="0"/>
              </a:rPr>
              <a:t>Brute-force genome scanning is computationally expensive </a:t>
            </a:r>
          </a:p>
          <a:p>
            <a:pPr lvl="0" eaLnBrk="0" fontAlgn="base" hangingPunct="0">
              <a:spcBef>
                <a:spcPct val="0"/>
              </a:spcBef>
              <a:spcAft>
                <a:spcPct val="0"/>
              </a:spcAft>
              <a:buFontTx/>
              <a:buChar char="•"/>
            </a:pPr>
            <a:r>
              <a:rPr lang="en-US" altLang="en-US" sz="2800" dirty="0">
                <a:latin typeface="Arial" panose="020B0604020202020204" pitchFamily="34" charset="0"/>
              </a:rPr>
              <a:t>Does not consider bulges (insertions/deletions) </a:t>
            </a:r>
          </a:p>
          <a:p>
            <a:pPr lvl="0" eaLnBrk="0" fontAlgn="base" hangingPunct="0">
              <a:spcBef>
                <a:spcPct val="0"/>
              </a:spcBef>
              <a:spcAft>
                <a:spcPct val="0"/>
              </a:spcAft>
              <a:buFontTx/>
              <a:buChar char="•"/>
            </a:pPr>
            <a:r>
              <a:rPr lang="en-US" altLang="en-US" sz="2800" dirty="0">
                <a:latin typeface="Arial" panose="020B0604020202020204" pitchFamily="34" charset="0"/>
              </a:rPr>
              <a:t>Ignores chromatin accessibility and epigenetic factors </a:t>
            </a:r>
          </a:p>
          <a:p>
            <a:pPr lvl="0" eaLnBrk="0" fontAlgn="base" hangingPunct="0">
              <a:spcBef>
                <a:spcPct val="0"/>
              </a:spcBef>
              <a:spcAft>
                <a:spcPct val="0"/>
              </a:spcAft>
              <a:buFontTx/>
              <a:buChar char="•"/>
            </a:pPr>
            <a:r>
              <a:rPr lang="en-US" altLang="en-US" sz="2800" dirty="0">
                <a:latin typeface="Arial" panose="020B0604020202020204" pitchFamily="34" charset="0"/>
              </a:rPr>
              <a:t>Simplified scoring model </a:t>
            </a:r>
          </a:p>
        </p:txBody>
      </p:sp>
    </p:spTree>
    <p:extLst>
      <p:ext uri="{BB962C8B-B14F-4D97-AF65-F5344CB8AC3E}">
        <p14:creationId xmlns:p14="http://schemas.microsoft.com/office/powerpoint/2010/main" val="35232789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Future Work</a:t>
            </a:r>
          </a:p>
        </p:txBody>
      </p:sp>
      <p:sp>
        <p:nvSpPr>
          <p:cNvPr id="3" name="Content Placeholder 2"/>
          <p:cNvSpPr>
            <a:spLocks noGrp="1"/>
          </p:cNvSpPr>
          <p:nvPr>
            <p:ph idx="1"/>
          </p:nvPr>
        </p:nvSpPr>
        <p:spPr/>
        <p:txBody>
          <a:bodyPr/>
          <a:lstStyle/>
          <a:p>
            <a:r>
              <a:rPr lang="en-US" dirty="0"/>
              <a:t>Potential improvements include:</a:t>
            </a:r>
          </a:p>
          <a:p>
            <a:r>
              <a:rPr lang="en-US" dirty="0"/>
              <a:t>Integration with alignment tools (e.g., Bowtie, BWA) </a:t>
            </a:r>
          </a:p>
          <a:p>
            <a:r>
              <a:rPr lang="en-US" dirty="0"/>
              <a:t>Implementation of CFD/MIT scoring models </a:t>
            </a:r>
          </a:p>
          <a:p>
            <a:r>
              <a:rPr lang="en-US" dirty="0"/>
              <a:t>Machine learning-based efficiency prediction </a:t>
            </a:r>
          </a:p>
          <a:p>
            <a:r>
              <a:rPr lang="en-US" dirty="0"/>
              <a:t>Development of web-based tools for accessibility</a:t>
            </a:r>
          </a:p>
          <a:p>
            <a:endParaRPr lang="en-US" dirty="0"/>
          </a:p>
        </p:txBody>
      </p:sp>
    </p:spTree>
    <p:extLst>
      <p:ext uri="{BB962C8B-B14F-4D97-AF65-F5344CB8AC3E}">
        <p14:creationId xmlns:p14="http://schemas.microsoft.com/office/powerpoint/2010/main" val="32993309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Applications</a:t>
            </a:r>
          </a:p>
        </p:txBody>
      </p:sp>
      <p:sp>
        <p:nvSpPr>
          <p:cNvPr id="4" name="Rectangle 1"/>
          <p:cNvSpPr>
            <a:spLocks noGrp="1" noChangeArrowheads="1"/>
          </p:cNvSpPr>
          <p:nvPr>
            <p:ph idx="1"/>
          </p:nvPr>
        </p:nvSpPr>
        <p:spPr bwMode="auto">
          <a:xfrm>
            <a:off x="1115291" y="1569204"/>
            <a:ext cx="8569036"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FontTx/>
              <a:buChar char="•"/>
            </a:pPr>
            <a:r>
              <a:rPr lang="en-US" altLang="en-US" dirty="0"/>
              <a:t>Gene therapy </a:t>
            </a:r>
          </a:p>
          <a:p>
            <a:pPr marL="0" lvl="0" indent="0" eaLnBrk="0" fontAlgn="base" hangingPunct="0">
              <a:lnSpc>
                <a:spcPct val="100000"/>
              </a:lnSpc>
              <a:spcBef>
                <a:spcPct val="0"/>
              </a:spcBef>
              <a:spcAft>
                <a:spcPct val="0"/>
              </a:spcAft>
              <a:buFontTx/>
              <a:buChar char="•"/>
            </a:pPr>
            <a:r>
              <a:rPr lang="en-US" altLang="en-US" dirty="0"/>
              <a:t>Functional genomics </a:t>
            </a:r>
          </a:p>
          <a:p>
            <a:pPr marL="0" lvl="0" indent="0" eaLnBrk="0" fontAlgn="base" hangingPunct="0">
              <a:lnSpc>
                <a:spcPct val="100000"/>
              </a:lnSpc>
              <a:spcBef>
                <a:spcPct val="0"/>
              </a:spcBef>
              <a:spcAft>
                <a:spcPct val="0"/>
              </a:spcAft>
              <a:buFontTx/>
              <a:buChar char="•"/>
            </a:pPr>
            <a:r>
              <a:rPr lang="en-US" altLang="en-US" dirty="0"/>
              <a:t>Drug target validation </a:t>
            </a:r>
          </a:p>
          <a:p>
            <a:pPr marL="0" lvl="0" indent="0" eaLnBrk="0" fontAlgn="base" hangingPunct="0">
              <a:lnSpc>
                <a:spcPct val="100000"/>
              </a:lnSpc>
              <a:spcBef>
                <a:spcPct val="0"/>
              </a:spcBef>
              <a:spcAft>
                <a:spcPct val="0"/>
              </a:spcAft>
              <a:buFontTx/>
              <a:buChar char="•"/>
            </a:pPr>
            <a:r>
              <a:rPr lang="en-US" altLang="en-US" dirty="0"/>
              <a:t>Agricultural biotechnology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smtClean="0">
              <a:ln>
                <a:noFill/>
              </a:ln>
              <a:solidFill>
                <a:schemeClr val="tx1"/>
              </a:solidFill>
              <a:effectLst/>
            </a:endParaRPr>
          </a:p>
        </p:txBody>
      </p:sp>
    </p:spTree>
    <p:extLst>
      <p:ext uri="{BB962C8B-B14F-4D97-AF65-F5344CB8AC3E}">
        <p14:creationId xmlns:p14="http://schemas.microsoft.com/office/powerpoint/2010/main" val="36212109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Conclusion</a:t>
            </a:r>
          </a:p>
        </p:txBody>
      </p:sp>
      <p:sp>
        <p:nvSpPr>
          <p:cNvPr id="3" name="Content Placeholder 2"/>
          <p:cNvSpPr>
            <a:spLocks noGrp="1"/>
          </p:cNvSpPr>
          <p:nvPr>
            <p:ph idx="1"/>
          </p:nvPr>
        </p:nvSpPr>
        <p:spPr/>
        <p:txBody>
          <a:bodyPr/>
          <a:lstStyle/>
          <a:p>
            <a:r>
              <a:rPr lang="en-US" dirty="0"/>
              <a:t>This study presents a computational framework for designing CRISPR gRNAs and evaluating off-target effects. The approach enhances the safety and reliability of genome editing by prioritizing highly specific guide RNAs. With further optimization, this framework can be extended into advanced bioinformatics pipelines and real-world applications.</a:t>
            </a:r>
          </a:p>
        </p:txBody>
      </p:sp>
    </p:spTree>
    <p:extLst>
      <p:ext uri="{BB962C8B-B14F-4D97-AF65-F5344CB8AC3E}">
        <p14:creationId xmlns:p14="http://schemas.microsoft.com/office/powerpoint/2010/main" val="17061173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References</a:t>
            </a:r>
          </a:p>
        </p:txBody>
      </p:sp>
      <p:sp>
        <p:nvSpPr>
          <p:cNvPr id="5" name="Rectangle 4"/>
          <p:cNvSpPr/>
          <p:nvPr/>
        </p:nvSpPr>
        <p:spPr>
          <a:xfrm>
            <a:off x="1357745" y="1690688"/>
            <a:ext cx="6691746" cy="1815882"/>
          </a:xfrm>
          <a:prstGeom prst="rect">
            <a:avLst/>
          </a:prstGeom>
        </p:spPr>
        <p:txBody>
          <a:bodyPr wrap="square">
            <a:spAutoFit/>
          </a:bodyPr>
          <a:lstStyle/>
          <a:p>
            <a:pPr lvl="0" eaLnBrk="0" fontAlgn="base" hangingPunct="0">
              <a:spcBef>
                <a:spcPct val="0"/>
              </a:spcBef>
              <a:spcAft>
                <a:spcPct val="0"/>
              </a:spcAft>
              <a:buFontTx/>
              <a:buChar char="•"/>
            </a:pPr>
            <a:r>
              <a:rPr lang="en-US" altLang="en-US" sz="2800" dirty="0"/>
              <a:t>CRISPR-Cas9 Research Papers </a:t>
            </a:r>
          </a:p>
          <a:p>
            <a:pPr lvl="0" eaLnBrk="0" fontAlgn="base" hangingPunct="0">
              <a:spcBef>
                <a:spcPct val="0"/>
              </a:spcBef>
              <a:spcAft>
                <a:spcPct val="0"/>
              </a:spcAft>
              <a:buFontTx/>
              <a:buChar char="•"/>
            </a:pPr>
            <a:r>
              <a:rPr lang="en-US" altLang="en-US" sz="2800" dirty="0"/>
              <a:t>Genome Editing Reviews </a:t>
            </a:r>
          </a:p>
          <a:p>
            <a:pPr lvl="0" eaLnBrk="0" fontAlgn="base" hangingPunct="0">
              <a:spcBef>
                <a:spcPct val="0"/>
              </a:spcBef>
              <a:spcAft>
                <a:spcPct val="0"/>
              </a:spcAft>
              <a:buFontTx/>
              <a:buChar char="•"/>
            </a:pPr>
            <a:r>
              <a:rPr lang="en-US" altLang="en-US" sz="2800" dirty="0" err="1"/>
              <a:t>BioPython</a:t>
            </a:r>
            <a:r>
              <a:rPr lang="en-US" altLang="en-US" sz="2800" dirty="0"/>
              <a:t> Documentation </a:t>
            </a:r>
          </a:p>
          <a:p>
            <a:pPr lvl="0" eaLnBrk="0" fontAlgn="base" hangingPunct="0">
              <a:spcBef>
                <a:spcPct val="0"/>
              </a:spcBef>
              <a:spcAft>
                <a:spcPct val="0"/>
              </a:spcAft>
              <a:buFontTx/>
              <a:buChar char="•"/>
            </a:pPr>
            <a:r>
              <a:rPr lang="en-US" altLang="en-US" sz="2800" dirty="0"/>
              <a:t>Computational Biology Resources </a:t>
            </a:r>
          </a:p>
        </p:txBody>
      </p:sp>
    </p:spTree>
    <p:extLst>
      <p:ext uri="{BB962C8B-B14F-4D97-AF65-F5344CB8AC3E}">
        <p14:creationId xmlns:p14="http://schemas.microsoft.com/office/powerpoint/2010/main" val="10511432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209</TotalTime>
  <Words>888</Words>
  <Application>Microsoft Office PowerPoint</Application>
  <PresentationFormat>Widescreen</PresentationFormat>
  <Paragraphs>148</Paragraphs>
  <Slides>27</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Calibri</vt:lpstr>
      <vt:lpstr>Calibri Light</vt:lpstr>
      <vt:lpstr>Cambria Math</vt:lpstr>
      <vt:lpstr>CIDFont+F1</vt:lpstr>
      <vt:lpstr>Office Theme</vt:lpstr>
      <vt:lpstr>CRISPR gRNA designer to evaluate off-target effects</vt:lpstr>
      <vt:lpstr>Google Colab URL</vt:lpstr>
      <vt:lpstr>Abstract</vt:lpstr>
      <vt:lpstr>Introduction</vt:lpstr>
      <vt:lpstr>Objectives</vt:lpstr>
      <vt:lpstr>Background</vt:lpstr>
      <vt:lpstr>Background</vt:lpstr>
      <vt:lpstr>Background</vt:lpstr>
      <vt:lpstr>Background</vt:lpstr>
      <vt:lpstr>Methodology</vt:lpstr>
      <vt:lpstr>Background</vt:lpstr>
      <vt:lpstr>Methodology</vt:lpstr>
      <vt:lpstr>Methodology</vt:lpstr>
      <vt:lpstr>Methodology</vt:lpstr>
      <vt:lpstr>Methodology</vt:lpstr>
      <vt:lpstr>Implementation (Python Overview)</vt:lpstr>
      <vt:lpstr>Data Visualization</vt:lpstr>
      <vt:lpstr>Data Visualization</vt:lpstr>
      <vt:lpstr>Data Visualization</vt:lpstr>
      <vt:lpstr>Data Visualization</vt:lpstr>
      <vt:lpstr>Results and Analysis</vt:lpstr>
      <vt:lpstr>Discussion</vt:lpstr>
      <vt:lpstr>Limitations</vt:lpstr>
      <vt:lpstr>Future Work</vt:lpstr>
      <vt:lpstr>Applications</vt:lpstr>
      <vt:lpstr>Conclusion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CRISPR gRNA Designer for Evaluating Off-Target Effects</dc:title>
  <dc:creator>KUMAR</dc:creator>
  <cp:lastModifiedBy>KUMAR</cp:lastModifiedBy>
  <cp:revision>50</cp:revision>
  <dcterms:created xsi:type="dcterms:W3CDTF">2026-04-08T11:59:25Z</dcterms:created>
  <dcterms:modified xsi:type="dcterms:W3CDTF">2026-04-30T06:52:26Z</dcterms:modified>
</cp:coreProperties>
</file>