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99AC-3785-4845-B2A0-84CF68B8E7F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304-46B7-4EA7-8AEE-E0E9F5102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76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99AC-3785-4845-B2A0-84CF68B8E7F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304-46B7-4EA7-8AEE-E0E9F5102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74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99AC-3785-4845-B2A0-84CF68B8E7F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304-46B7-4EA7-8AEE-E0E9F5102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668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99AC-3785-4845-B2A0-84CF68B8E7F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304-46B7-4EA7-8AEE-E0E9F5102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73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99AC-3785-4845-B2A0-84CF68B8E7F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304-46B7-4EA7-8AEE-E0E9F5102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73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99AC-3785-4845-B2A0-84CF68B8E7F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304-46B7-4EA7-8AEE-E0E9F5102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7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99AC-3785-4845-B2A0-84CF68B8E7F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304-46B7-4EA7-8AEE-E0E9F5102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2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99AC-3785-4845-B2A0-84CF68B8E7F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304-46B7-4EA7-8AEE-E0E9F5102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0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99AC-3785-4845-B2A0-84CF68B8E7F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304-46B7-4EA7-8AEE-E0E9F5102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79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99AC-3785-4845-B2A0-84CF68B8E7F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304-46B7-4EA7-8AEE-E0E9F5102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27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99AC-3785-4845-B2A0-84CF68B8E7F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304-46B7-4EA7-8AEE-E0E9F5102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87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699AC-3785-4845-B2A0-84CF68B8E7F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5E304-46B7-4EA7-8AEE-E0E9F5102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04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pal21236/" TargetMode="External"/><Relationship Id="rId2" Type="http://schemas.openxmlformats.org/officeDocument/2006/relationships/hyperlink" Target="https://www.linkedin.com/in/gopalakrishnankumar-a73301110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gopalkk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x-kCs8oXtlB3VDHvNS8xDSQeWL9znQZ5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Direct vs Regular Mutual Fund Plans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2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Github:</a:t>
            </a:r>
            <a:r>
              <a:rPr lang="en-US" dirty="0">
                <a:solidFill>
                  <a:srgbClr val="0D0D0D"/>
                </a:solidFill>
                <a:latin typeface="CIDFont+F1"/>
                <a:hlinkClick r:id="rId3"/>
              </a:rPr>
              <a:t>https://github.com/Gopal21236/</a:t>
            </a:r>
            <a:endParaRPr lang="en-US" dirty="0">
              <a:solidFill>
                <a:srgbClr val="0D0D0D"/>
              </a:solidFill>
              <a:latin typeface="CIDFont+F1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4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2085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https://colab.research.google.com/drive/1x-kCs8oXtlB3VDHvNS8xDSQeWL9znQZ5?usp=sharing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376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Mutual fund investors in India can choose between </a:t>
            </a:r>
            <a:r>
              <a:rPr lang="en-US" b="1" dirty="0" smtClean="0"/>
              <a:t>Direct plans</a:t>
            </a:r>
            <a:r>
              <a:rPr lang="en-US" dirty="0" smtClean="0"/>
              <a:t> and </a:t>
            </a:r>
            <a:r>
              <a:rPr lang="en-US" b="1" dirty="0" smtClean="0"/>
              <a:t>Regular plans</a:t>
            </a:r>
            <a:r>
              <a:rPr lang="en-US" dirty="0" smtClean="0"/>
              <a:t>. While both invest in the same underlying portfolio, they differ mainly in </a:t>
            </a:r>
            <a:r>
              <a:rPr lang="en-US" b="1" dirty="0" smtClean="0"/>
              <a:t>expense ratio</a:t>
            </a:r>
            <a:r>
              <a:rPr lang="en-US" dirty="0" smtClean="0"/>
              <a:t>, which has a significant long-term impact on returns due to compounding.</a:t>
            </a:r>
          </a:p>
          <a:p>
            <a:r>
              <a:rPr lang="en-US" dirty="0" smtClean="0"/>
              <a:t>This report presents a </a:t>
            </a:r>
            <a:r>
              <a:rPr lang="en-US" b="1" dirty="0" smtClean="0"/>
              <a:t>simulation-based analysis</a:t>
            </a:r>
            <a:r>
              <a:rPr lang="en-US" dirty="0" smtClean="0"/>
              <a:t> comparing Direct and Regular mutual fund plans, focusing on:</a:t>
            </a:r>
          </a:p>
          <a:p>
            <a:r>
              <a:rPr lang="en-US" dirty="0" smtClean="0"/>
              <a:t>Expense ratio impact</a:t>
            </a:r>
          </a:p>
          <a:p>
            <a:r>
              <a:rPr lang="en-US" dirty="0" smtClean="0"/>
              <a:t>Long-term compounding effects</a:t>
            </a:r>
          </a:p>
          <a:p>
            <a:r>
              <a:rPr lang="en-US" dirty="0" smtClean="0"/>
              <a:t>Break-even analysis</a:t>
            </a:r>
          </a:p>
          <a:p>
            <a:r>
              <a:rPr lang="en-US" dirty="0" smtClean="0"/>
              <a:t>Investor decision implications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22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Understanding Direct vs Regular Plans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2767"/>
            <a:ext cx="10515600" cy="4351338"/>
          </a:xfrm>
        </p:spPr>
        <p:txBody>
          <a:bodyPr/>
          <a:lstStyle/>
          <a:p>
            <a:r>
              <a:rPr lang="en-US" b="1" dirty="0" smtClean="0"/>
              <a:t>2.1 Regular Plan</a:t>
            </a:r>
          </a:p>
          <a:p>
            <a:r>
              <a:rPr lang="en-US" dirty="0" smtClean="0"/>
              <a:t>Purchased through distributors or advisors</a:t>
            </a:r>
          </a:p>
          <a:p>
            <a:r>
              <a:rPr lang="en-US" dirty="0" smtClean="0"/>
              <a:t>Includes distributor commission</a:t>
            </a:r>
          </a:p>
          <a:p>
            <a:r>
              <a:rPr lang="en-US" dirty="0" smtClean="0"/>
              <a:t>Higher expense ratio</a:t>
            </a:r>
          </a:p>
          <a:p>
            <a:r>
              <a:rPr lang="en-US" dirty="0" smtClean="0"/>
              <a:t>Lower NAV compared to Direct plan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3909536"/>
            <a:ext cx="956491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2.2 Direct Plan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/>
              <a:t>Purchased directly from AMC or online platforms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/>
              <a:t>No distributor commission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/>
              <a:t>Lower expense ratio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/>
              <a:t>Higher NAV for the same fund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838199" y="6037721"/>
            <a:ext cx="80735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only structural difference between the two plans is the </a:t>
            </a:r>
            <a:r>
              <a:rPr lang="en-US" b="1" dirty="0" smtClean="0"/>
              <a:t>expense ratio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11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Simulation Assumptions</a:t>
            </a:r>
            <a:endParaRPr lang="en-US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1447864"/>
              </p:ext>
            </p:extLst>
          </p:nvPr>
        </p:nvGraphicFramePr>
        <p:xfrm>
          <a:off x="1623062" y="1690688"/>
          <a:ext cx="8481420" cy="4351338"/>
        </p:xfrm>
        <a:graphic>
          <a:graphicData uri="http://schemas.openxmlformats.org/drawingml/2006/table">
            <a:tbl>
              <a:tblPr/>
              <a:tblGrid>
                <a:gridCol w="2827140">
                  <a:extLst>
                    <a:ext uri="{9D8B030D-6E8A-4147-A177-3AD203B41FA5}">
                      <a16:colId xmlns:a16="http://schemas.microsoft.com/office/drawing/2014/main" val="2699275510"/>
                    </a:ext>
                  </a:extLst>
                </a:gridCol>
                <a:gridCol w="2827140">
                  <a:extLst>
                    <a:ext uri="{9D8B030D-6E8A-4147-A177-3AD203B41FA5}">
                      <a16:colId xmlns:a16="http://schemas.microsoft.com/office/drawing/2014/main" val="2957866678"/>
                    </a:ext>
                  </a:extLst>
                </a:gridCol>
                <a:gridCol w="2827140">
                  <a:extLst>
                    <a:ext uri="{9D8B030D-6E8A-4147-A177-3AD203B41FA5}">
                      <a16:colId xmlns:a16="http://schemas.microsoft.com/office/drawing/2014/main" val="1291669137"/>
                    </a:ext>
                  </a:extLst>
                </a:gridCol>
              </a:tblGrid>
              <a:tr h="295006">
                <a:tc>
                  <a:txBody>
                    <a:bodyPr/>
                    <a:lstStyle/>
                    <a:p>
                      <a:r>
                        <a:rPr lang="en-US" sz="1400" b="1"/>
                        <a:t>Category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Parameter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Assumption / Value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2640843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r>
                        <a:rPr lang="en-US" sz="1400" b="1"/>
                        <a:t>Investment Type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Mode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Lump sum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152018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endParaRPr lang="en-US" sz="1400" b="1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Initial Investment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₹1,00,000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146723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r>
                        <a:rPr lang="en-US" sz="1400" b="1"/>
                        <a:t>Investment Horizon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Time Period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30 years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2995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r>
                        <a:rPr lang="en-US" sz="1400" b="1"/>
                        <a:t>Market Return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Gross Annual Return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12%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003765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r>
                        <a:rPr lang="en-US" sz="1400" b="1"/>
                        <a:t>Expense Ratio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Regular Plan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2.0%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569648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endParaRPr lang="en-US" sz="1400" b="1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Direct Plan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1.0%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217389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r>
                        <a:rPr lang="en-US" sz="1400" b="1"/>
                        <a:t>Net Return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Regular Plan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10% (12% − 2%)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211975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endParaRPr lang="en-US" sz="1400" b="1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Direct Plan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11% (12% − 1%)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121567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r>
                        <a:rPr lang="en-US" sz="1400" b="1"/>
                        <a:t>Compounding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Frequency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Annual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066538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r>
                        <a:rPr lang="en-US" sz="1400" b="1"/>
                        <a:t>Taxation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Capital Gains Tax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Ignored (same for both plans)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100830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r>
                        <a:rPr lang="en-US" sz="1400" b="1"/>
                        <a:t>Risk Modeling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Market Volatility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Not considered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266601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r>
                        <a:rPr lang="en-US" sz="1400" b="1"/>
                        <a:t>Advisory Value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Behavioral / Advisory Impact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Not quantified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8488997"/>
                  </a:ext>
                </a:extLst>
              </a:tr>
              <a:tr h="516260">
                <a:tc>
                  <a:txBody>
                    <a:bodyPr/>
                    <a:lstStyle/>
                    <a:p>
                      <a:r>
                        <a:rPr lang="en-US" sz="1400" b="1"/>
                        <a:t>Objective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Analysis Focus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Expense ratio &amp; compounding impact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256340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585141" y="6042026"/>
            <a:ext cx="100553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The gross return is assumed to be identical for both plans since the underlying portfolio is the same.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5174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Methodology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future value of the investment is calculated using compound interest:</a:t>
            </a:r>
          </a:p>
          <a:p>
            <a:r>
              <a:rPr lang="en-US" dirty="0" smtClean="0"/>
              <a:t>Future Value = Principal × (1 + Net Return)^Years</a:t>
            </a:r>
          </a:p>
          <a:p>
            <a:r>
              <a:rPr lang="en-US" dirty="0" smtClean="0"/>
              <a:t>Where:</a:t>
            </a:r>
          </a:p>
          <a:p>
            <a:r>
              <a:rPr lang="en-US" dirty="0" smtClean="0"/>
              <a:t>Net Return = Gross Return – Expense Ratio</a:t>
            </a:r>
          </a:p>
          <a:p>
            <a:r>
              <a:rPr lang="en-US" dirty="0" smtClean="0"/>
              <a:t>Separate simulations are run for Direct and Regular plans, and the annual difference in corpus is computed.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27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3671" y="1921030"/>
            <a:ext cx="5184658" cy="416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5632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510" y="1921030"/>
            <a:ext cx="5458979" cy="4160528"/>
          </a:xfrm>
        </p:spPr>
      </p:pic>
    </p:spTree>
    <p:extLst>
      <p:ext uri="{BB962C8B-B14F-4D97-AF65-F5344CB8AC3E}">
        <p14:creationId xmlns:p14="http://schemas.microsoft.com/office/powerpoint/2010/main" val="407658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Long-Term Compounding Results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5.1 Corpus Growth Comparison</a:t>
            </a:r>
          </a:p>
          <a:p>
            <a:r>
              <a:rPr lang="en-US" dirty="0" smtClean="0"/>
              <a:t>After 30 years:</a:t>
            </a:r>
          </a:p>
          <a:p>
            <a:r>
              <a:rPr lang="en-US" b="1" dirty="0" smtClean="0"/>
              <a:t>Regular Plan Value:</a:t>
            </a:r>
            <a:r>
              <a:rPr lang="en-US" dirty="0" smtClean="0"/>
              <a:t> ~₹17.4 lakh</a:t>
            </a:r>
          </a:p>
          <a:p>
            <a:r>
              <a:rPr lang="en-US" b="1" dirty="0" smtClean="0"/>
              <a:t>Direct Plan Value:</a:t>
            </a:r>
            <a:r>
              <a:rPr lang="en-US" dirty="0" smtClean="0"/>
              <a:t> ~₹22.9 lakh</a:t>
            </a:r>
          </a:p>
          <a:p>
            <a:r>
              <a:rPr lang="en-US" b="1" dirty="0" smtClean="0"/>
              <a:t>5.2 Wealth Difference</a:t>
            </a:r>
          </a:p>
          <a:p>
            <a:r>
              <a:rPr lang="en-US" b="1" dirty="0" smtClean="0"/>
              <a:t>Additional wealth from Direct Plan:</a:t>
            </a:r>
            <a:r>
              <a:rPr lang="en-US" dirty="0" smtClean="0"/>
              <a:t> ~₹5.5 lakh</a:t>
            </a:r>
          </a:p>
          <a:p>
            <a:r>
              <a:rPr lang="en-US" dirty="0" smtClean="0"/>
              <a:t>This represents over </a:t>
            </a:r>
            <a:r>
              <a:rPr lang="en-US" b="1" dirty="0" smtClean="0"/>
              <a:t>30% higher corpus</a:t>
            </a:r>
            <a:r>
              <a:rPr lang="en-US" dirty="0" smtClean="0"/>
              <a:t> compared to the Regular plan</a:t>
            </a:r>
          </a:p>
          <a:p>
            <a:r>
              <a:rPr lang="en-US" dirty="0" smtClean="0"/>
              <a:t>The gap widens exponentially over time due to compounding.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35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Expense Ratio Impact 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Even a seemingly small difference of </a:t>
            </a:r>
            <a:r>
              <a:rPr lang="en-US" b="1" dirty="0" smtClean="0"/>
              <a:t>1% in expense ratio</a:t>
            </a:r>
            <a:r>
              <a:rPr lang="en-US" dirty="0" smtClean="0"/>
              <a:t> leads to a substantial erosion of wealth over long investment horizons.</a:t>
            </a:r>
          </a:p>
          <a:p>
            <a:r>
              <a:rPr lang="en-US" dirty="0" smtClean="0"/>
              <a:t>Key observations:</a:t>
            </a:r>
          </a:p>
          <a:p>
            <a:r>
              <a:rPr lang="en-US" dirty="0" smtClean="0"/>
              <a:t>Expense ratio is deducted </a:t>
            </a:r>
            <a:r>
              <a:rPr lang="en-US" b="1" dirty="0" smtClean="0"/>
              <a:t>daily from NAV</a:t>
            </a:r>
            <a:endParaRPr lang="en-US" dirty="0" smtClean="0"/>
          </a:p>
          <a:p>
            <a:r>
              <a:rPr lang="en-US" dirty="0" smtClean="0"/>
              <a:t>Investors never see this cost explicitly</a:t>
            </a:r>
          </a:p>
          <a:p>
            <a:r>
              <a:rPr lang="en-US" dirty="0" smtClean="0"/>
              <a:t>Costs compound negatively year after year</a:t>
            </a:r>
          </a:p>
          <a:p>
            <a:r>
              <a:rPr lang="en-US" dirty="0" smtClean="0"/>
              <a:t>Over 30 years, the cumulative effect of higher expenses becomes larger than the original investment amount.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27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Break-even 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break-even point is defined as the year when the Direct plan corpus exceeds the Regular plan corpus.</a:t>
            </a:r>
          </a:p>
          <a:p>
            <a:r>
              <a:rPr lang="en-US" b="1" dirty="0" smtClean="0"/>
              <a:t>Result:</a:t>
            </a:r>
          </a:p>
          <a:p>
            <a:r>
              <a:rPr lang="en-US" b="1" dirty="0" smtClean="0"/>
              <a:t>Break-even Year: Year 1</a:t>
            </a:r>
            <a:endParaRPr lang="en-US" dirty="0" smtClean="0"/>
          </a:p>
          <a:p>
            <a:r>
              <a:rPr lang="en-US" dirty="0" smtClean="0"/>
              <a:t>Since the expense ratio difference applies from the beginning, the Direct plan outperforms the Regular plan </a:t>
            </a:r>
            <a:r>
              <a:rPr lang="en-US" b="1" dirty="0" smtClean="0"/>
              <a:t>from the very first year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There is no time horizon where the Regular plan provides a higher return purely on a return basis.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35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Investor Perspective 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8.1 When Direct Plans Are Ideal</a:t>
            </a:r>
          </a:p>
          <a:p>
            <a:r>
              <a:rPr lang="en-US" dirty="0" smtClean="0"/>
              <a:t>Investors comfortable with online platforms</a:t>
            </a:r>
          </a:p>
          <a:p>
            <a:r>
              <a:rPr lang="en-US" dirty="0" smtClean="0"/>
              <a:t>Long-term wealth creators</a:t>
            </a:r>
          </a:p>
          <a:p>
            <a:r>
              <a:rPr lang="en-US" dirty="0" smtClean="0"/>
              <a:t>Cost-conscious investors</a:t>
            </a:r>
          </a:p>
          <a:p>
            <a:r>
              <a:rPr lang="en-US" dirty="0" smtClean="0"/>
              <a:t>Passive or index fund investors</a:t>
            </a:r>
          </a:p>
          <a:p>
            <a:r>
              <a:rPr lang="en-US" b="1" dirty="0" smtClean="0"/>
              <a:t>8.2 When Regular Plans May Be Justified</a:t>
            </a:r>
          </a:p>
          <a:p>
            <a:r>
              <a:rPr lang="en-US" dirty="0" smtClean="0"/>
              <a:t>Investors needing behavioral coaching</a:t>
            </a:r>
          </a:p>
          <a:p>
            <a:r>
              <a:rPr lang="en-US" dirty="0" smtClean="0"/>
              <a:t>First-time investors requiring guidance</a:t>
            </a:r>
          </a:p>
          <a:p>
            <a:r>
              <a:rPr lang="en-US" dirty="0" smtClean="0"/>
              <a:t>Situations where advisors add value through asset allocation, tax planning, or discipline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6176963"/>
            <a:ext cx="10642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additional cost of a Regular plan should be weighed against the </a:t>
            </a:r>
            <a:r>
              <a:rPr lang="en-US" b="1" dirty="0" smtClean="0"/>
              <a:t>actual value provided by the advisor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36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Risk and Behavioral Considerations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While Direct plans offer higher returns, investor behavior plays a crucial role:</a:t>
            </a:r>
          </a:p>
          <a:p>
            <a:r>
              <a:rPr lang="en-US" dirty="0" smtClean="0"/>
              <a:t>Poor timing decisions can negate cost advantages</a:t>
            </a:r>
          </a:p>
          <a:p>
            <a:r>
              <a:rPr lang="en-US" dirty="0" smtClean="0"/>
              <a:t>Panic selling during market corrections can reduce returns</a:t>
            </a:r>
          </a:p>
          <a:p>
            <a:r>
              <a:rPr lang="en-US" dirty="0" smtClean="0"/>
              <a:t>An advisor who prevents such mistakes may justify their fee for certain investors.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331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Key Takeaways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1364342" y="1462038"/>
            <a:ext cx="1042125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Expense ratio is the </a:t>
            </a:r>
            <a:r>
              <a:rPr lang="en-US" altLang="en-US" sz="2400" b="1" dirty="0">
                <a:latin typeface="Arial" panose="020B0604020202020204" pitchFamily="34" charset="0"/>
              </a:rPr>
              <a:t>only guaranteed cost</a:t>
            </a:r>
            <a:r>
              <a:rPr lang="en-US" altLang="en-US" sz="2400" dirty="0">
                <a:latin typeface="Arial" panose="020B0604020202020204" pitchFamily="34" charset="0"/>
              </a:rPr>
              <a:t> in mutual fund investing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 1% difference can reduce long-term wealth by </a:t>
            </a:r>
            <a:r>
              <a:rPr lang="en-US" altLang="en-US" sz="2400" b="1" dirty="0">
                <a:latin typeface="Arial" panose="020B0604020202020204" pitchFamily="34" charset="0"/>
              </a:rPr>
              <a:t>30% or more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Direct plans are mathematically superior for long-term investors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Regular plans are suitable only if advisory value exceeds cost</a:t>
            </a:r>
          </a:p>
        </p:txBody>
      </p:sp>
    </p:spTree>
    <p:extLst>
      <p:ext uri="{BB962C8B-B14F-4D97-AF65-F5344CB8AC3E}">
        <p14:creationId xmlns:p14="http://schemas.microsoft.com/office/powerpoint/2010/main" val="412659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simulation clearly demonstrates that </a:t>
            </a:r>
            <a:r>
              <a:rPr lang="en-US" b="1" dirty="0" smtClean="0"/>
              <a:t>Direct mutual fund plans create significantly higher long-term wealth</a:t>
            </a:r>
            <a:r>
              <a:rPr lang="en-US" dirty="0" smtClean="0"/>
              <a:t> compared to Regular plans due to lower expense ratios. The power of compounding works both ways—positively for returns and negatively for costs.</a:t>
            </a:r>
          </a:p>
          <a:p>
            <a:r>
              <a:rPr lang="en-US" dirty="0" smtClean="0"/>
              <a:t>For disciplined, informed investors, Direct plans are the optimal choice. However, investors who benefit from professional guidance should carefully evaluate whether the advisory support justifies the additional expense.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5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Scope for Further Analysis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1070427" y="1558222"/>
            <a:ext cx="1058454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SIP-based simulation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Variable expense ratios across fund categories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Advisor fee vs Regular plan comparison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Tax-adjusted return analysis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Power BI / Excel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4128828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807</Words>
  <Application>Microsoft Office PowerPoint</Application>
  <PresentationFormat>Widescreen</PresentationFormat>
  <Paragraphs>129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CIDFont+F1</vt:lpstr>
      <vt:lpstr>Office Theme</vt:lpstr>
      <vt:lpstr>Direct vs Regular Mutual Fund Plans</vt:lpstr>
      <vt:lpstr>Google Colab URL</vt:lpstr>
      <vt:lpstr>Introduction</vt:lpstr>
      <vt:lpstr>Understanding Direct vs Regular Plans</vt:lpstr>
      <vt:lpstr>Simulation Assumptions</vt:lpstr>
      <vt:lpstr>Methodology</vt:lpstr>
      <vt:lpstr>Data Visualization </vt:lpstr>
      <vt:lpstr>Data Visualization </vt:lpstr>
      <vt:lpstr>Long-Term Compounding Results</vt:lpstr>
      <vt:lpstr>Expense Ratio Impact Analysis</vt:lpstr>
      <vt:lpstr>Break-even Analysis</vt:lpstr>
      <vt:lpstr>Investor Perspective Analysis</vt:lpstr>
      <vt:lpstr>Risk and Behavioral Considerations</vt:lpstr>
      <vt:lpstr>Key Takeaways</vt:lpstr>
      <vt:lpstr>Conclusion</vt:lpstr>
      <vt:lpstr>Scope for Further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 vs Regular Mutual Fund Plans</dc:title>
  <dc:creator>KUMAR</dc:creator>
  <cp:lastModifiedBy>KUMAR</cp:lastModifiedBy>
  <cp:revision>21</cp:revision>
  <dcterms:created xsi:type="dcterms:W3CDTF">2026-01-04T23:14:16Z</dcterms:created>
  <dcterms:modified xsi:type="dcterms:W3CDTF">2026-01-05T01:49:21Z</dcterms:modified>
</cp:coreProperties>
</file>