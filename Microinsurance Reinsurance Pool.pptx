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D422B5-726F-48F2-BF8A-70C16C589F42}"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C54143-6EC0-45A7-95E5-9B7EA7A5369A}" type="slidenum">
              <a:rPr lang="en-US" smtClean="0"/>
              <a:t>‹#›</a:t>
            </a:fld>
            <a:endParaRPr lang="en-US"/>
          </a:p>
        </p:txBody>
      </p:sp>
    </p:spTree>
    <p:extLst>
      <p:ext uri="{BB962C8B-B14F-4D97-AF65-F5344CB8AC3E}">
        <p14:creationId xmlns:p14="http://schemas.microsoft.com/office/powerpoint/2010/main" val="3088090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C54143-6EC0-45A7-95E5-9B7EA7A5369A}" type="slidenum">
              <a:rPr lang="en-US" smtClean="0"/>
              <a:t>6</a:t>
            </a:fld>
            <a:endParaRPr lang="en-US"/>
          </a:p>
        </p:txBody>
      </p:sp>
    </p:spTree>
    <p:extLst>
      <p:ext uri="{BB962C8B-B14F-4D97-AF65-F5344CB8AC3E}">
        <p14:creationId xmlns:p14="http://schemas.microsoft.com/office/powerpoint/2010/main" val="2167916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B970054-C575-4FBE-90A6-15539FDCEA4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E6C4E5-9B01-4000-9AB6-CEFF84F5594A}" type="slidenum">
              <a:rPr lang="en-US" smtClean="0"/>
              <a:t>‹#›</a:t>
            </a:fld>
            <a:endParaRPr lang="en-US"/>
          </a:p>
        </p:txBody>
      </p:sp>
    </p:spTree>
    <p:extLst>
      <p:ext uri="{BB962C8B-B14F-4D97-AF65-F5344CB8AC3E}">
        <p14:creationId xmlns:p14="http://schemas.microsoft.com/office/powerpoint/2010/main" val="1367645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B970054-C575-4FBE-90A6-15539FDCEA4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E6C4E5-9B01-4000-9AB6-CEFF84F5594A}" type="slidenum">
              <a:rPr lang="en-US" smtClean="0"/>
              <a:t>‹#›</a:t>
            </a:fld>
            <a:endParaRPr lang="en-US"/>
          </a:p>
        </p:txBody>
      </p:sp>
    </p:spTree>
    <p:extLst>
      <p:ext uri="{BB962C8B-B14F-4D97-AF65-F5344CB8AC3E}">
        <p14:creationId xmlns:p14="http://schemas.microsoft.com/office/powerpoint/2010/main" val="1305260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B970054-C575-4FBE-90A6-15539FDCEA4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E6C4E5-9B01-4000-9AB6-CEFF84F5594A}" type="slidenum">
              <a:rPr lang="en-US" smtClean="0"/>
              <a:t>‹#›</a:t>
            </a:fld>
            <a:endParaRPr lang="en-US"/>
          </a:p>
        </p:txBody>
      </p:sp>
    </p:spTree>
    <p:extLst>
      <p:ext uri="{BB962C8B-B14F-4D97-AF65-F5344CB8AC3E}">
        <p14:creationId xmlns:p14="http://schemas.microsoft.com/office/powerpoint/2010/main" val="910479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B970054-C575-4FBE-90A6-15539FDCEA4E}"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E6C4E5-9B01-4000-9AB6-CEFF84F5594A}" type="slidenum">
              <a:rPr lang="en-US" smtClean="0"/>
              <a:t>‹#›</a:t>
            </a:fld>
            <a:endParaRPr lang="en-US"/>
          </a:p>
        </p:txBody>
      </p:sp>
    </p:spTree>
    <p:extLst>
      <p:ext uri="{BB962C8B-B14F-4D97-AF65-F5344CB8AC3E}">
        <p14:creationId xmlns:p14="http://schemas.microsoft.com/office/powerpoint/2010/main" val="3587660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B970054-C575-4FBE-90A6-15539FDCEA4E}" type="datetimeFigureOut">
              <a:rPr lang="en-US" smtClean="0"/>
              <a:t>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E6C4E5-9B01-4000-9AB6-CEFF84F5594A}" type="slidenum">
              <a:rPr lang="en-US" smtClean="0"/>
              <a:t>‹#›</a:t>
            </a:fld>
            <a:endParaRPr lang="en-US"/>
          </a:p>
        </p:txBody>
      </p:sp>
    </p:spTree>
    <p:extLst>
      <p:ext uri="{BB962C8B-B14F-4D97-AF65-F5344CB8AC3E}">
        <p14:creationId xmlns:p14="http://schemas.microsoft.com/office/powerpoint/2010/main" val="673658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B970054-C575-4FBE-90A6-15539FDCEA4E}" type="datetimeFigureOut">
              <a:rPr lang="en-US" smtClean="0"/>
              <a:t>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E6C4E5-9B01-4000-9AB6-CEFF84F5594A}" type="slidenum">
              <a:rPr lang="en-US" smtClean="0"/>
              <a:t>‹#›</a:t>
            </a:fld>
            <a:endParaRPr lang="en-US"/>
          </a:p>
        </p:txBody>
      </p:sp>
    </p:spTree>
    <p:extLst>
      <p:ext uri="{BB962C8B-B14F-4D97-AF65-F5344CB8AC3E}">
        <p14:creationId xmlns:p14="http://schemas.microsoft.com/office/powerpoint/2010/main" val="782929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70054-C575-4FBE-90A6-15539FDCEA4E}" type="datetimeFigureOut">
              <a:rPr lang="en-US" smtClean="0"/>
              <a:t>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E6C4E5-9B01-4000-9AB6-CEFF84F5594A}" type="slidenum">
              <a:rPr lang="en-US" smtClean="0"/>
              <a:t>‹#›</a:t>
            </a:fld>
            <a:endParaRPr lang="en-US"/>
          </a:p>
        </p:txBody>
      </p:sp>
    </p:spTree>
    <p:extLst>
      <p:ext uri="{BB962C8B-B14F-4D97-AF65-F5344CB8AC3E}">
        <p14:creationId xmlns:p14="http://schemas.microsoft.com/office/powerpoint/2010/main" val="2953710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B970054-C575-4FBE-90A6-15539FDCEA4E}"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E6C4E5-9B01-4000-9AB6-CEFF84F5594A}" type="slidenum">
              <a:rPr lang="en-US" smtClean="0"/>
              <a:t>‹#›</a:t>
            </a:fld>
            <a:endParaRPr lang="en-US"/>
          </a:p>
        </p:txBody>
      </p:sp>
    </p:spTree>
    <p:extLst>
      <p:ext uri="{BB962C8B-B14F-4D97-AF65-F5344CB8AC3E}">
        <p14:creationId xmlns:p14="http://schemas.microsoft.com/office/powerpoint/2010/main" val="3079493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B970054-C575-4FBE-90A6-15539FDCEA4E}"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E6C4E5-9B01-4000-9AB6-CEFF84F5594A}" type="slidenum">
              <a:rPr lang="en-US" smtClean="0"/>
              <a:t>‹#›</a:t>
            </a:fld>
            <a:endParaRPr lang="en-US"/>
          </a:p>
        </p:txBody>
      </p:sp>
    </p:spTree>
    <p:extLst>
      <p:ext uri="{BB962C8B-B14F-4D97-AF65-F5344CB8AC3E}">
        <p14:creationId xmlns:p14="http://schemas.microsoft.com/office/powerpoint/2010/main" val="2311918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B970054-C575-4FBE-90A6-15539FDCEA4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E6C4E5-9B01-4000-9AB6-CEFF84F5594A}" type="slidenum">
              <a:rPr lang="en-US" smtClean="0"/>
              <a:t>‹#›</a:t>
            </a:fld>
            <a:endParaRPr lang="en-US"/>
          </a:p>
        </p:txBody>
      </p:sp>
    </p:spTree>
    <p:extLst>
      <p:ext uri="{BB962C8B-B14F-4D97-AF65-F5344CB8AC3E}">
        <p14:creationId xmlns:p14="http://schemas.microsoft.com/office/powerpoint/2010/main" val="4168502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B970054-C575-4FBE-90A6-15539FDCEA4E}"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E6C4E5-9B01-4000-9AB6-CEFF84F5594A}" type="slidenum">
              <a:rPr lang="en-US" smtClean="0"/>
              <a:t>‹#›</a:t>
            </a:fld>
            <a:endParaRPr lang="en-US"/>
          </a:p>
        </p:txBody>
      </p:sp>
    </p:spTree>
    <p:extLst>
      <p:ext uri="{BB962C8B-B14F-4D97-AF65-F5344CB8AC3E}">
        <p14:creationId xmlns:p14="http://schemas.microsoft.com/office/powerpoint/2010/main" val="2447214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970054-C575-4FBE-90A6-15539FDCEA4E}" type="datetimeFigureOut">
              <a:rPr lang="en-US" smtClean="0"/>
              <a:t>3/1/2026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E6C4E5-9B01-4000-9AB6-CEFF84F5594A}" type="slidenum">
              <a:rPr lang="en-US" smtClean="0"/>
              <a:t>‹#›</a:t>
            </a:fld>
            <a:endParaRPr lang="en-US"/>
          </a:p>
        </p:txBody>
      </p:sp>
    </p:spTree>
    <p:extLst>
      <p:ext uri="{BB962C8B-B14F-4D97-AF65-F5344CB8AC3E}">
        <p14:creationId xmlns:p14="http://schemas.microsoft.com/office/powerpoint/2010/main" val="3753285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opal21236/" TargetMode="External"/><Relationship Id="rId2" Type="http://schemas.openxmlformats.org/officeDocument/2006/relationships/hyperlink" Target="https://www.linkedin.com/in/gopalakrishnankumar-a73301110/" TargetMode="External"/><Relationship Id="rId1" Type="http://schemas.openxmlformats.org/officeDocument/2006/relationships/slideLayout" Target="../slideLayouts/slideLayout1.xml"/><Relationship Id="rId4" Type="http://schemas.openxmlformats.org/officeDocument/2006/relationships/hyperlink" Target="https://www.kaggle.com/gopalkk2"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qdEdtyEVsMSrmPRNi7h9ufNQg2gVm3-8?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Microinsurance Reinsurance Pool</a:t>
            </a:r>
            <a:endParaRPr lang="en-US" b="1" dirty="0"/>
          </a:p>
        </p:txBody>
      </p:sp>
      <p:sp>
        <p:nvSpPr>
          <p:cNvPr id="4" name="Subtitle 2"/>
          <p:cNvSpPr>
            <a:spLocks noGrp="1"/>
          </p:cNvSpPr>
          <p:nvPr>
            <p:ph type="subTitle" idx="1"/>
          </p:nvPr>
        </p:nvSpPr>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Freelance Data Science Consultant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2"/>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3"/>
              </a:rPr>
              <a:t>Github:</a:t>
            </a:r>
            <a:r>
              <a:rPr lang="en-US" dirty="0">
                <a:solidFill>
                  <a:srgbClr val="0D0D0D"/>
                </a:solidFill>
                <a:latin typeface="CIDFont+F1"/>
                <a:hlinkClick r:id="rId3"/>
              </a:rPr>
              <a:t>https://github.com/Gopal21236/</a:t>
            </a:r>
            <a:endParaRPr lang="en-US" dirty="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4"/>
              </a:rPr>
              <a:t>https://www.kaggle.com/gopalkk2</a:t>
            </a:r>
            <a:endParaRPr lang="en-US" sz="2000" dirty="0" smtClean="0"/>
          </a:p>
          <a:p>
            <a:endParaRPr lang="en-US" sz="2000" dirty="0"/>
          </a:p>
        </p:txBody>
      </p:sp>
    </p:spTree>
    <p:extLst>
      <p:ext uri="{BB962C8B-B14F-4D97-AF65-F5344CB8AC3E}">
        <p14:creationId xmlns:p14="http://schemas.microsoft.com/office/powerpoint/2010/main" val="23075662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smtClean="0">
                <a:hlinkClick r:id="rId2"/>
              </a:rPr>
              <a:t>https://colab.research.google.com/drive/1qdEdtyEVsMSrmPRNi7h9ufNQg2gVm3-8?usp=sharing</a:t>
            </a:r>
            <a:endParaRPr lang="en-US" dirty="0" smtClean="0"/>
          </a:p>
          <a:p>
            <a:endParaRPr lang="en-US" dirty="0"/>
          </a:p>
        </p:txBody>
      </p:sp>
    </p:spTree>
    <p:extLst>
      <p:ext uri="{BB962C8B-B14F-4D97-AF65-F5344CB8AC3E}">
        <p14:creationId xmlns:p14="http://schemas.microsoft.com/office/powerpoint/2010/main" val="32637110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Executive Summary</a:t>
            </a:r>
            <a:endParaRPr lang="en-US" b="1" dirty="0"/>
          </a:p>
        </p:txBody>
      </p:sp>
      <p:sp>
        <p:nvSpPr>
          <p:cNvPr id="3" name="Content Placeholder 2"/>
          <p:cNvSpPr>
            <a:spLocks noGrp="1"/>
          </p:cNvSpPr>
          <p:nvPr>
            <p:ph idx="1"/>
          </p:nvPr>
        </p:nvSpPr>
        <p:spPr/>
        <p:txBody>
          <a:bodyPr/>
          <a:lstStyle/>
          <a:p>
            <a:r>
              <a:rPr lang="en-US" dirty="0" smtClean="0"/>
              <a:t>Microinsurance products serve low-income and rural populations, providing affordable protection against crop failure, health emergencies, livestock loss, and life events. However, these portfolios are highly sensitive to systemic risks such as weather shocks, disease outbreaks, and regional economic instability.</a:t>
            </a:r>
          </a:p>
          <a:p>
            <a:r>
              <a:rPr lang="en-US" dirty="0" smtClean="0"/>
              <a:t>This project develops a </a:t>
            </a:r>
            <a:r>
              <a:rPr lang="en-US" b="1" dirty="0" smtClean="0"/>
              <a:t>Microinsurance Reinsurance Pool Model</a:t>
            </a:r>
            <a:r>
              <a:rPr lang="en-US" dirty="0" smtClean="0"/>
              <a:t> that simulates pooled premium collection, claim payouts, loss ratio calculation, and excess-of-loss reinsurance structuring. The framework enables insurers to evaluate sustainability, capital adequacy, and risk-sharing mechanisms.</a:t>
            </a:r>
          </a:p>
          <a:p>
            <a:endParaRPr lang="en-US" dirty="0"/>
          </a:p>
        </p:txBody>
      </p:sp>
    </p:spTree>
    <p:extLst>
      <p:ext uri="{BB962C8B-B14F-4D97-AF65-F5344CB8AC3E}">
        <p14:creationId xmlns:p14="http://schemas.microsoft.com/office/powerpoint/2010/main" val="19765952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Business Problem Statement</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The simulated dataset includes:</a:t>
            </a:r>
          </a:p>
          <a:p>
            <a:r>
              <a:rPr lang="en-US" dirty="0" smtClean="0"/>
              <a:t>Region (North, South, East, West, Central)</a:t>
            </a:r>
          </a:p>
          <a:p>
            <a:r>
              <a:rPr lang="en-US" dirty="0" smtClean="0"/>
              <a:t>Policy Type (Crop, Health, Livestock, Life)</a:t>
            </a:r>
          </a:p>
          <a:p>
            <a:r>
              <a:rPr lang="en-US" dirty="0" smtClean="0"/>
              <a:t>Premium Amount</a:t>
            </a:r>
          </a:p>
          <a:p>
            <a:r>
              <a:rPr lang="en-US" dirty="0" smtClean="0"/>
              <a:t>Sum Insured</a:t>
            </a:r>
          </a:p>
          <a:p>
            <a:r>
              <a:rPr lang="en-US" dirty="0" smtClean="0"/>
              <a:t>Claim Probability</a:t>
            </a:r>
          </a:p>
          <a:p>
            <a:r>
              <a:rPr lang="en-US" dirty="0" smtClean="0"/>
              <a:t>Claim Occurrence</a:t>
            </a:r>
          </a:p>
          <a:p>
            <a:r>
              <a:rPr lang="en-US" dirty="0" smtClean="0"/>
              <a:t>Claim Amount</a:t>
            </a:r>
          </a:p>
          <a:p>
            <a:r>
              <a:rPr lang="en-US" dirty="0" smtClean="0"/>
              <a:t>This structure reflects real-world </a:t>
            </a:r>
            <a:r>
              <a:rPr lang="en-US" dirty="0" err="1" smtClean="0"/>
              <a:t>microinsurance</a:t>
            </a:r>
            <a:r>
              <a:rPr lang="en-US" dirty="0" smtClean="0"/>
              <a:t> risk pools with diversified but correlated exposures.</a:t>
            </a:r>
          </a:p>
          <a:p>
            <a:endParaRPr lang="en-US" dirty="0"/>
          </a:p>
        </p:txBody>
      </p:sp>
    </p:spTree>
    <p:extLst>
      <p:ext uri="{BB962C8B-B14F-4D97-AF65-F5344CB8AC3E}">
        <p14:creationId xmlns:p14="http://schemas.microsoft.com/office/powerpoint/2010/main" val="41520353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Risk Pool Modeling Framework</a:t>
            </a:r>
            <a:endParaRPr lang="en-US" b="1" dirty="0"/>
          </a:p>
        </p:txBody>
      </p:sp>
      <p:sp>
        <p:nvSpPr>
          <p:cNvPr id="3" name="Content Placeholder 2"/>
          <p:cNvSpPr>
            <a:spLocks noGrp="1"/>
          </p:cNvSpPr>
          <p:nvPr>
            <p:ph idx="1"/>
          </p:nvPr>
        </p:nvSpPr>
        <p:spPr/>
        <p:txBody>
          <a:bodyPr/>
          <a:lstStyle/>
          <a:p>
            <a:r>
              <a:rPr lang="en-US" b="1" dirty="0" smtClean="0"/>
              <a:t>3.1 Premium Aggregation</a:t>
            </a:r>
          </a:p>
          <a:p>
            <a:r>
              <a:rPr lang="en-US" dirty="0" smtClean="0"/>
              <a:t>Total Premium Collected = Sum of all individual policy premiums</a:t>
            </a:r>
          </a:p>
          <a:p>
            <a:r>
              <a:rPr lang="en-US" dirty="0" smtClean="0"/>
              <a:t>Represents the capital buffer available before reinsurance.</a:t>
            </a:r>
          </a:p>
          <a:p>
            <a:r>
              <a:rPr lang="en-US" b="1" dirty="0" smtClean="0"/>
              <a:t>3.2 Claims Estimation</a:t>
            </a:r>
          </a:p>
          <a:p>
            <a:r>
              <a:rPr lang="en-US" dirty="0" smtClean="0"/>
              <a:t>Claims are simulated using:</a:t>
            </a:r>
          </a:p>
          <a:p>
            <a:r>
              <a:rPr lang="en-US" dirty="0" smtClean="0"/>
              <a:t>Claim Occurrence = Binomial Distribution</a:t>
            </a:r>
            <a:br>
              <a:rPr lang="en-US" dirty="0" smtClean="0"/>
            </a:br>
            <a:r>
              <a:rPr lang="en-US" dirty="0" smtClean="0"/>
              <a:t>Claim Amount = Sum Insured × Severity Factor</a:t>
            </a:r>
          </a:p>
          <a:p>
            <a:r>
              <a:rPr lang="en-US" dirty="0" smtClean="0"/>
              <a:t>This introduces stochastic variability in loss behavior.</a:t>
            </a:r>
          </a:p>
          <a:p>
            <a:endParaRPr lang="en-US" dirty="0"/>
          </a:p>
        </p:txBody>
      </p:sp>
    </p:spTree>
    <p:extLst>
      <p:ext uri="{BB962C8B-B14F-4D97-AF65-F5344CB8AC3E}">
        <p14:creationId xmlns:p14="http://schemas.microsoft.com/office/powerpoint/2010/main" val="33393472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Risk Pool Modeling Framework</a:t>
            </a:r>
            <a:endParaRPr lang="en-US" b="1" dirty="0"/>
          </a:p>
        </p:txBody>
      </p:sp>
      <p:sp>
        <p:nvSpPr>
          <p:cNvPr id="4" name="Rectangle 1"/>
          <p:cNvSpPr>
            <a:spLocks noGrp="1" noChangeArrowheads="1"/>
          </p:cNvSpPr>
          <p:nvPr>
            <p:ph idx="1"/>
          </p:nvPr>
        </p:nvSpPr>
        <p:spPr bwMode="auto">
          <a:xfrm>
            <a:off x="838200" y="1690688"/>
            <a:ext cx="10775322"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rPr>
              <a:t>3.3 Loss Ratio Calculation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rPr>
              <a:t>Loss Ratio = Total Claims Paid / Total Premium Collected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rPr>
              <a:t>&lt; 1 → Profitable / Sustainable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rPr>
              <a:t>= 1 → Break-even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rPr>
              <a:t>1 → Underpricing or high-loss exposure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rPr>
              <a:t>Loss ratio is the primary sustainability metric of the </a:t>
            </a:r>
            <a:r>
              <a:rPr kumimoji="0" lang="en-US" altLang="en-US" b="0" i="0" u="none" strike="noStrike" cap="none" normalizeH="0" baseline="0" dirty="0" err="1" smtClean="0">
                <a:ln>
                  <a:noFill/>
                </a:ln>
                <a:solidFill>
                  <a:schemeClr val="tx1"/>
                </a:solidFill>
                <a:effectLst/>
              </a:rPr>
              <a:t>microinsurance</a:t>
            </a:r>
            <a:r>
              <a:rPr kumimoji="0" lang="en-US" altLang="en-US" b="0" i="0" u="none" strike="noStrike" cap="none" normalizeH="0" baseline="0" dirty="0" smtClean="0">
                <a:ln>
                  <a:noFill/>
                </a:ln>
                <a:solidFill>
                  <a:schemeClr val="tx1"/>
                </a:solidFill>
                <a:effectLst/>
              </a:rPr>
              <a:t> pool.</a:t>
            </a:r>
          </a:p>
        </p:txBody>
      </p:sp>
    </p:spTree>
    <p:extLst>
      <p:ext uri="{BB962C8B-B14F-4D97-AF65-F5344CB8AC3E}">
        <p14:creationId xmlns:p14="http://schemas.microsoft.com/office/powerpoint/2010/main" val="32831492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Reinsurance Layer Structure</a:t>
            </a:r>
            <a:endParaRPr lang="en-US" b="1" dirty="0"/>
          </a:p>
        </p:txBody>
      </p:sp>
      <p:sp>
        <p:nvSpPr>
          <p:cNvPr id="3" name="Content Placeholder 2"/>
          <p:cNvSpPr>
            <a:spLocks noGrp="1"/>
          </p:cNvSpPr>
          <p:nvPr>
            <p:ph idx="1"/>
          </p:nvPr>
        </p:nvSpPr>
        <p:spPr/>
        <p:txBody>
          <a:bodyPr/>
          <a:lstStyle/>
          <a:p>
            <a:r>
              <a:rPr lang="en-US" dirty="0" smtClean="0"/>
              <a:t>The model applies an </a:t>
            </a:r>
            <a:r>
              <a:rPr lang="en-US" b="1" dirty="0" smtClean="0"/>
              <a:t>Excess-of-Loss Reinsurance Structure</a:t>
            </a:r>
            <a:r>
              <a:rPr lang="en-US" dirty="0" smtClean="0"/>
              <a:t>:</a:t>
            </a:r>
          </a:p>
          <a:p>
            <a:r>
              <a:rPr lang="en-US" dirty="0" smtClean="0"/>
              <a:t>Retention Limit: ₹5,000,000</a:t>
            </a:r>
          </a:p>
          <a:p>
            <a:r>
              <a:rPr lang="en-US" dirty="0" smtClean="0"/>
              <a:t>Any aggregate claims exceeding retention are transferred to reinsurer</a:t>
            </a:r>
          </a:p>
          <a:p>
            <a:r>
              <a:rPr lang="en-US" dirty="0" smtClean="0"/>
              <a:t>Reinsurance Claim Amount =</a:t>
            </a:r>
            <a:br>
              <a:rPr lang="en-US" dirty="0" smtClean="0"/>
            </a:br>
            <a:r>
              <a:rPr lang="en-US" dirty="0" smtClean="0"/>
              <a:t>Max(0, Total Claims – Retention Limit)</a:t>
            </a:r>
          </a:p>
          <a:p>
            <a:r>
              <a:rPr lang="en-US" dirty="0" smtClean="0"/>
              <a:t>This protects the pool from catastrophic accumulation risk.</a:t>
            </a:r>
          </a:p>
          <a:p>
            <a:endParaRPr lang="en-US" dirty="0"/>
          </a:p>
        </p:txBody>
      </p:sp>
    </p:spTree>
    <p:extLst>
      <p:ext uri="{BB962C8B-B14F-4D97-AF65-F5344CB8AC3E}">
        <p14:creationId xmlns:p14="http://schemas.microsoft.com/office/powerpoint/2010/main" val="40835496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20206" y="1852449"/>
            <a:ext cx="5751587" cy="4297689"/>
          </a:xfrm>
        </p:spPr>
      </p:pic>
    </p:spTree>
    <p:extLst>
      <p:ext uri="{BB962C8B-B14F-4D97-AF65-F5344CB8AC3E}">
        <p14:creationId xmlns:p14="http://schemas.microsoft.com/office/powerpoint/2010/main" val="25980870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b="1" dirty="0" smtClean="0"/>
              <a:t>Visualization &amp; Analytical Insights</a:t>
            </a:r>
            <a:br>
              <a:rPr lang="en-US" b="1" dirty="0" smtClean="0"/>
            </a:br>
            <a:endParaRPr lang="en-US" b="1" dirty="0"/>
          </a:p>
        </p:txBody>
      </p:sp>
      <p:sp>
        <p:nvSpPr>
          <p:cNvPr id="3" name="Content Placeholder 2"/>
          <p:cNvSpPr>
            <a:spLocks noGrp="1"/>
          </p:cNvSpPr>
          <p:nvPr>
            <p:ph idx="1"/>
          </p:nvPr>
        </p:nvSpPr>
        <p:spPr/>
        <p:txBody>
          <a:bodyPr/>
          <a:lstStyle/>
          <a:p>
            <a:r>
              <a:rPr lang="en-US" b="1" dirty="0" smtClean="0"/>
              <a:t>5.1 Histogram – Claim Amount Distribution</a:t>
            </a:r>
          </a:p>
          <a:p>
            <a:r>
              <a:rPr lang="en-US" dirty="0" smtClean="0"/>
              <a:t>Shows skewed distribution with many small claims and few large losses.</a:t>
            </a:r>
          </a:p>
          <a:p>
            <a:r>
              <a:rPr lang="en-US" dirty="0" smtClean="0"/>
              <a:t>Business Insight:</a:t>
            </a:r>
            <a:br>
              <a:rPr lang="en-US" dirty="0" smtClean="0"/>
            </a:br>
            <a:r>
              <a:rPr lang="en-US" dirty="0" smtClean="0"/>
              <a:t>Microinsurance pools experience high-frequency low-severity losses with occasional tail-risk events.</a:t>
            </a:r>
          </a:p>
          <a:p>
            <a:endParaRPr lang="en-US" dirty="0"/>
          </a:p>
        </p:txBody>
      </p:sp>
    </p:spTree>
    <p:extLst>
      <p:ext uri="{BB962C8B-B14F-4D97-AF65-F5344CB8AC3E}">
        <p14:creationId xmlns:p14="http://schemas.microsoft.com/office/powerpoint/2010/main" val="4046737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15634" y="1852449"/>
            <a:ext cx="5760731" cy="4297689"/>
          </a:xfrm>
        </p:spPr>
      </p:pic>
    </p:spTree>
    <p:extLst>
      <p:ext uri="{BB962C8B-B14F-4D97-AF65-F5344CB8AC3E}">
        <p14:creationId xmlns:p14="http://schemas.microsoft.com/office/powerpoint/2010/main" val="1369955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Visualization &amp; Analytical Insights</a:t>
            </a:r>
            <a:endParaRPr lang="en-US" b="1" dirty="0"/>
          </a:p>
        </p:txBody>
      </p:sp>
      <p:sp>
        <p:nvSpPr>
          <p:cNvPr id="3" name="Content Placeholder 2"/>
          <p:cNvSpPr>
            <a:spLocks noGrp="1"/>
          </p:cNvSpPr>
          <p:nvPr>
            <p:ph idx="1"/>
          </p:nvPr>
        </p:nvSpPr>
        <p:spPr/>
        <p:txBody>
          <a:bodyPr/>
          <a:lstStyle/>
          <a:p>
            <a:r>
              <a:rPr lang="en-US" b="1" dirty="0" smtClean="0"/>
              <a:t>5.2 Bar Chart – Claims by Policy Type</a:t>
            </a:r>
          </a:p>
          <a:p>
            <a:r>
              <a:rPr lang="en-US" dirty="0" smtClean="0"/>
              <a:t>Highlights which product drives higher loss exposure.</a:t>
            </a:r>
          </a:p>
          <a:p>
            <a:r>
              <a:rPr lang="en-US" dirty="0" smtClean="0"/>
              <a:t>Typical Insight:</a:t>
            </a:r>
          </a:p>
          <a:p>
            <a:r>
              <a:rPr lang="en-US" dirty="0" smtClean="0"/>
              <a:t>Crop insurance may show higher volatility due to weather risk.</a:t>
            </a:r>
          </a:p>
          <a:p>
            <a:r>
              <a:rPr lang="en-US" dirty="0" smtClean="0"/>
              <a:t>Health insurance may show stable but frequent payouts.</a:t>
            </a:r>
          </a:p>
          <a:p>
            <a:r>
              <a:rPr lang="en-US" dirty="0" smtClean="0"/>
              <a:t>Supports product-level reinsurance pricing.</a:t>
            </a:r>
          </a:p>
          <a:p>
            <a:endParaRPr lang="en-US" dirty="0"/>
          </a:p>
        </p:txBody>
      </p:sp>
    </p:spTree>
    <p:extLst>
      <p:ext uri="{BB962C8B-B14F-4D97-AF65-F5344CB8AC3E}">
        <p14:creationId xmlns:p14="http://schemas.microsoft.com/office/powerpoint/2010/main" val="2467396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15634" y="1925602"/>
            <a:ext cx="5760731" cy="4151384"/>
          </a:xfrm>
        </p:spPr>
      </p:pic>
    </p:spTree>
    <p:extLst>
      <p:ext uri="{BB962C8B-B14F-4D97-AF65-F5344CB8AC3E}">
        <p14:creationId xmlns:p14="http://schemas.microsoft.com/office/powerpoint/2010/main" val="34150812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Visualization &amp; Analytical Insights</a:t>
            </a:r>
            <a:endParaRPr lang="en-US" b="1" dirty="0"/>
          </a:p>
        </p:txBody>
      </p:sp>
      <p:sp>
        <p:nvSpPr>
          <p:cNvPr id="3" name="Content Placeholder 2"/>
          <p:cNvSpPr>
            <a:spLocks noGrp="1"/>
          </p:cNvSpPr>
          <p:nvPr>
            <p:ph idx="1"/>
          </p:nvPr>
        </p:nvSpPr>
        <p:spPr/>
        <p:txBody>
          <a:bodyPr/>
          <a:lstStyle/>
          <a:p>
            <a:r>
              <a:rPr lang="en-US" b="1" dirty="0" smtClean="0"/>
              <a:t>5.3 Stacked Bar Chart – Region vs Policy Type</a:t>
            </a:r>
          </a:p>
          <a:p>
            <a:r>
              <a:rPr lang="en-US" dirty="0" smtClean="0"/>
              <a:t>Reveals:</a:t>
            </a:r>
          </a:p>
          <a:p>
            <a:r>
              <a:rPr lang="en-US" dirty="0" smtClean="0"/>
              <a:t>Regional claim concentration</a:t>
            </a:r>
          </a:p>
          <a:p>
            <a:r>
              <a:rPr lang="en-US" dirty="0" smtClean="0"/>
              <a:t>Product dominance within specific geographies</a:t>
            </a:r>
          </a:p>
          <a:p>
            <a:r>
              <a:rPr lang="en-US" dirty="0" smtClean="0"/>
              <a:t>Business Value:</a:t>
            </a:r>
            <a:br>
              <a:rPr lang="en-US" dirty="0" smtClean="0"/>
            </a:br>
            <a:r>
              <a:rPr lang="en-US" dirty="0" smtClean="0"/>
              <a:t>Identifies diversification gaps and concentration risk.</a:t>
            </a:r>
          </a:p>
          <a:p>
            <a:endParaRPr lang="en-US" dirty="0"/>
          </a:p>
        </p:txBody>
      </p:sp>
    </p:spTree>
    <p:extLst>
      <p:ext uri="{BB962C8B-B14F-4D97-AF65-F5344CB8AC3E}">
        <p14:creationId xmlns:p14="http://schemas.microsoft.com/office/powerpoint/2010/main" val="27885365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15634" y="1925602"/>
            <a:ext cx="5760731" cy="4151384"/>
          </a:xfrm>
        </p:spPr>
      </p:pic>
    </p:spTree>
    <p:extLst>
      <p:ext uri="{BB962C8B-B14F-4D97-AF65-F5344CB8AC3E}">
        <p14:creationId xmlns:p14="http://schemas.microsoft.com/office/powerpoint/2010/main" val="1885750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Visualization &amp; Analytical Insights</a:t>
            </a:r>
            <a:endParaRPr lang="en-US" b="1" dirty="0"/>
          </a:p>
        </p:txBody>
      </p:sp>
      <p:sp>
        <p:nvSpPr>
          <p:cNvPr id="3" name="Content Placeholder 2"/>
          <p:cNvSpPr>
            <a:spLocks noGrp="1"/>
          </p:cNvSpPr>
          <p:nvPr>
            <p:ph idx="1"/>
          </p:nvPr>
        </p:nvSpPr>
        <p:spPr/>
        <p:txBody>
          <a:bodyPr/>
          <a:lstStyle/>
          <a:p>
            <a:r>
              <a:rPr lang="en-US" b="1" dirty="0" smtClean="0"/>
              <a:t>5.4 Combined Stacked Bar Chart – Premium vs Claims by Region</a:t>
            </a:r>
          </a:p>
          <a:p>
            <a:r>
              <a:rPr lang="en-US" dirty="0" smtClean="0"/>
              <a:t>Executive-level comparison of:</a:t>
            </a:r>
          </a:p>
          <a:p>
            <a:r>
              <a:rPr lang="en-US" dirty="0" smtClean="0"/>
              <a:t>Capital inflow (Premium)</a:t>
            </a:r>
          </a:p>
          <a:p>
            <a:r>
              <a:rPr lang="en-US" dirty="0" smtClean="0"/>
              <a:t>Capital outflow (Claims)</a:t>
            </a:r>
          </a:p>
          <a:p>
            <a:r>
              <a:rPr lang="en-US" dirty="0" smtClean="0"/>
              <a:t>Strategic Value:</a:t>
            </a:r>
          </a:p>
          <a:p>
            <a:r>
              <a:rPr lang="en-US" dirty="0" smtClean="0"/>
              <a:t>Detects loss-heavy regions</a:t>
            </a:r>
          </a:p>
          <a:p>
            <a:r>
              <a:rPr lang="en-US" dirty="0" smtClean="0"/>
              <a:t>Identifies underwriting imbalance</a:t>
            </a:r>
          </a:p>
          <a:p>
            <a:r>
              <a:rPr lang="en-US" dirty="0" smtClean="0"/>
              <a:t>Supports regional premium adjustments</a:t>
            </a:r>
          </a:p>
          <a:p>
            <a:endParaRPr lang="en-US" dirty="0"/>
          </a:p>
        </p:txBody>
      </p:sp>
    </p:spTree>
    <p:extLst>
      <p:ext uri="{BB962C8B-B14F-4D97-AF65-F5344CB8AC3E}">
        <p14:creationId xmlns:p14="http://schemas.microsoft.com/office/powerpoint/2010/main" val="550431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Key Insights</a:t>
            </a:r>
          </a:p>
        </p:txBody>
      </p:sp>
      <p:sp>
        <p:nvSpPr>
          <p:cNvPr id="5" name="Rectangle 4"/>
          <p:cNvSpPr/>
          <p:nvPr/>
        </p:nvSpPr>
        <p:spPr>
          <a:xfrm>
            <a:off x="304800" y="1595021"/>
            <a:ext cx="11887199" cy="4401205"/>
          </a:xfrm>
          <a:prstGeom prst="rect">
            <a:avLst/>
          </a:prstGeom>
        </p:spPr>
        <p:txBody>
          <a:bodyPr wrap="square">
            <a:spAutoFit/>
          </a:bodyPr>
          <a:lstStyle/>
          <a:p>
            <a:pPr lvl="0" eaLnBrk="0" fontAlgn="base" hangingPunct="0">
              <a:spcBef>
                <a:spcPct val="0"/>
              </a:spcBef>
              <a:spcAft>
                <a:spcPct val="0"/>
              </a:spcAft>
              <a:buFontTx/>
              <a:buChar char="•"/>
            </a:pPr>
            <a:r>
              <a:rPr lang="en-US" altLang="en-US" sz="2800" b="1" dirty="0">
                <a:latin typeface="Arial" panose="020B0604020202020204" pitchFamily="34" charset="0"/>
              </a:rPr>
              <a:t>Microinsurance portfolios are highly sensitive to regional concentration risk.</a:t>
            </a:r>
          </a:p>
          <a:p>
            <a:pPr lvl="0" eaLnBrk="0" fontAlgn="base" hangingPunct="0">
              <a:spcBef>
                <a:spcPct val="0"/>
              </a:spcBef>
              <a:spcAft>
                <a:spcPct val="0"/>
              </a:spcAft>
              <a:buFontTx/>
              <a:buChar char="•"/>
            </a:pPr>
            <a:r>
              <a:rPr lang="en-US" altLang="en-US" sz="2800" b="1" dirty="0">
                <a:latin typeface="Arial" panose="020B0604020202020204" pitchFamily="34" charset="0"/>
              </a:rPr>
              <a:t>Crop and health products typically drive the majority of claims.</a:t>
            </a:r>
          </a:p>
          <a:p>
            <a:pPr lvl="0" eaLnBrk="0" fontAlgn="base" hangingPunct="0">
              <a:spcBef>
                <a:spcPct val="0"/>
              </a:spcBef>
              <a:spcAft>
                <a:spcPct val="0"/>
              </a:spcAft>
              <a:buFontTx/>
              <a:buChar char="•"/>
            </a:pPr>
            <a:r>
              <a:rPr lang="en-US" altLang="en-US" sz="2800" b="1" dirty="0">
                <a:latin typeface="Arial" panose="020B0604020202020204" pitchFamily="34" charset="0"/>
              </a:rPr>
              <a:t>Loss ratio volatility requires structured reinsurance layering.</a:t>
            </a:r>
          </a:p>
          <a:p>
            <a:pPr lvl="0" eaLnBrk="0" fontAlgn="base" hangingPunct="0">
              <a:spcBef>
                <a:spcPct val="0"/>
              </a:spcBef>
              <a:spcAft>
                <a:spcPct val="0"/>
              </a:spcAft>
              <a:buFontTx/>
              <a:buChar char="•"/>
            </a:pPr>
            <a:r>
              <a:rPr lang="en-US" altLang="en-US" sz="2800" b="1" dirty="0">
                <a:latin typeface="Arial" panose="020B0604020202020204" pitchFamily="34" charset="0"/>
              </a:rPr>
              <a:t>Excess-of-loss protection stabilizes capital exposure.</a:t>
            </a:r>
          </a:p>
          <a:p>
            <a:pPr lvl="0" eaLnBrk="0" fontAlgn="base" hangingPunct="0">
              <a:spcBef>
                <a:spcPct val="0"/>
              </a:spcBef>
              <a:spcAft>
                <a:spcPct val="0"/>
              </a:spcAft>
              <a:buFontTx/>
              <a:buChar char="•"/>
            </a:pPr>
            <a:r>
              <a:rPr lang="en-US" altLang="en-US" sz="2800" b="1" dirty="0">
                <a:latin typeface="Arial" panose="020B0604020202020204" pitchFamily="34" charset="0"/>
              </a:rPr>
              <a:t>Regional imbalance can significantly impact sustainability.</a:t>
            </a:r>
          </a:p>
          <a:p>
            <a:pPr lvl="0" eaLnBrk="0" fontAlgn="base" hangingPunct="0">
              <a:spcBef>
                <a:spcPct val="0"/>
              </a:spcBef>
              <a:spcAft>
                <a:spcPct val="0"/>
              </a:spcAft>
              <a:buFontTx/>
              <a:buChar char="•"/>
            </a:pPr>
            <a:r>
              <a:rPr lang="en-US" altLang="en-US" sz="2800" b="1" dirty="0">
                <a:latin typeface="Arial" panose="020B0604020202020204" pitchFamily="34" charset="0"/>
              </a:rPr>
              <a:t>Diversification across policy types improves pool resilience.</a:t>
            </a:r>
          </a:p>
          <a:p>
            <a:pPr lvl="0" eaLnBrk="0" fontAlgn="base" hangingPunct="0">
              <a:spcBef>
                <a:spcPct val="0"/>
              </a:spcBef>
              <a:spcAft>
                <a:spcPct val="0"/>
              </a:spcAft>
              <a:buFontTx/>
              <a:buChar char="•"/>
            </a:pPr>
            <a:r>
              <a:rPr lang="en-US" altLang="en-US" sz="2800" b="1" dirty="0">
                <a:latin typeface="Arial" panose="020B0604020202020204" pitchFamily="34" charset="0"/>
              </a:rPr>
              <a:t>High-frequency low-value claims define operational cost structure.</a:t>
            </a:r>
          </a:p>
          <a:p>
            <a:pPr lvl="0" eaLnBrk="0" fontAlgn="base" hangingPunct="0">
              <a:spcBef>
                <a:spcPct val="0"/>
              </a:spcBef>
              <a:spcAft>
                <a:spcPct val="0"/>
              </a:spcAft>
              <a:buFontTx/>
              <a:buChar char="•"/>
            </a:pPr>
            <a:r>
              <a:rPr lang="en-US" altLang="en-US" sz="2800" b="1" dirty="0">
                <a:latin typeface="Arial" panose="020B0604020202020204" pitchFamily="34" charset="0"/>
              </a:rPr>
              <a:t>Tail-risk exposure necessitates reinsurance backing.</a:t>
            </a:r>
          </a:p>
          <a:p>
            <a:pPr lvl="0" eaLnBrk="0" fontAlgn="base" hangingPunct="0">
              <a:spcBef>
                <a:spcPct val="0"/>
              </a:spcBef>
              <a:spcAft>
                <a:spcPct val="0"/>
              </a:spcAft>
              <a:buFontTx/>
              <a:buChar char="•"/>
            </a:pPr>
            <a:r>
              <a:rPr lang="en-US" altLang="en-US" sz="2800" b="1" dirty="0">
                <a:latin typeface="Arial" panose="020B0604020202020204" pitchFamily="34" charset="0"/>
              </a:rPr>
              <a:t>Pooling improves solvency stability compared to isolated portfolios.</a:t>
            </a:r>
          </a:p>
        </p:txBody>
      </p:sp>
    </p:spTree>
    <p:extLst>
      <p:ext uri="{BB962C8B-B14F-4D97-AF65-F5344CB8AC3E}">
        <p14:creationId xmlns:p14="http://schemas.microsoft.com/office/powerpoint/2010/main" val="2239818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Strategic Business Impact</a:t>
            </a:r>
            <a:endParaRPr lang="en-US" b="1" dirty="0"/>
          </a:p>
        </p:txBody>
      </p:sp>
      <p:sp>
        <p:nvSpPr>
          <p:cNvPr id="3" name="Content Placeholder 2"/>
          <p:cNvSpPr>
            <a:spLocks noGrp="1"/>
          </p:cNvSpPr>
          <p:nvPr>
            <p:ph idx="1"/>
          </p:nvPr>
        </p:nvSpPr>
        <p:spPr/>
        <p:txBody>
          <a:bodyPr/>
          <a:lstStyle/>
          <a:p>
            <a:r>
              <a:rPr lang="en-US" dirty="0" smtClean="0"/>
              <a:t>The Microinsurance Reinsurance Pool Model enables:</a:t>
            </a:r>
          </a:p>
          <a:p>
            <a:r>
              <a:rPr lang="en-US" dirty="0" smtClean="0"/>
              <a:t>Sustainable premium pricing</a:t>
            </a:r>
          </a:p>
          <a:p>
            <a:r>
              <a:rPr lang="en-US" dirty="0" smtClean="0"/>
              <a:t>Catastrophe shock absorption</a:t>
            </a:r>
          </a:p>
          <a:p>
            <a:r>
              <a:rPr lang="en-US" dirty="0" smtClean="0"/>
              <a:t>Capital adequacy forecasting</a:t>
            </a:r>
          </a:p>
          <a:p>
            <a:r>
              <a:rPr lang="en-US" dirty="0" smtClean="0"/>
              <a:t>Reinsurance treaty structuring</a:t>
            </a:r>
          </a:p>
          <a:p>
            <a:r>
              <a:rPr lang="en-US" dirty="0" smtClean="0"/>
              <a:t>Portfolio diversification optimization</a:t>
            </a:r>
          </a:p>
          <a:p>
            <a:r>
              <a:rPr lang="en-US" dirty="0" smtClean="0"/>
              <a:t>Regulatory solvency compliance</a:t>
            </a:r>
          </a:p>
          <a:p>
            <a:endParaRPr lang="en-US" dirty="0"/>
          </a:p>
        </p:txBody>
      </p:sp>
    </p:spTree>
    <p:extLst>
      <p:ext uri="{BB962C8B-B14F-4D97-AF65-F5344CB8AC3E}">
        <p14:creationId xmlns:p14="http://schemas.microsoft.com/office/powerpoint/2010/main" val="3520935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Alignment with Zetheta Standards</a:t>
            </a:r>
            <a:endParaRPr lang="en-US" b="1" dirty="0"/>
          </a:p>
        </p:txBody>
      </p:sp>
      <p:sp>
        <p:nvSpPr>
          <p:cNvPr id="3" name="Content Placeholder 2"/>
          <p:cNvSpPr>
            <a:spLocks noGrp="1"/>
          </p:cNvSpPr>
          <p:nvPr>
            <p:ph idx="1"/>
          </p:nvPr>
        </p:nvSpPr>
        <p:spPr/>
        <p:txBody>
          <a:bodyPr/>
          <a:lstStyle/>
          <a:p>
            <a:r>
              <a:rPr lang="en-US" dirty="0" smtClean="0"/>
              <a:t>This project demonstrates:</a:t>
            </a:r>
          </a:p>
          <a:p>
            <a:r>
              <a:rPr lang="en-US" dirty="0" smtClean="0"/>
              <a:t>Risk pooling analytics</a:t>
            </a:r>
          </a:p>
          <a:p>
            <a:r>
              <a:rPr lang="en-US" dirty="0" smtClean="0"/>
              <a:t>Quantitative actuarial modeling</a:t>
            </a:r>
          </a:p>
          <a:p>
            <a:r>
              <a:rPr lang="en-US" dirty="0" smtClean="0"/>
              <a:t>Reinsurance strategy simulation</a:t>
            </a:r>
          </a:p>
          <a:p>
            <a:r>
              <a:rPr lang="en-US" dirty="0" smtClean="0"/>
              <a:t>Visualization-driven decision support</a:t>
            </a:r>
          </a:p>
          <a:p>
            <a:r>
              <a:rPr lang="en-US" dirty="0" smtClean="0"/>
              <a:t>Capital risk governance</a:t>
            </a:r>
          </a:p>
          <a:p>
            <a:r>
              <a:rPr lang="en-US" dirty="0" smtClean="0"/>
              <a:t>It reflects enterprise-level risk structuring and portfolio sustainability modeling.</a:t>
            </a:r>
          </a:p>
          <a:p>
            <a:endParaRPr lang="en-US" dirty="0"/>
          </a:p>
        </p:txBody>
      </p:sp>
    </p:spTree>
    <p:extLst>
      <p:ext uri="{BB962C8B-B14F-4D97-AF65-F5344CB8AC3E}">
        <p14:creationId xmlns:p14="http://schemas.microsoft.com/office/powerpoint/2010/main" val="2321504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Future Enhancements</a:t>
            </a:r>
            <a:endParaRPr lang="en-US" b="1" dirty="0"/>
          </a:p>
        </p:txBody>
      </p:sp>
      <p:sp>
        <p:nvSpPr>
          <p:cNvPr id="3" name="Content Placeholder 2"/>
          <p:cNvSpPr>
            <a:spLocks noGrp="1"/>
          </p:cNvSpPr>
          <p:nvPr>
            <p:ph idx="1"/>
          </p:nvPr>
        </p:nvSpPr>
        <p:spPr/>
        <p:txBody>
          <a:bodyPr/>
          <a:lstStyle/>
          <a:p>
            <a:r>
              <a:rPr lang="en-US" dirty="0" smtClean="0"/>
              <a:t>To further enhance the model:</a:t>
            </a:r>
          </a:p>
          <a:p>
            <a:r>
              <a:rPr lang="en-US" dirty="0" smtClean="0"/>
              <a:t>Monte Carlo simulation of catastrophic shocks</a:t>
            </a:r>
          </a:p>
          <a:p>
            <a:r>
              <a:rPr lang="en-US" dirty="0" smtClean="0"/>
              <a:t>Climate-linked crop yield risk modeling</a:t>
            </a:r>
          </a:p>
          <a:p>
            <a:r>
              <a:rPr lang="en-US" dirty="0" smtClean="0"/>
              <a:t>Dynamic premium pricing optimization</a:t>
            </a:r>
          </a:p>
          <a:p>
            <a:r>
              <a:rPr lang="en-US" dirty="0" smtClean="0"/>
              <a:t>District-level geospatial heat mapping</a:t>
            </a:r>
          </a:p>
          <a:p>
            <a:r>
              <a:rPr lang="en-US" dirty="0" smtClean="0"/>
              <a:t>Multi-layer reinsurance treaty modeling</a:t>
            </a:r>
          </a:p>
          <a:p>
            <a:r>
              <a:rPr lang="en-US" dirty="0" smtClean="0"/>
              <a:t>Solvency stress testing</a:t>
            </a:r>
          </a:p>
          <a:p>
            <a:endParaRPr lang="en-US" dirty="0"/>
          </a:p>
        </p:txBody>
      </p:sp>
    </p:spTree>
    <p:extLst>
      <p:ext uri="{BB962C8B-B14F-4D97-AF65-F5344CB8AC3E}">
        <p14:creationId xmlns:p14="http://schemas.microsoft.com/office/powerpoint/2010/main" val="2271401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Conclusion</a:t>
            </a:r>
            <a:endParaRPr lang="en-US" b="1" dirty="0"/>
          </a:p>
        </p:txBody>
      </p:sp>
      <p:sp>
        <p:nvSpPr>
          <p:cNvPr id="3" name="Content Placeholder 2"/>
          <p:cNvSpPr>
            <a:spLocks noGrp="1"/>
          </p:cNvSpPr>
          <p:nvPr>
            <p:ph idx="1"/>
          </p:nvPr>
        </p:nvSpPr>
        <p:spPr/>
        <p:txBody>
          <a:bodyPr/>
          <a:lstStyle/>
          <a:p>
            <a:r>
              <a:rPr lang="en-US" dirty="0" smtClean="0"/>
              <a:t>The Microinsurance Reinsurance Pool framework provides a structured mechanism for stabilizing low-margin, high-volatility insurance portfolios. By combining risk pooling, loss ratio analytics, and reinsurance layering, insurers can maintain sustainability while expanding financial inclusion.</a:t>
            </a:r>
          </a:p>
          <a:p>
            <a:r>
              <a:rPr lang="en-US" dirty="0" smtClean="0"/>
              <a:t>This model forms a scalable foundation for enterprise-level </a:t>
            </a:r>
            <a:r>
              <a:rPr lang="en-US" dirty="0" err="1" smtClean="0"/>
              <a:t>microinsurance</a:t>
            </a:r>
            <a:r>
              <a:rPr lang="en-US" dirty="0" smtClean="0"/>
              <a:t> capital management and reinsurance optimization.</a:t>
            </a:r>
          </a:p>
          <a:p>
            <a:endParaRPr lang="en-US" dirty="0"/>
          </a:p>
        </p:txBody>
      </p:sp>
    </p:spTree>
    <p:extLst>
      <p:ext uri="{BB962C8B-B14F-4D97-AF65-F5344CB8AC3E}">
        <p14:creationId xmlns:p14="http://schemas.microsoft.com/office/powerpoint/2010/main" val="3045875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669</Words>
  <Application>Microsoft Office PowerPoint</Application>
  <PresentationFormat>Widescreen</PresentationFormat>
  <Paragraphs>112</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CIDFont+F1</vt:lpstr>
      <vt:lpstr>Office Theme</vt:lpstr>
      <vt:lpstr>Microinsurance Reinsurance Pool</vt:lpstr>
      <vt:lpstr>Google Colab URL</vt:lpstr>
      <vt:lpstr>Executive Summary</vt:lpstr>
      <vt:lpstr>Business Problem Statement</vt:lpstr>
      <vt:lpstr>Risk Pool Modeling Framework</vt:lpstr>
      <vt:lpstr>Risk Pool Modeling Framework</vt:lpstr>
      <vt:lpstr>Reinsurance Layer Structure</vt:lpstr>
      <vt:lpstr>Data Visualization</vt:lpstr>
      <vt:lpstr> Visualization &amp; Analytical Insights </vt:lpstr>
      <vt:lpstr>Data Visualization </vt:lpstr>
      <vt:lpstr>Visualization &amp; Analytical Insights</vt:lpstr>
      <vt:lpstr>Data Visualization</vt:lpstr>
      <vt:lpstr>Visualization &amp; Analytical Insights</vt:lpstr>
      <vt:lpstr>Data Visualization</vt:lpstr>
      <vt:lpstr>Visualization &amp; Analytical Insights</vt:lpstr>
      <vt:lpstr>Key Insights</vt:lpstr>
      <vt:lpstr>Strategic Business Impact</vt:lpstr>
      <vt:lpstr>Alignment with Zetheta Standards</vt:lpstr>
      <vt:lpstr>Future Enhancements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Microinsurance Reinsurance Pool</dc:title>
  <dc:creator>KUMAR</dc:creator>
  <cp:lastModifiedBy>KUMAR</cp:lastModifiedBy>
  <cp:revision>23</cp:revision>
  <dcterms:created xsi:type="dcterms:W3CDTF">2026-03-01T00:32:52Z</dcterms:created>
  <dcterms:modified xsi:type="dcterms:W3CDTF">2026-03-01T01:52:04Z</dcterms:modified>
</cp:coreProperties>
</file>