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3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5545-9B0A-4E14-83C6-BD963E65EB37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437C7-C5A7-4ECC-93BA-EE81B1810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4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5545-9B0A-4E14-83C6-BD963E65EB37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437C7-C5A7-4ECC-93BA-EE81B1810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7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5545-9B0A-4E14-83C6-BD963E65EB37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437C7-C5A7-4ECC-93BA-EE81B1810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494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5545-9B0A-4E14-83C6-BD963E65EB37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437C7-C5A7-4ECC-93BA-EE81B1810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344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5545-9B0A-4E14-83C6-BD963E65EB37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437C7-C5A7-4ECC-93BA-EE81B1810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139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5545-9B0A-4E14-83C6-BD963E65EB37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437C7-C5A7-4ECC-93BA-EE81B1810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152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5545-9B0A-4E14-83C6-BD963E65EB37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437C7-C5A7-4ECC-93BA-EE81B1810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532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5545-9B0A-4E14-83C6-BD963E65EB37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437C7-C5A7-4ECC-93BA-EE81B1810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775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5545-9B0A-4E14-83C6-BD963E65EB37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437C7-C5A7-4ECC-93BA-EE81B1810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485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5545-9B0A-4E14-83C6-BD963E65EB37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437C7-C5A7-4ECC-93BA-EE81B1810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616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95545-9B0A-4E14-83C6-BD963E65EB37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437C7-C5A7-4ECC-93BA-EE81B1810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276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95545-9B0A-4E14-83C6-BD963E65EB37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437C7-C5A7-4ECC-93BA-EE81B1810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422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ithub.com/Gopalakrishnan-Kumar/" TargetMode="External"/><Relationship Id="rId2" Type="http://schemas.openxmlformats.org/officeDocument/2006/relationships/hyperlink" Target="https://www.linkedin.com/in/gopalakrishnankumar-a73301110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aggle.com/gopalkk2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q6G07QyfpVHRrOVdy9OqU6G5NJRJ8n4T?usp=shar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Indian Catastrophe Risk Modeling</a:t>
            </a:r>
            <a:endParaRPr lang="en-US" b="1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524000" y="3572308"/>
            <a:ext cx="9144000" cy="1655762"/>
          </a:xfrm>
        </p:spPr>
        <p:txBody>
          <a:bodyPr/>
          <a:lstStyle/>
          <a:p>
            <a:r>
              <a:rPr lang="en-US" b="1" dirty="0" smtClean="0"/>
              <a:t>By </a:t>
            </a:r>
            <a:r>
              <a:rPr lang="en-US" b="1" dirty="0" err="1" smtClean="0"/>
              <a:t>Gopalakrishnan</a:t>
            </a:r>
            <a:r>
              <a:rPr lang="en-US" b="1" dirty="0" smtClean="0"/>
              <a:t> Kumar, </a:t>
            </a:r>
            <a:r>
              <a:rPr lang="en-US" b="1" dirty="0" err="1" smtClean="0"/>
              <a:t>MTech</a:t>
            </a:r>
            <a:r>
              <a:rPr lang="en-US" b="1" dirty="0" smtClean="0"/>
              <a:t> IIT-Bombay,</a:t>
            </a:r>
          </a:p>
          <a:p>
            <a:r>
              <a:rPr lang="en-US" b="1" dirty="0" smtClean="0"/>
              <a:t>Freelance Data Science Consultant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355273" y="45191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0D0D0D"/>
                </a:solidFill>
                <a:latin typeface="CIDFont+F1"/>
              </a:rPr>
              <a:t>LinkedIn: Profile Link : 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2"/>
              </a:rPr>
              <a:t>https://www.linkedin.com/in/gopalakrishnankumar-a73301110/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r>
              <a:rPr lang="en-US" dirty="0" err="1" smtClean="0">
                <a:solidFill>
                  <a:srgbClr val="0D0D0D"/>
                </a:solidFill>
                <a:latin typeface="CIDFont+F1"/>
              </a:rPr>
              <a:t>Github:</a:t>
            </a:r>
            <a:r>
              <a:rPr lang="en-US" dirty="0" err="1" smtClean="0">
                <a:solidFill>
                  <a:srgbClr val="0D0D0D"/>
                </a:solidFill>
                <a:latin typeface="CIDFont+F1"/>
                <a:hlinkClick r:id="rId3"/>
              </a:rPr>
              <a:t>https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3"/>
              </a:rPr>
              <a:t>://www.github.com/Gopalakrishnan-Kumar/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55273" y="6065737"/>
            <a:ext cx="6150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Kaggle</a:t>
            </a:r>
            <a:r>
              <a:rPr lang="en-US" sz="2000" dirty="0" smtClean="0"/>
              <a:t> URL- </a:t>
            </a:r>
            <a:r>
              <a:rPr lang="en-US" sz="2000" dirty="0" smtClean="0">
                <a:hlinkClick r:id="rId4"/>
              </a:rPr>
              <a:t>https://www.kaggle.com/gopalkk2</a:t>
            </a:r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82938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Google Colab URL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https://colab.research.google.com/drive/1q6G07QyfpVHRrOVdy9OqU6G5NJRJ8n4T?usp=sharing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193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Indian Catastrophe Risk Modeling framework is designed to quantify, classify, and manage exposure arising from natural disasters such as floods, cyclones, and earthquakes across high-risk Indian states. This project applies risk scoring methodologies, exposure normalization techniques, and peril-based segmentation to support underwriting optimization, capital allocation, and reinsurance strategy decisions.</a:t>
            </a:r>
          </a:p>
          <a:p>
            <a:r>
              <a:rPr lang="en-US" dirty="0"/>
              <a:t>The model integrates:</a:t>
            </a:r>
          </a:p>
          <a:p>
            <a:r>
              <a:rPr lang="en-US" dirty="0"/>
              <a:t>Event Frequency</a:t>
            </a:r>
          </a:p>
          <a:p>
            <a:r>
              <a:rPr lang="en-US" dirty="0"/>
              <a:t>Severity Factor</a:t>
            </a:r>
          </a:p>
          <a:p>
            <a:r>
              <a:rPr lang="en-US" dirty="0"/>
              <a:t>Insured Exposure Value</a:t>
            </a:r>
          </a:p>
          <a:p>
            <a:r>
              <a:rPr lang="en-US" dirty="0"/>
              <a:t>Composite Catastrophe Risk Score</a:t>
            </a:r>
          </a:p>
          <a:p>
            <a:r>
              <a:rPr lang="en-US" dirty="0"/>
              <a:t>Risk Category Classification (Low / Medium / High)</a:t>
            </a:r>
          </a:p>
          <a:p>
            <a:r>
              <a:rPr lang="en-US" dirty="0"/>
              <a:t>The output enables actuarial, underwriting, and risk management teams to proactively manage catastrophe concentration and portfolio vulnerability.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546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Business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Indian insurers face increasing catastrophe exposure due to:</a:t>
            </a:r>
          </a:p>
          <a:p>
            <a:r>
              <a:rPr lang="en-US" dirty="0"/>
              <a:t>Climate volatility</a:t>
            </a:r>
          </a:p>
          <a:p>
            <a:r>
              <a:rPr lang="en-US" dirty="0"/>
              <a:t>Urban expansion</a:t>
            </a:r>
          </a:p>
          <a:p>
            <a:r>
              <a:rPr lang="en-US" dirty="0"/>
              <a:t>High coastal concentration</a:t>
            </a:r>
          </a:p>
          <a:p>
            <a:r>
              <a:rPr lang="en-US" dirty="0"/>
              <a:t>Increasing insured asset values</a:t>
            </a:r>
          </a:p>
          <a:p>
            <a:r>
              <a:rPr lang="en-US" dirty="0"/>
              <a:t>Traditional underwriting lacks structured catastrophe scoring frameworks, leading to:</a:t>
            </a:r>
          </a:p>
          <a:p>
            <a:r>
              <a:rPr lang="en-US" dirty="0"/>
              <a:t>Underpriced high-risk policies</a:t>
            </a:r>
          </a:p>
          <a:p>
            <a:r>
              <a:rPr lang="en-US" dirty="0"/>
              <a:t>Capital strain during extreme events</a:t>
            </a:r>
          </a:p>
          <a:p>
            <a:r>
              <a:rPr lang="en-US" dirty="0"/>
              <a:t>Inadequate reinsurance structuring</a:t>
            </a:r>
          </a:p>
          <a:p>
            <a:r>
              <a:rPr lang="en-US" dirty="0"/>
              <a:t>Regional concentration risk</a:t>
            </a:r>
          </a:p>
          <a:p>
            <a:r>
              <a:rPr lang="en-US" dirty="0"/>
              <a:t>This project introduces a quantitative catastrophe risk scoring engine to improve underwriting precision and capital resilience.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35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Modeling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dataset includes:</a:t>
            </a:r>
          </a:p>
          <a:p>
            <a:r>
              <a:rPr lang="en-US" dirty="0"/>
              <a:t>State (Geographic concentration)</a:t>
            </a:r>
          </a:p>
          <a:p>
            <a:r>
              <a:rPr lang="en-US" dirty="0"/>
              <a:t>Peril Type (Flood / Cyclone / Earthquake)</a:t>
            </a:r>
          </a:p>
          <a:p>
            <a:r>
              <a:rPr lang="en-US" dirty="0"/>
              <a:t>Insured Value (Exposure amount)</a:t>
            </a:r>
          </a:p>
          <a:p>
            <a:r>
              <a:rPr lang="en-US" dirty="0"/>
              <a:t>Event Frequency (Historical disaster occurrence)</a:t>
            </a:r>
          </a:p>
          <a:p>
            <a:r>
              <a:rPr lang="en-US" dirty="0"/>
              <a:t>Severity Factor (Loss intensity coefficient)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904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Risk Score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Policies are classified into:</a:t>
            </a:r>
          </a:p>
          <a:p>
            <a:r>
              <a:rPr lang="en-US" dirty="0"/>
              <a:t>Low Risk (0 – 0.4)</a:t>
            </a:r>
          </a:p>
          <a:p>
            <a:r>
              <a:rPr lang="en-US" dirty="0"/>
              <a:t>Medium Risk (0.4 – 0.7)</a:t>
            </a:r>
          </a:p>
          <a:p>
            <a:r>
              <a:rPr lang="en-US" dirty="0"/>
              <a:t>High Risk (0.7 – 1.0)</a:t>
            </a:r>
          </a:p>
          <a:p>
            <a:r>
              <a:rPr lang="en-US" dirty="0"/>
              <a:t>This structured segmentation supports:</a:t>
            </a:r>
          </a:p>
          <a:p>
            <a:r>
              <a:rPr lang="en-US" dirty="0"/>
              <a:t>Risk-based pricing</a:t>
            </a:r>
          </a:p>
          <a:p>
            <a:r>
              <a:rPr lang="en-US" dirty="0"/>
              <a:t>Underwriting escalation triggers</a:t>
            </a:r>
          </a:p>
          <a:p>
            <a:r>
              <a:rPr lang="en-US" dirty="0"/>
              <a:t>Portfolio diversification control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390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531" y="1921030"/>
            <a:ext cx="5138938" cy="4160528"/>
          </a:xfrm>
        </p:spPr>
      </p:pic>
    </p:spTree>
    <p:extLst>
      <p:ext uri="{BB962C8B-B14F-4D97-AF65-F5344CB8AC3E}">
        <p14:creationId xmlns:p14="http://schemas.microsoft.com/office/powerpoint/2010/main" val="3299278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Visualization &amp; Analytical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Histogram – Risk Distribution</a:t>
            </a:r>
          </a:p>
          <a:p>
            <a:r>
              <a:rPr lang="en-US" dirty="0"/>
              <a:t>The histogram reveals clustering in medium-risk bands, indicating moderate catastrophe exposure across most policies. High-risk tails identify concentration pockets requiring capital buffers.</a:t>
            </a:r>
          </a:p>
        </p:txBody>
      </p:sp>
    </p:spTree>
    <p:extLst>
      <p:ext uri="{BB962C8B-B14F-4D97-AF65-F5344CB8AC3E}">
        <p14:creationId xmlns:p14="http://schemas.microsoft.com/office/powerpoint/2010/main" val="3910175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5383" y="1921030"/>
            <a:ext cx="5221234" cy="4160528"/>
          </a:xfrm>
        </p:spPr>
      </p:pic>
    </p:spTree>
    <p:extLst>
      <p:ext uri="{BB962C8B-B14F-4D97-AF65-F5344CB8AC3E}">
        <p14:creationId xmlns:p14="http://schemas.microsoft.com/office/powerpoint/2010/main" val="4070370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Visualization &amp; Analytical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Bar Chart – Risk Category </a:t>
            </a:r>
            <a:r>
              <a:rPr lang="en-US" b="1" dirty="0" smtClean="0"/>
              <a:t>Distribution</a:t>
            </a:r>
          </a:p>
          <a:p>
            <a:r>
              <a:rPr lang="en-US" dirty="0"/>
              <a:t>This visualization highlights which peril contributes most to high-risk classification.</a:t>
            </a:r>
          </a:p>
          <a:p>
            <a:r>
              <a:rPr lang="en-US" dirty="0"/>
              <a:t>Example Insights:</a:t>
            </a:r>
          </a:p>
          <a:p>
            <a:r>
              <a:rPr lang="en-US" dirty="0"/>
              <a:t>Flood-driven risk may dominate eastern and coastal states.</a:t>
            </a:r>
          </a:p>
          <a:p>
            <a:r>
              <a:rPr lang="en-US" dirty="0"/>
              <a:t>Cyclone risk concentration suggests coastal underwriting tightening.</a:t>
            </a:r>
          </a:p>
          <a:p>
            <a:r>
              <a:rPr lang="en-US" dirty="0"/>
              <a:t>Earthquake exposure may cluster in seismic zones.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95774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634" y="1857021"/>
            <a:ext cx="5760731" cy="4288545"/>
          </a:xfrm>
        </p:spPr>
      </p:pic>
    </p:spTree>
    <p:extLst>
      <p:ext uri="{BB962C8B-B14F-4D97-AF65-F5344CB8AC3E}">
        <p14:creationId xmlns:p14="http://schemas.microsoft.com/office/powerpoint/2010/main" val="3107795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Visualization &amp; Analytical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Stacked Bar Chart – Risk vs Peril Type</a:t>
            </a:r>
          </a:p>
          <a:p>
            <a:r>
              <a:rPr lang="en-US" dirty="0"/>
              <a:t>This visualization highlights which peril contributes most to high-risk classification.</a:t>
            </a:r>
          </a:p>
          <a:p>
            <a:r>
              <a:rPr lang="en-US" dirty="0"/>
              <a:t>Example Insights:</a:t>
            </a:r>
          </a:p>
          <a:p>
            <a:r>
              <a:rPr lang="en-US" dirty="0"/>
              <a:t>Flood-driven risk may dominate eastern and coastal states.</a:t>
            </a:r>
          </a:p>
          <a:p>
            <a:r>
              <a:rPr lang="en-US" dirty="0"/>
              <a:t>Cyclone risk concentration suggests coastal underwriting tightening.</a:t>
            </a:r>
          </a:p>
          <a:p>
            <a:r>
              <a:rPr lang="en-US" dirty="0"/>
              <a:t>Earthquake exposure may cluster in seismic zones.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11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634" y="1857021"/>
            <a:ext cx="5760731" cy="4288545"/>
          </a:xfrm>
        </p:spPr>
      </p:pic>
    </p:spTree>
    <p:extLst>
      <p:ext uri="{BB962C8B-B14F-4D97-AF65-F5344CB8AC3E}">
        <p14:creationId xmlns:p14="http://schemas.microsoft.com/office/powerpoint/2010/main" val="2872918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Visualization &amp; Analytical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Combined Stacked Bar Chart – Executive View</a:t>
            </a:r>
          </a:p>
          <a:p>
            <a:r>
              <a:rPr lang="en-US" dirty="0"/>
              <a:t>This executive-level chart integrates:</a:t>
            </a:r>
          </a:p>
          <a:p>
            <a:r>
              <a:rPr lang="en-US" dirty="0"/>
              <a:t>Risk Category segmentation</a:t>
            </a:r>
          </a:p>
          <a:p>
            <a:r>
              <a:rPr lang="en-US" dirty="0"/>
              <a:t>Peril breakdown</a:t>
            </a:r>
          </a:p>
          <a:p>
            <a:r>
              <a:rPr lang="en-US" dirty="0"/>
              <a:t>Total exposure count per risk level</a:t>
            </a:r>
          </a:p>
          <a:p>
            <a:r>
              <a:rPr lang="en-US" dirty="0"/>
              <a:t>Strategic Value:</a:t>
            </a:r>
          </a:p>
          <a:p>
            <a:r>
              <a:rPr lang="en-US" dirty="0"/>
              <a:t>Identifies catastrophe-heavy underwriting segments</a:t>
            </a:r>
          </a:p>
          <a:p>
            <a:r>
              <a:rPr lang="en-US" dirty="0"/>
              <a:t>Supports reinsurance treaty negotiation</a:t>
            </a:r>
          </a:p>
          <a:p>
            <a:r>
              <a:rPr lang="en-US" dirty="0"/>
              <a:t>Enables capital stress testing</a:t>
            </a:r>
          </a:p>
          <a:p>
            <a:r>
              <a:rPr lang="en-US" dirty="0"/>
              <a:t>Provides board-level reporting clarity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168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State-Level Risk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High-risk clustering in states such as:</a:t>
            </a:r>
          </a:p>
          <a:p>
            <a:r>
              <a:rPr lang="en-US" dirty="0"/>
              <a:t>Coastal zones (Cyclone exposure)</a:t>
            </a:r>
          </a:p>
          <a:p>
            <a:r>
              <a:rPr lang="en-US" dirty="0"/>
              <a:t>River basin regions (Flood exposure)</a:t>
            </a:r>
          </a:p>
          <a:p>
            <a:r>
              <a:rPr lang="en-US" dirty="0"/>
              <a:t>Seismic zones (Earthquake exposure)</a:t>
            </a:r>
          </a:p>
          <a:p>
            <a:r>
              <a:rPr lang="en-US" dirty="0"/>
              <a:t>This geographic concentration modeling allows:</a:t>
            </a:r>
          </a:p>
          <a:p>
            <a:r>
              <a:rPr lang="en-US" dirty="0"/>
              <a:t>State-wise premium adjustments</a:t>
            </a:r>
          </a:p>
          <a:p>
            <a:r>
              <a:rPr lang="en-US" dirty="0"/>
              <a:t>Regional underwriting caps</a:t>
            </a:r>
          </a:p>
          <a:p>
            <a:r>
              <a:rPr lang="en-US" dirty="0"/>
              <a:t>Targeted catastrophe modeling simulations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420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Strategic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catastrophe risk modeling system enables:</a:t>
            </a:r>
          </a:p>
          <a:p>
            <a:r>
              <a:rPr lang="en-US" dirty="0"/>
              <a:t>Risk-based premium differentiation</a:t>
            </a:r>
          </a:p>
          <a:p>
            <a:r>
              <a:rPr lang="en-US" dirty="0"/>
              <a:t>Underwriting automation triggers</a:t>
            </a:r>
          </a:p>
          <a:p>
            <a:r>
              <a:rPr lang="en-US" dirty="0"/>
              <a:t>Capital adequacy forecasting</a:t>
            </a:r>
          </a:p>
          <a:p>
            <a:r>
              <a:rPr lang="en-US" dirty="0"/>
              <a:t>Reinsurance structuring optimization</a:t>
            </a:r>
          </a:p>
          <a:p>
            <a:r>
              <a:rPr lang="en-US" dirty="0"/>
              <a:t>Portfolio diversification strategy</a:t>
            </a:r>
          </a:p>
          <a:p>
            <a:r>
              <a:rPr lang="en-US" dirty="0"/>
              <a:t>Loss ratio stabilization</a:t>
            </a:r>
          </a:p>
          <a:p>
            <a:r>
              <a:rPr lang="en-US" dirty="0"/>
              <a:t>Catastrophe reserve planning</a:t>
            </a:r>
          </a:p>
          <a:p>
            <a:r>
              <a:rPr lang="en-US" dirty="0"/>
              <a:t>Climate risk preparedness</a:t>
            </a:r>
          </a:p>
          <a:p>
            <a:r>
              <a:rPr lang="en-US" dirty="0"/>
              <a:t>Regulatory risk reporting support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402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Alignment with Zetheta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This project aligns with Zetheta's analytical standards through:</a:t>
            </a:r>
          </a:p>
          <a:p>
            <a:r>
              <a:rPr lang="en-US" dirty="0"/>
              <a:t>Quantitative risk engineering</a:t>
            </a:r>
          </a:p>
          <a:p>
            <a:r>
              <a:rPr lang="en-US" dirty="0"/>
              <a:t>Data-driven underwriting logic</a:t>
            </a:r>
          </a:p>
          <a:p>
            <a:r>
              <a:rPr lang="en-US" dirty="0"/>
              <a:t>Visual decision intelligence</a:t>
            </a:r>
          </a:p>
          <a:p>
            <a:r>
              <a:rPr lang="en-US" dirty="0"/>
              <a:t>Portfolio-level capital modeling</a:t>
            </a:r>
          </a:p>
          <a:p>
            <a:r>
              <a:rPr lang="en-US" dirty="0"/>
              <a:t>Scalable predictive architecture</a:t>
            </a:r>
          </a:p>
          <a:p>
            <a:r>
              <a:rPr lang="en-US" dirty="0"/>
              <a:t>The framework can be extended into:</a:t>
            </a:r>
          </a:p>
          <a:p>
            <a:r>
              <a:rPr lang="en-US" dirty="0"/>
              <a:t>Monte Carlo catastrophe simulation</a:t>
            </a:r>
          </a:p>
          <a:p>
            <a:r>
              <a:rPr lang="en-US" dirty="0"/>
              <a:t>ML-based loss severity prediction</a:t>
            </a:r>
          </a:p>
          <a:p>
            <a:r>
              <a:rPr lang="en-US" dirty="0"/>
              <a:t>Climate scenario modeling</a:t>
            </a:r>
          </a:p>
          <a:p>
            <a:r>
              <a:rPr lang="en-US" dirty="0"/>
              <a:t>Reinsurance optimization engine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700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Future </a:t>
            </a:r>
            <a:r>
              <a:rPr lang="en-US" b="1" dirty="0"/>
              <a:t>Enhancements</a:t>
            </a:r>
          </a:p>
          <a:p>
            <a:r>
              <a:rPr lang="en-US" dirty="0"/>
              <a:t>To further strengthen the model:</a:t>
            </a:r>
          </a:p>
          <a:p>
            <a:r>
              <a:rPr lang="en-US" dirty="0"/>
              <a:t>Integrate real IMD disaster datasets</a:t>
            </a:r>
          </a:p>
          <a:p>
            <a:r>
              <a:rPr lang="en-US" dirty="0"/>
              <a:t>Add district-level geospatial risk mapping</a:t>
            </a:r>
          </a:p>
          <a:p>
            <a:r>
              <a:rPr lang="en-US" dirty="0"/>
              <a:t>Deploy machine learning severity predictors</a:t>
            </a:r>
          </a:p>
          <a:p>
            <a:r>
              <a:rPr lang="en-US" dirty="0"/>
              <a:t>Build an executive Power BI catastrophe dashboard</a:t>
            </a:r>
          </a:p>
          <a:p>
            <a:r>
              <a:rPr lang="en-US" dirty="0"/>
              <a:t>Implement stress-testing under extreme event simulations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998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Indian Catastrophe Risk Modeling framework transforms traditional underwriting into a structured, risk-weighted, data-driven catastrophe management system.</a:t>
            </a:r>
          </a:p>
          <a:p>
            <a:r>
              <a:rPr lang="en-US" dirty="0"/>
              <a:t>By combining frequency, severity, and exposure scoring with business-grade visual analytics, insurers can:</a:t>
            </a:r>
          </a:p>
          <a:p>
            <a:r>
              <a:rPr lang="en-US" dirty="0"/>
              <a:t>Improve underwriting precision</a:t>
            </a:r>
          </a:p>
          <a:p>
            <a:r>
              <a:rPr lang="en-US" dirty="0"/>
              <a:t>Reduce unexpected loss volatility</a:t>
            </a:r>
          </a:p>
          <a:p>
            <a:r>
              <a:rPr lang="en-US" dirty="0"/>
              <a:t>Optimize reinsurance coverage</a:t>
            </a:r>
          </a:p>
          <a:p>
            <a:r>
              <a:rPr lang="en-US" dirty="0"/>
              <a:t>Enhance capital resilience</a:t>
            </a:r>
          </a:p>
          <a:p>
            <a:r>
              <a:rPr lang="en-US" dirty="0"/>
              <a:t>Strengthen regulatory compliance</a:t>
            </a:r>
          </a:p>
          <a:p>
            <a:r>
              <a:rPr lang="en-US" dirty="0"/>
              <a:t>This model provides a scalable foundation for enterprise-level catastrophe risk intelligence and strategic underwriting transformation.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630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model provides a scalable foundation for enterprise-level catastrophe risk intelligence and strategic underwriting transformation.</a:t>
            </a:r>
          </a:p>
        </p:txBody>
      </p:sp>
    </p:spTree>
    <p:extLst>
      <p:ext uri="{BB962C8B-B14F-4D97-AF65-F5344CB8AC3E}">
        <p14:creationId xmlns:p14="http://schemas.microsoft.com/office/powerpoint/2010/main" val="3439092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738</Words>
  <Application>Microsoft Office PowerPoint</Application>
  <PresentationFormat>Widescreen</PresentationFormat>
  <Paragraphs>129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CIDFont+F1</vt:lpstr>
      <vt:lpstr>Office Theme</vt:lpstr>
      <vt:lpstr>Indian Catastrophe Risk Modeling</vt:lpstr>
      <vt:lpstr>Google Colab URL</vt:lpstr>
      <vt:lpstr>Executive Summary</vt:lpstr>
      <vt:lpstr>Business Problem Statement</vt:lpstr>
      <vt:lpstr>Data Modeling Framework</vt:lpstr>
      <vt:lpstr>Risk Score Engineering</vt:lpstr>
      <vt:lpstr>Data Visualization</vt:lpstr>
      <vt:lpstr>Visualization &amp; Analytical Insights</vt:lpstr>
      <vt:lpstr>Data Visualization</vt:lpstr>
      <vt:lpstr>Visualization &amp; Analytical Insights</vt:lpstr>
      <vt:lpstr>Data Visualization</vt:lpstr>
      <vt:lpstr>Visualization &amp; Analytical Insights</vt:lpstr>
      <vt:lpstr>Data Visualization</vt:lpstr>
      <vt:lpstr>Visualization &amp; Analytical Insights</vt:lpstr>
      <vt:lpstr>State-Level Risk Interpretation</vt:lpstr>
      <vt:lpstr>Strategic Business Impact</vt:lpstr>
      <vt:lpstr>Alignment with Zetheta Expectations</vt:lpstr>
      <vt:lpstr>Future Enhancements</vt:lpstr>
      <vt:lpstr>Conclusion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 Catastrophe Risk Modeling</dc:title>
  <dc:creator>KUMAR</dc:creator>
  <cp:lastModifiedBy>KUMAR</cp:lastModifiedBy>
  <cp:revision>27</cp:revision>
  <dcterms:created xsi:type="dcterms:W3CDTF">2026-02-26T00:42:05Z</dcterms:created>
  <dcterms:modified xsi:type="dcterms:W3CDTF">2026-02-26T07:27:48Z</dcterms:modified>
</cp:coreProperties>
</file>