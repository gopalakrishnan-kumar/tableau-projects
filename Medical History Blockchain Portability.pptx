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60"/>
  </p:normalViewPr>
  <p:slideViewPr>
    <p:cSldViewPr snapToGrid="0">
      <p:cViewPr varScale="1">
        <p:scale>
          <a:sx n="80" d="100"/>
          <a:sy n="80" d="100"/>
        </p:scale>
        <p:origin x="3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460509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015579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5203FB7-E45B-4936-A4E9-50EC6D538D6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051830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203FB7-E45B-4936-A4E9-50EC6D538D6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878497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203FB7-E45B-4936-A4E9-50EC6D538D65}"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450809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203FB7-E45B-4936-A4E9-50EC6D538D65}"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904300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203FB7-E45B-4936-A4E9-50EC6D538D65}"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92142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203FB7-E45B-4936-A4E9-50EC6D538D6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40390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203FB7-E45B-4936-A4E9-50EC6D538D6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1195958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2429039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1401267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203FB7-E45B-4936-A4E9-50EC6D538D65}" type="datetimeFigureOut">
              <a:rPr lang="en-US" smtClean="0"/>
              <a:t>1/31/2026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B8FB33-CE79-4020-BA0E-FA79ABE8CC0B}" type="slidenum">
              <a:rPr lang="en-US" smtClean="0"/>
              <a:t>‹#›</a:t>
            </a:fld>
            <a:endParaRPr lang="en-US"/>
          </a:p>
        </p:txBody>
      </p:sp>
    </p:spTree>
    <p:extLst>
      <p:ext uri="{BB962C8B-B14F-4D97-AF65-F5344CB8AC3E}">
        <p14:creationId xmlns:p14="http://schemas.microsoft.com/office/powerpoint/2010/main" val="3456848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_jM5z0_bg8YXP6RL_PU574EhnAIAuoxq?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Medical History </a:t>
            </a:r>
            <a:r>
              <a:rPr lang="en-US" b="1" dirty="0" err="1" smtClean="0"/>
              <a:t>Blockchain</a:t>
            </a:r>
            <a:r>
              <a:rPr lang="en-US" b="1" dirty="0" smtClean="0"/>
              <a:t> Portability</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39598884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colab.research.google.com/drive/1_jM5z0_bg8YXP6RL_PU574EhnAIAuoxq?usp=sharing</a:t>
            </a:r>
            <a:endParaRPr lang="en-US" dirty="0" smtClean="0"/>
          </a:p>
          <a:p>
            <a:endParaRPr lang="en-US" dirty="0"/>
          </a:p>
        </p:txBody>
      </p:sp>
    </p:spTree>
    <p:extLst>
      <p:ext uri="{BB962C8B-B14F-4D97-AF65-F5344CB8AC3E}">
        <p14:creationId xmlns:p14="http://schemas.microsoft.com/office/powerpoint/2010/main" val="42373129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lnSpcReduction="10000"/>
          </a:bodyPr>
          <a:lstStyle/>
          <a:p>
            <a:r>
              <a:rPr lang="en-US" dirty="0"/>
              <a:t>Healthcare systems across the world face a critical challenge: medical data fragmentation. Patient medical histories are typically stored in isolated databases owned by individual hospitals, clinics, or laboratories. This </a:t>
            </a:r>
            <a:r>
              <a:rPr lang="en-US" dirty="0" err="1"/>
              <a:t>siloed</a:t>
            </a:r>
            <a:r>
              <a:rPr lang="en-US" dirty="0"/>
              <a:t> approach leads to inefficiencies such as repeated diagnostic tests, incomplete medical histories, data integrity risks, and limited patient control over personal health information.</a:t>
            </a:r>
          </a:p>
          <a:p>
            <a:r>
              <a:rPr lang="en-US" dirty="0" err="1"/>
              <a:t>Blockchain</a:t>
            </a:r>
            <a:r>
              <a:rPr lang="en-US" dirty="0"/>
              <a:t> technology offers a decentralized and immutable data architecture that can fundamentally transform how medical records are stored, shared, and verified. This project explores how a </a:t>
            </a:r>
            <a:r>
              <a:rPr lang="en-US" dirty="0" err="1"/>
              <a:t>blockchain</a:t>
            </a:r>
            <a:r>
              <a:rPr lang="en-US" dirty="0"/>
              <a:t>-based system can enable </a:t>
            </a:r>
            <a:r>
              <a:rPr lang="en-US" b="1" dirty="0"/>
              <a:t>secure, portable, and tamper-proof medical history management</a:t>
            </a:r>
            <a:r>
              <a:rPr lang="en-US" dirty="0"/>
              <a:t>, placing patients at the center of data ownership while ensuring trust among healthcare providers.</a:t>
            </a:r>
          </a:p>
          <a:p>
            <a:endParaRPr lang="en-US" dirty="0"/>
          </a:p>
        </p:txBody>
      </p:sp>
    </p:spTree>
    <p:extLst>
      <p:ext uri="{BB962C8B-B14F-4D97-AF65-F5344CB8AC3E}">
        <p14:creationId xmlns:p14="http://schemas.microsoft.com/office/powerpoint/2010/main" val="22344642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 of the Project</a:t>
            </a:r>
          </a:p>
        </p:txBody>
      </p:sp>
      <p:sp>
        <p:nvSpPr>
          <p:cNvPr id="3" name="Content Placeholder 2"/>
          <p:cNvSpPr>
            <a:spLocks noGrp="1"/>
          </p:cNvSpPr>
          <p:nvPr>
            <p:ph idx="1"/>
          </p:nvPr>
        </p:nvSpPr>
        <p:spPr/>
        <p:txBody>
          <a:bodyPr/>
          <a:lstStyle/>
          <a:p>
            <a:r>
              <a:rPr lang="en-US" dirty="0"/>
              <a:t>The primary objective of this project is to design and simulate a </a:t>
            </a:r>
            <a:r>
              <a:rPr lang="en-US" b="1" dirty="0"/>
              <a:t>medical history portability framework using </a:t>
            </a:r>
            <a:r>
              <a:rPr lang="en-US" b="1" dirty="0" err="1"/>
              <a:t>blockchain</a:t>
            </a:r>
            <a:r>
              <a:rPr lang="en-US" b="1" dirty="0"/>
              <a:t> principles</a:t>
            </a:r>
            <a:r>
              <a:rPr lang="en-US" dirty="0"/>
              <a:t>, with the following goals:</a:t>
            </a:r>
          </a:p>
          <a:p>
            <a:r>
              <a:rPr lang="en-US" dirty="0"/>
              <a:t>Enable secure storage of medical records in an immutable ledger</a:t>
            </a:r>
          </a:p>
          <a:p>
            <a:r>
              <a:rPr lang="en-US" dirty="0"/>
              <a:t>Ensure medical data integrity and tamper detection</a:t>
            </a:r>
          </a:p>
          <a:p>
            <a:r>
              <a:rPr lang="en-US" dirty="0"/>
              <a:t>Support seamless portability of patient records across providers</a:t>
            </a:r>
          </a:p>
          <a:p>
            <a:r>
              <a:rPr lang="en-US" dirty="0"/>
              <a:t>Provide transparency and auditability for regulatory compliance</a:t>
            </a:r>
          </a:p>
          <a:p>
            <a:r>
              <a:rPr lang="en-US" dirty="0"/>
              <a:t>Demonstrate analytics on </a:t>
            </a:r>
            <a:r>
              <a:rPr lang="en-US" dirty="0" err="1"/>
              <a:t>blockchain</a:t>
            </a:r>
            <a:r>
              <a:rPr lang="en-US" dirty="0"/>
              <a:t>-stored medical data</a:t>
            </a:r>
          </a:p>
          <a:p>
            <a:endParaRPr lang="en-US" dirty="0"/>
          </a:p>
        </p:txBody>
      </p:sp>
    </p:spTree>
    <p:extLst>
      <p:ext uri="{BB962C8B-B14F-4D97-AF65-F5344CB8AC3E}">
        <p14:creationId xmlns:p14="http://schemas.microsoft.com/office/powerpoint/2010/main" val="25769724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Problem Statement</a:t>
            </a:r>
          </a:p>
        </p:txBody>
      </p:sp>
      <p:sp>
        <p:nvSpPr>
          <p:cNvPr id="3" name="Content Placeholder 2"/>
          <p:cNvSpPr>
            <a:spLocks noGrp="1"/>
          </p:cNvSpPr>
          <p:nvPr>
            <p:ph idx="1"/>
          </p:nvPr>
        </p:nvSpPr>
        <p:spPr/>
        <p:txBody>
          <a:bodyPr/>
          <a:lstStyle/>
          <a:p>
            <a:r>
              <a:rPr lang="en-US" dirty="0"/>
              <a:t>Traditional healthcare data systems suffer from several limitations:</a:t>
            </a:r>
          </a:p>
          <a:p>
            <a:r>
              <a:rPr lang="en-US" dirty="0"/>
              <a:t>Medical records are fragmented across providers</a:t>
            </a:r>
          </a:p>
          <a:p>
            <a:r>
              <a:rPr lang="en-US" dirty="0"/>
              <a:t>Data sharing relies on manual or centralized systems</a:t>
            </a:r>
          </a:p>
          <a:p>
            <a:r>
              <a:rPr lang="en-US" dirty="0"/>
              <a:t>Patients lack direct ownership or control over their data</a:t>
            </a:r>
          </a:p>
          <a:p>
            <a:r>
              <a:rPr lang="en-US" dirty="0"/>
              <a:t>Unauthorized modification of records is difficult to detect</a:t>
            </a:r>
          </a:p>
          <a:p>
            <a:r>
              <a:rPr lang="en-US" dirty="0"/>
              <a:t>Auditing and compliance require significant overhead</a:t>
            </a:r>
          </a:p>
          <a:p>
            <a:r>
              <a:rPr lang="en-US" dirty="0"/>
              <a:t>These challenges increase operational costs, reduce quality of care, and erode trust between stakeholders.</a:t>
            </a:r>
          </a:p>
          <a:p>
            <a:endParaRPr lang="en-US" dirty="0"/>
          </a:p>
        </p:txBody>
      </p:sp>
    </p:spTree>
    <p:extLst>
      <p:ext uri="{BB962C8B-B14F-4D97-AF65-F5344CB8AC3E}">
        <p14:creationId xmlns:p14="http://schemas.microsoft.com/office/powerpoint/2010/main" val="5697981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Solution Overview</a:t>
            </a:r>
          </a:p>
        </p:txBody>
      </p:sp>
      <p:sp>
        <p:nvSpPr>
          <p:cNvPr id="3" name="Content Placeholder 2"/>
          <p:cNvSpPr>
            <a:spLocks noGrp="1"/>
          </p:cNvSpPr>
          <p:nvPr>
            <p:ph idx="1"/>
          </p:nvPr>
        </p:nvSpPr>
        <p:spPr/>
        <p:txBody>
          <a:bodyPr>
            <a:normAutofit lnSpcReduction="10000"/>
          </a:bodyPr>
          <a:lstStyle/>
          <a:p>
            <a:r>
              <a:rPr lang="en-US" dirty="0"/>
              <a:t>This project proposes a </a:t>
            </a:r>
            <a:r>
              <a:rPr lang="en-US" b="1" dirty="0" err="1"/>
              <a:t>blockchain</a:t>
            </a:r>
            <a:r>
              <a:rPr lang="en-US" b="1" dirty="0"/>
              <a:t>-based medical record ledger</a:t>
            </a:r>
            <a:r>
              <a:rPr lang="en-US" dirty="0"/>
              <a:t>, where each medical record is stored as a block containing:</a:t>
            </a:r>
          </a:p>
          <a:p>
            <a:r>
              <a:rPr lang="en-US" dirty="0"/>
              <a:t>Patient ID</a:t>
            </a:r>
          </a:p>
          <a:p>
            <a:r>
              <a:rPr lang="en-US" dirty="0"/>
              <a:t>Medical data (diagnosis, medication)</a:t>
            </a:r>
          </a:p>
          <a:p>
            <a:r>
              <a:rPr lang="en-US" dirty="0"/>
              <a:t>Timestamp</a:t>
            </a:r>
          </a:p>
          <a:p>
            <a:r>
              <a:rPr lang="en-US" dirty="0"/>
              <a:t>Cryptographic hash</a:t>
            </a:r>
          </a:p>
          <a:p>
            <a:r>
              <a:rPr lang="en-US" dirty="0"/>
              <a:t>Hash pointer to the previous block</a:t>
            </a:r>
          </a:p>
          <a:p>
            <a:r>
              <a:rPr lang="en-US" dirty="0"/>
              <a:t>By chaining records cryptographically, the system ensures that any attempt to alter historical data invalidates the entire chain, making tampering immediately detectable.</a:t>
            </a:r>
          </a:p>
          <a:p>
            <a:endParaRPr lang="en-US" dirty="0"/>
          </a:p>
        </p:txBody>
      </p:sp>
    </p:spTree>
    <p:extLst>
      <p:ext uri="{BB962C8B-B14F-4D97-AF65-F5344CB8AC3E}">
        <p14:creationId xmlns:p14="http://schemas.microsoft.com/office/powerpoint/2010/main" val="3806747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Blockchain</a:t>
            </a:r>
            <a:r>
              <a:rPr lang="en-US" b="1" dirty="0"/>
              <a:t> Architecture</a:t>
            </a:r>
          </a:p>
        </p:txBody>
      </p:sp>
      <p:sp>
        <p:nvSpPr>
          <p:cNvPr id="3" name="Content Placeholder 2"/>
          <p:cNvSpPr>
            <a:spLocks noGrp="1"/>
          </p:cNvSpPr>
          <p:nvPr>
            <p:ph idx="1"/>
          </p:nvPr>
        </p:nvSpPr>
        <p:spPr/>
        <p:txBody>
          <a:bodyPr>
            <a:normAutofit fontScale="92500" lnSpcReduction="20000"/>
          </a:bodyPr>
          <a:lstStyle/>
          <a:p>
            <a:r>
              <a:rPr lang="en-US" b="1" dirty="0"/>
              <a:t>5.1 Block Structure</a:t>
            </a:r>
          </a:p>
          <a:p>
            <a:r>
              <a:rPr lang="en-US" dirty="0"/>
              <a:t>Each block consists of:</a:t>
            </a:r>
          </a:p>
          <a:p>
            <a:r>
              <a:rPr lang="en-US" dirty="0"/>
              <a:t>Index</a:t>
            </a:r>
          </a:p>
          <a:p>
            <a:r>
              <a:rPr lang="en-US" dirty="0"/>
              <a:t>Timestamp</a:t>
            </a:r>
          </a:p>
          <a:p>
            <a:r>
              <a:rPr lang="en-US" dirty="0"/>
              <a:t>Patient identifier</a:t>
            </a:r>
          </a:p>
          <a:p>
            <a:r>
              <a:rPr lang="en-US" dirty="0"/>
              <a:t>Medical record details</a:t>
            </a:r>
          </a:p>
          <a:p>
            <a:r>
              <a:rPr lang="en-US" dirty="0"/>
              <a:t>Previous block hash</a:t>
            </a:r>
          </a:p>
          <a:p>
            <a:r>
              <a:rPr lang="en-US" dirty="0"/>
              <a:t>Current block hash (SHA-256)</a:t>
            </a:r>
          </a:p>
          <a:p>
            <a:r>
              <a:rPr lang="en-US" b="1" dirty="0"/>
              <a:t>5.2 Genesis Block</a:t>
            </a:r>
          </a:p>
          <a:p>
            <a:r>
              <a:rPr lang="en-US" dirty="0"/>
              <a:t>The </a:t>
            </a:r>
            <a:r>
              <a:rPr lang="en-US" dirty="0" err="1"/>
              <a:t>blockchain</a:t>
            </a:r>
            <a:r>
              <a:rPr lang="en-US" dirty="0"/>
              <a:t> begins with a genesis block, serving as the initial trusted anchor.</a:t>
            </a:r>
          </a:p>
          <a:p>
            <a:endParaRPr lang="en-US" dirty="0"/>
          </a:p>
        </p:txBody>
      </p:sp>
    </p:spTree>
    <p:extLst>
      <p:ext uri="{BB962C8B-B14F-4D97-AF65-F5344CB8AC3E}">
        <p14:creationId xmlns:p14="http://schemas.microsoft.com/office/powerpoint/2010/main" val="3743196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Blockchain</a:t>
            </a:r>
            <a:r>
              <a:rPr lang="en-US" b="1" dirty="0"/>
              <a:t> Architecture</a:t>
            </a:r>
            <a:endParaRPr lang="en-US" dirty="0"/>
          </a:p>
        </p:txBody>
      </p:sp>
      <p:sp>
        <p:nvSpPr>
          <p:cNvPr id="3" name="Content Placeholder 2"/>
          <p:cNvSpPr>
            <a:spLocks noGrp="1"/>
          </p:cNvSpPr>
          <p:nvPr>
            <p:ph idx="1"/>
          </p:nvPr>
        </p:nvSpPr>
        <p:spPr/>
        <p:txBody>
          <a:bodyPr/>
          <a:lstStyle/>
          <a:p>
            <a:r>
              <a:rPr lang="en-US" b="1" dirty="0"/>
              <a:t>5.3 Chain Validation</a:t>
            </a:r>
          </a:p>
          <a:p>
            <a:r>
              <a:rPr lang="en-US" dirty="0"/>
              <a:t>A validation function recalculates hashes and verifies hash pointers to ensure ledger integrity</a:t>
            </a:r>
          </a:p>
          <a:p>
            <a:endParaRPr lang="en-US" dirty="0"/>
          </a:p>
        </p:txBody>
      </p:sp>
    </p:spTree>
    <p:extLst>
      <p:ext uri="{BB962C8B-B14F-4D97-AF65-F5344CB8AC3E}">
        <p14:creationId xmlns:p14="http://schemas.microsoft.com/office/powerpoint/2010/main" val="3395493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Simulation and Implementation</a:t>
            </a:r>
          </a:p>
        </p:txBody>
      </p:sp>
      <p:sp>
        <p:nvSpPr>
          <p:cNvPr id="3" name="Content Placeholder 2"/>
          <p:cNvSpPr>
            <a:spLocks noGrp="1"/>
          </p:cNvSpPr>
          <p:nvPr>
            <p:ph idx="1"/>
          </p:nvPr>
        </p:nvSpPr>
        <p:spPr/>
        <p:txBody>
          <a:bodyPr/>
          <a:lstStyle/>
          <a:p>
            <a:r>
              <a:rPr lang="en-US" dirty="0"/>
              <a:t>The </a:t>
            </a:r>
            <a:r>
              <a:rPr lang="en-US" dirty="0" err="1"/>
              <a:t>blockchain</a:t>
            </a:r>
            <a:r>
              <a:rPr lang="en-US" dirty="0"/>
              <a:t> was implemented using Python, simulating real-world medical record entries for multiple patients. Each new medical event (diagnosis or medication update) creates a new block, preserving historical versions rather than overwriting data.</a:t>
            </a:r>
          </a:p>
          <a:p>
            <a:r>
              <a:rPr lang="en-US" dirty="0"/>
              <a:t>This design supports </a:t>
            </a:r>
            <a:r>
              <a:rPr lang="en-US" b="1" dirty="0"/>
              <a:t>longitudinal medical history tracking</a:t>
            </a:r>
            <a:r>
              <a:rPr lang="en-US" dirty="0"/>
              <a:t>, which is critical for chronic disease management and continuity of care.</a:t>
            </a:r>
          </a:p>
          <a:p>
            <a:endParaRPr lang="en-US" dirty="0"/>
          </a:p>
        </p:txBody>
      </p:sp>
    </p:spTree>
    <p:extLst>
      <p:ext uri="{BB962C8B-B14F-4D97-AF65-F5344CB8AC3E}">
        <p14:creationId xmlns:p14="http://schemas.microsoft.com/office/powerpoint/2010/main" val="2159661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3671" y="1921030"/>
            <a:ext cx="5184658" cy="4160528"/>
          </a:xfrm>
        </p:spPr>
      </p:pic>
    </p:spTree>
    <p:extLst>
      <p:ext uri="{BB962C8B-B14F-4D97-AF65-F5344CB8AC3E}">
        <p14:creationId xmlns:p14="http://schemas.microsoft.com/office/powerpoint/2010/main" val="33154502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lstStyle/>
          <a:p>
            <a:r>
              <a:rPr lang="en-US" b="1" dirty="0"/>
              <a:t>Histogram Analysis</a:t>
            </a:r>
          </a:p>
          <a:p>
            <a:r>
              <a:rPr lang="en-US" dirty="0"/>
              <a:t>The histogram was used to analyze the distribution of medical records per patient. This visualization helps understand how medical data accumulates over time and identifies variability in patient medical histories. Patients with higher record counts may represent chronic conditions requiring long-term care, while lower counts may indicate episodic treatment. This insight is valuable for capacity planning and longitudinal health monitoring.</a:t>
            </a:r>
          </a:p>
          <a:p>
            <a:endParaRPr lang="en-US" dirty="0"/>
          </a:p>
        </p:txBody>
      </p:sp>
    </p:spTree>
    <p:extLst>
      <p:ext uri="{BB962C8B-B14F-4D97-AF65-F5344CB8AC3E}">
        <p14:creationId xmlns:p14="http://schemas.microsoft.com/office/powerpoint/2010/main" val="13195723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23875278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endParaRPr lang="en-US" dirty="0"/>
          </a:p>
        </p:txBody>
      </p:sp>
      <p:sp>
        <p:nvSpPr>
          <p:cNvPr id="3" name="Content Placeholder 2"/>
          <p:cNvSpPr>
            <a:spLocks noGrp="1"/>
          </p:cNvSpPr>
          <p:nvPr>
            <p:ph idx="1"/>
          </p:nvPr>
        </p:nvSpPr>
        <p:spPr/>
        <p:txBody>
          <a:bodyPr/>
          <a:lstStyle/>
          <a:p>
            <a:r>
              <a:rPr lang="en-US" b="1" dirty="0"/>
              <a:t>Bar Chart Analysis</a:t>
            </a:r>
          </a:p>
          <a:p>
            <a:r>
              <a:rPr lang="en-US" dirty="0"/>
              <a:t>The bar chart provides a clear comparison of total medical records across patients. By presenting patient-wise record volume, healthcare providers can quickly identify individuals with extensive medical histories. This supports efficient clinical prioritization and resource allocation while maintaining a patient-centric view of healthcare data.</a:t>
            </a:r>
          </a:p>
          <a:p>
            <a:endParaRPr lang="en-US" dirty="0"/>
          </a:p>
        </p:txBody>
      </p:sp>
    </p:spTree>
    <p:extLst>
      <p:ext uri="{BB962C8B-B14F-4D97-AF65-F5344CB8AC3E}">
        <p14:creationId xmlns:p14="http://schemas.microsoft.com/office/powerpoint/2010/main" val="5651459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1667" y="1921030"/>
            <a:ext cx="5248666" cy="4160528"/>
          </a:xfrm>
        </p:spPr>
      </p:pic>
    </p:spTree>
    <p:extLst>
      <p:ext uri="{BB962C8B-B14F-4D97-AF65-F5344CB8AC3E}">
        <p14:creationId xmlns:p14="http://schemas.microsoft.com/office/powerpoint/2010/main" val="26902950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endParaRPr lang="en-US" dirty="0"/>
          </a:p>
        </p:txBody>
      </p:sp>
      <p:sp>
        <p:nvSpPr>
          <p:cNvPr id="3" name="Content Placeholder 2"/>
          <p:cNvSpPr>
            <a:spLocks noGrp="1"/>
          </p:cNvSpPr>
          <p:nvPr>
            <p:ph idx="1"/>
          </p:nvPr>
        </p:nvSpPr>
        <p:spPr/>
        <p:txBody>
          <a:bodyPr/>
          <a:lstStyle/>
          <a:p>
            <a:r>
              <a:rPr lang="en-US" b="1" dirty="0"/>
              <a:t>Stacked Bar Chart Analysis</a:t>
            </a:r>
          </a:p>
          <a:p>
            <a:r>
              <a:rPr lang="en-US" dirty="0"/>
              <a:t>The stacked bar chart decomposes medical records into diagnosis and medication components. This layered visualization improves </a:t>
            </a:r>
            <a:r>
              <a:rPr lang="en-US" dirty="0" err="1"/>
              <a:t>explainability</a:t>
            </a:r>
            <a:r>
              <a:rPr lang="en-US" dirty="0"/>
              <a:t> by showing not just the volume of data but also its composition. Such transparency is essential in healthcare analytics, enabling clinicians and administrators to understand the nature of stored medical information at a granular level.</a:t>
            </a:r>
          </a:p>
          <a:p>
            <a:endParaRPr lang="en-US" dirty="0"/>
          </a:p>
        </p:txBody>
      </p:sp>
    </p:spTree>
    <p:extLst>
      <p:ext uri="{BB962C8B-B14F-4D97-AF65-F5344CB8AC3E}">
        <p14:creationId xmlns:p14="http://schemas.microsoft.com/office/powerpoint/2010/main" val="3889697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9099" y="1921030"/>
            <a:ext cx="5193802" cy="4160528"/>
          </a:xfrm>
        </p:spPr>
      </p:pic>
    </p:spTree>
    <p:extLst>
      <p:ext uri="{BB962C8B-B14F-4D97-AF65-F5344CB8AC3E}">
        <p14:creationId xmlns:p14="http://schemas.microsoft.com/office/powerpoint/2010/main" val="29193500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sp>
        <p:nvSpPr>
          <p:cNvPr id="3" name="Content Placeholder 2"/>
          <p:cNvSpPr>
            <a:spLocks noGrp="1"/>
          </p:cNvSpPr>
          <p:nvPr>
            <p:ph idx="1"/>
          </p:nvPr>
        </p:nvSpPr>
        <p:spPr/>
        <p:txBody>
          <a:bodyPr/>
          <a:lstStyle/>
          <a:p>
            <a:r>
              <a:rPr lang="en-US" b="1" dirty="0"/>
              <a:t>Combined Stacked Bar Chart Analysis</a:t>
            </a:r>
          </a:p>
          <a:p>
            <a:r>
              <a:rPr lang="en-US" dirty="0"/>
              <a:t>The combined stacked bar chart integrates total medical record volume with component-level breakdown in a single executive-friendly view. Annotated totals enhance interpretability, making the visualization suitable for high-level decision-making. This chart is particularly effective for communicating </a:t>
            </a:r>
            <a:r>
              <a:rPr lang="en-US" dirty="0" err="1"/>
              <a:t>blockchain</a:t>
            </a:r>
            <a:r>
              <a:rPr lang="en-US" dirty="0"/>
              <a:t> data insights to non-technical stakeholders.</a:t>
            </a:r>
          </a:p>
          <a:p>
            <a:endParaRPr lang="en-US" dirty="0"/>
          </a:p>
        </p:txBody>
      </p:sp>
    </p:spTree>
    <p:extLst>
      <p:ext uri="{BB962C8B-B14F-4D97-AF65-F5344CB8AC3E}">
        <p14:creationId xmlns:p14="http://schemas.microsoft.com/office/powerpoint/2010/main" val="23278488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3" name="Content Placeholder 2"/>
          <p:cNvSpPr>
            <a:spLocks noGrp="1"/>
          </p:cNvSpPr>
          <p:nvPr>
            <p:ph idx="1"/>
          </p:nvPr>
        </p:nvSpPr>
        <p:spPr/>
        <p:txBody>
          <a:bodyPr/>
          <a:lstStyle/>
          <a:p>
            <a:endParaRPr lang="en-US" dirty="0" smtClean="0"/>
          </a:p>
          <a:p>
            <a:endParaRPr lang="en-US" dirty="0"/>
          </a:p>
          <a:p>
            <a:endParaRPr lang="en-US" dirty="0"/>
          </a:p>
        </p:txBody>
      </p:sp>
      <p:sp>
        <p:nvSpPr>
          <p:cNvPr id="8" name="Rectangle 7"/>
          <p:cNvSpPr/>
          <p:nvPr/>
        </p:nvSpPr>
        <p:spPr>
          <a:xfrm>
            <a:off x="1256692" y="1690688"/>
            <a:ext cx="9391255" cy="1200329"/>
          </a:xfrm>
          <a:prstGeom prst="rect">
            <a:avLst/>
          </a:prstGeom>
        </p:spPr>
        <p:txBody>
          <a:bodyPr wrap="square">
            <a:spAutoFit/>
          </a:bodyPr>
          <a:lstStyle/>
          <a:p>
            <a:pPr lvl="0" eaLnBrk="0" fontAlgn="base" hangingPunct="0">
              <a:spcBef>
                <a:spcPct val="0"/>
              </a:spcBef>
              <a:spcAft>
                <a:spcPct val="0"/>
              </a:spcAft>
              <a:buFontTx/>
              <a:buChar char="•"/>
            </a:pPr>
            <a:r>
              <a:rPr lang="en-US" altLang="en-US" sz="2400" b="1" dirty="0">
                <a:latin typeface="Arial" panose="020B0604020202020204" pitchFamily="34" charset="0"/>
              </a:rPr>
              <a:t>Medical records stored on </a:t>
            </a:r>
            <a:r>
              <a:rPr lang="en-US" altLang="en-US" sz="2400" b="1" dirty="0" err="1">
                <a:latin typeface="Arial" panose="020B0604020202020204" pitchFamily="34" charset="0"/>
              </a:rPr>
              <a:t>blockchain</a:t>
            </a:r>
            <a:r>
              <a:rPr lang="en-US" altLang="en-US" sz="2400" b="1" dirty="0">
                <a:latin typeface="Arial" panose="020B0604020202020204" pitchFamily="34" charset="0"/>
              </a:rPr>
              <a:t> are immutable and </a:t>
            </a:r>
            <a:r>
              <a:rPr lang="en-US" altLang="en-US" sz="2400" b="1" dirty="0" smtClean="0">
                <a:latin typeface="Arial" panose="020B0604020202020204" pitchFamily="34" charset="0"/>
              </a:rPr>
              <a:t> </a:t>
            </a:r>
          </a:p>
          <a:p>
            <a:pPr lvl="0" eaLnBrk="0" fontAlgn="base" hangingPunct="0">
              <a:spcBef>
                <a:spcPct val="0"/>
              </a:spcBef>
              <a:spcAft>
                <a:spcPct val="0"/>
              </a:spcAft>
            </a:pPr>
            <a:r>
              <a:rPr lang="en-US" altLang="en-US" sz="2400" b="1" dirty="0" smtClean="0">
                <a:latin typeface="Arial" panose="020B0604020202020204" pitchFamily="34" charset="0"/>
              </a:rPr>
              <a:t> verifiable</a:t>
            </a:r>
          </a:p>
          <a:p>
            <a:pPr lvl="0" eaLnBrk="0" fontAlgn="base" hangingPunct="0">
              <a:spcBef>
                <a:spcPct val="0"/>
              </a:spcBef>
              <a:spcAft>
                <a:spcPct val="0"/>
              </a:spcAft>
              <a:buFontTx/>
              <a:buChar char="•"/>
            </a:pPr>
            <a:endParaRPr lang="en-US" altLang="en-US" sz="2400" dirty="0">
              <a:latin typeface="Arial" panose="020B0604020202020204" pitchFamily="34" charset="0"/>
            </a:endParaRPr>
          </a:p>
        </p:txBody>
      </p:sp>
      <p:sp>
        <p:nvSpPr>
          <p:cNvPr id="9" name="Rectangle 5"/>
          <p:cNvSpPr>
            <a:spLocks noChangeArrowheads="1"/>
          </p:cNvSpPr>
          <p:nvPr/>
        </p:nvSpPr>
        <p:spPr bwMode="auto">
          <a:xfrm>
            <a:off x="1256692" y="2431634"/>
            <a:ext cx="1004235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Patient-centric data models support seamless portability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Component-level analytics improve transparency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Blockchain</a:t>
            </a:r>
            <a:r>
              <a:rPr kumimoji="0" lang="en-US" altLang="en-US" sz="2400" b="1" i="0" u="none" strike="noStrike" cap="none" normalizeH="0" baseline="0" dirty="0" smtClean="0">
                <a:ln>
                  <a:noFill/>
                </a:ln>
                <a:solidFill>
                  <a:schemeClr val="tx1"/>
                </a:solidFill>
                <a:effectLst/>
                <a:latin typeface="Arial" panose="020B0604020202020204" pitchFamily="34" charset="0"/>
              </a:rPr>
              <a:t> naturally supports longitudinal healthcare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Visual analytics enhance trust and interpretability</a:t>
            </a:r>
          </a:p>
        </p:txBody>
      </p:sp>
    </p:spTree>
    <p:extLst>
      <p:ext uri="{BB962C8B-B14F-4D97-AF65-F5344CB8AC3E}">
        <p14:creationId xmlns:p14="http://schemas.microsoft.com/office/powerpoint/2010/main" val="41691472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Impact</a:t>
            </a:r>
          </a:p>
        </p:txBody>
      </p:sp>
      <p:sp>
        <p:nvSpPr>
          <p:cNvPr id="3" name="Content Placeholder 2"/>
          <p:cNvSpPr>
            <a:spLocks noGrp="1"/>
          </p:cNvSpPr>
          <p:nvPr>
            <p:ph idx="1"/>
          </p:nvPr>
        </p:nvSpPr>
        <p:spPr/>
        <p:txBody>
          <a:bodyPr/>
          <a:lstStyle/>
          <a:p>
            <a:r>
              <a:rPr lang="en-US" dirty="0"/>
              <a:t>From a business and healthcare operations perspective, this solution:</a:t>
            </a:r>
          </a:p>
          <a:p>
            <a:r>
              <a:rPr lang="en-US" dirty="0"/>
              <a:t>Reduces duplicate diagnostic procedures</a:t>
            </a:r>
          </a:p>
          <a:p>
            <a:r>
              <a:rPr lang="en-US" dirty="0"/>
              <a:t>Improves continuity of patient care</a:t>
            </a:r>
          </a:p>
          <a:p>
            <a:r>
              <a:rPr lang="en-US" dirty="0"/>
              <a:t>Enhances trust between providers and patients</a:t>
            </a:r>
          </a:p>
          <a:p>
            <a:r>
              <a:rPr lang="en-US" dirty="0"/>
              <a:t>Supports regulatory compliance through audit trails</a:t>
            </a:r>
          </a:p>
          <a:p>
            <a:r>
              <a:rPr lang="en-US" dirty="0"/>
              <a:t>Enables scalable health data analytics</a:t>
            </a:r>
          </a:p>
          <a:p>
            <a:r>
              <a:rPr lang="en-US" dirty="0"/>
              <a:t>Healthcare providers benefit from faster access to reliable data, while patients gain ownership and control over their medical histories.</a:t>
            </a:r>
          </a:p>
          <a:p>
            <a:endParaRPr lang="en-US" dirty="0"/>
          </a:p>
        </p:txBody>
      </p:sp>
    </p:spTree>
    <p:extLst>
      <p:ext uri="{BB962C8B-B14F-4D97-AF65-F5344CB8AC3E}">
        <p14:creationId xmlns:p14="http://schemas.microsoft.com/office/powerpoint/2010/main" val="3248917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Limitations</a:t>
            </a:r>
            <a:r>
              <a:rPr lang="en-US" b="1" dirty="0"/>
              <a:t/>
            </a:r>
            <a:br>
              <a:rPr lang="en-US" b="1" dirty="0"/>
            </a:br>
            <a:endParaRPr lang="en-US" dirty="0"/>
          </a:p>
        </p:txBody>
      </p:sp>
      <p:sp>
        <p:nvSpPr>
          <p:cNvPr id="5" name="Rectangle 4"/>
          <p:cNvSpPr/>
          <p:nvPr/>
        </p:nvSpPr>
        <p:spPr>
          <a:xfrm>
            <a:off x="1483895" y="1523273"/>
            <a:ext cx="9296400" cy="1569660"/>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Uses simulated data rather than real EHR systems</a:t>
            </a:r>
          </a:p>
          <a:p>
            <a:pPr lvl="0" eaLnBrk="0" fontAlgn="base" hangingPunct="0">
              <a:spcBef>
                <a:spcPct val="0"/>
              </a:spcBef>
              <a:spcAft>
                <a:spcPct val="0"/>
              </a:spcAft>
              <a:buFontTx/>
              <a:buChar char="•"/>
            </a:pPr>
            <a:r>
              <a:rPr lang="en-US" altLang="en-US" sz="2400" dirty="0">
                <a:latin typeface="Arial" panose="020B0604020202020204" pitchFamily="34" charset="0"/>
              </a:rPr>
              <a:t>Does not include encryption of sensitive fields</a:t>
            </a:r>
          </a:p>
          <a:p>
            <a:pPr lvl="0" eaLnBrk="0" fontAlgn="base" hangingPunct="0">
              <a:spcBef>
                <a:spcPct val="0"/>
              </a:spcBef>
              <a:spcAft>
                <a:spcPct val="0"/>
              </a:spcAft>
              <a:buFontTx/>
              <a:buChar char="•"/>
            </a:pPr>
            <a:r>
              <a:rPr lang="en-US" altLang="en-US" sz="2400" dirty="0">
                <a:latin typeface="Arial" panose="020B0604020202020204" pitchFamily="34" charset="0"/>
              </a:rPr>
              <a:t>Access control and consent management are not implemented</a:t>
            </a:r>
          </a:p>
          <a:p>
            <a:pPr lvl="0" eaLnBrk="0" fontAlgn="base" hangingPunct="0">
              <a:spcBef>
                <a:spcPct val="0"/>
              </a:spcBef>
              <a:spcAft>
                <a:spcPct val="0"/>
              </a:spcAft>
              <a:buFontTx/>
              <a:buChar char="•"/>
            </a:pPr>
            <a:r>
              <a:rPr lang="en-US" altLang="en-US" sz="2400" dirty="0">
                <a:latin typeface="Arial" panose="020B0604020202020204" pitchFamily="34" charset="0"/>
              </a:rPr>
              <a:t>Scalability and interoperability are not fully addressed</a:t>
            </a:r>
          </a:p>
        </p:txBody>
      </p:sp>
    </p:spTree>
    <p:extLst>
      <p:ext uri="{BB962C8B-B14F-4D97-AF65-F5344CB8AC3E}">
        <p14:creationId xmlns:p14="http://schemas.microsoft.com/office/powerpoint/2010/main" val="36685177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3" name="Content Placeholder 2"/>
          <p:cNvSpPr>
            <a:spLocks noGrp="1"/>
          </p:cNvSpPr>
          <p:nvPr>
            <p:ph idx="1"/>
          </p:nvPr>
        </p:nvSpPr>
        <p:spPr/>
        <p:txBody>
          <a:bodyPr/>
          <a:lstStyle/>
          <a:p>
            <a:r>
              <a:rPr lang="en-US" dirty="0"/>
              <a:t>Potential extensions of this project include:</a:t>
            </a:r>
          </a:p>
          <a:p>
            <a:r>
              <a:rPr lang="en-US" dirty="0"/>
              <a:t>Smart contracts for consent-based access control</a:t>
            </a:r>
          </a:p>
          <a:p>
            <a:r>
              <a:rPr lang="en-US" dirty="0"/>
              <a:t>Encryption of sensitive medical attributes</a:t>
            </a:r>
          </a:p>
          <a:p>
            <a:r>
              <a:rPr lang="en-US" dirty="0"/>
              <a:t>Integration with hospital EHR systems</a:t>
            </a:r>
          </a:p>
          <a:p>
            <a:r>
              <a:rPr lang="en-US" dirty="0"/>
              <a:t>Scalability optimization for large datasets</a:t>
            </a:r>
          </a:p>
          <a:p>
            <a:r>
              <a:rPr lang="en-US" dirty="0"/>
              <a:t>Role-based access for doctors, insurers, and regulators</a:t>
            </a:r>
          </a:p>
          <a:p>
            <a:endParaRPr lang="en-US" dirty="0"/>
          </a:p>
        </p:txBody>
      </p:sp>
    </p:spTree>
    <p:extLst>
      <p:ext uri="{BB962C8B-B14F-4D97-AF65-F5344CB8AC3E}">
        <p14:creationId xmlns:p14="http://schemas.microsoft.com/office/powerpoint/2010/main" val="36706793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This project demonstrates how </a:t>
            </a:r>
            <a:r>
              <a:rPr lang="en-US" dirty="0" err="1"/>
              <a:t>blockchain</a:t>
            </a:r>
            <a:r>
              <a:rPr lang="en-US" dirty="0"/>
              <a:t> technology can be effectively applied to healthcare data management. By ensuring immutability, transparency, and portability, </a:t>
            </a:r>
            <a:r>
              <a:rPr lang="en-US" dirty="0" err="1"/>
              <a:t>blockchain</a:t>
            </a:r>
            <a:r>
              <a:rPr lang="en-US" dirty="0"/>
              <a:t> enables a secure and patient-centric medical record system. The integration of analytics further enhances the value of the solution by transforming raw medical records into actionable insights.</a:t>
            </a:r>
          </a:p>
          <a:p>
            <a:endParaRPr lang="en-US" dirty="0"/>
          </a:p>
        </p:txBody>
      </p:sp>
    </p:spTree>
    <p:extLst>
      <p:ext uri="{BB962C8B-B14F-4D97-AF65-F5344CB8AC3E}">
        <p14:creationId xmlns:p14="http://schemas.microsoft.com/office/powerpoint/2010/main" val="5979058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948</Words>
  <Application>Microsoft Office PowerPoint</Application>
  <PresentationFormat>Widescreen</PresentationFormat>
  <Paragraphs>98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CIDFont+F1</vt:lpstr>
      <vt:lpstr>Office Theme</vt:lpstr>
      <vt:lpstr>Medical History Blockchain Portability</vt:lpstr>
      <vt:lpstr>Google Colab URL</vt:lpstr>
      <vt:lpstr>Introduction</vt:lpstr>
      <vt:lpstr>Objective of the Project</vt:lpstr>
      <vt:lpstr>Problem Statement</vt:lpstr>
      <vt:lpstr>Solution Overview</vt:lpstr>
      <vt:lpstr>Blockchain Architecture</vt:lpstr>
      <vt:lpstr>Blockchain Architecture</vt:lpstr>
      <vt:lpstr>Data Simulation and Implementation</vt:lpstr>
      <vt:lpstr>Data Visualization</vt:lpstr>
      <vt:lpstr>Visualization and Analytics</vt:lpstr>
      <vt:lpstr>Data Visualization </vt:lpstr>
      <vt:lpstr>Visualization and Analytics</vt:lpstr>
      <vt:lpstr>Data Visualization</vt:lpstr>
      <vt:lpstr>Visualization and Analytics</vt:lpstr>
      <vt:lpstr>Data Visualization </vt:lpstr>
      <vt:lpstr>Data Visualization</vt:lpstr>
      <vt:lpstr>Key Insights</vt:lpstr>
      <vt:lpstr>Business Impact</vt:lpstr>
      <vt:lpstr> Limitations </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History Blockchain Portability</dc:title>
  <dc:creator>KUMAR</dc:creator>
  <cp:lastModifiedBy>KUMAR</cp:lastModifiedBy>
  <cp:revision>27</cp:revision>
  <dcterms:created xsi:type="dcterms:W3CDTF">2026-01-31T11:02:03Z</dcterms:created>
  <dcterms:modified xsi:type="dcterms:W3CDTF">2026-01-31T12:23:31Z</dcterms:modified>
</cp:coreProperties>
</file>