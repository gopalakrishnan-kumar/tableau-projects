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3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6DDAD8C-A971-40E0-A1CD-9A723DEF68FB}"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A7738-3F89-4E30-B00F-FA2BB56C7FE5}" type="slidenum">
              <a:rPr lang="en-US" smtClean="0"/>
              <a:t>‹#›</a:t>
            </a:fld>
            <a:endParaRPr lang="en-US"/>
          </a:p>
        </p:txBody>
      </p:sp>
    </p:spTree>
    <p:extLst>
      <p:ext uri="{BB962C8B-B14F-4D97-AF65-F5344CB8AC3E}">
        <p14:creationId xmlns:p14="http://schemas.microsoft.com/office/powerpoint/2010/main" val="2088313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DDAD8C-A971-40E0-A1CD-9A723DEF68FB}"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A7738-3F89-4E30-B00F-FA2BB56C7FE5}" type="slidenum">
              <a:rPr lang="en-US" smtClean="0"/>
              <a:t>‹#›</a:t>
            </a:fld>
            <a:endParaRPr lang="en-US"/>
          </a:p>
        </p:txBody>
      </p:sp>
    </p:spTree>
    <p:extLst>
      <p:ext uri="{BB962C8B-B14F-4D97-AF65-F5344CB8AC3E}">
        <p14:creationId xmlns:p14="http://schemas.microsoft.com/office/powerpoint/2010/main" val="2754846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6DDAD8C-A971-40E0-A1CD-9A723DEF68FB}"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A7738-3F89-4E30-B00F-FA2BB56C7FE5}" type="slidenum">
              <a:rPr lang="en-US" smtClean="0"/>
              <a:t>‹#›</a:t>
            </a:fld>
            <a:endParaRPr lang="en-US"/>
          </a:p>
        </p:txBody>
      </p:sp>
    </p:spTree>
    <p:extLst>
      <p:ext uri="{BB962C8B-B14F-4D97-AF65-F5344CB8AC3E}">
        <p14:creationId xmlns:p14="http://schemas.microsoft.com/office/powerpoint/2010/main" val="1428442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6DDAD8C-A971-40E0-A1CD-9A723DEF68FB}"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CA7738-3F89-4E30-B00F-FA2BB56C7FE5}" type="slidenum">
              <a:rPr lang="en-US" smtClean="0"/>
              <a:t>‹#›</a:t>
            </a:fld>
            <a:endParaRPr lang="en-US"/>
          </a:p>
        </p:txBody>
      </p:sp>
    </p:spTree>
    <p:extLst>
      <p:ext uri="{BB962C8B-B14F-4D97-AF65-F5344CB8AC3E}">
        <p14:creationId xmlns:p14="http://schemas.microsoft.com/office/powerpoint/2010/main" val="276018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6DDAD8C-A971-40E0-A1CD-9A723DEF68FB}"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CA7738-3F89-4E30-B00F-FA2BB56C7FE5}" type="slidenum">
              <a:rPr lang="en-US" smtClean="0"/>
              <a:t>‹#›</a:t>
            </a:fld>
            <a:endParaRPr lang="en-US"/>
          </a:p>
        </p:txBody>
      </p:sp>
    </p:spTree>
    <p:extLst>
      <p:ext uri="{BB962C8B-B14F-4D97-AF65-F5344CB8AC3E}">
        <p14:creationId xmlns:p14="http://schemas.microsoft.com/office/powerpoint/2010/main" val="2248638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DAD8C-A971-40E0-A1CD-9A723DEF68FB}"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CA7738-3F89-4E30-B00F-FA2BB56C7FE5}" type="slidenum">
              <a:rPr lang="en-US" smtClean="0"/>
              <a:t>‹#›</a:t>
            </a:fld>
            <a:endParaRPr lang="en-US"/>
          </a:p>
        </p:txBody>
      </p:sp>
    </p:spTree>
    <p:extLst>
      <p:ext uri="{BB962C8B-B14F-4D97-AF65-F5344CB8AC3E}">
        <p14:creationId xmlns:p14="http://schemas.microsoft.com/office/powerpoint/2010/main" val="152627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DDAD8C-A971-40E0-A1CD-9A723DEF68FB}"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CA7738-3F89-4E30-B00F-FA2BB56C7FE5}" type="slidenum">
              <a:rPr lang="en-US" smtClean="0"/>
              <a:t>‹#›</a:t>
            </a:fld>
            <a:endParaRPr lang="en-US"/>
          </a:p>
        </p:txBody>
      </p:sp>
    </p:spTree>
    <p:extLst>
      <p:ext uri="{BB962C8B-B14F-4D97-AF65-F5344CB8AC3E}">
        <p14:creationId xmlns:p14="http://schemas.microsoft.com/office/powerpoint/2010/main" val="218853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6DDAD8C-A971-40E0-A1CD-9A723DEF68FB}"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CA7738-3F89-4E30-B00F-FA2BB56C7FE5}" type="slidenum">
              <a:rPr lang="en-US" smtClean="0"/>
              <a:t>‹#›</a:t>
            </a:fld>
            <a:endParaRPr lang="en-US"/>
          </a:p>
        </p:txBody>
      </p:sp>
    </p:spTree>
    <p:extLst>
      <p:ext uri="{BB962C8B-B14F-4D97-AF65-F5344CB8AC3E}">
        <p14:creationId xmlns:p14="http://schemas.microsoft.com/office/powerpoint/2010/main" val="300074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6DDAD8C-A971-40E0-A1CD-9A723DEF68FB}"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CA7738-3F89-4E30-B00F-FA2BB56C7FE5}" type="slidenum">
              <a:rPr lang="en-US" smtClean="0"/>
              <a:t>‹#›</a:t>
            </a:fld>
            <a:endParaRPr lang="en-US"/>
          </a:p>
        </p:txBody>
      </p:sp>
    </p:spTree>
    <p:extLst>
      <p:ext uri="{BB962C8B-B14F-4D97-AF65-F5344CB8AC3E}">
        <p14:creationId xmlns:p14="http://schemas.microsoft.com/office/powerpoint/2010/main" val="3249950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DDAD8C-A971-40E0-A1CD-9A723DEF68FB}"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A7738-3F89-4E30-B00F-FA2BB56C7FE5}" type="slidenum">
              <a:rPr lang="en-US" smtClean="0"/>
              <a:t>‹#›</a:t>
            </a:fld>
            <a:endParaRPr lang="en-US"/>
          </a:p>
        </p:txBody>
      </p:sp>
    </p:spTree>
    <p:extLst>
      <p:ext uri="{BB962C8B-B14F-4D97-AF65-F5344CB8AC3E}">
        <p14:creationId xmlns:p14="http://schemas.microsoft.com/office/powerpoint/2010/main" val="298128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DDAD8C-A971-40E0-A1CD-9A723DEF68FB}"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A7738-3F89-4E30-B00F-FA2BB56C7FE5}" type="slidenum">
              <a:rPr lang="en-US" smtClean="0"/>
              <a:t>‹#›</a:t>
            </a:fld>
            <a:endParaRPr lang="en-US"/>
          </a:p>
        </p:txBody>
      </p:sp>
    </p:spTree>
    <p:extLst>
      <p:ext uri="{BB962C8B-B14F-4D97-AF65-F5344CB8AC3E}">
        <p14:creationId xmlns:p14="http://schemas.microsoft.com/office/powerpoint/2010/main" val="269426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DAD8C-A971-40E0-A1CD-9A723DEF68FB}" type="datetimeFigureOut">
              <a:rPr lang="en-US" smtClean="0"/>
              <a:t>1/27/2026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CA7738-3F89-4E30-B00F-FA2BB56C7FE5}" type="slidenum">
              <a:rPr lang="en-US" smtClean="0"/>
              <a:t>‹#›</a:t>
            </a:fld>
            <a:endParaRPr lang="en-US"/>
          </a:p>
        </p:txBody>
      </p:sp>
    </p:spTree>
    <p:extLst>
      <p:ext uri="{BB962C8B-B14F-4D97-AF65-F5344CB8AC3E}">
        <p14:creationId xmlns:p14="http://schemas.microsoft.com/office/powerpoint/2010/main" val="3905714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jB7Rt04H3EWs4I3wETjwTJVCxEYZ0YmJ?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Occupation Based Risk Database</a:t>
            </a:r>
            <a:endParaRPr lang="en-US" b="1" dirty="0"/>
          </a:p>
        </p:txBody>
      </p:sp>
      <p:sp>
        <p:nvSpPr>
          <p:cNvPr id="4" name="Subtitle 2"/>
          <p:cNvSpPr>
            <a:spLocks noGrp="1"/>
          </p:cNvSpPr>
          <p:nvPr>
            <p:ph type="subTitle" idx="1"/>
          </p:nvPr>
        </p:nvSpPr>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a:t>
            </a:r>
            <a:r>
              <a:rPr lang="en-US" dirty="0">
                <a:solidFill>
                  <a:srgbClr val="0D0D0D"/>
                </a:solidFill>
                <a:latin typeface="CIDFont+F1"/>
                <a:hlinkClick r:id="rId3"/>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39269841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smtClean="0">
                <a:hlinkClick r:id="rId2"/>
              </a:rPr>
              <a:t>https://colab.research.google.com/drive/1jB7Rt04H3EWs4I3wETjwTJVCxEYZ0YmJ?usp=sharing</a:t>
            </a:r>
            <a:endParaRPr lang="en-US" dirty="0" smtClean="0"/>
          </a:p>
          <a:p>
            <a:endParaRPr lang="en-US" dirty="0"/>
          </a:p>
        </p:txBody>
      </p:sp>
    </p:spTree>
    <p:extLst>
      <p:ext uri="{BB962C8B-B14F-4D97-AF65-F5344CB8AC3E}">
        <p14:creationId xmlns:p14="http://schemas.microsoft.com/office/powerpoint/2010/main" val="2426834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normAutofit lnSpcReduction="10000"/>
          </a:bodyPr>
          <a:lstStyle/>
          <a:p>
            <a:r>
              <a:rPr lang="en-US" dirty="0"/>
              <a:t>Occupation is one of the most critical variables in insurance underwriting and risk assessment. Different professions expose individuals to varying levels of physical hazards, psychological stress, and accident probability. Accurately quantifying this exposure is essential for fair premium pricing, risk pooling, and sustainable insurance operations.</a:t>
            </a:r>
          </a:p>
          <a:p>
            <a:r>
              <a:rPr lang="en-US" dirty="0"/>
              <a:t>Traditional underwriting approaches often rely on static occupation labels or manual judgment, which can lack transparency and scalability. This project addresses this gap by designing a </a:t>
            </a:r>
            <a:r>
              <a:rPr lang="en-US" b="1" dirty="0"/>
              <a:t>data-driven, rule-based Occupation-Based Risk Database</a:t>
            </a:r>
            <a:r>
              <a:rPr lang="en-US" dirty="0"/>
              <a:t> that converts occupational characteristics into quantifiable risk scores and underwriting decisions using Python analytics.</a:t>
            </a:r>
          </a:p>
          <a:p>
            <a:endParaRPr lang="en-US" dirty="0"/>
          </a:p>
        </p:txBody>
      </p:sp>
    </p:spTree>
    <p:extLst>
      <p:ext uri="{BB962C8B-B14F-4D97-AF65-F5344CB8AC3E}">
        <p14:creationId xmlns:p14="http://schemas.microsoft.com/office/powerpoint/2010/main" val="15236897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 of the Project</a:t>
            </a:r>
          </a:p>
        </p:txBody>
      </p:sp>
      <p:sp>
        <p:nvSpPr>
          <p:cNvPr id="3" name="Content Placeholder 2"/>
          <p:cNvSpPr>
            <a:spLocks noGrp="1"/>
          </p:cNvSpPr>
          <p:nvPr>
            <p:ph idx="1"/>
          </p:nvPr>
        </p:nvSpPr>
        <p:spPr/>
        <p:txBody>
          <a:bodyPr/>
          <a:lstStyle/>
          <a:p>
            <a:r>
              <a:rPr lang="en-US" dirty="0"/>
              <a:t>The primary objectives of this project are:</a:t>
            </a:r>
          </a:p>
          <a:p>
            <a:r>
              <a:rPr lang="en-US" dirty="0"/>
              <a:t>To design a structured database capturing occupation-specific risk factors</a:t>
            </a:r>
          </a:p>
          <a:p>
            <a:r>
              <a:rPr lang="en-US" dirty="0"/>
              <a:t>To quantify occupational risk using measurable and interpretable components</a:t>
            </a:r>
          </a:p>
          <a:p>
            <a:r>
              <a:rPr lang="en-US" dirty="0"/>
              <a:t>To compute a composite occupational risk score</a:t>
            </a:r>
          </a:p>
          <a:p>
            <a:r>
              <a:rPr lang="en-US" dirty="0"/>
              <a:t>To classify occupations into standardized risk categories</a:t>
            </a:r>
          </a:p>
          <a:p>
            <a:r>
              <a:rPr lang="en-US" dirty="0"/>
              <a:t>To support underwriting and premium decision-making</a:t>
            </a:r>
          </a:p>
          <a:p>
            <a:r>
              <a:rPr lang="en-US" dirty="0"/>
              <a:t>To visualize occupational risk distribution and composition</a:t>
            </a:r>
          </a:p>
          <a:p>
            <a:endParaRPr lang="en-US" dirty="0"/>
          </a:p>
        </p:txBody>
      </p:sp>
    </p:spTree>
    <p:extLst>
      <p:ext uri="{BB962C8B-B14F-4D97-AF65-F5344CB8AC3E}">
        <p14:creationId xmlns:p14="http://schemas.microsoft.com/office/powerpoint/2010/main" val="34710218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Dataset Description</a:t>
            </a:r>
          </a:p>
        </p:txBody>
      </p:sp>
      <p:sp>
        <p:nvSpPr>
          <p:cNvPr id="3" name="Content Placeholder 2"/>
          <p:cNvSpPr>
            <a:spLocks noGrp="1"/>
          </p:cNvSpPr>
          <p:nvPr>
            <p:ph idx="1"/>
          </p:nvPr>
        </p:nvSpPr>
        <p:spPr/>
        <p:txBody>
          <a:bodyPr/>
          <a:lstStyle/>
          <a:p>
            <a:r>
              <a:rPr lang="en-US" dirty="0"/>
              <a:t>A simulated dataset representing common professions is used for analytical demonstration</a:t>
            </a:r>
            <a:r>
              <a:rPr lang="en-US" dirty="0" smtClean="0"/>
              <a:t>.</a:t>
            </a:r>
          </a:p>
          <a:p>
            <a:r>
              <a:rPr lang="en-US" b="1" dirty="0"/>
              <a:t>Dataset </a:t>
            </a:r>
            <a:r>
              <a:rPr lang="en-US" b="1" dirty="0" smtClean="0"/>
              <a:t>Attributes – </a:t>
            </a:r>
          </a:p>
          <a:p>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3788446009"/>
              </p:ext>
            </p:extLst>
          </p:nvPr>
        </p:nvGraphicFramePr>
        <p:xfrm>
          <a:off x="838200" y="3351589"/>
          <a:ext cx="10515600" cy="1828800"/>
        </p:xfrm>
        <a:graphic>
          <a:graphicData uri="http://schemas.openxmlformats.org/drawingml/2006/table">
            <a:tbl>
              <a:tblPr/>
              <a:tblGrid>
                <a:gridCol w="5257800">
                  <a:extLst>
                    <a:ext uri="{9D8B030D-6E8A-4147-A177-3AD203B41FA5}">
                      <a16:colId xmlns:a16="http://schemas.microsoft.com/office/drawing/2014/main" val="2162383277"/>
                    </a:ext>
                  </a:extLst>
                </a:gridCol>
                <a:gridCol w="5257800">
                  <a:extLst>
                    <a:ext uri="{9D8B030D-6E8A-4147-A177-3AD203B41FA5}">
                      <a16:colId xmlns:a16="http://schemas.microsoft.com/office/drawing/2014/main" val="2970417156"/>
                    </a:ext>
                  </a:extLst>
                </a:gridCol>
              </a:tblGrid>
              <a:tr h="0">
                <a:tc>
                  <a:txBody>
                    <a:bodyPr/>
                    <a:lstStyle/>
                    <a:p>
                      <a:r>
                        <a:rPr lang="en-US" b="1"/>
                        <a:t>Attribute</a:t>
                      </a:r>
                    </a:p>
                  </a:txBody>
                  <a:tcPr anchor="ctr">
                    <a:lnL>
                      <a:noFill/>
                    </a:lnL>
                    <a:lnR>
                      <a:noFill/>
                    </a:lnR>
                    <a:lnT>
                      <a:noFill/>
                    </a:lnT>
                    <a:lnB>
                      <a:noFill/>
                    </a:lnB>
                  </a:tcPr>
                </a:tc>
                <a:tc>
                  <a:txBody>
                    <a:bodyPr/>
                    <a:lstStyle/>
                    <a:p>
                      <a:r>
                        <a:rPr lang="en-US" b="1"/>
                        <a:t>Description</a:t>
                      </a:r>
                    </a:p>
                  </a:txBody>
                  <a:tcPr anchor="ctr">
                    <a:lnL>
                      <a:noFill/>
                    </a:lnL>
                    <a:lnR>
                      <a:noFill/>
                    </a:lnR>
                    <a:lnT>
                      <a:noFill/>
                    </a:lnT>
                    <a:lnB>
                      <a:noFill/>
                    </a:lnB>
                  </a:tcPr>
                </a:tc>
                <a:extLst>
                  <a:ext uri="{0D108BD9-81ED-4DB2-BD59-A6C34878D82A}">
                    <a16:rowId xmlns:a16="http://schemas.microsoft.com/office/drawing/2014/main" val="2902632467"/>
                  </a:ext>
                </a:extLst>
              </a:tr>
              <a:tr h="0">
                <a:tc>
                  <a:txBody>
                    <a:bodyPr/>
                    <a:lstStyle/>
                    <a:p>
                      <a:r>
                        <a:rPr lang="en-US" b="1"/>
                        <a:t>Occupation</a:t>
                      </a:r>
                    </a:p>
                  </a:txBody>
                  <a:tcPr anchor="ctr">
                    <a:lnL>
                      <a:noFill/>
                    </a:lnL>
                    <a:lnR>
                      <a:noFill/>
                    </a:lnR>
                    <a:lnT>
                      <a:noFill/>
                    </a:lnT>
                    <a:lnB>
                      <a:noFill/>
                    </a:lnB>
                  </a:tcPr>
                </a:tc>
                <a:tc>
                  <a:txBody>
                    <a:bodyPr/>
                    <a:lstStyle/>
                    <a:p>
                      <a:r>
                        <a:rPr lang="en-US" b="1"/>
                        <a:t>Job role of the individual</a:t>
                      </a:r>
                    </a:p>
                  </a:txBody>
                  <a:tcPr anchor="ctr">
                    <a:lnL>
                      <a:noFill/>
                    </a:lnL>
                    <a:lnR>
                      <a:noFill/>
                    </a:lnR>
                    <a:lnT>
                      <a:noFill/>
                    </a:lnT>
                    <a:lnB>
                      <a:noFill/>
                    </a:lnB>
                  </a:tcPr>
                </a:tc>
                <a:extLst>
                  <a:ext uri="{0D108BD9-81ED-4DB2-BD59-A6C34878D82A}">
                    <a16:rowId xmlns:a16="http://schemas.microsoft.com/office/drawing/2014/main" val="1827986001"/>
                  </a:ext>
                </a:extLst>
              </a:tr>
              <a:tr h="0">
                <a:tc>
                  <a:txBody>
                    <a:bodyPr/>
                    <a:lstStyle/>
                    <a:p>
                      <a:r>
                        <a:rPr lang="en-US" b="1"/>
                        <a:t>Physical Risk Score</a:t>
                      </a:r>
                    </a:p>
                  </a:txBody>
                  <a:tcPr anchor="ctr">
                    <a:lnL>
                      <a:noFill/>
                    </a:lnL>
                    <a:lnR>
                      <a:noFill/>
                    </a:lnR>
                    <a:lnT>
                      <a:noFill/>
                    </a:lnT>
                    <a:lnB>
                      <a:noFill/>
                    </a:lnB>
                  </a:tcPr>
                </a:tc>
                <a:tc>
                  <a:txBody>
                    <a:bodyPr/>
                    <a:lstStyle/>
                    <a:p>
                      <a:r>
                        <a:rPr lang="en-US" b="1"/>
                        <a:t>Physical strain and injury exposure</a:t>
                      </a:r>
                    </a:p>
                  </a:txBody>
                  <a:tcPr anchor="ctr">
                    <a:lnL>
                      <a:noFill/>
                    </a:lnL>
                    <a:lnR>
                      <a:noFill/>
                    </a:lnR>
                    <a:lnT>
                      <a:noFill/>
                    </a:lnT>
                    <a:lnB>
                      <a:noFill/>
                    </a:lnB>
                  </a:tcPr>
                </a:tc>
                <a:extLst>
                  <a:ext uri="{0D108BD9-81ED-4DB2-BD59-A6C34878D82A}">
                    <a16:rowId xmlns:a16="http://schemas.microsoft.com/office/drawing/2014/main" val="2707787282"/>
                  </a:ext>
                </a:extLst>
              </a:tr>
              <a:tr h="0">
                <a:tc>
                  <a:txBody>
                    <a:bodyPr/>
                    <a:lstStyle/>
                    <a:p>
                      <a:r>
                        <a:rPr lang="en-US" b="1"/>
                        <a:t>Stress Risk Score</a:t>
                      </a:r>
                    </a:p>
                  </a:txBody>
                  <a:tcPr anchor="ctr">
                    <a:lnL>
                      <a:noFill/>
                    </a:lnL>
                    <a:lnR>
                      <a:noFill/>
                    </a:lnR>
                    <a:lnT>
                      <a:noFill/>
                    </a:lnT>
                    <a:lnB>
                      <a:noFill/>
                    </a:lnB>
                  </a:tcPr>
                </a:tc>
                <a:tc>
                  <a:txBody>
                    <a:bodyPr/>
                    <a:lstStyle/>
                    <a:p>
                      <a:r>
                        <a:rPr lang="en-US" b="1"/>
                        <a:t>Psychological and mental workload</a:t>
                      </a:r>
                    </a:p>
                  </a:txBody>
                  <a:tcPr anchor="ctr">
                    <a:lnL>
                      <a:noFill/>
                    </a:lnL>
                    <a:lnR>
                      <a:noFill/>
                    </a:lnR>
                    <a:lnT>
                      <a:noFill/>
                    </a:lnT>
                    <a:lnB>
                      <a:noFill/>
                    </a:lnB>
                  </a:tcPr>
                </a:tc>
                <a:extLst>
                  <a:ext uri="{0D108BD9-81ED-4DB2-BD59-A6C34878D82A}">
                    <a16:rowId xmlns:a16="http://schemas.microsoft.com/office/drawing/2014/main" val="1670264647"/>
                  </a:ext>
                </a:extLst>
              </a:tr>
              <a:tr h="0">
                <a:tc>
                  <a:txBody>
                    <a:bodyPr/>
                    <a:lstStyle/>
                    <a:p>
                      <a:r>
                        <a:rPr lang="en-US" b="1"/>
                        <a:t>Accident Risk Score</a:t>
                      </a:r>
                    </a:p>
                  </a:txBody>
                  <a:tcPr anchor="ctr">
                    <a:lnL>
                      <a:noFill/>
                    </a:lnL>
                    <a:lnR>
                      <a:noFill/>
                    </a:lnR>
                    <a:lnT>
                      <a:noFill/>
                    </a:lnT>
                    <a:lnB>
                      <a:noFill/>
                    </a:lnB>
                  </a:tcPr>
                </a:tc>
                <a:tc>
                  <a:txBody>
                    <a:bodyPr/>
                    <a:lstStyle/>
                    <a:p>
                      <a:r>
                        <a:rPr lang="en-US" b="1" dirty="0"/>
                        <a:t>Probability of work-related accidents</a:t>
                      </a:r>
                    </a:p>
                  </a:txBody>
                  <a:tcPr anchor="ctr">
                    <a:lnL>
                      <a:noFill/>
                    </a:lnL>
                    <a:lnR>
                      <a:noFill/>
                    </a:lnR>
                    <a:lnT>
                      <a:noFill/>
                    </a:lnT>
                    <a:lnB>
                      <a:noFill/>
                    </a:lnB>
                  </a:tcPr>
                </a:tc>
                <a:extLst>
                  <a:ext uri="{0D108BD9-81ED-4DB2-BD59-A6C34878D82A}">
                    <a16:rowId xmlns:a16="http://schemas.microsoft.com/office/drawing/2014/main" val="2584191181"/>
                  </a:ext>
                </a:extLst>
              </a:tr>
            </a:tbl>
          </a:graphicData>
        </a:graphic>
      </p:graphicFrame>
      <p:sp>
        <p:nvSpPr>
          <p:cNvPr id="5" name="Rectangle 4"/>
          <p:cNvSpPr/>
          <p:nvPr/>
        </p:nvSpPr>
        <p:spPr>
          <a:xfrm>
            <a:off x="838199" y="5590492"/>
            <a:ext cx="8329864" cy="461665"/>
          </a:xfrm>
          <a:prstGeom prst="rect">
            <a:avLst/>
          </a:prstGeom>
        </p:spPr>
        <p:txBody>
          <a:bodyPr wrap="square">
            <a:spAutoFit/>
          </a:bodyPr>
          <a:lstStyle/>
          <a:p>
            <a:r>
              <a:rPr lang="en-US" sz="2400" dirty="0"/>
              <a:t>Each risk score ranges from </a:t>
            </a:r>
            <a:r>
              <a:rPr lang="en-US" sz="2400" b="1" dirty="0"/>
              <a:t>1 (Low Risk)</a:t>
            </a:r>
            <a:r>
              <a:rPr lang="en-US" sz="2400" dirty="0"/>
              <a:t> to </a:t>
            </a:r>
            <a:r>
              <a:rPr lang="en-US" sz="2400" b="1" dirty="0"/>
              <a:t>10 (High Risk)</a:t>
            </a:r>
            <a:r>
              <a:rPr lang="en-US" sz="2400" dirty="0"/>
              <a:t>.</a:t>
            </a:r>
          </a:p>
        </p:txBody>
      </p:sp>
    </p:spTree>
    <p:extLst>
      <p:ext uri="{BB962C8B-B14F-4D97-AF65-F5344CB8AC3E}">
        <p14:creationId xmlns:p14="http://schemas.microsoft.com/office/powerpoint/2010/main" val="38369419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Risk Scoring Methodology</a:t>
            </a:r>
          </a:p>
        </p:txBody>
      </p:sp>
      <p:sp>
        <p:nvSpPr>
          <p:cNvPr id="3" name="Content Placeholder 2"/>
          <p:cNvSpPr>
            <a:spLocks noGrp="1"/>
          </p:cNvSpPr>
          <p:nvPr>
            <p:ph idx="1"/>
          </p:nvPr>
        </p:nvSpPr>
        <p:spPr/>
        <p:txBody>
          <a:bodyPr/>
          <a:lstStyle/>
          <a:p>
            <a:r>
              <a:rPr lang="en-US" dirty="0" smtClean="0"/>
              <a:t>Occupational risk is multidimensional. To capture this, a </a:t>
            </a:r>
            <a:r>
              <a:rPr lang="en-US" b="1" dirty="0" smtClean="0"/>
              <a:t>composite risk score</a:t>
            </a:r>
            <a:r>
              <a:rPr lang="en-US" dirty="0" smtClean="0"/>
              <a:t> is calculated using weighted aggregation:</a:t>
            </a:r>
          </a:p>
          <a:p>
            <a:r>
              <a:rPr lang="en-US" b="1" dirty="0" smtClean="0"/>
              <a:t>Physical Risk:</a:t>
            </a:r>
            <a:r>
              <a:rPr lang="en-US" dirty="0" smtClean="0"/>
              <a:t> 40%</a:t>
            </a:r>
          </a:p>
          <a:p>
            <a:r>
              <a:rPr lang="en-US" b="1" dirty="0" smtClean="0"/>
              <a:t>Stress Risk:</a:t>
            </a:r>
            <a:r>
              <a:rPr lang="en-US" dirty="0" smtClean="0"/>
              <a:t> 30%</a:t>
            </a:r>
          </a:p>
          <a:p>
            <a:r>
              <a:rPr lang="en-US" b="1" dirty="0" smtClean="0"/>
              <a:t>Accident Risk:</a:t>
            </a:r>
            <a:r>
              <a:rPr lang="en-US" dirty="0" smtClean="0"/>
              <a:t> 30%</a:t>
            </a:r>
          </a:p>
          <a:p>
            <a:pPr marL="0" indent="0">
              <a:buNone/>
            </a:pPr>
            <a:endParaRPr lang="en-US" dirty="0"/>
          </a:p>
        </p:txBody>
      </p:sp>
      <p:sp>
        <p:nvSpPr>
          <p:cNvPr id="4" name="Rectangle 3"/>
          <p:cNvSpPr/>
          <p:nvPr/>
        </p:nvSpPr>
        <p:spPr>
          <a:xfrm>
            <a:off x="1036694" y="4555777"/>
            <a:ext cx="9707506" cy="830997"/>
          </a:xfrm>
          <a:prstGeom prst="rect">
            <a:avLst/>
          </a:prstGeom>
        </p:spPr>
        <p:txBody>
          <a:bodyPr wrap="square">
            <a:spAutoFit/>
          </a:bodyPr>
          <a:lstStyle/>
          <a:p>
            <a:r>
              <a:rPr lang="en-US" sz="2400" b="1" dirty="0"/>
              <a:t>Composite Risk </a:t>
            </a:r>
            <a:r>
              <a:rPr lang="en-US" sz="2400" b="1" dirty="0" smtClean="0"/>
              <a:t>Formula –</a:t>
            </a:r>
          </a:p>
          <a:p>
            <a:r>
              <a:rPr lang="en-US" sz="2400" dirty="0"/>
              <a:t>Overall Risk Score=0.4×Physical Risk+0.3×Stress Risk+0.3×Accident Risk</a:t>
            </a:r>
            <a:r>
              <a:rPr lang="en-US" sz="2400" b="1" dirty="0" smtClean="0"/>
              <a:t> </a:t>
            </a:r>
            <a:endParaRPr lang="en-US" sz="2400" b="1" dirty="0"/>
          </a:p>
        </p:txBody>
      </p:sp>
      <p:sp>
        <p:nvSpPr>
          <p:cNvPr id="5" name="Rectangle 4"/>
          <p:cNvSpPr/>
          <p:nvPr/>
        </p:nvSpPr>
        <p:spPr>
          <a:xfrm>
            <a:off x="1036694" y="5602561"/>
            <a:ext cx="6096000" cy="646331"/>
          </a:xfrm>
          <a:prstGeom prst="rect">
            <a:avLst/>
          </a:prstGeom>
        </p:spPr>
        <p:txBody>
          <a:bodyPr>
            <a:spAutoFit/>
          </a:bodyPr>
          <a:lstStyle/>
          <a:p>
            <a:r>
              <a:rPr lang="en-US" dirty="0"/>
              <a:t>This weighting reflects insurance industry priorities, where physical and accident risks often result in higher claim severity.</a:t>
            </a:r>
          </a:p>
        </p:txBody>
      </p:sp>
    </p:spTree>
    <p:extLst>
      <p:ext uri="{BB962C8B-B14F-4D97-AF65-F5344CB8AC3E}">
        <p14:creationId xmlns:p14="http://schemas.microsoft.com/office/powerpoint/2010/main" val="546289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Risk Classification Logic</a:t>
            </a:r>
          </a:p>
        </p:txBody>
      </p:sp>
      <p:sp>
        <p:nvSpPr>
          <p:cNvPr id="3" name="Content Placeholder 2"/>
          <p:cNvSpPr>
            <a:spLocks noGrp="1"/>
          </p:cNvSpPr>
          <p:nvPr>
            <p:ph idx="1"/>
          </p:nvPr>
        </p:nvSpPr>
        <p:spPr/>
        <p:txBody>
          <a:bodyPr/>
          <a:lstStyle/>
          <a:p>
            <a:r>
              <a:rPr lang="en-US" dirty="0"/>
              <a:t>Based on the computed overall risk score, occupations are categorized into</a:t>
            </a:r>
            <a:r>
              <a:rPr lang="en-US" dirty="0" smtClean="0"/>
              <a:t>:</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218341476"/>
              </p:ext>
            </p:extLst>
          </p:nvPr>
        </p:nvGraphicFramePr>
        <p:xfrm>
          <a:off x="838200" y="3269774"/>
          <a:ext cx="10515600" cy="1463040"/>
        </p:xfrm>
        <a:graphic>
          <a:graphicData uri="http://schemas.openxmlformats.org/drawingml/2006/table">
            <a:tbl>
              <a:tblPr/>
              <a:tblGrid>
                <a:gridCol w="5257800">
                  <a:extLst>
                    <a:ext uri="{9D8B030D-6E8A-4147-A177-3AD203B41FA5}">
                      <a16:colId xmlns:a16="http://schemas.microsoft.com/office/drawing/2014/main" val="4212487328"/>
                    </a:ext>
                  </a:extLst>
                </a:gridCol>
                <a:gridCol w="5257800">
                  <a:extLst>
                    <a:ext uri="{9D8B030D-6E8A-4147-A177-3AD203B41FA5}">
                      <a16:colId xmlns:a16="http://schemas.microsoft.com/office/drawing/2014/main" val="3342542593"/>
                    </a:ext>
                  </a:extLst>
                </a:gridCol>
              </a:tblGrid>
              <a:tr h="0">
                <a:tc>
                  <a:txBody>
                    <a:bodyPr/>
                    <a:lstStyle/>
                    <a:p>
                      <a:r>
                        <a:rPr lang="en-US" b="1"/>
                        <a:t>Risk Category</a:t>
                      </a:r>
                    </a:p>
                  </a:txBody>
                  <a:tcPr anchor="ctr">
                    <a:lnL>
                      <a:noFill/>
                    </a:lnL>
                    <a:lnR>
                      <a:noFill/>
                    </a:lnR>
                    <a:lnT>
                      <a:noFill/>
                    </a:lnT>
                    <a:lnB>
                      <a:noFill/>
                    </a:lnB>
                  </a:tcPr>
                </a:tc>
                <a:tc>
                  <a:txBody>
                    <a:bodyPr/>
                    <a:lstStyle/>
                    <a:p>
                      <a:r>
                        <a:rPr lang="en-US" b="1"/>
                        <a:t>Interpretation</a:t>
                      </a:r>
                    </a:p>
                  </a:txBody>
                  <a:tcPr anchor="ctr">
                    <a:lnL>
                      <a:noFill/>
                    </a:lnL>
                    <a:lnR>
                      <a:noFill/>
                    </a:lnR>
                    <a:lnT>
                      <a:noFill/>
                    </a:lnT>
                    <a:lnB>
                      <a:noFill/>
                    </a:lnB>
                  </a:tcPr>
                </a:tc>
                <a:extLst>
                  <a:ext uri="{0D108BD9-81ED-4DB2-BD59-A6C34878D82A}">
                    <a16:rowId xmlns:a16="http://schemas.microsoft.com/office/drawing/2014/main" val="1654982579"/>
                  </a:ext>
                </a:extLst>
              </a:tr>
              <a:tr h="0">
                <a:tc>
                  <a:txBody>
                    <a:bodyPr/>
                    <a:lstStyle/>
                    <a:p>
                      <a:r>
                        <a:rPr lang="en-US" b="1"/>
                        <a:t>Low Risk</a:t>
                      </a:r>
                    </a:p>
                  </a:txBody>
                  <a:tcPr anchor="ctr">
                    <a:lnL>
                      <a:noFill/>
                    </a:lnL>
                    <a:lnR>
                      <a:noFill/>
                    </a:lnR>
                    <a:lnT>
                      <a:noFill/>
                    </a:lnT>
                    <a:lnB>
                      <a:noFill/>
                    </a:lnB>
                  </a:tcPr>
                </a:tc>
                <a:tc>
                  <a:txBody>
                    <a:bodyPr/>
                    <a:lstStyle/>
                    <a:p>
                      <a:r>
                        <a:rPr lang="en-US" b="1"/>
                        <a:t>Preferred underwriting</a:t>
                      </a:r>
                    </a:p>
                  </a:txBody>
                  <a:tcPr anchor="ctr">
                    <a:lnL>
                      <a:noFill/>
                    </a:lnL>
                    <a:lnR>
                      <a:noFill/>
                    </a:lnR>
                    <a:lnT>
                      <a:noFill/>
                    </a:lnT>
                    <a:lnB>
                      <a:noFill/>
                    </a:lnB>
                  </a:tcPr>
                </a:tc>
                <a:extLst>
                  <a:ext uri="{0D108BD9-81ED-4DB2-BD59-A6C34878D82A}">
                    <a16:rowId xmlns:a16="http://schemas.microsoft.com/office/drawing/2014/main" val="719797265"/>
                  </a:ext>
                </a:extLst>
              </a:tr>
              <a:tr h="0">
                <a:tc>
                  <a:txBody>
                    <a:bodyPr/>
                    <a:lstStyle/>
                    <a:p>
                      <a:r>
                        <a:rPr lang="en-US" b="1"/>
                        <a:t>Medium Risk</a:t>
                      </a:r>
                    </a:p>
                  </a:txBody>
                  <a:tcPr anchor="ctr">
                    <a:lnL>
                      <a:noFill/>
                    </a:lnL>
                    <a:lnR>
                      <a:noFill/>
                    </a:lnR>
                    <a:lnT>
                      <a:noFill/>
                    </a:lnT>
                    <a:lnB>
                      <a:noFill/>
                    </a:lnB>
                  </a:tcPr>
                </a:tc>
                <a:tc>
                  <a:txBody>
                    <a:bodyPr/>
                    <a:lstStyle/>
                    <a:p>
                      <a:r>
                        <a:rPr lang="en-US" b="1"/>
                        <a:t>Standard underwriting</a:t>
                      </a:r>
                    </a:p>
                  </a:txBody>
                  <a:tcPr anchor="ctr">
                    <a:lnL>
                      <a:noFill/>
                    </a:lnL>
                    <a:lnR>
                      <a:noFill/>
                    </a:lnR>
                    <a:lnT>
                      <a:noFill/>
                    </a:lnT>
                    <a:lnB>
                      <a:noFill/>
                    </a:lnB>
                  </a:tcPr>
                </a:tc>
                <a:extLst>
                  <a:ext uri="{0D108BD9-81ED-4DB2-BD59-A6C34878D82A}">
                    <a16:rowId xmlns:a16="http://schemas.microsoft.com/office/drawing/2014/main" val="767015221"/>
                  </a:ext>
                </a:extLst>
              </a:tr>
              <a:tr h="0">
                <a:tc>
                  <a:txBody>
                    <a:bodyPr/>
                    <a:lstStyle/>
                    <a:p>
                      <a:r>
                        <a:rPr lang="en-US" b="1" dirty="0"/>
                        <a:t>High Risk</a:t>
                      </a:r>
                    </a:p>
                  </a:txBody>
                  <a:tcPr anchor="ctr">
                    <a:lnL>
                      <a:noFill/>
                    </a:lnL>
                    <a:lnR>
                      <a:noFill/>
                    </a:lnR>
                    <a:lnT>
                      <a:noFill/>
                    </a:lnT>
                    <a:lnB>
                      <a:noFill/>
                    </a:lnB>
                  </a:tcPr>
                </a:tc>
                <a:tc>
                  <a:txBody>
                    <a:bodyPr/>
                    <a:lstStyle/>
                    <a:p>
                      <a:r>
                        <a:rPr lang="en-US" b="1" dirty="0"/>
                        <a:t>High premium or restricted coverage</a:t>
                      </a:r>
                    </a:p>
                  </a:txBody>
                  <a:tcPr anchor="ctr">
                    <a:lnL>
                      <a:noFill/>
                    </a:lnL>
                    <a:lnR>
                      <a:noFill/>
                    </a:lnR>
                    <a:lnT>
                      <a:noFill/>
                    </a:lnT>
                    <a:lnB>
                      <a:noFill/>
                    </a:lnB>
                  </a:tcPr>
                </a:tc>
                <a:extLst>
                  <a:ext uri="{0D108BD9-81ED-4DB2-BD59-A6C34878D82A}">
                    <a16:rowId xmlns:a16="http://schemas.microsoft.com/office/drawing/2014/main" val="992419150"/>
                  </a:ext>
                </a:extLst>
              </a:tr>
            </a:tbl>
          </a:graphicData>
        </a:graphic>
      </p:graphicFrame>
      <p:sp>
        <p:nvSpPr>
          <p:cNvPr id="5" name="Rectangle 4"/>
          <p:cNvSpPr/>
          <p:nvPr/>
        </p:nvSpPr>
        <p:spPr>
          <a:xfrm>
            <a:off x="838200" y="5253633"/>
            <a:ext cx="10098505" cy="646331"/>
          </a:xfrm>
          <a:prstGeom prst="rect">
            <a:avLst/>
          </a:prstGeom>
        </p:spPr>
        <p:txBody>
          <a:bodyPr wrap="square">
            <a:spAutoFit/>
          </a:bodyPr>
          <a:lstStyle/>
          <a:p>
            <a:r>
              <a:rPr lang="en-US" dirty="0"/>
              <a:t>This </a:t>
            </a:r>
            <a:r>
              <a:rPr lang="en-US" b="1" dirty="0"/>
              <a:t>rule-based classification</a:t>
            </a:r>
            <a:r>
              <a:rPr lang="en-US" dirty="0"/>
              <a:t> ensures transparency, consistency, and </a:t>
            </a:r>
            <a:r>
              <a:rPr lang="en-US" dirty="0" err="1"/>
              <a:t>explainability</a:t>
            </a:r>
            <a:r>
              <a:rPr lang="en-US" dirty="0"/>
              <a:t>—key requirements in regulated insurance environments.</a:t>
            </a:r>
          </a:p>
        </p:txBody>
      </p:sp>
    </p:spTree>
    <p:extLst>
      <p:ext uri="{BB962C8B-B14F-4D97-AF65-F5344CB8AC3E}">
        <p14:creationId xmlns:p14="http://schemas.microsoft.com/office/powerpoint/2010/main" val="36859584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2523" y="1921030"/>
            <a:ext cx="5266954" cy="4160528"/>
          </a:xfrm>
        </p:spPr>
      </p:pic>
    </p:spTree>
    <p:extLst>
      <p:ext uri="{BB962C8B-B14F-4D97-AF65-F5344CB8AC3E}">
        <p14:creationId xmlns:p14="http://schemas.microsoft.com/office/powerpoint/2010/main" val="1414648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smtClean="0"/>
              <a:t>Visualization </a:t>
            </a:r>
            <a:r>
              <a:rPr lang="en-US" b="1" dirty="0"/>
              <a:t>and Analytics</a:t>
            </a:r>
            <a:br>
              <a:rPr lang="en-US" b="1" dirty="0"/>
            </a:br>
            <a:endParaRPr lang="en-US" b="1" dirty="0"/>
          </a:p>
        </p:txBody>
      </p:sp>
      <p:sp>
        <p:nvSpPr>
          <p:cNvPr id="3" name="Content Placeholder 2"/>
          <p:cNvSpPr>
            <a:spLocks noGrp="1"/>
          </p:cNvSpPr>
          <p:nvPr>
            <p:ph idx="1"/>
          </p:nvPr>
        </p:nvSpPr>
        <p:spPr/>
        <p:txBody>
          <a:bodyPr>
            <a:normAutofit fontScale="92500"/>
          </a:bodyPr>
          <a:lstStyle/>
          <a:p>
            <a:r>
              <a:rPr lang="en-US" b="1" dirty="0"/>
              <a:t>6.1 Histogram – Distribution of Occupational Risk Scores</a:t>
            </a:r>
          </a:p>
          <a:p>
            <a:r>
              <a:rPr lang="en-US" b="1" dirty="0"/>
              <a:t>Purpose:</a:t>
            </a:r>
            <a:r>
              <a:rPr lang="en-US" dirty="0"/>
              <a:t/>
            </a:r>
            <a:br>
              <a:rPr lang="en-US" dirty="0"/>
            </a:br>
            <a:r>
              <a:rPr lang="en-US" dirty="0"/>
              <a:t>To examine how occupational risk scores are distributed across professions.</a:t>
            </a:r>
          </a:p>
          <a:p>
            <a:r>
              <a:rPr lang="en-US" b="1" dirty="0"/>
              <a:t>Insights:</a:t>
            </a:r>
            <a:endParaRPr lang="en-US" dirty="0"/>
          </a:p>
          <a:p>
            <a:r>
              <a:rPr lang="en-US" dirty="0"/>
              <a:t>Clear separation between low, medium, and high-risk occupations</a:t>
            </a:r>
          </a:p>
          <a:p>
            <a:r>
              <a:rPr lang="en-US" dirty="0"/>
              <a:t>Concentration of high-risk scores at the upper end of the distribution</a:t>
            </a:r>
          </a:p>
          <a:p>
            <a:r>
              <a:rPr lang="en-US" dirty="0"/>
              <a:t>Supports the validity of threshold-based classification</a:t>
            </a:r>
          </a:p>
          <a:p>
            <a:r>
              <a:rPr lang="en-US" b="1" dirty="0"/>
              <a:t>Business Value:</a:t>
            </a:r>
            <a:r>
              <a:rPr lang="en-US" dirty="0"/>
              <a:t/>
            </a:r>
            <a:br>
              <a:rPr lang="en-US" dirty="0"/>
            </a:br>
            <a:r>
              <a:rPr lang="en-US" dirty="0"/>
              <a:t>Helps insurers assess portfolio-level risk concentration and diversification.</a:t>
            </a:r>
          </a:p>
          <a:p>
            <a:endParaRPr lang="en-US" dirty="0"/>
          </a:p>
        </p:txBody>
      </p:sp>
    </p:spTree>
    <p:extLst>
      <p:ext uri="{BB962C8B-B14F-4D97-AF65-F5344CB8AC3E}">
        <p14:creationId xmlns:p14="http://schemas.microsoft.com/office/powerpoint/2010/main" val="19877104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91969" y="1825625"/>
            <a:ext cx="4808062" cy="4351338"/>
          </a:xfrm>
        </p:spPr>
      </p:pic>
    </p:spTree>
    <p:extLst>
      <p:ext uri="{BB962C8B-B14F-4D97-AF65-F5344CB8AC3E}">
        <p14:creationId xmlns:p14="http://schemas.microsoft.com/office/powerpoint/2010/main" val="33212553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p>
        </p:txBody>
      </p:sp>
      <p:sp>
        <p:nvSpPr>
          <p:cNvPr id="3" name="Content Placeholder 2"/>
          <p:cNvSpPr>
            <a:spLocks noGrp="1"/>
          </p:cNvSpPr>
          <p:nvPr>
            <p:ph idx="1"/>
          </p:nvPr>
        </p:nvSpPr>
        <p:spPr/>
        <p:txBody>
          <a:bodyPr>
            <a:normAutofit fontScale="92500" lnSpcReduction="10000"/>
          </a:bodyPr>
          <a:lstStyle/>
          <a:p>
            <a:r>
              <a:rPr lang="en-US" b="1" dirty="0"/>
              <a:t>6.2 Bar Chart – Overall Risk Comparison by Occupation</a:t>
            </a:r>
          </a:p>
          <a:p>
            <a:r>
              <a:rPr lang="en-US" b="1" dirty="0"/>
              <a:t>Purpose:</a:t>
            </a:r>
            <a:r>
              <a:rPr lang="en-US" dirty="0"/>
              <a:t/>
            </a:r>
            <a:br>
              <a:rPr lang="en-US" dirty="0"/>
            </a:br>
            <a:r>
              <a:rPr lang="en-US" dirty="0"/>
              <a:t>To compare overall occupational risk scores across different professions.</a:t>
            </a:r>
          </a:p>
          <a:p>
            <a:r>
              <a:rPr lang="en-US" b="1" dirty="0"/>
              <a:t>Insights:</a:t>
            </a:r>
            <a:endParaRPr lang="en-US" dirty="0"/>
          </a:p>
          <a:p>
            <a:r>
              <a:rPr lang="en-US" dirty="0"/>
              <a:t>Physically intensive professions (e.g., firefighters, construction workers) exhibit higher risk</a:t>
            </a:r>
          </a:p>
          <a:p>
            <a:r>
              <a:rPr lang="en-US" dirty="0"/>
              <a:t>Desk-based professions show consistently lower risk</a:t>
            </a:r>
          </a:p>
          <a:p>
            <a:r>
              <a:rPr lang="en-US" dirty="0"/>
              <a:t>Medium-risk professions occupy a clearly defined middle range</a:t>
            </a:r>
          </a:p>
          <a:p>
            <a:r>
              <a:rPr lang="en-US" b="1" dirty="0"/>
              <a:t>Business Value:</a:t>
            </a:r>
            <a:r>
              <a:rPr lang="en-US" dirty="0"/>
              <a:t/>
            </a:r>
            <a:br>
              <a:rPr lang="en-US" dirty="0"/>
            </a:br>
            <a:r>
              <a:rPr lang="en-US" dirty="0"/>
              <a:t>Enables premium differentiation and underwriting prioritization.</a:t>
            </a:r>
          </a:p>
          <a:p>
            <a:endParaRPr lang="en-US" dirty="0"/>
          </a:p>
        </p:txBody>
      </p:sp>
    </p:spTree>
    <p:extLst>
      <p:ext uri="{BB962C8B-B14F-4D97-AF65-F5344CB8AC3E}">
        <p14:creationId xmlns:p14="http://schemas.microsoft.com/office/powerpoint/2010/main" val="32613421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91969" y="1825625"/>
            <a:ext cx="4808062" cy="4351338"/>
          </a:xfrm>
        </p:spPr>
      </p:pic>
    </p:spTree>
    <p:extLst>
      <p:ext uri="{BB962C8B-B14F-4D97-AF65-F5344CB8AC3E}">
        <p14:creationId xmlns:p14="http://schemas.microsoft.com/office/powerpoint/2010/main" val="9864413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p>
        </p:txBody>
      </p:sp>
      <p:sp>
        <p:nvSpPr>
          <p:cNvPr id="3" name="Content Placeholder 2"/>
          <p:cNvSpPr>
            <a:spLocks noGrp="1"/>
          </p:cNvSpPr>
          <p:nvPr>
            <p:ph idx="1"/>
          </p:nvPr>
        </p:nvSpPr>
        <p:spPr/>
        <p:txBody>
          <a:bodyPr>
            <a:normAutofit fontScale="92500" lnSpcReduction="10000"/>
          </a:bodyPr>
          <a:lstStyle/>
          <a:p>
            <a:r>
              <a:rPr lang="en-US" b="1" dirty="0"/>
              <a:t>6.3 Stacked Bar Chart – Risk Component Decomposition</a:t>
            </a:r>
          </a:p>
          <a:p>
            <a:r>
              <a:rPr lang="en-US" b="1" dirty="0"/>
              <a:t>Purpose:</a:t>
            </a:r>
            <a:r>
              <a:rPr lang="en-US" dirty="0"/>
              <a:t/>
            </a:r>
            <a:br>
              <a:rPr lang="en-US" dirty="0"/>
            </a:br>
            <a:r>
              <a:rPr lang="en-US" dirty="0"/>
              <a:t>To identify </a:t>
            </a:r>
            <a:r>
              <a:rPr lang="en-US" b="1" dirty="0"/>
              <a:t>which risk factors drive total occupational risk</a:t>
            </a:r>
            <a:r>
              <a:rPr lang="en-US" dirty="0"/>
              <a:t>.</a:t>
            </a:r>
          </a:p>
          <a:p>
            <a:r>
              <a:rPr lang="en-US" b="1" dirty="0"/>
              <a:t>Insights:</a:t>
            </a:r>
            <a:endParaRPr lang="en-US" dirty="0"/>
          </a:p>
          <a:p>
            <a:r>
              <a:rPr lang="en-US" dirty="0"/>
              <a:t>High-risk occupations show strong contributions from all components</a:t>
            </a:r>
          </a:p>
          <a:p>
            <a:r>
              <a:rPr lang="en-US" dirty="0"/>
              <a:t>Some professions are dominated by specific risk types (e.g., stress or accident exposure)</a:t>
            </a:r>
          </a:p>
          <a:p>
            <a:r>
              <a:rPr lang="en-US" dirty="0"/>
              <a:t>Provides </a:t>
            </a:r>
            <a:r>
              <a:rPr lang="en-US" dirty="0" err="1"/>
              <a:t>explainability</a:t>
            </a:r>
            <a:r>
              <a:rPr lang="en-US" dirty="0"/>
              <a:t> for underwriting decisions</a:t>
            </a:r>
          </a:p>
          <a:p>
            <a:r>
              <a:rPr lang="en-US" b="1" dirty="0"/>
              <a:t>Business Value:</a:t>
            </a:r>
            <a:r>
              <a:rPr lang="en-US" dirty="0"/>
              <a:t/>
            </a:r>
            <a:br>
              <a:rPr lang="en-US" dirty="0"/>
            </a:br>
            <a:r>
              <a:rPr lang="en-US" dirty="0"/>
              <a:t>Supports component-specific policy exclusions, riders, and pricing adjustments.</a:t>
            </a:r>
          </a:p>
          <a:p>
            <a:endParaRPr lang="en-US" dirty="0"/>
          </a:p>
        </p:txBody>
      </p:sp>
    </p:spTree>
    <p:extLst>
      <p:ext uri="{BB962C8B-B14F-4D97-AF65-F5344CB8AC3E}">
        <p14:creationId xmlns:p14="http://schemas.microsoft.com/office/powerpoint/2010/main" val="3844726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91969" y="1825625"/>
            <a:ext cx="4808062" cy="4351338"/>
          </a:xfrm>
        </p:spPr>
      </p:pic>
    </p:spTree>
    <p:extLst>
      <p:ext uri="{BB962C8B-B14F-4D97-AF65-F5344CB8AC3E}">
        <p14:creationId xmlns:p14="http://schemas.microsoft.com/office/powerpoint/2010/main" val="4784636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p>
        </p:txBody>
      </p:sp>
      <p:sp>
        <p:nvSpPr>
          <p:cNvPr id="3" name="Content Placeholder 2"/>
          <p:cNvSpPr>
            <a:spLocks noGrp="1"/>
          </p:cNvSpPr>
          <p:nvPr>
            <p:ph idx="1"/>
          </p:nvPr>
        </p:nvSpPr>
        <p:spPr/>
        <p:txBody>
          <a:bodyPr>
            <a:normAutofit lnSpcReduction="10000"/>
          </a:bodyPr>
          <a:lstStyle/>
          <a:p>
            <a:r>
              <a:rPr lang="en-US" b="1" dirty="0"/>
              <a:t>6.4 Combined Stacked Bar Chart – Integrated Risk View</a:t>
            </a:r>
          </a:p>
          <a:p>
            <a:r>
              <a:rPr lang="en-US" b="1" dirty="0"/>
              <a:t>Purpose:</a:t>
            </a:r>
            <a:r>
              <a:rPr lang="en-US" dirty="0"/>
              <a:t/>
            </a:r>
            <a:br>
              <a:rPr lang="en-US" dirty="0"/>
            </a:br>
            <a:r>
              <a:rPr lang="en-US" dirty="0"/>
              <a:t>To combine </a:t>
            </a:r>
            <a:r>
              <a:rPr lang="en-US" b="1" dirty="0"/>
              <a:t>risk composition</a:t>
            </a:r>
            <a:r>
              <a:rPr lang="en-US" dirty="0"/>
              <a:t> and </a:t>
            </a:r>
            <a:r>
              <a:rPr lang="en-US" b="1" dirty="0"/>
              <a:t>overall risk magnitude</a:t>
            </a:r>
            <a:r>
              <a:rPr lang="en-US" dirty="0"/>
              <a:t> in a single visualization.</a:t>
            </a:r>
          </a:p>
          <a:p>
            <a:r>
              <a:rPr lang="en-US" b="1" dirty="0"/>
              <a:t>Insights:</a:t>
            </a:r>
            <a:endParaRPr lang="en-US" dirty="0"/>
          </a:p>
          <a:p>
            <a:r>
              <a:rPr lang="en-US" dirty="0"/>
              <a:t>Simultaneous assessment of total risk and its drivers</a:t>
            </a:r>
          </a:p>
          <a:p>
            <a:r>
              <a:rPr lang="en-US" dirty="0"/>
              <a:t>Easy cross-occupation comparison</a:t>
            </a:r>
          </a:p>
          <a:p>
            <a:r>
              <a:rPr lang="en-US" dirty="0"/>
              <a:t>Highlights occupations requiring underwriting attention</a:t>
            </a:r>
          </a:p>
          <a:p>
            <a:r>
              <a:rPr lang="en-US" b="1" dirty="0"/>
              <a:t>Business Value:</a:t>
            </a:r>
            <a:r>
              <a:rPr lang="en-US" dirty="0"/>
              <a:t/>
            </a:r>
            <a:br>
              <a:rPr lang="en-US" dirty="0"/>
            </a:br>
            <a:r>
              <a:rPr lang="en-US" dirty="0"/>
              <a:t>Ideal for management dashboards and underwriting committees.</a:t>
            </a:r>
          </a:p>
          <a:p>
            <a:endParaRPr lang="en-US" dirty="0"/>
          </a:p>
        </p:txBody>
      </p:sp>
    </p:spTree>
    <p:extLst>
      <p:ext uri="{BB962C8B-B14F-4D97-AF65-F5344CB8AC3E}">
        <p14:creationId xmlns:p14="http://schemas.microsoft.com/office/powerpoint/2010/main" val="38861578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Underwriting Decision Framework</a:t>
            </a:r>
          </a:p>
        </p:txBody>
      </p:sp>
      <p:sp>
        <p:nvSpPr>
          <p:cNvPr id="3" name="Content Placeholder 2"/>
          <p:cNvSpPr>
            <a:spLocks noGrp="1"/>
          </p:cNvSpPr>
          <p:nvPr>
            <p:ph idx="1"/>
          </p:nvPr>
        </p:nvSpPr>
        <p:spPr/>
        <p:txBody>
          <a:bodyPr/>
          <a:lstStyle/>
          <a:p>
            <a:r>
              <a:rPr lang="en-US" dirty="0"/>
              <a:t>Each risk category is mapped to an underwriting action</a:t>
            </a:r>
            <a:r>
              <a:rPr lang="en-US" dirty="0" smtClean="0"/>
              <a: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219455321"/>
              </p:ext>
            </p:extLst>
          </p:nvPr>
        </p:nvGraphicFramePr>
        <p:xfrm>
          <a:off x="838200" y="3269774"/>
          <a:ext cx="10515600" cy="1463040"/>
        </p:xfrm>
        <a:graphic>
          <a:graphicData uri="http://schemas.openxmlformats.org/drawingml/2006/table">
            <a:tbl>
              <a:tblPr/>
              <a:tblGrid>
                <a:gridCol w="5257800">
                  <a:extLst>
                    <a:ext uri="{9D8B030D-6E8A-4147-A177-3AD203B41FA5}">
                      <a16:colId xmlns:a16="http://schemas.microsoft.com/office/drawing/2014/main" val="1949884676"/>
                    </a:ext>
                  </a:extLst>
                </a:gridCol>
                <a:gridCol w="5257800">
                  <a:extLst>
                    <a:ext uri="{9D8B030D-6E8A-4147-A177-3AD203B41FA5}">
                      <a16:colId xmlns:a16="http://schemas.microsoft.com/office/drawing/2014/main" val="2176792390"/>
                    </a:ext>
                  </a:extLst>
                </a:gridCol>
              </a:tblGrid>
              <a:tr h="0">
                <a:tc>
                  <a:txBody>
                    <a:bodyPr/>
                    <a:lstStyle/>
                    <a:p>
                      <a:r>
                        <a:rPr lang="en-US" b="1"/>
                        <a:t>Risk Category</a:t>
                      </a:r>
                    </a:p>
                  </a:txBody>
                  <a:tcPr anchor="ctr">
                    <a:lnL>
                      <a:noFill/>
                    </a:lnL>
                    <a:lnR>
                      <a:noFill/>
                    </a:lnR>
                    <a:lnT>
                      <a:noFill/>
                    </a:lnT>
                    <a:lnB>
                      <a:noFill/>
                    </a:lnB>
                  </a:tcPr>
                </a:tc>
                <a:tc>
                  <a:txBody>
                    <a:bodyPr/>
                    <a:lstStyle/>
                    <a:p>
                      <a:r>
                        <a:rPr lang="en-US" b="1"/>
                        <a:t>Underwriting Decision</a:t>
                      </a:r>
                    </a:p>
                  </a:txBody>
                  <a:tcPr anchor="ctr">
                    <a:lnL>
                      <a:noFill/>
                    </a:lnL>
                    <a:lnR>
                      <a:noFill/>
                    </a:lnR>
                    <a:lnT>
                      <a:noFill/>
                    </a:lnT>
                    <a:lnB>
                      <a:noFill/>
                    </a:lnB>
                  </a:tcPr>
                </a:tc>
                <a:extLst>
                  <a:ext uri="{0D108BD9-81ED-4DB2-BD59-A6C34878D82A}">
                    <a16:rowId xmlns:a16="http://schemas.microsoft.com/office/drawing/2014/main" val="3061935935"/>
                  </a:ext>
                </a:extLst>
              </a:tr>
              <a:tr h="0">
                <a:tc>
                  <a:txBody>
                    <a:bodyPr/>
                    <a:lstStyle/>
                    <a:p>
                      <a:r>
                        <a:rPr lang="en-US" b="1"/>
                        <a:t>Low Risk</a:t>
                      </a:r>
                    </a:p>
                  </a:txBody>
                  <a:tcPr anchor="ctr">
                    <a:lnL>
                      <a:noFill/>
                    </a:lnL>
                    <a:lnR>
                      <a:noFill/>
                    </a:lnR>
                    <a:lnT>
                      <a:noFill/>
                    </a:lnT>
                    <a:lnB>
                      <a:noFill/>
                    </a:lnB>
                  </a:tcPr>
                </a:tc>
                <a:tc>
                  <a:txBody>
                    <a:bodyPr/>
                    <a:lstStyle/>
                    <a:p>
                      <a:r>
                        <a:rPr lang="en-US" b="1"/>
                        <a:t>Preferred premium</a:t>
                      </a:r>
                    </a:p>
                  </a:txBody>
                  <a:tcPr anchor="ctr">
                    <a:lnL>
                      <a:noFill/>
                    </a:lnL>
                    <a:lnR>
                      <a:noFill/>
                    </a:lnR>
                    <a:lnT>
                      <a:noFill/>
                    </a:lnT>
                    <a:lnB>
                      <a:noFill/>
                    </a:lnB>
                  </a:tcPr>
                </a:tc>
                <a:extLst>
                  <a:ext uri="{0D108BD9-81ED-4DB2-BD59-A6C34878D82A}">
                    <a16:rowId xmlns:a16="http://schemas.microsoft.com/office/drawing/2014/main" val="1598490517"/>
                  </a:ext>
                </a:extLst>
              </a:tr>
              <a:tr h="0">
                <a:tc>
                  <a:txBody>
                    <a:bodyPr/>
                    <a:lstStyle/>
                    <a:p>
                      <a:r>
                        <a:rPr lang="en-US" b="1"/>
                        <a:t>Medium Risk</a:t>
                      </a:r>
                    </a:p>
                  </a:txBody>
                  <a:tcPr anchor="ctr">
                    <a:lnL>
                      <a:noFill/>
                    </a:lnL>
                    <a:lnR>
                      <a:noFill/>
                    </a:lnR>
                    <a:lnT>
                      <a:noFill/>
                    </a:lnT>
                    <a:lnB>
                      <a:noFill/>
                    </a:lnB>
                  </a:tcPr>
                </a:tc>
                <a:tc>
                  <a:txBody>
                    <a:bodyPr/>
                    <a:lstStyle/>
                    <a:p>
                      <a:r>
                        <a:rPr lang="en-US" b="1"/>
                        <a:t>Standard premium</a:t>
                      </a:r>
                    </a:p>
                  </a:txBody>
                  <a:tcPr anchor="ctr">
                    <a:lnL>
                      <a:noFill/>
                    </a:lnL>
                    <a:lnR>
                      <a:noFill/>
                    </a:lnR>
                    <a:lnT>
                      <a:noFill/>
                    </a:lnT>
                    <a:lnB>
                      <a:noFill/>
                    </a:lnB>
                  </a:tcPr>
                </a:tc>
                <a:extLst>
                  <a:ext uri="{0D108BD9-81ED-4DB2-BD59-A6C34878D82A}">
                    <a16:rowId xmlns:a16="http://schemas.microsoft.com/office/drawing/2014/main" val="2393271024"/>
                  </a:ext>
                </a:extLst>
              </a:tr>
              <a:tr h="0">
                <a:tc>
                  <a:txBody>
                    <a:bodyPr/>
                    <a:lstStyle/>
                    <a:p>
                      <a:r>
                        <a:rPr lang="en-US" b="1"/>
                        <a:t>High Risk</a:t>
                      </a:r>
                    </a:p>
                  </a:txBody>
                  <a:tcPr anchor="ctr">
                    <a:lnL>
                      <a:noFill/>
                    </a:lnL>
                    <a:lnR>
                      <a:noFill/>
                    </a:lnR>
                    <a:lnT>
                      <a:noFill/>
                    </a:lnT>
                    <a:lnB>
                      <a:noFill/>
                    </a:lnB>
                  </a:tcPr>
                </a:tc>
                <a:tc>
                  <a:txBody>
                    <a:bodyPr/>
                    <a:lstStyle/>
                    <a:p>
                      <a:r>
                        <a:rPr lang="en-US" b="1" dirty="0"/>
                        <a:t>High premium / restricted coverage</a:t>
                      </a:r>
                    </a:p>
                  </a:txBody>
                  <a:tcPr anchor="ctr">
                    <a:lnL>
                      <a:noFill/>
                    </a:lnL>
                    <a:lnR>
                      <a:noFill/>
                    </a:lnR>
                    <a:lnT>
                      <a:noFill/>
                    </a:lnT>
                    <a:lnB>
                      <a:noFill/>
                    </a:lnB>
                  </a:tcPr>
                </a:tc>
                <a:extLst>
                  <a:ext uri="{0D108BD9-81ED-4DB2-BD59-A6C34878D82A}">
                    <a16:rowId xmlns:a16="http://schemas.microsoft.com/office/drawing/2014/main" val="1615951959"/>
                  </a:ext>
                </a:extLst>
              </a:tr>
            </a:tbl>
          </a:graphicData>
        </a:graphic>
      </p:graphicFrame>
      <p:sp>
        <p:nvSpPr>
          <p:cNvPr id="5" name="Rectangle 4"/>
          <p:cNvSpPr/>
          <p:nvPr/>
        </p:nvSpPr>
        <p:spPr>
          <a:xfrm>
            <a:off x="838200" y="5319646"/>
            <a:ext cx="10411326" cy="369332"/>
          </a:xfrm>
          <a:prstGeom prst="rect">
            <a:avLst/>
          </a:prstGeom>
        </p:spPr>
        <p:txBody>
          <a:bodyPr wrap="square">
            <a:spAutoFit/>
          </a:bodyPr>
          <a:lstStyle/>
          <a:p>
            <a:r>
              <a:rPr lang="en-US" dirty="0"/>
              <a:t>This converts analytical outputs into </a:t>
            </a:r>
            <a:r>
              <a:rPr lang="en-US" b="1" dirty="0"/>
              <a:t>actionable insurance decisions</a:t>
            </a:r>
            <a:r>
              <a:rPr lang="en-US" dirty="0"/>
              <a:t>.</a:t>
            </a:r>
          </a:p>
        </p:txBody>
      </p:sp>
    </p:spTree>
    <p:extLst>
      <p:ext uri="{BB962C8B-B14F-4D97-AF65-F5344CB8AC3E}">
        <p14:creationId xmlns:p14="http://schemas.microsoft.com/office/powerpoint/2010/main" val="38714829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Business Impact</a:t>
            </a:r>
          </a:p>
        </p:txBody>
      </p:sp>
      <p:sp>
        <p:nvSpPr>
          <p:cNvPr id="3" name="Content Placeholder 2"/>
          <p:cNvSpPr>
            <a:spLocks noGrp="1"/>
          </p:cNvSpPr>
          <p:nvPr>
            <p:ph idx="1"/>
          </p:nvPr>
        </p:nvSpPr>
        <p:spPr/>
        <p:txBody>
          <a:bodyPr/>
          <a:lstStyle/>
          <a:p>
            <a:r>
              <a:rPr lang="en-US" dirty="0"/>
              <a:t>The proposed occupational risk database offers multiple advantages:</a:t>
            </a:r>
          </a:p>
          <a:p>
            <a:r>
              <a:rPr lang="en-US" dirty="0"/>
              <a:t>Improves fairness and transparency in underwriting</a:t>
            </a:r>
          </a:p>
          <a:p>
            <a:r>
              <a:rPr lang="en-US" dirty="0"/>
              <a:t>Reduces subjectivity in occupation-based decisions</a:t>
            </a:r>
          </a:p>
          <a:p>
            <a:r>
              <a:rPr lang="en-US" dirty="0"/>
              <a:t>Enables scalable risk assessment across large customer bases</a:t>
            </a:r>
          </a:p>
          <a:p>
            <a:r>
              <a:rPr lang="en-US" dirty="0"/>
              <a:t>Enhances regulatory compliance through explainable logic</a:t>
            </a:r>
          </a:p>
          <a:p>
            <a:r>
              <a:rPr lang="en-US" dirty="0"/>
              <a:t>Supports data-driven premium pricing</a:t>
            </a:r>
          </a:p>
          <a:p>
            <a:endParaRPr lang="en-US" dirty="0"/>
          </a:p>
        </p:txBody>
      </p:sp>
    </p:spTree>
    <p:extLst>
      <p:ext uri="{BB962C8B-B14F-4D97-AF65-F5344CB8AC3E}">
        <p14:creationId xmlns:p14="http://schemas.microsoft.com/office/powerpoint/2010/main" val="183151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Limitations</a:t>
            </a:r>
          </a:p>
        </p:txBody>
      </p:sp>
      <p:sp>
        <p:nvSpPr>
          <p:cNvPr id="5" name="Rectangle 4"/>
          <p:cNvSpPr/>
          <p:nvPr/>
        </p:nvSpPr>
        <p:spPr>
          <a:xfrm>
            <a:off x="1086852" y="1397078"/>
            <a:ext cx="10126579" cy="1200329"/>
          </a:xfrm>
          <a:prstGeom prst="rect">
            <a:avLst/>
          </a:prstGeom>
        </p:spPr>
        <p:txBody>
          <a:bodyPr wrap="square">
            <a:spAutoFit/>
          </a:bodyPr>
          <a:lstStyle/>
          <a:p>
            <a:pPr lvl="0" eaLnBrk="0" fontAlgn="base" hangingPunct="0">
              <a:spcBef>
                <a:spcPct val="0"/>
              </a:spcBef>
              <a:spcAft>
                <a:spcPct val="0"/>
              </a:spcAft>
              <a:buFontTx/>
              <a:buChar char="•"/>
            </a:pPr>
            <a:r>
              <a:rPr lang="en-US" altLang="en-US" sz="2400" dirty="0"/>
              <a:t>Dataset is simulated and does not include real claims data</a:t>
            </a:r>
          </a:p>
          <a:p>
            <a:pPr lvl="0" eaLnBrk="0" fontAlgn="base" hangingPunct="0">
              <a:spcBef>
                <a:spcPct val="0"/>
              </a:spcBef>
              <a:spcAft>
                <a:spcPct val="0"/>
              </a:spcAft>
              <a:buFontTx/>
              <a:buChar char="•"/>
            </a:pPr>
            <a:r>
              <a:rPr lang="en-US" altLang="en-US" sz="2400" dirty="0"/>
              <a:t>Static risk scores do not capture individual-level variation</a:t>
            </a:r>
          </a:p>
          <a:p>
            <a:pPr lvl="0" eaLnBrk="0" fontAlgn="base" hangingPunct="0">
              <a:spcBef>
                <a:spcPct val="0"/>
              </a:spcBef>
              <a:spcAft>
                <a:spcPct val="0"/>
              </a:spcAft>
              <a:buFontTx/>
              <a:buChar char="•"/>
            </a:pPr>
            <a:r>
              <a:rPr lang="en-US" altLang="en-US" sz="2400" dirty="0"/>
              <a:t>No temporal or demographic factors included</a:t>
            </a:r>
          </a:p>
        </p:txBody>
      </p:sp>
    </p:spTree>
    <p:extLst>
      <p:ext uri="{BB962C8B-B14F-4D97-AF65-F5344CB8AC3E}">
        <p14:creationId xmlns:p14="http://schemas.microsoft.com/office/powerpoint/2010/main" val="511751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Future Enhancements</a:t>
            </a:r>
          </a:p>
        </p:txBody>
      </p:sp>
      <p:sp>
        <p:nvSpPr>
          <p:cNvPr id="4" name="Rectangle 1"/>
          <p:cNvSpPr>
            <a:spLocks noGrp="1" noChangeArrowheads="1"/>
          </p:cNvSpPr>
          <p:nvPr>
            <p:ph idx="1"/>
          </p:nvPr>
        </p:nvSpPr>
        <p:spPr bwMode="auto">
          <a:xfrm>
            <a:off x="958516" y="1600282"/>
            <a:ext cx="882315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Integrate historical claims data for calibration</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Apply machine learning for dynamic risk prediction</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Incorporate demographic and lifestyle variables</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Add time-based risk evolution analysis</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Include transaction-level underwriting cost modeling</a:t>
            </a:r>
          </a:p>
        </p:txBody>
      </p:sp>
    </p:spTree>
    <p:extLst>
      <p:ext uri="{BB962C8B-B14F-4D97-AF65-F5344CB8AC3E}">
        <p14:creationId xmlns:p14="http://schemas.microsoft.com/office/powerpoint/2010/main" val="4477996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lstStyle/>
          <a:p>
            <a:r>
              <a:rPr lang="en-US" dirty="0"/>
              <a:t>This project demonstrates how a </a:t>
            </a:r>
            <a:r>
              <a:rPr lang="en-US" b="1" dirty="0"/>
              <a:t>rule-based occupational risk database</a:t>
            </a:r>
            <a:r>
              <a:rPr lang="en-US" dirty="0"/>
              <a:t> can convert qualitative job characteristics into quantitative, underwriting-ready insights. By combining structured risk scoring, transparent classification logic, and decision-oriented visualization, the framework bridges the gap between occupational data and real-world insurance decision-making.</a:t>
            </a:r>
          </a:p>
          <a:p>
            <a:endParaRPr lang="en-US" dirty="0"/>
          </a:p>
        </p:txBody>
      </p:sp>
    </p:spTree>
    <p:extLst>
      <p:ext uri="{BB962C8B-B14F-4D97-AF65-F5344CB8AC3E}">
        <p14:creationId xmlns:p14="http://schemas.microsoft.com/office/powerpoint/2010/main" val="26346723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615</Words>
  <Application>Microsoft Office PowerPoint</Application>
  <PresentationFormat>Widescreen</PresentationFormat>
  <Paragraphs>119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CIDFont+F1</vt:lpstr>
      <vt:lpstr>Office Theme</vt:lpstr>
      <vt:lpstr>Occupation Based Risk Database</vt:lpstr>
      <vt:lpstr>Google Colab URL</vt:lpstr>
      <vt:lpstr>Introduction</vt:lpstr>
      <vt:lpstr>Objective of the Project</vt:lpstr>
      <vt:lpstr>Dataset Description</vt:lpstr>
      <vt:lpstr>Risk Scoring Methodology</vt:lpstr>
      <vt:lpstr>Risk Classification Logic</vt:lpstr>
      <vt:lpstr>Data Visualization</vt:lpstr>
      <vt:lpstr> Visualization and Analytics </vt:lpstr>
      <vt:lpstr>Data Visualization</vt:lpstr>
      <vt:lpstr>Visualization and Analytics</vt:lpstr>
      <vt:lpstr>Data Visualization</vt:lpstr>
      <vt:lpstr>Visualization and Analytics</vt:lpstr>
      <vt:lpstr>Data Visualization </vt:lpstr>
      <vt:lpstr>Visualization and Analytics</vt:lpstr>
      <vt:lpstr>Underwriting Decision Framework</vt:lpstr>
      <vt:lpstr>Business Impact</vt:lpstr>
      <vt:lpstr>Limitations</vt:lpstr>
      <vt:lpstr>Future Enhancements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Occupation Based Risk Database</dc:title>
  <dc:creator>KUMAR</dc:creator>
  <cp:lastModifiedBy>KUMAR</cp:lastModifiedBy>
  <cp:revision>23</cp:revision>
  <dcterms:created xsi:type="dcterms:W3CDTF">2026-01-24T08:58:01Z</dcterms:created>
  <dcterms:modified xsi:type="dcterms:W3CDTF">2026-01-27T02:06:08Z</dcterms:modified>
</cp:coreProperties>
</file>