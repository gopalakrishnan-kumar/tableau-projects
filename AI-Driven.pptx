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32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7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1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44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181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8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3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25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22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15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DE15A-3EF5-478D-8BCB-8D94B3B67DC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0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Gopalakrishnan-Kumar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q-2iAFQHRdEN-n4i7ZjrhziW1rp4b6wA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AI-Driven Lead Optimization for Drug Development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524000" y="357230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err="1" smtClean="0">
                <a:solidFill>
                  <a:srgbClr val="0D0D0D"/>
                </a:solidFill>
                <a:latin typeface="CIDFont+F1"/>
              </a:rPr>
              <a:t>Github:</a:t>
            </a:r>
            <a:r>
              <a:rPr lang="en-US" dirty="0" err="1" smtClean="0">
                <a:solidFill>
                  <a:srgbClr val="0D0D0D"/>
                </a:solidFill>
                <a:latin typeface="CIDFont+F1"/>
                <a:hlinkClick r:id="rId3"/>
              </a:rPr>
              <a:t>https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://www.github.com/Gopalakrishnan-Kumar/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293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https://colab.research.google.com/drive/1q-2iAFQHRdEN-n4i7ZjrhziW1rp4b6wA?usp=sharing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60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Drug discovery is a complex, time-consuming, and expensive process. One of the most critical stages is </a:t>
            </a:r>
            <a:r>
              <a:rPr lang="en-US" b="1" dirty="0" smtClean="0"/>
              <a:t>lead optimization</a:t>
            </a:r>
            <a:r>
              <a:rPr lang="en-US" dirty="0" smtClean="0"/>
              <a:t>, where promising compounds (leads) are refined to improve their </a:t>
            </a:r>
            <a:r>
              <a:rPr lang="en-US" b="1" dirty="0" smtClean="0"/>
              <a:t>bioactivity</a:t>
            </a:r>
            <a:r>
              <a:rPr lang="en-US" dirty="0" smtClean="0"/>
              <a:t>, </a:t>
            </a:r>
            <a:r>
              <a:rPr lang="en-US" b="1" dirty="0" smtClean="0"/>
              <a:t>selectivity</a:t>
            </a:r>
            <a:r>
              <a:rPr lang="en-US" dirty="0" smtClean="0"/>
              <a:t>, and </a:t>
            </a:r>
            <a:r>
              <a:rPr lang="en-US" b="1" dirty="0" smtClean="0"/>
              <a:t>safety profile</a:t>
            </a:r>
            <a:r>
              <a:rPr lang="en-US" dirty="0" smtClean="0"/>
              <a:t>, while minimizing </a:t>
            </a:r>
            <a:r>
              <a:rPr lang="en-US" b="1" dirty="0" smtClean="0"/>
              <a:t>toxicity</a:t>
            </a:r>
            <a:r>
              <a:rPr lang="en-US" dirty="0" smtClean="0"/>
              <a:t>. Traditional experimental approaches are costly and slow, making </a:t>
            </a:r>
            <a:r>
              <a:rPr lang="en-US" b="1" dirty="0" smtClean="0"/>
              <a:t>Artificial Intelligence (AI) and Machine Learning (ML)</a:t>
            </a:r>
            <a:r>
              <a:rPr lang="en-US" dirty="0" smtClean="0"/>
              <a:t> powerful tools to accelerate this phase.</a:t>
            </a:r>
          </a:p>
          <a:p>
            <a:r>
              <a:rPr lang="en-US" dirty="0" smtClean="0"/>
              <a:t>This project focuses on building an </a:t>
            </a:r>
            <a:r>
              <a:rPr lang="en-US" b="1" dirty="0" smtClean="0"/>
              <a:t>AI-driven lead optimization framework</a:t>
            </a:r>
            <a:r>
              <a:rPr lang="en-US" dirty="0" smtClean="0"/>
              <a:t> using Python-based machine learning techniques and data visualization to evaluate and prioritize drug candidates based on </a:t>
            </a:r>
            <a:r>
              <a:rPr lang="en-US" b="1" dirty="0" smtClean="0"/>
              <a:t>activity and toxicity metrics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89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Project Objectives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main objectives of this project are:</a:t>
            </a:r>
          </a:p>
          <a:p>
            <a:r>
              <a:rPr lang="en-US" dirty="0" smtClean="0"/>
              <a:t>To simulate an </a:t>
            </a:r>
            <a:r>
              <a:rPr lang="en-US" b="1" dirty="0" smtClean="0"/>
              <a:t>AI-based lead optimization pipeline</a:t>
            </a:r>
            <a:endParaRPr lang="en-US" dirty="0" smtClean="0"/>
          </a:p>
          <a:p>
            <a:r>
              <a:rPr lang="en-US" dirty="0" smtClean="0"/>
              <a:t>To analyze predicted </a:t>
            </a:r>
            <a:r>
              <a:rPr lang="en-US" b="1" dirty="0" smtClean="0"/>
              <a:t>bioactivity scores</a:t>
            </a:r>
            <a:r>
              <a:rPr lang="en-US" dirty="0" smtClean="0"/>
              <a:t> of drug candidates</a:t>
            </a:r>
          </a:p>
          <a:p>
            <a:r>
              <a:rPr lang="en-US" dirty="0" smtClean="0"/>
              <a:t>To evaluate </a:t>
            </a:r>
            <a:r>
              <a:rPr lang="en-US" b="1" dirty="0" smtClean="0"/>
              <a:t>toxicity risks</a:t>
            </a:r>
            <a:r>
              <a:rPr lang="en-US" dirty="0" smtClean="0"/>
              <a:t> alongside activity</a:t>
            </a:r>
          </a:p>
          <a:p>
            <a:r>
              <a:rPr lang="en-US" dirty="0" smtClean="0"/>
              <a:t>To visually compare </a:t>
            </a:r>
            <a:r>
              <a:rPr lang="en-US" b="1" dirty="0" smtClean="0"/>
              <a:t>before and after optimization stages</a:t>
            </a:r>
            <a:endParaRPr lang="en-US" dirty="0" smtClean="0"/>
          </a:p>
          <a:p>
            <a:r>
              <a:rPr lang="en-US" dirty="0" smtClean="0"/>
              <a:t>To identify </a:t>
            </a:r>
            <a:r>
              <a:rPr lang="en-US" b="1" dirty="0" smtClean="0"/>
              <a:t>high-priority drug leads</a:t>
            </a:r>
            <a:r>
              <a:rPr lang="en-US" dirty="0" smtClean="0"/>
              <a:t> using data-driven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84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Dataset Description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Since real pharmaceutical datasets are often proprietary, a </a:t>
            </a:r>
            <a:r>
              <a:rPr lang="en-US" b="1" dirty="0" smtClean="0"/>
              <a:t>synthetic dataset</a:t>
            </a:r>
            <a:r>
              <a:rPr lang="en-US" dirty="0" smtClean="0"/>
              <a:t> was generated to mimic real-world drug discovery data.</a:t>
            </a:r>
          </a:p>
          <a:p>
            <a:r>
              <a:rPr lang="en-US" b="1" dirty="0" smtClean="0"/>
              <a:t>Key Features</a:t>
            </a:r>
          </a:p>
          <a:p>
            <a:r>
              <a:rPr lang="en-US" b="1" dirty="0" smtClean="0"/>
              <a:t>Drug Leads:</a:t>
            </a:r>
            <a:r>
              <a:rPr lang="en-US" dirty="0" smtClean="0"/>
              <a:t> Unique compound identifiers</a:t>
            </a:r>
          </a:p>
          <a:p>
            <a:r>
              <a:rPr lang="en-US" b="1" dirty="0" smtClean="0"/>
              <a:t>Predicted Bioactivity Score:</a:t>
            </a:r>
            <a:r>
              <a:rPr lang="en-US" dirty="0" smtClean="0"/>
              <a:t> Model-predicted effectiveness</a:t>
            </a:r>
          </a:p>
          <a:p>
            <a:r>
              <a:rPr lang="en-US" b="1" dirty="0" smtClean="0"/>
              <a:t>Predicted Toxicity Score:</a:t>
            </a:r>
            <a:r>
              <a:rPr lang="en-US" dirty="0" smtClean="0"/>
              <a:t> Estimated safety risk</a:t>
            </a:r>
          </a:p>
          <a:p>
            <a:r>
              <a:rPr lang="en-US" b="1" dirty="0" smtClean="0"/>
              <a:t>Optimization Stage:</a:t>
            </a:r>
            <a:endParaRPr lang="en-US" dirty="0" smtClean="0"/>
          </a:p>
          <a:p>
            <a:pPr lvl="1"/>
            <a:r>
              <a:rPr lang="en-US" dirty="0" smtClean="0"/>
              <a:t>Stage 1: Initial Screening</a:t>
            </a:r>
          </a:p>
          <a:p>
            <a:pPr lvl="1"/>
            <a:r>
              <a:rPr lang="en-US" dirty="0" smtClean="0"/>
              <a:t>Stage 2: After AI-driven Optimization</a:t>
            </a:r>
          </a:p>
          <a:p>
            <a:r>
              <a:rPr lang="en-US" dirty="0" smtClean="0"/>
              <a:t>The values are normalized and scaled to reflect realistic drug discovery ranges.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39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AI-Based Lead Optimization Workflow</a:t>
            </a:r>
          </a:p>
          <a:p>
            <a:r>
              <a:rPr lang="en-US" b="1" dirty="0"/>
              <a:t>Initial Screening</a:t>
            </a:r>
            <a:endParaRPr lang="en-US" dirty="0"/>
          </a:p>
          <a:p>
            <a:pPr lvl="1"/>
            <a:r>
              <a:rPr lang="en-US" dirty="0"/>
              <a:t>Machine learning model predicts activity and toxicity</a:t>
            </a:r>
          </a:p>
          <a:p>
            <a:pPr lvl="1"/>
            <a:r>
              <a:rPr lang="en-US" dirty="0"/>
              <a:t>Low-performing compounds are filtered out</a:t>
            </a:r>
          </a:p>
          <a:p>
            <a:r>
              <a:rPr lang="en-US" b="1" dirty="0"/>
              <a:t>Optimization Phase</a:t>
            </a:r>
            <a:endParaRPr lang="en-US" dirty="0"/>
          </a:p>
          <a:p>
            <a:pPr lvl="1"/>
            <a:r>
              <a:rPr lang="en-US" dirty="0"/>
              <a:t>Structural modifications simulated</a:t>
            </a:r>
          </a:p>
          <a:p>
            <a:pPr lvl="1"/>
            <a:r>
              <a:rPr lang="en-US" dirty="0"/>
              <a:t>Improved molecular descriptors fed back to the model</a:t>
            </a:r>
          </a:p>
          <a:p>
            <a:pPr lvl="1"/>
            <a:r>
              <a:rPr lang="en-US" dirty="0"/>
              <a:t>Re-evaluation of activity and toxicity</a:t>
            </a:r>
          </a:p>
          <a:p>
            <a:r>
              <a:rPr lang="en-US" b="1" dirty="0"/>
              <a:t>Visualization &amp; Analysis</a:t>
            </a:r>
            <a:endParaRPr lang="en-US" dirty="0"/>
          </a:p>
          <a:p>
            <a:pPr lvl="1"/>
            <a:r>
              <a:rPr lang="en-US" dirty="0"/>
              <a:t>Histogram plots</a:t>
            </a:r>
          </a:p>
          <a:p>
            <a:pPr lvl="1"/>
            <a:r>
              <a:rPr lang="en-US" dirty="0"/>
              <a:t>Bar charts</a:t>
            </a:r>
          </a:p>
          <a:p>
            <a:pPr lvl="1"/>
            <a:r>
              <a:rPr lang="en-US" dirty="0"/>
              <a:t>Stacked and combined stacked bar charts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65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289" y="1825625"/>
            <a:ext cx="7015421" cy="4351338"/>
          </a:xfrm>
        </p:spPr>
      </p:pic>
    </p:spTree>
    <p:extLst>
      <p:ext uri="{BB962C8B-B14F-4D97-AF65-F5344CB8AC3E}">
        <p14:creationId xmlns:p14="http://schemas.microsoft.com/office/powerpoint/2010/main" val="223594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5.1 Histogram Plot – Bioactivity Distribution</a:t>
            </a:r>
          </a:p>
          <a:p>
            <a:r>
              <a:rPr lang="en-US" dirty="0"/>
              <a:t>The histogram of predicted bioactivity scores shows:</a:t>
            </a:r>
          </a:p>
          <a:p>
            <a:r>
              <a:rPr lang="en-US" dirty="0"/>
              <a:t>Majority of optimized leads clustered in the </a:t>
            </a:r>
            <a:r>
              <a:rPr lang="en-US" b="1" dirty="0"/>
              <a:t>high-activity range (85–92)</a:t>
            </a:r>
            <a:endParaRPr lang="en-US" dirty="0"/>
          </a:p>
          <a:p>
            <a:r>
              <a:rPr lang="en-US" dirty="0"/>
              <a:t>Reduced low-activity compounds</a:t>
            </a:r>
          </a:p>
          <a:p>
            <a:r>
              <a:rPr lang="en-US" dirty="0"/>
              <a:t>Narrow distribution indicating </a:t>
            </a:r>
            <a:r>
              <a:rPr lang="en-US" b="1" dirty="0"/>
              <a:t>successful optimization</a:t>
            </a:r>
            <a:endParaRPr lang="en-US" dirty="0"/>
          </a:p>
          <a:p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optimization process effectively shifts compounds toward higher bioactivity, validating the AI model’s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3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289" y="1825625"/>
            <a:ext cx="7015421" cy="4351338"/>
          </a:xfrm>
        </p:spPr>
      </p:pic>
    </p:spTree>
    <p:extLst>
      <p:ext uri="{BB962C8B-B14F-4D97-AF65-F5344CB8AC3E}">
        <p14:creationId xmlns:p14="http://schemas.microsoft.com/office/powerpoint/2010/main" val="267151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5.2 Bar Chart – Top Optimized Leads</a:t>
            </a:r>
          </a:p>
          <a:p>
            <a:r>
              <a:rPr lang="en-US" dirty="0"/>
              <a:t>The bar chart ranks drug leads based on predicted bioactivity:</a:t>
            </a:r>
          </a:p>
          <a:p>
            <a:r>
              <a:rPr lang="en-US" dirty="0"/>
              <a:t>Lead 1, Lead 2, and Lead 3 emerge as </a:t>
            </a:r>
            <a:r>
              <a:rPr lang="en-US" b="1" dirty="0"/>
              <a:t>top-performing candidates</a:t>
            </a:r>
            <a:endParaRPr lang="en-US" dirty="0"/>
          </a:p>
          <a:p>
            <a:r>
              <a:rPr lang="en-US" dirty="0"/>
              <a:t>Gradual decline indicates diminishing returns beyond top leads</a:t>
            </a:r>
          </a:p>
          <a:p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This ranking helps prioritize compounds for </a:t>
            </a:r>
            <a:r>
              <a:rPr lang="en-US" b="1" dirty="0"/>
              <a:t>in-vitro and in-vivo testing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1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159449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5.3 Stacked Bar Chart – Activity + Toxicity</a:t>
            </a:r>
          </a:p>
          <a:p>
            <a:r>
              <a:rPr lang="en-US" dirty="0"/>
              <a:t>The stacked bar chart visualizes:</a:t>
            </a:r>
          </a:p>
          <a:p>
            <a:r>
              <a:rPr lang="en-US" b="1" dirty="0"/>
              <a:t>Lower toxicity + higher activity</a:t>
            </a:r>
            <a:r>
              <a:rPr lang="en-US" dirty="0"/>
              <a:t> as the ideal profile</a:t>
            </a:r>
          </a:p>
          <a:p>
            <a:r>
              <a:rPr lang="en-US" dirty="0"/>
              <a:t>Clear comparison of risk–benefit trade-offs</a:t>
            </a:r>
          </a:p>
          <a:p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Leads with high activity but unacceptable toxicity can be eliminated early, reducing downstream failures.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50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989" y="1825625"/>
            <a:ext cx="7294022" cy="4351338"/>
          </a:xfrm>
        </p:spPr>
      </p:pic>
    </p:spTree>
    <p:extLst>
      <p:ext uri="{BB962C8B-B14F-4D97-AF65-F5344CB8AC3E}">
        <p14:creationId xmlns:p14="http://schemas.microsoft.com/office/powerpoint/2010/main" val="319326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5.4 Combined Stacked Bar Chart – Before vs After Optimization</a:t>
            </a:r>
          </a:p>
          <a:p>
            <a:r>
              <a:rPr lang="en-US" dirty="0"/>
              <a:t>This visualization compares </a:t>
            </a:r>
            <a:r>
              <a:rPr lang="en-US" b="1" dirty="0"/>
              <a:t>two optimization stages</a:t>
            </a:r>
            <a:r>
              <a:rPr lang="en-US" dirty="0"/>
              <a:t>:</a:t>
            </a:r>
          </a:p>
          <a:p>
            <a:r>
              <a:rPr lang="en-US" dirty="0"/>
              <a:t>Stage 1 (Initial Screening)</a:t>
            </a:r>
          </a:p>
          <a:p>
            <a:r>
              <a:rPr lang="en-US" dirty="0"/>
              <a:t>Stage 2 (After AI Optimization)</a:t>
            </a:r>
          </a:p>
          <a:p>
            <a:r>
              <a:rPr lang="en-US" b="1" dirty="0"/>
              <a:t>Key Observations</a:t>
            </a:r>
            <a:endParaRPr lang="en-US" dirty="0"/>
          </a:p>
          <a:p>
            <a:r>
              <a:rPr lang="en-US" dirty="0"/>
              <a:t>Activity increases significantly after optimization</a:t>
            </a:r>
          </a:p>
          <a:p>
            <a:r>
              <a:rPr lang="en-US" dirty="0"/>
              <a:t>Toxicity decreases for most leads</a:t>
            </a:r>
          </a:p>
          <a:p>
            <a:r>
              <a:rPr lang="en-US" dirty="0"/>
              <a:t>Lead 1 and Lead 2 show the </a:t>
            </a:r>
            <a:r>
              <a:rPr lang="en-US" b="1" dirty="0"/>
              <a:t>best overall improvement</a:t>
            </a:r>
            <a:endParaRPr lang="en-US" dirty="0"/>
          </a:p>
          <a:p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combined stacked bar chart clearly demonstrates the </a:t>
            </a:r>
            <a:r>
              <a:rPr lang="en-US" b="1" dirty="0"/>
              <a:t>impact of AI-driven optimization</a:t>
            </a:r>
            <a:r>
              <a:rPr lang="en-US" dirty="0"/>
              <a:t>, making it ideal for stakeholder presentations and reports.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28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1716029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this Forecast Plot Represents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this Forecast Plot Represents</a:t>
            </a:r>
          </a:p>
          <a:p>
            <a:r>
              <a:rPr lang="en-US" b="1" dirty="0"/>
              <a:t>X-axis:</a:t>
            </a:r>
            <a:r>
              <a:rPr lang="en-US" dirty="0"/>
              <a:t> Optimization iterations (model refinement cycles)</a:t>
            </a:r>
          </a:p>
          <a:p>
            <a:r>
              <a:rPr lang="en-US" b="1" dirty="0"/>
              <a:t>Y-axis:</a:t>
            </a:r>
            <a:r>
              <a:rPr lang="en-US" dirty="0"/>
              <a:t> Average predicted bioactivity score</a:t>
            </a:r>
          </a:p>
          <a:p>
            <a:r>
              <a:rPr lang="en-US" b="1" dirty="0"/>
              <a:t>Solid line:</a:t>
            </a:r>
            <a:r>
              <a:rPr lang="en-US" dirty="0"/>
              <a:t> Historical improvement during optimization</a:t>
            </a:r>
          </a:p>
          <a:p>
            <a:r>
              <a:rPr lang="en-US" b="1" dirty="0"/>
              <a:t>Dashed line:</a:t>
            </a:r>
            <a:r>
              <a:rPr lang="en-US" dirty="0"/>
              <a:t> Forecasted bioactivity trend for future iterations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01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this Forecast Plot Represents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Insights</a:t>
            </a:r>
          </a:p>
          <a:p>
            <a:r>
              <a:rPr lang="en-US" dirty="0"/>
              <a:t>Bioactivity shows a </a:t>
            </a:r>
            <a:r>
              <a:rPr lang="en-US" b="1" dirty="0"/>
              <a:t>consistent upward trend</a:t>
            </a:r>
            <a:r>
              <a:rPr lang="en-US" dirty="0"/>
              <a:t> across optimization iterations</a:t>
            </a:r>
          </a:p>
          <a:p>
            <a:r>
              <a:rPr lang="en-US" dirty="0"/>
              <a:t>Forecast suggests continued improvement toward </a:t>
            </a:r>
            <a:r>
              <a:rPr lang="en-US" b="1" dirty="0"/>
              <a:t>~95–100 bioactivity range</a:t>
            </a:r>
            <a:endParaRPr lang="en-US" dirty="0"/>
          </a:p>
          <a:p>
            <a:r>
              <a:rPr lang="en-US" dirty="0"/>
              <a:t>Indicates the AI model is </a:t>
            </a:r>
            <a:r>
              <a:rPr lang="en-US" b="1" dirty="0"/>
              <a:t>learning effectively</a:t>
            </a:r>
            <a:r>
              <a:rPr lang="en-US" dirty="0"/>
              <a:t> and converging toward optimal leads</a:t>
            </a:r>
          </a:p>
          <a:p>
            <a:r>
              <a:rPr lang="en-US" dirty="0"/>
              <a:t>Diminishing slope at later stages suggests </a:t>
            </a:r>
            <a:r>
              <a:rPr lang="en-US" b="1" dirty="0"/>
              <a:t>optimization saturation</a:t>
            </a:r>
            <a:r>
              <a:rPr lang="en-US" dirty="0"/>
              <a:t>, which is expected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00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 &amp;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8131" y="1580825"/>
            <a:ext cx="1013573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AI models effectively improve </a:t>
            </a:r>
            <a:r>
              <a:rPr lang="en-US" altLang="en-US" sz="2400" b="1" dirty="0"/>
              <a:t>bioactivity predictions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Toxicity is reduced during optimization stages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Visualization techniques make decision-making transparent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Top leads are clearly distinguishable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Multi-objective optimization (activity + toxicity) is achievable</a:t>
            </a:r>
          </a:p>
        </p:txBody>
      </p:sp>
    </p:spTree>
    <p:extLst>
      <p:ext uri="{BB962C8B-B14F-4D97-AF65-F5344CB8AC3E}">
        <p14:creationId xmlns:p14="http://schemas.microsoft.com/office/powerpoint/2010/main" val="415786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Advantages of the Proposed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✔ Faster lead prioritization</a:t>
            </a:r>
            <a:br>
              <a:rPr lang="en-US" dirty="0"/>
            </a:br>
            <a:r>
              <a:rPr lang="en-US" dirty="0"/>
              <a:t>✔ Reduced experimental costs</a:t>
            </a:r>
            <a:br>
              <a:rPr lang="en-US" dirty="0"/>
            </a:br>
            <a:r>
              <a:rPr lang="en-US" dirty="0"/>
              <a:t>✔ Early toxicity risk identification</a:t>
            </a:r>
            <a:br>
              <a:rPr lang="en-US" dirty="0"/>
            </a:br>
            <a:r>
              <a:rPr lang="en-US" dirty="0"/>
              <a:t>✔ Scalable to real-world datasets</a:t>
            </a:r>
            <a:br>
              <a:rPr lang="en-US" dirty="0"/>
            </a:br>
            <a:r>
              <a:rPr lang="en-US" dirty="0"/>
              <a:t>✔ Suitable for QSAR and virtual screening pipelines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64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7314" y="1690688"/>
            <a:ext cx="94124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Synthetic data may not capture full biological complexity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Real-world validation is required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Toxicity prediction models may need additional biomarkers</a:t>
            </a:r>
          </a:p>
        </p:txBody>
      </p:sp>
    </p:spTree>
    <p:extLst>
      <p:ext uri="{BB962C8B-B14F-4D97-AF65-F5344CB8AC3E}">
        <p14:creationId xmlns:p14="http://schemas.microsoft.com/office/powerpoint/2010/main" val="337222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484" y="1789584"/>
            <a:ext cx="105724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Integration with </a:t>
            </a:r>
            <a:r>
              <a:rPr lang="en-US" altLang="en-US" sz="2400" b="1" dirty="0">
                <a:latin typeface="Arial" panose="020B0604020202020204" pitchFamily="34" charset="0"/>
              </a:rPr>
              <a:t>real datasets</a:t>
            </a:r>
            <a:r>
              <a:rPr lang="en-US" altLang="en-US" sz="2400" dirty="0">
                <a:latin typeface="Arial" panose="020B0604020202020204" pitchFamily="34" charset="0"/>
              </a:rPr>
              <a:t> (</a:t>
            </a:r>
            <a:r>
              <a:rPr lang="en-US" altLang="en-US" sz="2400" dirty="0" err="1">
                <a:latin typeface="Arial" panose="020B0604020202020204" pitchFamily="34" charset="0"/>
              </a:rPr>
              <a:t>DrugBank</a:t>
            </a:r>
            <a:r>
              <a:rPr lang="en-US" altLang="en-US" sz="2400" dirty="0">
                <a:latin typeface="Arial" panose="020B0604020202020204" pitchFamily="34" charset="0"/>
              </a:rPr>
              <a:t>, </a:t>
            </a:r>
            <a:r>
              <a:rPr lang="en-US" altLang="en-US" sz="2400" dirty="0" err="1">
                <a:latin typeface="Arial" panose="020B0604020202020204" pitchFamily="34" charset="0"/>
              </a:rPr>
              <a:t>ChEMBL</a:t>
            </a:r>
            <a:r>
              <a:rPr lang="en-US" altLang="en-US" sz="2400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Deep learning models (Graph Neural Networks)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Multi-objective optimization (ADMET profiling)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Molecular docking integration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Deployment as a </a:t>
            </a:r>
            <a:r>
              <a:rPr lang="en-US" altLang="en-US" sz="2400" b="1" dirty="0">
                <a:latin typeface="Arial" panose="020B0604020202020204" pitchFamily="34" charset="0"/>
              </a:rPr>
              <a:t>decision-support dashboard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12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demonstrates how </a:t>
            </a:r>
            <a:r>
              <a:rPr lang="en-US" b="1" dirty="0"/>
              <a:t>AI-driven lead optimization</a:t>
            </a:r>
            <a:r>
              <a:rPr lang="en-US" dirty="0"/>
              <a:t>, combined with effective </a:t>
            </a:r>
            <a:r>
              <a:rPr lang="en-US" b="1" dirty="0"/>
              <a:t>data visualization</a:t>
            </a:r>
            <a:r>
              <a:rPr lang="en-US" dirty="0"/>
              <a:t>, can significantly enhance the drug discovery process. By simultaneously analyzing </a:t>
            </a:r>
            <a:r>
              <a:rPr lang="en-US" b="1" dirty="0"/>
              <a:t>activity and toxicity</a:t>
            </a:r>
            <a:r>
              <a:rPr lang="en-US" dirty="0"/>
              <a:t>, the framework enables informed, data-driven decisions, helping researchers identify the most promising drug candidates efficiently.</a:t>
            </a:r>
          </a:p>
        </p:txBody>
      </p:sp>
    </p:spTree>
    <p:extLst>
      <p:ext uri="{BB962C8B-B14F-4D97-AF65-F5344CB8AC3E}">
        <p14:creationId xmlns:p14="http://schemas.microsoft.com/office/powerpoint/2010/main" val="118150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NEWMIC~1</Template>
  <TotalTime>61</TotalTime>
  <Words>734</Words>
  <Application>Microsoft Office PowerPoint</Application>
  <PresentationFormat>Widescreen</PresentationFormat>
  <Paragraphs>108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CIDFont+F1</vt:lpstr>
      <vt:lpstr>Office Theme</vt:lpstr>
      <vt:lpstr>AI-Driven Lead Optimization for Drug Development</vt:lpstr>
      <vt:lpstr>Google Colab URL </vt:lpstr>
      <vt:lpstr>Introduction</vt:lpstr>
      <vt:lpstr>Project Objectives</vt:lpstr>
      <vt:lpstr>Dataset Description</vt:lpstr>
      <vt:lpstr>Methodology</vt:lpstr>
      <vt:lpstr>Data Visualization </vt:lpstr>
      <vt:lpstr>Data Visualization &amp; Analysis</vt:lpstr>
      <vt:lpstr>Data Visualization </vt:lpstr>
      <vt:lpstr>Data Visualization &amp; Analysis</vt:lpstr>
      <vt:lpstr>Data Visualization </vt:lpstr>
      <vt:lpstr>Data Visualization &amp; Analysis</vt:lpstr>
      <vt:lpstr>Data Visualization </vt:lpstr>
      <vt:lpstr>Data Visualization &amp; Analysis</vt:lpstr>
      <vt:lpstr>Data Visualization </vt:lpstr>
      <vt:lpstr>What this Forecast Plot Represents</vt:lpstr>
      <vt:lpstr>What this Forecast Plot Represents</vt:lpstr>
      <vt:lpstr>Results &amp; Findings</vt:lpstr>
      <vt:lpstr>Advantages of the Proposed Approach</vt:lpstr>
      <vt:lpstr>Limitations</vt:lpstr>
      <vt:lpstr>Future Scope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Lead Optimization for Drug Development</dc:title>
  <dc:creator>KUMAR</dc:creator>
  <cp:lastModifiedBy>KUMAR</cp:lastModifiedBy>
  <cp:revision>24</cp:revision>
  <dcterms:created xsi:type="dcterms:W3CDTF">2025-12-15T08:31:31Z</dcterms:created>
  <dcterms:modified xsi:type="dcterms:W3CDTF">2025-12-16T01:53:43Z</dcterms:modified>
</cp:coreProperties>
</file>