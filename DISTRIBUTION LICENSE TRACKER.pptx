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3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B42EE0A-05E7-46AF-8EAB-61CA8035AE9F}"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583263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42EE0A-05E7-46AF-8EAB-61CA8035AE9F}"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1794899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B42EE0A-05E7-46AF-8EAB-61CA8035AE9F}"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378283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B42EE0A-05E7-46AF-8EAB-61CA8035AE9F}"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31818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42EE0A-05E7-46AF-8EAB-61CA8035AE9F}" type="datetimeFigureOut">
              <a:rPr lang="en-US" smtClean="0"/>
              <a:t>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2918678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B42EE0A-05E7-46AF-8EAB-61CA8035AE9F}" type="datetimeFigureOut">
              <a:rPr lang="en-US" smtClean="0"/>
              <a:t>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1869639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42EE0A-05E7-46AF-8EAB-61CA8035AE9F}" type="datetimeFigureOut">
              <a:rPr lang="en-US" smtClean="0"/>
              <a:t>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2231778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42EE0A-05E7-46AF-8EAB-61CA8035AE9F}"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216237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B42EE0A-05E7-46AF-8EAB-61CA8035AE9F}" type="datetimeFigureOut">
              <a:rPr lang="en-US" smtClean="0"/>
              <a:t>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2464801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42EE0A-05E7-46AF-8EAB-61CA8035AE9F}"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3216373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B42EE0A-05E7-46AF-8EAB-61CA8035AE9F}" type="datetimeFigureOut">
              <a:rPr lang="en-US" smtClean="0"/>
              <a:t>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7A0908-D85B-4090-991D-CF673CDDAB05}" type="slidenum">
              <a:rPr lang="en-US" smtClean="0"/>
              <a:t>‹#›</a:t>
            </a:fld>
            <a:endParaRPr lang="en-US"/>
          </a:p>
        </p:txBody>
      </p:sp>
    </p:spTree>
    <p:extLst>
      <p:ext uri="{BB962C8B-B14F-4D97-AF65-F5344CB8AC3E}">
        <p14:creationId xmlns:p14="http://schemas.microsoft.com/office/powerpoint/2010/main" val="1358789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42EE0A-05E7-46AF-8EAB-61CA8035AE9F}" type="datetimeFigureOut">
              <a:rPr lang="en-US" smtClean="0"/>
              <a:t>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7A0908-D85B-4090-991D-CF673CDDAB05}" type="slidenum">
              <a:rPr lang="en-US" smtClean="0"/>
              <a:t>‹#›</a:t>
            </a:fld>
            <a:endParaRPr lang="en-US"/>
          </a:p>
        </p:txBody>
      </p:sp>
    </p:spTree>
    <p:extLst>
      <p:ext uri="{BB962C8B-B14F-4D97-AF65-F5344CB8AC3E}">
        <p14:creationId xmlns:p14="http://schemas.microsoft.com/office/powerpoint/2010/main" val="544357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Clv7AWGLCDfS40VhSXGD-f60oZ6OJwOv?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DISTRIBUTION LICENSE TRACKER </a:t>
            </a:r>
            <a:endParaRPr lang="en-US" b="1" dirty="0"/>
          </a:p>
        </p:txBody>
      </p:sp>
      <p:sp>
        <p:nvSpPr>
          <p:cNvPr id="4" name="Subtitle 2"/>
          <p:cNvSpPr>
            <a:spLocks noGrp="1"/>
          </p:cNvSpPr>
          <p:nvPr>
            <p:ph type="subTitle" idx="1"/>
          </p:nvPr>
        </p:nvSpPr>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1748623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colab.research.google.com/drive/1Clv7AWGLCDfS40VhSXGD-f60oZ6OJwOv?usp=sharing</a:t>
            </a:r>
            <a:endParaRPr lang="en-US" dirty="0" smtClean="0"/>
          </a:p>
          <a:p>
            <a:endParaRPr lang="en-US" dirty="0"/>
          </a:p>
        </p:txBody>
      </p:sp>
    </p:spTree>
    <p:extLst>
      <p:ext uri="{BB962C8B-B14F-4D97-AF65-F5344CB8AC3E}">
        <p14:creationId xmlns:p14="http://schemas.microsoft.com/office/powerpoint/2010/main" val="1711137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Introduction</a:t>
            </a:r>
          </a:p>
        </p:txBody>
      </p:sp>
      <p:sp>
        <p:nvSpPr>
          <p:cNvPr id="3" name="Content Placeholder 2"/>
          <p:cNvSpPr>
            <a:spLocks noGrp="1"/>
          </p:cNvSpPr>
          <p:nvPr>
            <p:ph idx="1"/>
          </p:nvPr>
        </p:nvSpPr>
        <p:spPr/>
        <p:txBody>
          <a:bodyPr/>
          <a:lstStyle/>
          <a:p>
            <a:r>
              <a:rPr lang="en-US" dirty="0"/>
              <a:t>The mutual fund distribution industry is highly regulated, requiring distributors to maintain valid licenses and certifications at all times. Failure to comply with regulatory requirements such as timely renewal of licenses or completion of continuing education (CE) credits can lead to suspension of business activities and financial penalties.</a:t>
            </a:r>
          </a:p>
          <a:p>
            <a:r>
              <a:rPr lang="en-US" dirty="0"/>
              <a:t>This project, </a:t>
            </a:r>
            <a:r>
              <a:rPr lang="en-US" b="1" dirty="0"/>
              <a:t>Distribution License Tracker</a:t>
            </a:r>
            <a:r>
              <a:rPr lang="en-US" dirty="0"/>
              <a:t>, is a simulation-based analytical system designed to track distributor licenses, monitor compliance status, and identify renewal risks proactively. The project focuses on </a:t>
            </a:r>
            <a:r>
              <a:rPr lang="en-US" b="1" dirty="0"/>
              <a:t>AMFI ARN registration and NISM certification</a:t>
            </a:r>
            <a:r>
              <a:rPr lang="en-US" dirty="0"/>
              <a:t>, while also being extensible to other regulatory licenses.</a:t>
            </a:r>
          </a:p>
          <a:p>
            <a:endParaRPr lang="en-US" dirty="0"/>
          </a:p>
        </p:txBody>
      </p:sp>
    </p:spTree>
    <p:extLst>
      <p:ext uri="{BB962C8B-B14F-4D97-AF65-F5344CB8AC3E}">
        <p14:creationId xmlns:p14="http://schemas.microsoft.com/office/powerpoint/2010/main" val="29033988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 of the Project</a:t>
            </a:r>
          </a:p>
        </p:txBody>
      </p:sp>
      <p:sp>
        <p:nvSpPr>
          <p:cNvPr id="3" name="Content Placeholder 2"/>
          <p:cNvSpPr>
            <a:spLocks noGrp="1"/>
          </p:cNvSpPr>
          <p:nvPr>
            <p:ph idx="1"/>
          </p:nvPr>
        </p:nvSpPr>
        <p:spPr/>
        <p:txBody>
          <a:bodyPr/>
          <a:lstStyle/>
          <a:p>
            <a:r>
              <a:rPr lang="en-US" dirty="0"/>
              <a:t>The primary objectives of Project 1B are:</a:t>
            </a:r>
          </a:p>
          <a:p>
            <a:r>
              <a:rPr lang="en-US" dirty="0"/>
              <a:t>To simulate the lifecycle of mutual fund distributor licenses</a:t>
            </a:r>
          </a:p>
          <a:p>
            <a:r>
              <a:rPr lang="en-US" dirty="0"/>
              <a:t>To track license issue dates, expiry dates, and validity periods</a:t>
            </a:r>
          </a:p>
          <a:p>
            <a:r>
              <a:rPr lang="en-US" dirty="0"/>
              <a:t>To monitor compliance status and renewal risk</a:t>
            </a:r>
          </a:p>
          <a:p>
            <a:r>
              <a:rPr lang="en-US" dirty="0"/>
              <a:t>To visualize compliance data using analytical charts</a:t>
            </a:r>
          </a:p>
          <a:p>
            <a:r>
              <a:rPr lang="en-US" dirty="0"/>
              <a:t>To demonstrate how analytics supports regulatory decision-making</a:t>
            </a:r>
          </a:p>
          <a:p>
            <a:endParaRPr lang="en-US" dirty="0"/>
          </a:p>
        </p:txBody>
      </p:sp>
    </p:spTree>
    <p:extLst>
      <p:ext uri="{BB962C8B-B14F-4D97-AF65-F5344CB8AC3E}">
        <p14:creationId xmlns:p14="http://schemas.microsoft.com/office/powerpoint/2010/main" val="13261307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Regulatory Background</a:t>
            </a:r>
          </a:p>
        </p:txBody>
      </p:sp>
      <p:sp>
        <p:nvSpPr>
          <p:cNvPr id="3" name="Content Placeholder 2"/>
          <p:cNvSpPr>
            <a:spLocks noGrp="1"/>
          </p:cNvSpPr>
          <p:nvPr>
            <p:ph idx="1"/>
          </p:nvPr>
        </p:nvSpPr>
        <p:spPr/>
        <p:txBody>
          <a:bodyPr/>
          <a:lstStyle/>
          <a:p>
            <a:r>
              <a:rPr lang="en-US" b="1" dirty="0"/>
              <a:t>3.1 AMFI and NISM Overview</a:t>
            </a:r>
          </a:p>
          <a:p>
            <a:r>
              <a:rPr lang="en-US" b="1" dirty="0"/>
              <a:t>AMFI (Association of Mutual Funds in India)</a:t>
            </a:r>
            <a:r>
              <a:rPr lang="en-US" dirty="0"/>
              <a:t> issues ARN (AMFI Registration Number) to mutual fund distributors.</a:t>
            </a:r>
          </a:p>
          <a:p>
            <a:r>
              <a:rPr lang="en-US" b="1" dirty="0"/>
              <a:t>NISM (National Institute of Securities Markets)</a:t>
            </a:r>
            <a:r>
              <a:rPr lang="en-US" dirty="0"/>
              <a:t> conducts certification exams (Series V-A) mandatory for distributors.</a:t>
            </a:r>
          </a:p>
          <a:p>
            <a:r>
              <a:rPr lang="en-US" dirty="0"/>
              <a:t>Licenses are typically valid for </a:t>
            </a:r>
            <a:r>
              <a:rPr lang="en-US" b="1" dirty="0"/>
              <a:t>three years</a:t>
            </a:r>
            <a:r>
              <a:rPr lang="en-US" dirty="0"/>
              <a:t>, after which renewal is required.</a:t>
            </a:r>
          </a:p>
          <a:p>
            <a:endParaRPr lang="en-US" dirty="0"/>
          </a:p>
        </p:txBody>
      </p:sp>
    </p:spTree>
    <p:extLst>
      <p:ext uri="{BB962C8B-B14F-4D97-AF65-F5344CB8AC3E}">
        <p14:creationId xmlns:p14="http://schemas.microsoft.com/office/powerpoint/2010/main" val="38359354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Regulatory Background</a:t>
            </a:r>
          </a:p>
        </p:txBody>
      </p:sp>
      <p:sp>
        <p:nvSpPr>
          <p:cNvPr id="3" name="Content Placeholder 2"/>
          <p:cNvSpPr>
            <a:spLocks noGrp="1"/>
          </p:cNvSpPr>
          <p:nvPr>
            <p:ph idx="1"/>
          </p:nvPr>
        </p:nvSpPr>
        <p:spPr/>
        <p:txBody>
          <a:bodyPr/>
          <a:lstStyle/>
          <a:p>
            <a:r>
              <a:rPr lang="en-US" b="1" dirty="0"/>
              <a:t>3.2 Compliance Requirements</a:t>
            </a:r>
          </a:p>
          <a:p>
            <a:r>
              <a:rPr lang="en-US" dirty="0"/>
              <a:t>Valid ARN registration</a:t>
            </a:r>
          </a:p>
          <a:p>
            <a:r>
              <a:rPr lang="en-US" dirty="0"/>
              <a:t>Valid NISM certification</a:t>
            </a:r>
          </a:p>
          <a:p>
            <a:r>
              <a:rPr lang="en-US" dirty="0"/>
              <a:t>Completion of CE credits or re-certification before expiry</a:t>
            </a:r>
          </a:p>
          <a:p>
            <a:r>
              <a:rPr lang="en-US" dirty="0"/>
              <a:t>Timely renewal to avoid lapse in distribution rights</a:t>
            </a:r>
          </a:p>
          <a:p>
            <a:endParaRPr lang="en-US" dirty="0"/>
          </a:p>
        </p:txBody>
      </p:sp>
    </p:spTree>
    <p:extLst>
      <p:ext uri="{BB962C8B-B14F-4D97-AF65-F5344CB8AC3E}">
        <p14:creationId xmlns:p14="http://schemas.microsoft.com/office/powerpoint/2010/main" val="18366393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Design and Methodology</a:t>
            </a:r>
          </a:p>
        </p:txBody>
      </p:sp>
      <p:sp>
        <p:nvSpPr>
          <p:cNvPr id="3" name="Content Placeholder 2"/>
          <p:cNvSpPr>
            <a:spLocks noGrp="1"/>
          </p:cNvSpPr>
          <p:nvPr>
            <p:ph idx="1"/>
          </p:nvPr>
        </p:nvSpPr>
        <p:spPr/>
        <p:txBody>
          <a:bodyPr/>
          <a:lstStyle/>
          <a:p>
            <a:r>
              <a:rPr lang="en-US" b="1" dirty="0"/>
              <a:t>4.1 Simulation Design</a:t>
            </a:r>
          </a:p>
          <a:p>
            <a:r>
              <a:rPr lang="en-US" dirty="0"/>
              <a:t>The license tracker simulates:</a:t>
            </a:r>
          </a:p>
          <a:p>
            <a:r>
              <a:rPr lang="en-US" dirty="0"/>
              <a:t>Issue date of license</a:t>
            </a:r>
          </a:p>
          <a:p>
            <a:r>
              <a:rPr lang="en-US" dirty="0"/>
              <a:t>Expiry date calculation</a:t>
            </a:r>
          </a:p>
          <a:p>
            <a:r>
              <a:rPr lang="en-US" dirty="0"/>
              <a:t>Remaining days to expiry</a:t>
            </a:r>
          </a:p>
          <a:p>
            <a:r>
              <a:rPr lang="en-US" dirty="0"/>
              <a:t>CE credit tracking</a:t>
            </a:r>
          </a:p>
          <a:p>
            <a:r>
              <a:rPr lang="en-US" dirty="0"/>
              <a:t>Compliance classification</a:t>
            </a:r>
          </a:p>
          <a:p>
            <a:endParaRPr lang="en-US" dirty="0"/>
          </a:p>
        </p:txBody>
      </p:sp>
    </p:spTree>
    <p:extLst>
      <p:ext uri="{BB962C8B-B14F-4D97-AF65-F5344CB8AC3E}">
        <p14:creationId xmlns:p14="http://schemas.microsoft.com/office/powerpoint/2010/main" val="7547758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Design and Methodology</a:t>
            </a:r>
            <a:endParaRPr lang="en-US" dirty="0"/>
          </a:p>
        </p:txBody>
      </p:sp>
      <p:sp>
        <p:nvSpPr>
          <p:cNvPr id="3" name="Content Placeholder 2"/>
          <p:cNvSpPr>
            <a:spLocks noGrp="1"/>
          </p:cNvSpPr>
          <p:nvPr>
            <p:ph idx="1"/>
          </p:nvPr>
        </p:nvSpPr>
        <p:spPr/>
        <p:txBody>
          <a:bodyPr/>
          <a:lstStyle/>
          <a:p>
            <a:r>
              <a:rPr lang="en-US" b="1" dirty="0"/>
              <a:t>4.2 Compliance Categories</a:t>
            </a:r>
          </a:p>
          <a:p>
            <a:r>
              <a:rPr lang="en-US" dirty="0"/>
              <a:t>Licenses are classified into four categories:</a:t>
            </a:r>
          </a:p>
          <a:p>
            <a:r>
              <a:rPr lang="en-US" b="1" dirty="0"/>
              <a:t>Active:</a:t>
            </a:r>
            <a:r>
              <a:rPr lang="en-US" dirty="0"/>
              <a:t> More than 90 days remaining</a:t>
            </a:r>
          </a:p>
          <a:p>
            <a:r>
              <a:rPr lang="en-US" b="1" dirty="0"/>
              <a:t>Warning:</a:t>
            </a:r>
            <a:r>
              <a:rPr lang="en-US" dirty="0"/>
              <a:t> 31–90 days remaining</a:t>
            </a:r>
          </a:p>
          <a:p>
            <a:r>
              <a:rPr lang="en-US" b="1" dirty="0"/>
              <a:t>Critical:</a:t>
            </a:r>
            <a:r>
              <a:rPr lang="en-US" dirty="0"/>
              <a:t> 0–30 days remaining</a:t>
            </a:r>
          </a:p>
          <a:p>
            <a:r>
              <a:rPr lang="en-US" b="1" dirty="0"/>
              <a:t>Expired:</a:t>
            </a:r>
            <a:r>
              <a:rPr lang="en-US" dirty="0"/>
              <a:t> License validity lapsed</a:t>
            </a:r>
          </a:p>
          <a:p>
            <a:r>
              <a:rPr lang="en-US" dirty="0"/>
              <a:t>This classification enables early identification of renewal risk.</a:t>
            </a:r>
          </a:p>
          <a:p>
            <a:endParaRPr lang="en-US" dirty="0"/>
          </a:p>
        </p:txBody>
      </p:sp>
    </p:spTree>
    <p:extLst>
      <p:ext uri="{BB962C8B-B14F-4D97-AF65-F5344CB8AC3E}">
        <p14:creationId xmlns:p14="http://schemas.microsoft.com/office/powerpoint/2010/main" val="24972294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Data Modeling (Sample Simulation Data)</a:t>
            </a:r>
          </a:p>
        </p:txBody>
      </p:sp>
      <p:sp>
        <p:nvSpPr>
          <p:cNvPr id="3" name="Content Placeholder 2"/>
          <p:cNvSpPr>
            <a:spLocks noGrp="1"/>
          </p:cNvSpPr>
          <p:nvPr>
            <p:ph idx="1"/>
          </p:nvPr>
        </p:nvSpPr>
        <p:spPr/>
        <p:txBody>
          <a:bodyPr/>
          <a:lstStyle/>
          <a:p>
            <a:r>
              <a:rPr lang="en-US" dirty="0"/>
              <a:t>The system uses simulated data representing multiple distributors and license types.</a:t>
            </a:r>
            <a:br>
              <a:rPr lang="en-US" dirty="0"/>
            </a:br>
            <a:r>
              <a:rPr lang="en-US" dirty="0"/>
              <a:t>Each distributor may hold multiple licenses with varying compliance status.</a:t>
            </a:r>
          </a:p>
          <a:p>
            <a:r>
              <a:rPr lang="en-US" dirty="0"/>
              <a:t>Example attributes:</a:t>
            </a:r>
          </a:p>
          <a:p>
            <a:r>
              <a:rPr lang="en-US" dirty="0"/>
              <a:t>Distributor Name</a:t>
            </a:r>
          </a:p>
          <a:p>
            <a:r>
              <a:rPr lang="en-US" dirty="0"/>
              <a:t>License Type (NISM, AMFI ARN, IRDAI, etc.)</a:t>
            </a:r>
          </a:p>
          <a:p>
            <a:r>
              <a:rPr lang="en-US" dirty="0"/>
              <a:t>Compliance Status</a:t>
            </a:r>
          </a:p>
          <a:p>
            <a:r>
              <a:rPr lang="en-US" dirty="0"/>
              <a:t>CE Completion Status</a:t>
            </a:r>
          </a:p>
          <a:p>
            <a:endParaRPr lang="en-US" dirty="0"/>
          </a:p>
        </p:txBody>
      </p:sp>
    </p:spTree>
    <p:extLst>
      <p:ext uri="{BB962C8B-B14F-4D97-AF65-F5344CB8AC3E}">
        <p14:creationId xmlns:p14="http://schemas.microsoft.com/office/powerpoint/2010/main" val="39626198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Visualization and Analytics</a:t>
            </a:r>
          </a:p>
        </p:txBody>
      </p:sp>
      <p:sp>
        <p:nvSpPr>
          <p:cNvPr id="3" name="Content Placeholder 2"/>
          <p:cNvSpPr>
            <a:spLocks noGrp="1"/>
          </p:cNvSpPr>
          <p:nvPr>
            <p:ph idx="1"/>
          </p:nvPr>
        </p:nvSpPr>
        <p:spPr/>
        <p:txBody>
          <a:bodyPr/>
          <a:lstStyle/>
          <a:p>
            <a:r>
              <a:rPr lang="en-US" b="1" dirty="0"/>
              <a:t>6.1 Purpose of Visualizations</a:t>
            </a:r>
          </a:p>
          <a:p>
            <a:r>
              <a:rPr lang="en-US" dirty="0"/>
              <a:t>Visual analytics help transform raw compliance data into actionable insights.</a:t>
            </a:r>
            <a:br>
              <a:rPr lang="en-US" dirty="0"/>
            </a:br>
            <a:r>
              <a:rPr lang="en-US" dirty="0"/>
              <a:t>Charts allow stakeholders to:</a:t>
            </a:r>
          </a:p>
          <a:p>
            <a:r>
              <a:rPr lang="en-US" dirty="0"/>
              <a:t>Quickly assess compliance health</a:t>
            </a:r>
          </a:p>
          <a:p>
            <a:r>
              <a:rPr lang="en-US" dirty="0"/>
              <a:t>Identify high-risk distributors</a:t>
            </a:r>
          </a:p>
          <a:p>
            <a:r>
              <a:rPr lang="en-US" dirty="0"/>
              <a:t>Prioritize renewal actions</a:t>
            </a:r>
          </a:p>
          <a:p>
            <a:endParaRPr lang="en-US" dirty="0"/>
          </a:p>
        </p:txBody>
      </p:sp>
    </p:spTree>
    <p:extLst>
      <p:ext uri="{BB962C8B-B14F-4D97-AF65-F5344CB8AC3E}">
        <p14:creationId xmlns:p14="http://schemas.microsoft.com/office/powerpoint/2010/main" val="1873633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7456708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Histogram </a:t>
            </a:r>
            <a:r>
              <a:rPr lang="en-US" b="1" dirty="0"/>
              <a:t>– License Expiry Distribution</a:t>
            </a:r>
            <a:br>
              <a:rPr lang="en-US" b="1" dirty="0"/>
            </a:br>
            <a:endParaRPr lang="en-US" b="1" dirty="0"/>
          </a:p>
        </p:txBody>
      </p:sp>
      <p:sp>
        <p:nvSpPr>
          <p:cNvPr id="3" name="Content Placeholder 2"/>
          <p:cNvSpPr>
            <a:spLocks noGrp="1"/>
          </p:cNvSpPr>
          <p:nvPr>
            <p:ph idx="1"/>
          </p:nvPr>
        </p:nvSpPr>
        <p:spPr/>
        <p:txBody>
          <a:bodyPr>
            <a:normAutofit fontScale="92500" lnSpcReduction="20000"/>
          </a:bodyPr>
          <a:lstStyle/>
          <a:p>
            <a:r>
              <a:rPr lang="en-US" b="1" dirty="0"/>
              <a:t>6.2.1 </a:t>
            </a:r>
            <a:r>
              <a:rPr lang="en-US" b="1" dirty="0" smtClean="0"/>
              <a:t>Description</a:t>
            </a:r>
            <a:r>
              <a:rPr lang="en-US" b="1" dirty="0"/>
              <a:t>:</a:t>
            </a:r>
            <a:r>
              <a:rPr lang="en-US" dirty="0"/>
              <a:t/>
            </a:r>
            <a:br>
              <a:rPr lang="en-US" dirty="0"/>
            </a:br>
            <a:r>
              <a:rPr lang="en-US" dirty="0"/>
              <a:t>The histogram displays the distribution of licenses based on the number of days remaining until expiry.</a:t>
            </a:r>
          </a:p>
          <a:p>
            <a:r>
              <a:rPr lang="en-US" b="1" dirty="0"/>
              <a:t>Analytical Insight:</a:t>
            </a:r>
            <a:endParaRPr lang="en-US" dirty="0"/>
          </a:p>
          <a:p>
            <a:r>
              <a:rPr lang="en-US" dirty="0"/>
              <a:t>Clusters on the lower end indicate </a:t>
            </a:r>
            <a:r>
              <a:rPr lang="en-US" b="1" dirty="0"/>
              <a:t>high renewal risk</a:t>
            </a:r>
            <a:endParaRPr lang="en-US" dirty="0"/>
          </a:p>
          <a:p>
            <a:r>
              <a:rPr lang="en-US" dirty="0"/>
              <a:t>Wider spread indicates </a:t>
            </a:r>
            <a:r>
              <a:rPr lang="en-US" b="1" dirty="0"/>
              <a:t>well-distributed renewal timelines</a:t>
            </a:r>
            <a:endParaRPr lang="en-US" dirty="0"/>
          </a:p>
          <a:p>
            <a:r>
              <a:rPr lang="en-US" dirty="0"/>
              <a:t>Helps compliance teams plan renewals in advance</a:t>
            </a:r>
          </a:p>
          <a:p>
            <a:r>
              <a:rPr lang="en-US" b="1" dirty="0"/>
              <a:t>Business Value:</a:t>
            </a:r>
            <a:endParaRPr lang="en-US" dirty="0"/>
          </a:p>
          <a:p>
            <a:r>
              <a:rPr lang="en-US" dirty="0"/>
              <a:t>Prevents sudden license lapses</a:t>
            </a:r>
          </a:p>
          <a:p>
            <a:r>
              <a:rPr lang="en-US" dirty="0"/>
              <a:t>Enables workload planning for renewals</a:t>
            </a:r>
          </a:p>
          <a:p>
            <a:r>
              <a:rPr lang="en-US" dirty="0"/>
              <a:t>Supports early-warning compliance systems</a:t>
            </a:r>
          </a:p>
          <a:p>
            <a:endParaRPr lang="en-US" dirty="0"/>
          </a:p>
        </p:txBody>
      </p:sp>
    </p:spTree>
    <p:extLst>
      <p:ext uri="{BB962C8B-B14F-4D97-AF65-F5344CB8AC3E}">
        <p14:creationId xmlns:p14="http://schemas.microsoft.com/office/powerpoint/2010/main" val="36585547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3671" y="1921030"/>
            <a:ext cx="5184658" cy="4160528"/>
          </a:xfrm>
        </p:spPr>
      </p:pic>
    </p:spTree>
    <p:extLst>
      <p:ext uri="{BB962C8B-B14F-4D97-AF65-F5344CB8AC3E}">
        <p14:creationId xmlns:p14="http://schemas.microsoft.com/office/powerpoint/2010/main" val="42548946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Bar Chart – Compliance Status </a:t>
            </a:r>
            <a:r>
              <a:rPr lang="en-US" b="1" smtClean="0"/>
              <a:t>Summary  </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smtClean="0"/>
              <a:t>Description</a:t>
            </a:r>
            <a:r>
              <a:rPr lang="en-US" b="1" dirty="0"/>
              <a:t>:</a:t>
            </a:r>
            <a:r>
              <a:rPr lang="en-US" dirty="0"/>
              <a:t/>
            </a:r>
            <a:br>
              <a:rPr lang="en-US" dirty="0"/>
            </a:br>
            <a:r>
              <a:rPr lang="en-US" dirty="0"/>
              <a:t>The bar chart summarizes the total number of licenses under each compliance category (Active, Warning, Critical, Expired).</a:t>
            </a:r>
          </a:p>
          <a:p>
            <a:r>
              <a:rPr lang="en-US" b="1" dirty="0"/>
              <a:t>Analytical Insight:</a:t>
            </a:r>
            <a:endParaRPr lang="en-US" dirty="0"/>
          </a:p>
          <a:p>
            <a:r>
              <a:rPr lang="en-US" dirty="0"/>
              <a:t>Higher “Warning” or “Critical” bars indicate growing compliance pressure</a:t>
            </a:r>
          </a:p>
          <a:p>
            <a:r>
              <a:rPr lang="en-US" dirty="0"/>
              <a:t>Useful for month-on-month compliance comparisons</a:t>
            </a:r>
          </a:p>
          <a:p>
            <a:r>
              <a:rPr lang="en-US" b="1" dirty="0"/>
              <a:t>Business Value:</a:t>
            </a:r>
            <a:endParaRPr lang="en-US" dirty="0"/>
          </a:p>
          <a:p>
            <a:r>
              <a:rPr lang="en-US" dirty="0"/>
              <a:t>Simplifies compliance reporting</a:t>
            </a:r>
          </a:p>
          <a:p>
            <a:r>
              <a:rPr lang="en-US" dirty="0"/>
              <a:t>Helps management assess overall regulatory health</a:t>
            </a:r>
          </a:p>
          <a:p>
            <a:r>
              <a:rPr lang="en-US" dirty="0"/>
              <a:t>Enables KPI tracking for compliance teams</a:t>
            </a:r>
          </a:p>
          <a:p>
            <a:endParaRPr lang="en-US" dirty="0"/>
          </a:p>
        </p:txBody>
      </p:sp>
    </p:spTree>
    <p:extLst>
      <p:ext uri="{BB962C8B-B14F-4D97-AF65-F5344CB8AC3E}">
        <p14:creationId xmlns:p14="http://schemas.microsoft.com/office/powerpoint/2010/main" val="9555920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7095" y="1921030"/>
            <a:ext cx="5257810" cy="4160528"/>
          </a:xfrm>
        </p:spPr>
      </p:pic>
    </p:spTree>
    <p:extLst>
      <p:ext uri="{BB962C8B-B14F-4D97-AF65-F5344CB8AC3E}">
        <p14:creationId xmlns:p14="http://schemas.microsoft.com/office/powerpoint/2010/main" val="15102867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Stacked </a:t>
            </a:r>
            <a:r>
              <a:rPr lang="en-US" b="1" dirty="0"/>
              <a:t>Bar Chart – Compliance by License Type</a:t>
            </a:r>
          </a:p>
        </p:txBody>
      </p:sp>
      <p:sp>
        <p:nvSpPr>
          <p:cNvPr id="3" name="Content Placeholder 2"/>
          <p:cNvSpPr>
            <a:spLocks noGrp="1"/>
          </p:cNvSpPr>
          <p:nvPr>
            <p:ph idx="1"/>
          </p:nvPr>
        </p:nvSpPr>
        <p:spPr/>
        <p:txBody>
          <a:bodyPr/>
          <a:lstStyle/>
          <a:p>
            <a:r>
              <a:rPr lang="en-US" b="1" dirty="0"/>
              <a:t>Description:</a:t>
            </a:r>
            <a:r>
              <a:rPr lang="en-US" dirty="0"/>
              <a:t/>
            </a:r>
            <a:br>
              <a:rPr lang="en-US" dirty="0"/>
            </a:br>
            <a:r>
              <a:rPr lang="en-US" dirty="0"/>
              <a:t>This chart shows license compliance status segmented by license type (e.g., NISM, AMFI ARN).</a:t>
            </a:r>
          </a:p>
          <a:p>
            <a:r>
              <a:rPr lang="en-US" b="1" dirty="0"/>
              <a:t>Analytical Insight:</a:t>
            </a:r>
            <a:endParaRPr lang="en-US" dirty="0"/>
          </a:p>
          <a:p>
            <a:r>
              <a:rPr lang="en-US" dirty="0"/>
              <a:t>Identifies which license types are more prone to expiry</a:t>
            </a:r>
          </a:p>
          <a:p>
            <a:r>
              <a:rPr lang="en-US" dirty="0"/>
              <a:t>Highlights regulatory areas needing focused attention</a:t>
            </a:r>
          </a:p>
          <a:p>
            <a:r>
              <a:rPr lang="en-US" b="1" dirty="0"/>
              <a:t>Business Value:</a:t>
            </a:r>
            <a:endParaRPr lang="en-US" dirty="0"/>
          </a:p>
          <a:p>
            <a:r>
              <a:rPr lang="en-US" dirty="0"/>
              <a:t>Targeted training and renewal initiatives</a:t>
            </a:r>
          </a:p>
          <a:p>
            <a:r>
              <a:rPr lang="en-US" dirty="0"/>
              <a:t>Better allocation of compliance resources</a:t>
            </a:r>
          </a:p>
          <a:p>
            <a:endParaRPr lang="en-US" dirty="0"/>
          </a:p>
        </p:txBody>
      </p:sp>
    </p:spTree>
    <p:extLst>
      <p:ext uri="{BB962C8B-B14F-4D97-AF65-F5344CB8AC3E}">
        <p14:creationId xmlns:p14="http://schemas.microsoft.com/office/powerpoint/2010/main" val="9193418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Combined </a:t>
            </a:r>
            <a:r>
              <a:rPr lang="en-US" b="1" dirty="0"/>
              <a:t>Stacked Bar Chart – Compliance by Distributor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5090" y="1921030"/>
            <a:ext cx="5321819" cy="4160528"/>
          </a:xfrm>
        </p:spPr>
      </p:pic>
    </p:spTree>
    <p:extLst>
      <p:ext uri="{BB962C8B-B14F-4D97-AF65-F5344CB8AC3E}">
        <p14:creationId xmlns:p14="http://schemas.microsoft.com/office/powerpoint/2010/main" val="12341116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Combined Stacked Bar Chart – Compliance by Distributor</a:t>
            </a:r>
          </a:p>
        </p:txBody>
      </p:sp>
      <p:sp>
        <p:nvSpPr>
          <p:cNvPr id="3" name="Content Placeholder 2"/>
          <p:cNvSpPr>
            <a:spLocks noGrp="1"/>
          </p:cNvSpPr>
          <p:nvPr>
            <p:ph idx="1"/>
          </p:nvPr>
        </p:nvSpPr>
        <p:spPr/>
        <p:txBody>
          <a:bodyPr>
            <a:normAutofit fontScale="92500" lnSpcReduction="10000"/>
          </a:bodyPr>
          <a:lstStyle/>
          <a:p>
            <a:r>
              <a:rPr lang="en-US" b="1" dirty="0"/>
              <a:t>Description:</a:t>
            </a:r>
            <a:r>
              <a:rPr lang="en-US" dirty="0"/>
              <a:t/>
            </a:r>
            <a:br>
              <a:rPr lang="en-US" dirty="0"/>
            </a:br>
            <a:r>
              <a:rPr lang="en-US" dirty="0"/>
              <a:t>The combined stacked bar chart compares multiple distributors, with each bar representing total licenses and stacked by compliance status.</a:t>
            </a:r>
          </a:p>
          <a:p>
            <a:r>
              <a:rPr lang="en-US" b="1" dirty="0"/>
              <a:t>Analytical Insight:</a:t>
            </a:r>
            <a:endParaRPr lang="en-US" dirty="0"/>
          </a:p>
          <a:p>
            <a:r>
              <a:rPr lang="en-US" dirty="0"/>
              <a:t>Distributors with larger “Expired” or “Critical” segments pose higher risk</a:t>
            </a:r>
          </a:p>
          <a:p>
            <a:r>
              <a:rPr lang="en-US" dirty="0"/>
              <a:t>Side-by-side comparison enables benchmarking</a:t>
            </a:r>
          </a:p>
          <a:p>
            <a:r>
              <a:rPr lang="en-US" b="1" dirty="0"/>
              <a:t>Business Value:</a:t>
            </a:r>
            <a:endParaRPr lang="en-US" dirty="0"/>
          </a:p>
          <a:p>
            <a:r>
              <a:rPr lang="en-US" dirty="0"/>
              <a:t>Supports distributor performance evaluation</a:t>
            </a:r>
          </a:p>
          <a:p>
            <a:r>
              <a:rPr lang="en-US" dirty="0"/>
              <a:t>Enables risk-based compliance intervention</a:t>
            </a:r>
          </a:p>
          <a:p>
            <a:r>
              <a:rPr lang="en-US" dirty="0"/>
              <a:t>Ideal for management dashboards and audits</a:t>
            </a:r>
          </a:p>
          <a:p>
            <a:endParaRPr lang="en-US" dirty="0"/>
          </a:p>
        </p:txBody>
      </p:sp>
    </p:spTree>
    <p:extLst>
      <p:ext uri="{BB962C8B-B14F-4D97-AF65-F5344CB8AC3E}">
        <p14:creationId xmlns:p14="http://schemas.microsoft.com/office/powerpoint/2010/main" val="25885452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Analytics Interpretation</a:t>
            </a:r>
          </a:p>
        </p:txBody>
      </p:sp>
      <p:sp>
        <p:nvSpPr>
          <p:cNvPr id="3" name="Content Placeholder 2"/>
          <p:cNvSpPr>
            <a:spLocks noGrp="1"/>
          </p:cNvSpPr>
          <p:nvPr>
            <p:ph idx="1"/>
          </p:nvPr>
        </p:nvSpPr>
        <p:spPr/>
        <p:txBody>
          <a:bodyPr/>
          <a:lstStyle/>
          <a:p>
            <a:r>
              <a:rPr lang="en-US" dirty="0"/>
              <a:t>From the visual analysis:</a:t>
            </a:r>
          </a:p>
          <a:p>
            <a:r>
              <a:rPr lang="en-US" dirty="0"/>
              <a:t>Proactive distributors maintain higher proportions of </a:t>
            </a:r>
            <a:r>
              <a:rPr lang="en-US" b="1" dirty="0"/>
              <a:t>active licenses</a:t>
            </a:r>
            <a:endParaRPr lang="en-US" dirty="0"/>
          </a:p>
          <a:p>
            <a:r>
              <a:rPr lang="en-US" dirty="0"/>
              <a:t>Renewal delays are clearly visible through </a:t>
            </a:r>
            <a:r>
              <a:rPr lang="en-US" b="1" dirty="0"/>
              <a:t>warning and expired segments</a:t>
            </a:r>
            <a:endParaRPr lang="en-US" dirty="0"/>
          </a:p>
          <a:p>
            <a:r>
              <a:rPr lang="en-US" dirty="0"/>
              <a:t>Visual analytics significantly improve compliance monitoring efficiency</a:t>
            </a:r>
          </a:p>
          <a:p>
            <a:r>
              <a:rPr lang="en-US" dirty="0"/>
              <a:t>The combination of multiple charts provides both </a:t>
            </a:r>
            <a:r>
              <a:rPr lang="en-US" b="1" dirty="0"/>
              <a:t>micro-level insights</a:t>
            </a:r>
            <a:r>
              <a:rPr lang="en-US" dirty="0"/>
              <a:t> (individual license risk) and </a:t>
            </a:r>
            <a:r>
              <a:rPr lang="en-US" b="1" dirty="0"/>
              <a:t>macro-level insights</a:t>
            </a:r>
            <a:r>
              <a:rPr lang="en-US" dirty="0"/>
              <a:t> (overall compliance health).</a:t>
            </a:r>
          </a:p>
          <a:p>
            <a:endParaRPr lang="en-US" dirty="0"/>
          </a:p>
        </p:txBody>
      </p:sp>
    </p:spTree>
    <p:extLst>
      <p:ext uri="{BB962C8B-B14F-4D97-AF65-F5344CB8AC3E}">
        <p14:creationId xmlns:p14="http://schemas.microsoft.com/office/powerpoint/2010/main" val="5879846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Decision Support Enabled by Analytics</a:t>
            </a:r>
          </a:p>
        </p:txBody>
      </p:sp>
      <p:sp>
        <p:nvSpPr>
          <p:cNvPr id="3" name="Content Placeholder 2"/>
          <p:cNvSpPr>
            <a:spLocks noGrp="1"/>
          </p:cNvSpPr>
          <p:nvPr>
            <p:ph idx="1"/>
          </p:nvPr>
        </p:nvSpPr>
        <p:spPr/>
        <p:txBody>
          <a:bodyPr/>
          <a:lstStyle/>
          <a:p>
            <a:r>
              <a:rPr lang="en-US" dirty="0"/>
              <a:t>The visualization framework supports:</a:t>
            </a:r>
          </a:p>
          <a:p>
            <a:r>
              <a:rPr lang="en-US" dirty="0"/>
              <a:t>Renewal prioritization</a:t>
            </a:r>
          </a:p>
          <a:p>
            <a:r>
              <a:rPr lang="en-US" dirty="0"/>
              <a:t>Compliance risk assessment</a:t>
            </a:r>
          </a:p>
          <a:p>
            <a:r>
              <a:rPr lang="en-US" dirty="0"/>
              <a:t>Distributor benchmarking</a:t>
            </a:r>
          </a:p>
          <a:p>
            <a:r>
              <a:rPr lang="en-US" dirty="0"/>
              <a:t>Regulatory reporting</a:t>
            </a:r>
          </a:p>
          <a:p>
            <a:r>
              <a:rPr lang="en-US" dirty="0"/>
              <a:t>Strategic planning for license management</a:t>
            </a:r>
          </a:p>
          <a:p>
            <a:endParaRPr lang="en-US" dirty="0"/>
          </a:p>
        </p:txBody>
      </p:sp>
    </p:spTree>
    <p:extLst>
      <p:ext uri="{BB962C8B-B14F-4D97-AF65-F5344CB8AC3E}">
        <p14:creationId xmlns:p14="http://schemas.microsoft.com/office/powerpoint/2010/main" val="4595262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Visualization and analytics form the backbone of the Distribution License Tracker. By converting license data into intuitive charts, the system enables faster decision-making, reduces compliance risk, and ensures uninterrupted business operations. The analytical approach demonstrated in this project closely aligns with real-world compliance management practices in the financial services industry.</a:t>
            </a:r>
          </a:p>
        </p:txBody>
      </p:sp>
    </p:spTree>
    <p:extLst>
      <p:ext uri="{BB962C8B-B14F-4D97-AF65-F5344CB8AC3E}">
        <p14:creationId xmlns:p14="http://schemas.microsoft.com/office/powerpoint/2010/main" val="17899404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556</Words>
  <Application>Microsoft Office PowerPoint</Application>
  <PresentationFormat>Widescreen</PresentationFormat>
  <Paragraphs>114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CIDFont+F1</vt:lpstr>
      <vt:lpstr>Office Theme</vt:lpstr>
      <vt:lpstr>DISTRIBUTION LICENSE TRACKER </vt:lpstr>
      <vt:lpstr>Google Colab URL</vt:lpstr>
      <vt:lpstr>Introduction</vt:lpstr>
      <vt:lpstr>Objectives of the Project</vt:lpstr>
      <vt:lpstr>Regulatory Background</vt:lpstr>
      <vt:lpstr>Regulatory Background</vt:lpstr>
      <vt:lpstr>System Design and Methodology</vt:lpstr>
      <vt:lpstr>System Design and Methodology</vt:lpstr>
      <vt:lpstr>Data Modeling (Sample Simulation Data)</vt:lpstr>
      <vt:lpstr>Visualization and Analytics</vt:lpstr>
      <vt:lpstr>Data Visualization</vt:lpstr>
      <vt:lpstr> Histogram – License Expiry Distribution </vt:lpstr>
      <vt:lpstr>Data Visualization</vt:lpstr>
      <vt:lpstr>Bar Chart – Compliance Status Summary  </vt:lpstr>
      <vt:lpstr>Data Visualization </vt:lpstr>
      <vt:lpstr> Stacked Bar Chart – Compliance by License Type</vt:lpstr>
      <vt:lpstr> Combined Stacked Bar Chart – Compliance by Distributor</vt:lpstr>
      <vt:lpstr>Combined Stacked Bar Chart – Compliance by Distributor</vt:lpstr>
      <vt:lpstr>Analytics Interpretation</vt:lpstr>
      <vt:lpstr>Decision Support Enabled by Analytics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LICENSE TRACKER </dc:title>
  <dc:creator>KUMAR</dc:creator>
  <cp:lastModifiedBy>KUMAR</cp:lastModifiedBy>
  <cp:revision>27</cp:revision>
  <dcterms:created xsi:type="dcterms:W3CDTF">2026-01-08T00:59:59Z</dcterms:created>
  <dcterms:modified xsi:type="dcterms:W3CDTF">2026-01-08T23:33:49Z</dcterms:modified>
</cp:coreProperties>
</file>