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70" r:id="rId9"/>
    <p:sldId id="263" r:id="rId10"/>
    <p:sldId id="267" r:id="rId11"/>
    <p:sldId id="271" r:id="rId12"/>
    <p:sldId id="268" r:id="rId13"/>
    <p:sldId id="264" r:id="rId14"/>
    <p:sldId id="273" r:id="rId15"/>
    <p:sldId id="272" r:id="rId16"/>
    <p:sldId id="274" r:id="rId17"/>
    <p:sldId id="275" r:id="rId18"/>
    <p:sldId id="276" r:id="rId19"/>
    <p:sldId id="27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0"/>
  </p:normalViewPr>
  <p:slideViewPr>
    <p:cSldViewPr snapToGrid="0">
      <p:cViewPr varScale="1">
        <p:scale>
          <a:sx n="66" d="100"/>
          <a:sy n="66"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46408D-41FF-4010-BF1F-FBA64B2333E5}" type="datetimeFigureOut">
              <a:rPr lang="en-US" smtClean="0"/>
              <a:t>5/31/2026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CD29DA-19AA-4EBD-9AD7-E529D2A63DA1}" type="slidenum">
              <a:rPr lang="en-US" smtClean="0"/>
              <a:t>‹#›</a:t>
            </a:fld>
            <a:endParaRPr lang="en-US"/>
          </a:p>
        </p:txBody>
      </p:sp>
    </p:spTree>
    <p:extLst>
      <p:ext uri="{BB962C8B-B14F-4D97-AF65-F5344CB8AC3E}">
        <p14:creationId xmlns:p14="http://schemas.microsoft.com/office/powerpoint/2010/main" val="2486033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9CD29DA-19AA-4EBD-9AD7-E529D2A63DA1}" type="slidenum">
              <a:rPr lang="en-US" smtClean="0"/>
              <a:t>1</a:t>
            </a:fld>
            <a:endParaRPr lang="en-US"/>
          </a:p>
        </p:txBody>
      </p:sp>
    </p:spTree>
    <p:extLst>
      <p:ext uri="{BB962C8B-B14F-4D97-AF65-F5344CB8AC3E}">
        <p14:creationId xmlns:p14="http://schemas.microsoft.com/office/powerpoint/2010/main" val="2568826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2775383-B6E3-4AB6-B8D7-3CEA88DE8E20}"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6B7EBA-B923-4518-BDC6-4AC8F1B2D475}" type="slidenum">
              <a:rPr lang="en-US" smtClean="0"/>
              <a:t>‹#›</a:t>
            </a:fld>
            <a:endParaRPr lang="en-US"/>
          </a:p>
        </p:txBody>
      </p:sp>
    </p:spTree>
    <p:extLst>
      <p:ext uri="{BB962C8B-B14F-4D97-AF65-F5344CB8AC3E}">
        <p14:creationId xmlns:p14="http://schemas.microsoft.com/office/powerpoint/2010/main" val="2626661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2775383-B6E3-4AB6-B8D7-3CEA88DE8E20}"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6B7EBA-B923-4518-BDC6-4AC8F1B2D475}" type="slidenum">
              <a:rPr lang="en-US" smtClean="0"/>
              <a:t>‹#›</a:t>
            </a:fld>
            <a:endParaRPr lang="en-US"/>
          </a:p>
        </p:txBody>
      </p:sp>
    </p:spTree>
    <p:extLst>
      <p:ext uri="{BB962C8B-B14F-4D97-AF65-F5344CB8AC3E}">
        <p14:creationId xmlns:p14="http://schemas.microsoft.com/office/powerpoint/2010/main" val="2594745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2775383-B6E3-4AB6-B8D7-3CEA88DE8E20}"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6B7EBA-B923-4518-BDC6-4AC8F1B2D475}" type="slidenum">
              <a:rPr lang="en-US" smtClean="0"/>
              <a:t>‹#›</a:t>
            </a:fld>
            <a:endParaRPr lang="en-US"/>
          </a:p>
        </p:txBody>
      </p:sp>
    </p:spTree>
    <p:extLst>
      <p:ext uri="{BB962C8B-B14F-4D97-AF65-F5344CB8AC3E}">
        <p14:creationId xmlns:p14="http://schemas.microsoft.com/office/powerpoint/2010/main" val="970582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2775383-B6E3-4AB6-B8D7-3CEA88DE8E20}"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6B7EBA-B923-4518-BDC6-4AC8F1B2D475}" type="slidenum">
              <a:rPr lang="en-US" smtClean="0"/>
              <a:t>‹#›</a:t>
            </a:fld>
            <a:endParaRPr lang="en-US"/>
          </a:p>
        </p:txBody>
      </p:sp>
    </p:spTree>
    <p:extLst>
      <p:ext uri="{BB962C8B-B14F-4D97-AF65-F5344CB8AC3E}">
        <p14:creationId xmlns:p14="http://schemas.microsoft.com/office/powerpoint/2010/main" val="1846334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2775383-B6E3-4AB6-B8D7-3CEA88DE8E20}" type="datetimeFigureOut">
              <a:rPr lang="en-US" smtClean="0"/>
              <a:t>5/31/2026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6B7EBA-B923-4518-BDC6-4AC8F1B2D475}" type="slidenum">
              <a:rPr lang="en-US" smtClean="0"/>
              <a:t>‹#›</a:t>
            </a:fld>
            <a:endParaRPr lang="en-US"/>
          </a:p>
        </p:txBody>
      </p:sp>
    </p:spTree>
    <p:extLst>
      <p:ext uri="{BB962C8B-B14F-4D97-AF65-F5344CB8AC3E}">
        <p14:creationId xmlns:p14="http://schemas.microsoft.com/office/powerpoint/2010/main" val="4101763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2775383-B6E3-4AB6-B8D7-3CEA88DE8E20}" type="datetimeFigureOut">
              <a:rPr lang="en-US" smtClean="0"/>
              <a:t>5/31/2026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6B7EBA-B923-4518-BDC6-4AC8F1B2D475}" type="slidenum">
              <a:rPr lang="en-US" smtClean="0"/>
              <a:t>‹#›</a:t>
            </a:fld>
            <a:endParaRPr lang="en-US"/>
          </a:p>
        </p:txBody>
      </p:sp>
    </p:spTree>
    <p:extLst>
      <p:ext uri="{BB962C8B-B14F-4D97-AF65-F5344CB8AC3E}">
        <p14:creationId xmlns:p14="http://schemas.microsoft.com/office/powerpoint/2010/main" val="3095418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775383-B6E3-4AB6-B8D7-3CEA88DE8E20}" type="datetimeFigureOut">
              <a:rPr lang="en-US" smtClean="0"/>
              <a:t>5/31/2026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6B7EBA-B923-4518-BDC6-4AC8F1B2D475}" type="slidenum">
              <a:rPr lang="en-US" smtClean="0"/>
              <a:t>‹#›</a:t>
            </a:fld>
            <a:endParaRPr lang="en-US"/>
          </a:p>
        </p:txBody>
      </p:sp>
    </p:spTree>
    <p:extLst>
      <p:ext uri="{BB962C8B-B14F-4D97-AF65-F5344CB8AC3E}">
        <p14:creationId xmlns:p14="http://schemas.microsoft.com/office/powerpoint/2010/main" val="2702615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2775383-B6E3-4AB6-B8D7-3CEA88DE8E20}"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6B7EBA-B923-4518-BDC6-4AC8F1B2D475}" type="slidenum">
              <a:rPr lang="en-US" smtClean="0"/>
              <a:t>‹#›</a:t>
            </a:fld>
            <a:endParaRPr lang="en-US"/>
          </a:p>
        </p:txBody>
      </p:sp>
    </p:spTree>
    <p:extLst>
      <p:ext uri="{BB962C8B-B14F-4D97-AF65-F5344CB8AC3E}">
        <p14:creationId xmlns:p14="http://schemas.microsoft.com/office/powerpoint/2010/main" val="1835882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2775383-B6E3-4AB6-B8D7-3CEA88DE8E20}"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6B7EBA-B923-4518-BDC6-4AC8F1B2D475}" type="slidenum">
              <a:rPr lang="en-US" smtClean="0"/>
              <a:t>‹#›</a:t>
            </a:fld>
            <a:endParaRPr lang="en-US"/>
          </a:p>
        </p:txBody>
      </p:sp>
    </p:spTree>
    <p:extLst>
      <p:ext uri="{BB962C8B-B14F-4D97-AF65-F5344CB8AC3E}">
        <p14:creationId xmlns:p14="http://schemas.microsoft.com/office/powerpoint/2010/main" val="991794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2775383-B6E3-4AB6-B8D7-3CEA88DE8E20}"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6B7EBA-B923-4518-BDC6-4AC8F1B2D475}" type="slidenum">
              <a:rPr lang="en-US" smtClean="0"/>
              <a:t>‹#›</a:t>
            </a:fld>
            <a:endParaRPr lang="en-US"/>
          </a:p>
        </p:txBody>
      </p:sp>
    </p:spTree>
    <p:extLst>
      <p:ext uri="{BB962C8B-B14F-4D97-AF65-F5344CB8AC3E}">
        <p14:creationId xmlns:p14="http://schemas.microsoft.com/office/powerpoint/2010/main" val="1873838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2775383-B6E3-4AB6-B8D7-3CEA88DE8E20}"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6B7EBA-B923-4518-BDC6-4AC8F1B2D475}" type="slidenum">
              <a:rPr lang="en-US" smtClean="0"/>
              <a:t>‹#›</a:t>
            </a:fld>
            <a:endParaRPr lang="en-US"/>
          </a:p>
        </p:txBody>
      </p:sp>
    </p:spTree>
    <p:extLst>
      <p:ext uri="{BB962C8B-B14F-4D97-AF65-F5344CB8AC3E}">
        <p14:creationId xmlns:p14="http://schemas.microsoft.com/office/powerpoint/2010/main" val="3136700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775383-B6E3-4AB6-B8D7-3CEA88DE8E20}" type="datetimeFigureOut">
              <a:rPr lang="en-US" smtClean="0"/>
              <a:t>5/31/2026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6B7EBA-B923-4518-BDC6-4AC8F1B2D475}" type="slidenum">
              <a:rPr lang="en-US" smtClean="0"/>
              <a:t>‹#›</a:t>
            </a:fld>
            <a:endParaRPr lang="en-US"/>
          </a:p>
        </p:txBody>
      </p:sp>
    </p:spTree>
    <p:extLst>
      <p:ext uri="{BB962C8B-B14F-4D97-AF65-F5344CB8AC3E}">
        <p14:creationId xmlns:p14="http://schemas.microsoft.com/office/powerpoint/2010/main" val="14171700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gopalakrishnankumar-a7330111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www.kaggle.com/gopalkk2" TargetMode="External"/><Relationship Id="rId4" Type="http://schemas.openxmlformats.org/officeDocument/2006/relationships/hyperlink" Target="https://github.com/Gopal21236/"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drive/19A2dJ2BVZsgFYZGFyV_k8IIKxGTsuFw4?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smtClean="0"/>
              <a:t>Predicting HIV Drug Resistance Mutations Using Supervised Learning</a:t>
            </a:r>
            <a:endParaRPr lang="en-US" b="1" dirty="0"/>
          </a:p>
        </p:txBody>
      </p:sp>
      <p:sp>
        <p:nvSpPr>
          <p:cNvPr id="4" name="Subtitle 2"/>
          <p:cNvSpPr>
            <a:spLocks noGrp="1"/>
          </p:cNvSpPr>
          <p:nvPr>
            <p:ph type="subTitle" idx="1"/>
          </p:nvPr>
        </p:nvSpPr>
        <p:spPr>
          <a:xfrm>
            <a:off x="1524000" y="3509963"/>
            <a:ext cx="9144000" cy="1655762"/>
          </a:xfrm>
        </p:spPr>
        <p:txBody>
          <a:bodyPr/>
          <a:lstStyle/>
          <a:p>
            <a:r>
              <a:rPr lang="en-US" b="1" dirty="0" smtClean="0"/>
              <a:t>By </a:t>
            </a:r>
            <a:r>
              <a:rPr lang="en-US" b="1" dirty="0" err="1" smtClean="0"/>
              <a:t>Gopalakrishnan</a:t>
            </a:r>
            <a:r>
              <a:rPr lang="en-US" b="1" dirty="0" smtClean="0"/>
              <a:t> Kumar, </a:t>
            </a:r>
            <a:r>
              <a:rPr lang="en-US" b="1" dirty="0" err="1" smtClean="0"/>
              <a:t>MTech</a:t>
            </a:r>
            <a:r>
              <a:rPr lang="en-US" b="1" dirty="0" smtClean="0"/>
              <a:t> IIT-Bombay,</a:t>
            </a:r>
          </a:p>
          <a:p>
            <a:r>
              <a:rPr lang="en-US" b="1" dirty="0" smtClean="0"/>
              <a:t>Consultant Data Scientist</a:t>
            </a:r>
          </a:p>
          <a:p>
            <a:endParaRPr lang="en-US" dirty="0"/>
          </a:p>
        </p:txBody>
      </p:sp>
      <p:sp>
        <p:nvSpPr>
          <p:cNvPr id="5" name="Rectangle 4"/>
          <p:cNvSpPr/>
          <p:nvPr/>
        </p:nvSpPr>
        <p:spPr>
          <a:xfrm>
            <a:off x="2355273" y="4519136"/>
            <a:ext cx="6096000" cy="1477328"/>
          </a:xfrm>
          <a:prstGeom prst="rect">
            <a:avLst/>
          </a:prstGeom>
        </p:spPr>
        <p:txBody>
          <a:bodyPr>
            <a:spAutoFit/>
          </a:bodyPr>
          <a:lstStyle/>
          <a:p>
            <a:r>
              <a:rPr lang="en-US" dirty="0" smtClean="0">
                <a:solidFill>
                  <a:srgbClr val="0D0D0D"/>
                </a:solidFill>
                <a:latin typeface="CIDFont+F1"/>
              </a:rPr>
              <a:t>LinkedIn: Profile Link : </a:t>
            </a:r>
            <a:r>
              <a:rPr lang="en-US" dirty="0" smtClean="0">
                <a:solidFill>
                  <a:srgbClr val="0D0D0D"/>
                </a:solidFill>
                <a:latin typeface="CIDFont+F1"/>
                <a:hlinkClick r:id="rId3"/>
              </a:rPr>
              <a:t>https://www.linkedin.com/in/gopalakrishnankumar-a73301110/</a:t>
            </a:r>
            <a:endParaRPr lang="en-US" dirty="0" smtClean="0">
              <a:solidFill>
                <a:srgbClr val="0D0D0D"/>
              </a:solidFill>
              <a:latin typeface="CIDFont+F1"/>
            </a:endParaRPr>
          </a:p>
          <a:p>
            <a:endParaRPr lang="en-US" dirty="0" smtClean="0">
              <a:solidFill>
                <a:srgbClr val="0D0D0D"/>
              </a:solidFill>
              <a:latin typeface="CIDFont+F1"/>
            </a:endParaRPr>
          </a:p>
          <a:p>
            <a:r>
              <a:rPr lang="en-US" dirty="0" smtClean="0">
                <a:solidFill>
                  <a:srgbClr val="0D0D0D"/>
                </a:solidFill>
                <a:latin typeface="CIDFont+F1"/>
                <a:hlinkClick r:id="rId4"/>
              </a:rPr>
              <a:t>Github:</a:t>
            </a:r>
            <a:r>
              <a:rPr lang="en-US" dirty="0">
                <a:solidFill>
                  <a:srgbClr val="0D0D0D"/>
                </a:solidFill>
                <a:latin typeface="CIDFont+F1"/>
                <a:hlinkClick r:id="rId4"/>
              </a:rPr>
              <a:t>https://github.com/Gopal21236/</a:t>
            </a:r>
            <a:endParaRPr lang="en-US" dirty="0">
              <a:solidFill>
                <a:srgbClr val="0D0D0D"/>
              </a:solidFill>
              <a:latin typeface="CIDFont+F1"/>
            </a:endParaRPr>
          </a:p>
        </p:txBody>
      </p:sp>
      <p:sp>
        <p:nvSpPr>
          <p:cNvPr id="6" name="TextBox 5"/>
          <p:cNvSpPr txBox="1"/>
          <p:nvPr/>
        </p:nvSpPr>
        <p:spPr>
          <a:xfrm>
            <a:off x="2355273" y="6065737"/>
            <a:ext cx="6150280" cy="707886"/>
          </a:xfrm>
          <a:prstGeom prst="rect">
            <a:avLst/>
          </a:prstGeom>
          <a:noFill/>
        </p:spPr>
        <p:txBody>
          <a:bodyPr wrap="square" rtlCol="0">
            <a:spAutoFit/>
          </a:bodyPr>
          <a:lstStyle/>
          <a:p>
            <a:r>
              <a:rPr lang="en-US" sz="2000" dirty="0" err="1" smtClean="0"/>
              <a:t>Kaggle</a:t>
            </a:r>
            <a:r>
              <a:rPr lang="en-US" sz="2000" dirty="0" smtClean="0"/>
              <a:t> URL- </a:t>
            </a:r>
            <a:r>
              <a:rPr lang="en-US" sz="2000" dirty="0" smtClean="0">
                <a:hlinkClick r:id="rId5"/>
              </a:rPr>
              <a:t>https://www.kaggle.com/gopalkk2</a:t>
            </a:r>
            <a:endParaRPr lang="en-US" sz="2000" dirty="0" smtClean="0"/>
          </a:p>
          <a:p>
            <a:endParaRPr lang="en-US" sz="2000" dirty="0"/>
          </a:p>
        </p:txBody>
      </p:sp>
    </p:spTree>
    <p:extLst>
      <p:ext uri="{BB962C8B-B14F-4D97-AF65-F5344CB8AC3E}">
        <p14:creationId xmlns:p14="http://schemas.microsoft.com/office/powerpoint/2010/main" val="16880060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Colab URL</a:t>
            </a:r>
            <a:endParaRPr lang="en-US" b="1" dirty="0"/>
          </a:p>
        </p:txBody>
      </p:sp>
      <p:sp>
        <p:nvSpPr>
          <p:cNvPr id="3" name="Content Placeholder 2"/>
          <p:cNvSpPr>
            <a:spLocks noGrp="1"/>
          </p:cNvSpPr>
          <p:nvPr>
            <p:ph idx="1"/>
          </p:nvPr>
        </p:nvSpPr>
        <p:spPr/>
        <p:txBody>
          <a:bodyPr/>
          <a:lstStyle/>
          <a:p>
            <a:r>
              <a:rPr lang="en-US" dirty="0" smtClean="0">
                <a:hlinkClick r:id="rId2"/>
              </a:rPr>
              <a:t>https://colab.research.google.com/drive/19A2dJ2BVZsgFYZGFyV_k8IIKxGTsuFw4?usp=sharing</a:t>
            </a:r>
            <a:endParaRPr lang="en-US" dirty="0" smtClean="0"/>
          </a:p>
          <a:p>
            <a:endParaRPr lang="en-US" dirty="0"/>
          </a:p>
        </p:txBody>
      </p:sp>
    </p:spTree>
    <p:extLst>
      <p:ext uri="{BB962C8B-B14F-4D97-AF65-F5344CB8AC3E}">
        <p14:creationId xmlns:p14="http://schemas.microsoft.com/office/powerpoint/2010/main" val="21753516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Objectives</a:t>
            </a:r>
          </a:p>
        </p:txBody>
      </p:sp>
      <p:sp>
        <p:nvSpPr>
          <p:cNvPr id="3" name="Content Placeholder 2"/>
          <p:cNvSpPr>
            <a:spLocks noGrp="1"/>
          </p:cNvSpPr>
          <p:nvPr>
            <p:ph idx="1"/>
          </p:nvPr>
        </p:nvSpPr>
        <p:spPr/>
        <p:txBody>
          <a:bodyPr/>
          <a:lstStyle/>
          <a:p>
            <a:r>
              <a:rPr lang="en-US" dirty="0"/>
              <a:t>The main objectives of this project are:</a:t>
            </a:r>
          </a:p>
          <a:p>
            <a:r>
              <a:rPr lang="en-US" dirty="0"/>
              <a:t>To preprocess HIV genetic sequence data </a:t>
            </a:r>
          </a:p>
          <a:p>
            <a:r>
              <a:rPr lang="en-US" dirty="0"/>
              <a:t>To generate a supervised learning dataset </a:t>
            </a:r>
          </a:p>
          <a:p>
            <a:r>
              <a:rPr lang="en-US" dirty="0"/>
              <a:t>To visualize class distributions using plots </a:t>
            </a:r>
          </a:p>
          <a:p>
            <a:r>
              <a:rPr lang="en-US" dirty="0"/>
              <a:t>To train machine learning models </a:t>
            </a:r>
          </a:p>
          <a:p>
            <a:r>
              <a:rPr lang="en-US" dirty="0"/>
              <a:t>To predict HIV drug resistance mutations </a:t>
            </a:r>
          </a:p>
          <a:p>
            <a:r>
              <a:rPr lang="en-US" dirty="0"/>
              <a:t>To evaluate classification performance</a:t>
            </a:r>
          </a:p>
          <a:p>
            <a:endParaRPr lang="en-US" dirty="0"/>
          </a:p>
        </p:txBody>
      </p:sp>
    </p:spTree>
    <p:extLst>
      <p:ext uri="{BB962C8B-B14F-4D97-AF65-F5344CB8AC3E}">
        <p14:creationId xmlns:p14="http://schemas.microsoft.com/office/powerpoint/2010/main" val="11882167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Dataset Description</a:t>
            </a:r>
          </a:p>
        </p:txBody>
      </p:sp>
      <p:sp>
        <p:nvSpPr>
          <p:cNvPr id="3" name="Content Placeholder 2"/>
          <p:cNvSpPr>
            <a:spLocks noGrp="1"/>
          </p:cNvSpPr>
          <p:nvPr>
            <p:ph idx="1"/>
          </p:nvPr>
        </p:nvSpPr>
        <p:spPr/>
        <p:txBody>
          <a:bodyPr/>
          <a:lstStyle/>
          <a:p>
            <a:r>
              <a:rPr lang="en-US" dirty="0"/>
              <a:t>The dataset consists of HIV nucleotide sequences and corresponding resistance labels.</a:t>
            </a:r>
          </a:p>
          <a:p>
            <a:pPr marL="0" indent="3175"/>
            <a:r>
              <a:rPr lang="en-US" dirty="0" smtClean="0"/>
              <a:t> Dataset </a:t>
            </a:r>
            <a:r>
              <a:rPr lang="en-US" dirty="0"/>
              <a:t>Structure</a:t>
            </a:r>
          </a:p>
        </p:txBody>
      </p:sp>
      <p:graphicFrame>
        <p:nvGraphicFramePr>
          <p:cNvPr id="4" name="Table 3"/>
          <p:cNvGraphicFramePr>
            <a:graphicFrameLocks noGrp="1"/>
          </p:cNvGraphicFramePr>
          <p:nvPr>
            <p:extLst>
              <p:ext uri="{D42A27DB-BD31-4B8C-83A1-F6EECF244321}">
                <p14:modId xmlns:p14="http://schemas.microsoft.com/office/powerpoint/2010/main" val="18455953"/>
              </p:ext>
            </p:extLst>
          </p:nvPr>
        </p:nvGraphicFramePr>
        <p:xfrm>
          <a:off x="838200" y="3452654"/>
          <a:ext cx="10515600" cy="1097280"/>
        </p:xfrm>
        <a:graphic>
          <a:graphicData uri="http://schemas.openxmlformats.org/drawingml/2006/table">
            <a:tbl>
              <a:tblPr/>
              <a:tblGrid>
                <a:gridCol w="5257800">
                  <a:extLst>
                    <a:ext uri="{9D8B030D-6E8A-4147-A177-3AD203B41FA5}">
                      <a16:colId xmlns:a16="http://schemas.microsoft.com/office/drawing/2014/main" val="3472592666"/>
                    </a:ext>
                  </a:extLst>
                </a:gridCol>
                <a:gridCol w="5257800">
                  <a:extLst>
                    <a:ext uri="{9D8B030D-6E8A-4147-A177-3AD203B41FA5}">
                      <a16:colId xmlns:a16="http://schemas.microsoft.com/office/drawing/2014/main" val="557139346"/>
                    </a:ext>
                  </a:extLst>
                </a:gridCol>
              </a:tblGrid>
              <a:tr h="0">
                <a:tc>
                  <a:txBody>
                    <a:bodyPr/>
                    <a:lstStyle/>
                    <a:p>
                      <a:r>
                        <a:rPr lang="en-US" b="1"/>
                        <a:t>Column</a:t>
                      </a:r>
                    </a:p>
                  </a:txBody>
                  <a:tcPr anchor="ctr">
                    <a:lnL>
                      <a:noFill/>
                    </a:lnL>
                    <a:lnR>
                      <a:noFill/>
                    </a:lnR>
                    <a:lnT>
                      <a:noFill/>
                    </a:lnT>
                    <a:lnB>
                      <a:noFill/>
                    </a:lnB>
                  </a:tcPr>
                </a:tc>
                <a:tc>
                  <a:txBody>
                    <a:bodyPr/>
                    <a:lstStyle/>
                    <a:p>
                      <a:r>
                        <a:rPr lang="en-US" b="1"/>
                        <a:t>Description</a:t>
                      </a:r>
                    </a:p>
                  </a:txBody>
                  <a:tcPr anchor="ctr">
                    <a:lnL>
                      <a:noFill/>
                    </a:lnL>
                    <a:lnR>
                      <a:noFill/>
                    </a:lnR>
                    <a:lnT>
                      <a:noFill/>
                    </a:lnT>
                    <a:lnB>
                      <a:noFill/>
                    </a:lnB>
                  </a:tcPr>
                </a:tc>
                <a:extLst>
                  <a:ext uri="{0D108BD9-81ED-4DB2-BD59-A6C34878D82A}">
                    <a16:rowId xmlns:a16="http://schemas.microsoft.com/office/drawing/2014/main" val="3808811147"/>
                  </a:ext>
                </a:extLst>
              </a:tr>
              <a:tr h="0">
                <a:tc>
                  <a:txBody>
                    <a:bodyPr/>
                    <a:lstStyle/>
                    <a:p>
                      <a:r>
                        <a:rPr lang="en-US" b="1"/>
                        <a:t>sequence</a:t>
                      </a:r>
                    </a:p>
                  </a:txBody>
                  <a:tcPr anchor="ctr">
                    <a:lnL>
                      <a:noFill/>
                    </a:lnL>
                    <a:lnR>
                      <a:noFill/>
                    </a:lnR>
                    <a:lnT>
                      <a:noFill/>
                    </a:lnT>
                    <a:lnB>
                      <a:noFill/>
                    </a:lnB>
                  </a:tcPr>
                </a:tc>
                <a:tc>
                  <a:txBody>
                    <a:bodyPr/>
                    <a:lstStyle/>
                    <a:p>
                      <a:r>
                        <a:rPr lang="en-US" b="1"/>
                        <a:t>HIV nucleotide sequence</a:t>
                      </a:r>
                    </a:p>
                  </a:txBody>
                  <a:tcPr anchor="ctr">
                    <a:lnL>
                      <a:noFill/>
                    </a:lnL>
                    <a:lnR>
                      <a:noFill/>
                    </a:lnR>
                    <a:lnT>
                      <a:noFill/>
                    </a:lnT>
                    <a:lnB>
                      <a:noFill/>
                    </a:lnB>
                  </a:tcPr>
                </a:tc>
                <a:extLst>
                  <a:ext uri="{0D108BD9-81ED-4DB2-BD59-A6C34878D82A}">
                    <a16:rowId xmlns:a16="http://schemas.microsoft.com/office/drawing/2014/main" val="2548511196"/>
                  </a:ext>
                </a:extLst>
              </a:tr>
              <a:tr h="0">
                <a:tc>
                  <a:txBody>
                    <a:bodyPr/>
                    <a:lstStyle/>
                    <a:p>
                      <a:r>
                        <a:rPr lang="en-US" b="1"/>
                        <a:t>label</a:t>
                      </a:r>
                    </a:p>
                  </a:txBody>
                  <a:tcPr anchor="ctr">
                    <a:lnL>
                      <a:noFill/>
                    </a:lnL>
                    <a:lnR>
                      <a:noFill/>
                    </a:lnR>
                    <a:lnT>
                      <a:noFill/>
                    </a:lnT>
                    <a:lnB>
                      <a:noFill/>
                    </a:lnB>
                  </a:tcPr>
                </a:tc>
                <a:tc>
                  <a:txBody>
                    <a:bodyPr/>
                    <a:lstStyle/>
                    <a:p>
                      <a:r>
                        <a:rPr lang="en-US" b="1" dirty="0"/>
                        <a:t>Drug resistance class</a:t>
                      </a:r>
                    </a:p>
                  </a:txBody>
                  <a:tcPr anchor="ctr">
                    <a:lnL>
                      <a:noFill/>
                    </a:lnL>
                    <a:lnR>
                      <a:noFill/>
                    </a:lnR>
                    <a:lnT>
                      <a:noFill/>
                    </a:lnT>
                    <a:lnB>
                      <a:noFill/>
                    </a:lnB>
                  </a:tcPr>
                </a:tc>
                <a:extLst>
                  <a:ext uri="{0D108BD9-81ED-4DB2-BD59-A6C34878D82A}">
                    <a16:rowId xmlns:a16="http://schemas.microsoft.com/office/drawing/2014/main" val="2613577809"/>
                  </a:ext>
                </a:extLst>
              </a:tr>
            </a:tbl>
          </a:graphicData>
        </a:graphic>
      </p:graphicFrame>
      <p:sp>
        <p:nvSpPr>
          <p:cNvPr id="6" name="Rectangle 5"/>
          <p:cNvSpPr/>
          <p:nvPr/>
        </p:nvSpPr>
        <p:spPr>
          <a:xfrm>
            <a:off x="838200" y="4979602"/>
            <a:ext cx="2911374" cy="523220"/>
          </a:xfrm>
          <a:prstGeom prst="rect">
            <a:avLst/>
          </a:prstGeom>
        </p:spPr>
        <p:txBody>
          <a:bodyPr wrap="none">
            <a:spAutoFit/>
          </a:bodyPr>
          <a:lstStyle/>
          <a:p>
            <a:pPr>
              <a:buFont typeface="Arial" panose="020B0604020202020204" pitchFamily="34" charset="0"/>
              <a:buChar char="•"/>
            </a:pPr>
            <a:r>
              <a:rPr lang="en-US" sz="2800" dirty="0" smtClean="0"/>
              <a:t> Label </a:t>
            </a:r>
            <a:r>
              <a:rPr lang="en-US" sz="2800" dirty="0"/>
              <a:t>Description</a:t>
            </a:r>
          </a:p>
        </p:txBody>
      </p:sp>
      <p:graphicFrame>
        <p:nvGraphicFramePr>
          <p:cNvPr id="7" name="Table 6"/>
          <p:cNvGraphicFramePr>
            <a:graphicFrameLocks noGrp="1"/>
          </p:cNvGraphicFramePr>
          <p:nvPr>
            <p:extLst>
              <p:ext uri="{D42A27DB-BD31-4B8C-83A1-F6EECF244321}">
                <p14:modId xmlns:p14="http://schemas.microsoft.com/office/powerpoint/2010/main" val="3145061970"/>
              </p:ext>
            </p:extLst>
          </p:nvPr>
        </p:nvGraphicFramePr>
        <p:xfrm>
          <a:off x="838200" y="5509351"/>
          <a:ext cx="10515600" cy="1097280"/>
        </p:xfrm>
        <a:graphic>
          <a:graphicData uri="http://schemas.openxmlformats.org/drawingml/2006/table">
            <a:tbl>
              <a:tblPr/>
              <a:tblGrid>
                <a:gridCol w="5257800">
                  <a:extLst>
                    <a:ext uri="{9D8B030D-6E8A-4147-A177-3AD203B41FA5}">
                      <a16:colId xmlns:a16="http://schemas.microsoft.com/office/drawing/2014/main" val="3541563637"/>
                    </a:ext>
                  </a:extLst>
                </a:gridCol>
                <a:gridCol w="5257800">
                  <a:extLst>
                    <a:ext uri="{9D8B030D-6E8A-4147-A177-3AD203B41FA5}">
                      <a16:colId xmlns:a16="http://schemas.microsoft.com/office/drawing/2014/main" val="508090150"/>
                    </a:ext>
                  </a:extLst>
                </a:gridCol>
              </a:tblGrid>
              <a:tr h="0">
                <a:tc>
                  <a:txBody>
                    <a:bodyPr/>
                    <a:lstStyle/>
                    <a:p>
                      <a:r>
                        <a:rPr lang="en-US" b="1"/>
                        <a:t>Label</a:t>
                      </a:r>
                    </a:p>
                  </a:txBody>
                  <a:tcPr anchor="ctr">
                    <a:lnL>
                      <a:noFill/>
                    </a:lnL>
                    <a:lnR>
                      <a:noFill/>
                    </a:lnR>
                    <a:lnT>
                      <a:noFill/>
                    </a:lnT>
                    <a:lnB>
                      <a:noFill/>
                    </a:lnB>
                  </a:tcPr>
                </a:tc>
                <a:tc>
                  <a:txBody>
                    <a:bodyPr/>
                    <a:lstStyle/>
                    <a:p>
                      <a:r>
                        <a:rPr lang="en-US" b="1"/>
                        <a:t>Meaning</a:t>
                      </a:r>
                    </a:p>
                  </a:txBody>
                  <a:tcPr anchor="ctr">
                    <a:lnL>
                      <a:noFill/>
                    </a:lnL>
                    <a:lnR>
                      <a:noFill/>
                    </a:lnR>
                    <a:lnT>
                      <a:noFill/>
                    </a:lnT>
                    <a:lnB>
                      <a:noFill/>
                    </a:lnB>
                  </a:tcPr>
                </a:tc>
                <a:extLst>
                  <a:ext uri="{0D108BD9-81ED-4DB2-BD59-A6C34878D82A}">
                    <a16:rowId xmlns:a16="http://schemas.microsoft.com/office/drawing/2014/main" val="3661090544"/>
                  </a:ext>
                </a:extLst>
              </a:tr>
              <a:tr h="0">
                <a:tc>
                  <a:txBody>
                    <a:bodyPr/>
                    <a:lstStyle/>
                    <a:p>
                      <a:r>
                        <a:rPr lang="en-US" b="1"/>
                        <a:t>0</a:t>
                      </a:r>
                    </a:p>
                  </a:txBody>
                  <a:tcPr anchor="ctr">
                    <a:lnL>
                      <a:noFill/>
                    </a:lnL>
                    <a:lnR>
                      <a:noFill/>
                    </a:lnR>
                    <a:lnT>
                      <a:noFill/>
                    </a:lnT>
                    <a:lnB>
                      <a:noFill/>
                    </a:lnB>
                  </a:tcPr>
                </a:tc>
                <a:tc>
                  <a:txBody>
                    <a:bodyPr/>
                    <a:lstStyle/>
                    <a:p>
                      <a:r>
                        <a:rPr lang="en-US" b="1"/>
                        <a:t>Non-resistant</a:t>
                      </a:r>
                    </a:p>
                  </a:txBody>
                  <a:tcPr anchor="ctr">
                    <a:lnL>
                      <a:noFill/>
                    </a:lnL>
                    <a:lnR>
                      <a:noFill/>
                    </a:lnR>
                    <a:lnT>
                      <a:noFill/>
                    </a:lnT>
                    <a:lnB>
                      <a:noFill/>
                    </a:lnB>
                  </a:tcPr>
                </a:tc>
                <a:extLst>
                  <a:ext uri="{0D108BD9-81ED-4DB2-BD59-A6C34878D82A}">
                    <a16:rowId xmlns:a16="http://schemas.microsoft.com/office/drawing/2014/main" val="3713201842"/>
                  </a:ext>
                </a:extLst>
              </a:tr>
              <a:tr h="0">
                <a:tc>
                  <a:txBody>
                    <a:bodyPr/>
                    <a:lstStyle/>
                    <a:p>
                      <a:r>
                        <a:rPr lang="en-US" b="1"/>
                        <a:t>1</a:t>
                      </a:r>
                    </a:p>
                  </a:txBody>
                  <a:tcPr anchor="ctr">
                    <a:lnL>
                      <a:noFill/>
                    </a:lnL>
                    <a:lnR>
                      <a:noFill/>
                    </a:lnR>
                    <a:lnT>
                      <a:noFill/>
                    </a:lnT>
                    <a:lnB>
                      <a:noFill/>
                    </a:lnB>
                  </a:tcPr>
                </a:tc>
                <a:tc>
                  <a:txBody>
                    <a:bodyPr/>
                    <a:lstStyle/>
                    <a:p>
                      <a:r>
                        <a:rPr lang="en-US" b="1" dirty="0"/>
                        <a:t>Drug-resistant</a:t>
                      </a:r>
                    </a:p>
                  </a:txBody>
                  <a:tcPr anchor="ctr">
                    <a:lnL>
                      <a:noFill/>
                    </a:lnL>
                    <a:lnR>
                      <a:noFill/>
                    </a:lnR>
                    <a:lnT>
                      <a:noFill/>
                    </a:lnT>
                    <a:lnB>
                      <a:noFill/>
                    </a:lnB>
                  </a:tcPr>
                </a:tc>
                <a:extLst>
                  <a:ext uri="{0D108BD9-81ED-4DB2-BD59-A6C34878D82A}">
                    <a16:rowId xmlns:a16="http://schemas.microsoft.com/office/drawing/2014/main" val="140736146"/>
                  </a:ext>
                </a:extLst>
              </a:tr>
            </a:tbl>
          </a:graphicData>
        </a:graphic>
      </p:graphicFrame>
    </p:spTree>
    <p:extLst>
      <p:ext uri="{BB962C8B-B14F-4D97-AF65-F5344CB8AC3E}">
        <p14:creationId xmlns:p14="http://schemas.microsoft.com/office/powerpoint/2010/main" val="21810588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Sample Dataset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02852984"/>
              </p:ext>
            </p:extLst>
          </p:nvPr>
        </p:nvGraphicFramePr>
        <p:xfrm>
          <a:off x="1302657" y="1870597"/>
          <a:ext cx="10515600" cy="1097280"/>
        </p:xfrm>
        <a:graphic>
          <a:graphicData uri="http://schemas.openxmlformats.org/drawingml/2006/table">
            <a:tbl>
              <a:tblPr/>
              <a:tblGrid>
                <a:gridCol w="5257800">
                  <a:extLst>
                    <a:ext uri="{9D8B030D-6E8A-4147-A177-3AD203B41FA5}">
                      <a16:colId xmlns:a16="http://schemas.microsoft.com/office/drawing/2014/main" val="3148041257"/>
                    </a:ext>
                  </a:extLst>
                </a:gridCol>
                <a:gridCol w="5257800">
                  <a:extLst>
                    <a:ext uri="{9D8B030D-6E8A-4147-A177-3AD203B41FA5}">
                      <a16:colId xmlns:a16="http://schemas.microsoft.com/office/drawing/2014/main" val="2308941418"/>
                    </a:ext>
                  </a:extLst>
                </a:gridCol>
              </a:tblGrid>
              <a:tr h="0">
                <a:tc>
                  <a:txBody>
                    <a:bodyPr/>
                    <a:lstStyle/>
                    <a:p>
                      <a:r>
                        <a:rPr lang="en-US" b="1"/>
                        <a:t>sequence</a:t>
                      </a:r>
                    </a:p>
                  </a:txBody>
                  <a:tcPr anchor="ctr">
                    <a:lnL>
                      <a:noFill/>
                    </a:lnL>
                    <a:lnR>
                      <a:noFill/>
                    </a:lnR>
                    <a:lnT>
                      <a:noFill/>
                    </a:lnT>
                    <a:lnB>
                      <a:noFill/>
                    </a:lnB>
                  </a:tcPr>
                </a:tc>
                <a:tc>
                  <a:txBody>
                    <a:bodyPr/>
                    <a:lstStyle/>
                    <a:p>
                      <a:r>
                        <a:rPr lang="en-US" b="1"/>
                        <a:t>label</a:t>
                      </a:r>
                    </a:p>
                  </a:txBody>
                  <a:tcPr anchor="ctr">
                    <a:lnL>
                      <a:noFill/>
                    </a:lnL>
                    <a:lnR>
                      <a:noFill/>
                    </a:lnR>
                    <a:lnT>
                      <a:noFill/>
                    </a:lnT>
                    <a:lnB>
                      <a:noFill/>
                    </a:lnB>
                  </a:tcPr>
                </a:tc>
                <a:extLst>
                  <a:ext uri="{0D108BD9-81ED-4DB2-BD59-A6C34878D82A}">
                    <a16:rowId xmlns:a16="http://schemas.microsoft.com/office/drawing/2014/main" val="582960730"/>
                  </a:ext>
                </a:extLst>
              </a:tr>
              <a:tr h="0">
                <a:tc>
                  <a:txBody>
                    <a:bodyPr/>
                    <a:lstStyle/>
                    <a:p>
                      <a:r>
                        <a:rPr lang="en-US" b="1"/>
                        <a:t>ATGCGTACGTAGCTAGCTAGCTAGCTAGCTAGCTAGCTA</a:t>
                      </a:r>
                    </a:p>
                  </a:txBody>
                  <a:tcPr anchor="ctr">
                    <a:lnL>
                      <a:noFill/>
                    </a:lnL>
                    <a:lnR>
                      <a:noFill/>
                    </a:lnR>
                    <a:lnT>
                      <a:noFill/>
                    </a:lnT>
                    <a:lnB>
                      <a:noFill/>
                    </a:lnB>
                  </a:tcPr>
                </a:tc>
                <a:tc>
                  <a:txBody>
                    <a:bodyPr/>
                    <a:lstStyle/>
                    <a:p>
                      <a:r>
                        <a:rPr lang="en-US" b="1"/>
                        <a:t>0</a:t>
                      </a:r>
                    </a:p>
                  </a:txBody>
                  <a:tcPr anchor="ctr">
                    <a:lnL>
                      <a:noFill/>
                    </a:lnL>
                    <a:lnR>
                      <a:noFill/>
                    </a:lnR>
                    <a:lnT>
                      <a:noFill/>
                    </a:lnT>
                    <a:lnB>
                      <a:noFill/>
                    </a:lnB>
                  </a:tcPr>
                </a:tc>
                <a:extLst>
                  <a:ext uri="{0D108BD9-81ED-4DB2-BD59-A6C34878D82A}">
                    <a16:rowId xmlns:a16="http://schemas.microsoft.com/office/drawing/2014/main" val="2982875885"/>
                  </a:ext>
                </a:extLst>
              </a:tr>
              <a:tr h="0">
                <a:tc>
                  <a:txBody>
                    <a:bodyPr/>
                    <a:lstStyle/>
                    <a:p>
                      <a:r>
                        <a:rPr lang="en-US" b="1"/>
                        <a:t>ATGCGTACGTAGCTAGCTAGCTAGTTAGCTAGCTAGCTA</a:t>
                      </a:r>
                    </a:p>
                  </a:txBody>
                  <a:tcPr anchor="ctr">
                    <a:lnL>
                      <a:noFill/>
                    </a:lnL>
                    <a:lnR>
                      <a:noFill/>
                    </a:lnR>
                    <a:lnT>
                      <a:noFill/>
                    </a:lnT>
                    <a:lnB>
                      <a:noFill/>
                    </a:lnB>
                  </a:tcPr>
                </a:tc>
                <a:tc>
                  <a:txBody>
                    <a:bodyPr/>
                    <a:lstStyle/>
                    <a:p>
                      <a:r>
                        <a:rPr lang="en-US" b="1" dirty="0"/>
                        <a:t>1</a:t>
                      </a:r>
                    </a:p>
                  </a:txBody>
                  <a:tcPr anchor="ctr">
                    <a:lnL>
                      <a:noFill/>
                    </a:lnL>
                    <a:lnR>
                      <a:noFill/>
                    </a:lnR>
                    <a:lnT>
                      <a:noFill/>
                    </a:lnT>
                    <a:lnB>
                      <a:noFill/>
                    </a:lnB>
                  </a:tcPr>
                </a:tc>
                <a:extLst>
                  <a:ext uri="{0D108BD9-81ED-4DB2-BD59-A6C34878D82A}">
                    <a16:rowId xmlns:a16="http://schemas.microsoft.com/office/drawing/2014/main" val="74178398"/>
                  </a:ext>
                </a:extLst>
              </a:tr>
            </a:tbl>
          </a:graphicData>
        </a:graphic>
      </p:graphicFrame>
    </p:spTree>
    <p:extLst>
      <p:ext uri="{BB962C8B-B14F-4D97-AF65-F5344CB8AC3E}">
        <p14:creationId xmlns:p14="http://schemas.microsoft.com/office/powerpoint/2010/main" val="34791947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
            </a:r>
            <a:br>
              <a:rPr lang="en-US" b="1" dirty="0" smtClean="0"/>
            </a:br>
            <a:r>
              <a:rPr lang="en-US" b="1" dirty="0" smtClean="0"/>
              <a:t>Synthetic </a:t>
            </a:r>
            <a:r>
              <a:rPr lang="en-US" b="1" dirty="0"/>
              <a:t>Dataset Generation</a:t>
            </a:r>
            <a:br>
              <a:rPr lang="en-US" b="1" dirty="0"/>
            </a:br>
            <a:endParaRPr lang="en-US" dirty="0"/>
          </a:p>
        </p:txBody>
      </p:sp>
      <p:sp>
        <p:nvSpPr>
          <p:cNvPr id="3" name="Content Placeholder 2"/>
          <p:cNvSpPr>
            <a:spLocks noGrp="1"/>
          </p:cNvSpPr>
          <p:nvPr>
            <p:ph idx="1"/>
          </p:nvPr>
        </p:nvSpPr>
        <p:spPr/>
        <p:txBody>
          <a:bodyPr/>
          <a:lstStyle/>
          <a:p>
            <a:r>
              <a:rPr lang="en-US" dirty="0"/>
              <a:t>Synthetic datasets were generated to simulate HIV mutation patterns for supervised learning experiments.</a:t>
            </a:r>
          </a:p>
          <a:p>
            <a:endParaRPr lang="en-US" dirty="0"/>
          </a:p>
        </p:txBody>
      </p:sp>
    </p:spTree>
    <p:extLst>
      <p:ext uri="{BB962C8B-B14F-4D97-AF65-F5344CB8AC3E}">
        <p14:creationId xmlns:p14="http://schemas.microsoft.com/office/powerpoint/2010/main" val="2955198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 Visualization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85383" y="1921030"/>
            <a:ext cx="5221234" cy="4160528"/>
          </a:xfrm>
        </p:spPr>
      </p:pic>
    </p:spTree>
    <p:extLst>
      <p:ext uri="{BB962C8B-B14F-4D97-AF65-F5344CB8AC3E}">
        <p14:creationId xmlns:p14="http://schemas.microsoft.com/office/powerpoint/2010/main" val="35047978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Histogram Plot</a:t>
            </a:r>
            <a:endParaRPr lang="en-US" b="1"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smtClean="0"/>
                  <a:t>Assuming your histogram shows the distribution of the  </a:t>
                </a:r>
                <a14:m>
                  <m:oMath xmlns:m="http://schemas.openxmlformats.org/officeDocument/2006/math">
                    <m:r>
                      <a:rPr lang="en-US" b="0" i="1" smtClean="0">
                        <a:latin typeface="Cambria Math" panose="02040503050406030204" pitchFamily="18" charset="0"/>
                      </a:rPr>
                      <m:t>𝑙𝑎𝑏𝑒𝑙</m:t>
                    </m:r>
                  </m:oMath>
                </a14:m>
                <a:r>
                  <a:rPr lang="en-US" dirty="0" smtClean="0"/>
                  <a:t> column </a:t>
                </a:r>
              </a:p>
              <a:p>
                <a:pPr marL="0" indent="0">
                  <a:buNone/>
                </a:pPr>
                <a14:m>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rPr>
                      <m:t>𝑁𝑜𝑛</m:t>
                    </m:r>
                    <m:r>
                      <a:rPr lang="en-US" b="0" i="1" smtClean="0">
                        <a:latin typeface="Cambria Math" panose="02040503050406030204" pitchFamily="18" charset="0"/>
                      </a:rPr>
                      <m:t>−</m:t>
                    </m:r>
                    <m:r>
                      <a:rPr lang="en-US" b="0" i="1" smtClean="0">
                        <a:latin typeface="Cambria Math" panose="02040503050406030204" pitchFamily="18" charset="0"/>
                      </a:rPr>
                      <m:t>𝑅𝑒𝑠𝑖𝑠𝑡𝑎𝑛𝑐𝑒</m:t>
                    </m:r>
                  </m:oMath>
                </a14:m>
                <a:r>
                  <a:rPr lang="en-US" dirty="0" smtClean="0"/>
                  <a:t> </a:t>
                </a:r>
                <a:r>
                  <a:rPr lang="en-US" dirty="0"/>
                  <a:t>the following insights can be included in your report:</a:t>
                </a:r>
                <a:endParaRPr lang="en-US" dirty="0" smtClean="0"/>
              </a:p>
              <a:p>
                <a:pPr marL="0" indent="0">
                  <a:buNone/>
                </a:pPr>
                <a:r>
                  <a:rPr lang="en-US" b="1" dirty="0"/>
                  <a:t>Class </a:t>
                </a:r>
                <a:r>
                  <a:rPr lang="en-US" b="1" dirty="0" smtClean="0"/>
                  <a:t>Distribution</a:t>
                </a:r>
              </a:p>
              <a:p>
                <a:r>
                  <a:rPr lang="en-US" dirty="0"/>
                  <a:t>The histogram provides a visual representation of the number of resistant and non-resistant HIV sequences in the dataset.</a:t>
                </a:r>
              </a:p>
              <a:p>
                <a:r>
                  <a:rPr lang="en-US" dirty="0"/>
                  <a:t>Label </a:t>
                </a:r>
                <a:r>
                  <a:rPr lang="en-US" b="1" dirty="0"/>
                  <a:t>0</a:t>
                </a:r>
                <a:r>
                  <a:rPr lang="en-US" dirty="0"/>
                  <a:t> represents non-resistant HIV sequences. </a:t>
                </a:r>
              </a:p>
              <a:p>
                <a:r>
                  <a:rPr lang="en-US" dirty="0"/>
                  <a:t>Label </a:t>
                </a:r>
                <a:r>
                  <a:rPr lang="en-US" b="1" dirty="0"/>
                  <a:t>1</a:t>
                </a:r>
                <a:r>
                  <a:rPr lang="en-US" dirty="0"/>
                  <a:t> represents drug-resistant HIV sequences.</a:t>
                </a:r>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241" r="-1159"/>
                </a:stretch>
              </a:blipFill>
            </p:spPr>
            <p:txBody>
              <a:bodyPr/>
              <a:lstStyle/>
              <a:p>
                <a:r>
                  <a:rPr lang="en-US">
                    <a:noFill/>
                  </a:rPr>
                  <a:t> </a:t>
                </a:r>
              </a:p>
            </p:txBody>
          </p:sp>
        </mc:Fallback>
      </mc:AlternateContent>
    </p:spTree>
    <p:extLst>
      <p:ext uri="{BB962C8B-B14F-4D97-AF65-F5344CB8AC3E}">
        <p14:creationId xmlns:p14="http://schemas.microsoft.com/office/powerpoint/2010/main" val="25947190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70498" y="1852449"/>
            <a:ext cx="5651003" cy="4297689"/>
          </a:xfrm>
        </p:spPr>
      </p:pic>
    </p:spTree>
    <p:extLst>
      <p:ext uri="{BB962C8B-B14F-4D97-AF65-F5344CB8AC3E}">
        <p14:creationId xmlns:p14="http://schemas.microsoft.com/office/powerpoint/2010/main" val="4680144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Bar Chart Plot</a:t>
            </a:r>
            <a:endParaRPr lang="en-US" b="1" dirty="0"/>
          </a:p>
        </p:txBody>
      </p:sp>
      <p:sp>
        <p:nvSpPr>
          <p:cNvPr id="3" name="Content Placeholder 2"/>
          <p:cNvSpPr>
            <a:spLocks noGrp="1"/>
          </p:cNvSpPr>
          <p:nvPr>
            <p:ph idx="1"/>
          </p:nvPr>
        </p:nvSpPr>
        <p:spPr/>
        <p:txBody>
          <a:bodyPr/>
          <a:lstStyle/>
          <a:p>
            <a:pPr marL="0" indent="0">
              <a:buNone/>
            </a:pPr>
            <a:r>
              <a:rPr lang="en-US" b="1" dirty="0"/>
              <a:t>Dataset </a:t>
            </a:r>
            <a:r>
              <a:rPr lang="en-US" b="1" dirty="0" smtClean="0"/>
              <a:t>Balance</a:t>
            </a:r>
          </a:p>
          <a:p>
            <a:r>
              <a:rPr lang="en-US" dirty="0" smtClean="0"/>
              <a:t>A </a:t>
            </a:r>
            <a:r>
              <a:rPr lang="en-US" dirty="0"/>
              <a:t>balanced dataset is desirable for supervised learning.</a:t>
            </a:r>
          </a:p>
          <a:p>
            <a:r>
              <a:rPr lang="en-US" dirty="0"/>
              <a:t>If both bars have similar heights, the dataset is balanced. </a:t>
            </a:r>
          </a:p>
          <a:p>
            <a:r>
              <a:rPr lang="en-US" dirty="0"/>
              <a:t>Balanced datasets generally improve model performance and reduce prediction bias.</a:t>
            </a:r>
          </a:p>
          <a:p>
            <a:endParaRPr lang="en-US" dirty="0"/>
          </a:p>
        </p:txBody>
      </p:sp>
      <p:sp>
        <p:nvSpPr>
          <p:cNvPr id="4" name="Rectangle 3"/>
          <p:cNvSpPr/>
          <p:nvPr/>
        </p:nvSpPr>
        <p:spPr>
          <a:xfrm>
            <a:off x="838200" y="4579648"/>
            <a:ext cx="1884197" cy="523220"/>
          </a:xfrm>
          <a:prstGeom prst="rect">
            <a:avLst/>
          </a:prstGeom>
        </p:spPr>
        <p:txBody>
          <a:bodyPr wrap="square">
            <a:spAutoFit/>
          </a:bodyPr>
          <a:lstStyle/>
          <a:p>
            <a:r>
              <a:rPr lang="en-US" sz="2800" b="1" dirty="0" smtClean="0"/>
              <a:t>Example</a:t>
            </a:r>
            <a:r>
              <a:rPr lang="en-US" b="1" dirty="0"/>
              <a:t>:</a:t>
            </a:r>
          </a:p>
        </p:txBody>
      </p:sp>
      <p:graphicFrame>
        <p:nvGraphicFramePr>
          <p:cNvPr id="5" name="Table 4"/>
          <p:cNvGraphicFramePr>
            <a:graphicFrameLocks noGrp="1"/>
          </p:cNvGraphicFramePr>
          <p:nvPr>
            <p:extLst>
              <p:ext uri="{D42A27DB-BD31-4B8C-83A1-F6EECF244321}">
                <p14:modId xmlns:p14="http://schemas.microsoft.com/office/powerpoint/2010/main" val="1713027054"/>
              </p:ext>
            </p:extLst>
          </p:nvPr>
        </p:nvGraphicFramePr>
        <p:xfrm>
          <a:off x="838200" y="5102868"/>
          <a:ext cx="10515600" cy="1097280"/>
        </p:xfrm>
        <a:graphic>
          <a:graphicData uri="http://schemas.openxmlformats.org/drawingml/2006/table">
            <a:tbl>
              <a:tblPr/>
              <a:tblGrid>
                <a:gridCol w="5257800">
                  <a:extLst>
                    <a:ext uri="{9D8B030D-6E8A-4147-A177-3AD203B41FA5}">
                      <a16:colId xmlns:a16="http://schemas.microsoft.com/office/drawing/2014/main" val="529928855"/>
                    </a:ext>
                  </a:extLst>
                </a:gridCol>
                <a:gridCol w="5257800">
                  <a:extLst>
                    <a:ext uri="{9D8B030D-6E8A-4147-A177-3AD203B41FA5}">
                      <a16:colId xmlns:a16="http://schemas.microsoft.com/office/drawing/2014/main" val="3306336026"/>
                    </a:ext>
                  </a:extLst>
                </a:gridCol>
              </a:tblGrid>
              <a:tr h="0">
                <a:tc>
                  <a:txBody>
                    <a:bodyPr/>
                    <a:lstStyle/>
                    <a:p>
                      <a:r>
                        <a:rPr lang="en-US" b="1"/>
                        <a:t>Class</a:t>
                      </a:r>
                    </a:p>
                  </a:txBody>
                  <a:tcPr anchor="ctr">
                    <a:lnL>
                      <a:noFill/>
                    </a:lnL>
                    <a:lnR>
                      <a:noFill/>
                    </a:lnR>
                    <a:lnT>
                      <a:noFill/>
                    </a:lnT>
                    <a:lnB>
                      <a:noFill/>
                    </a:lnB>
                  </a:tcPr>
                </a:tc>
                <a:tc>
                  <a:txBody>
                    <a:bodyPr/>
                    <a:lstStyle/>
                    <a:p>
                      <a:r>
                        <a:rPr lang="en-US" b="1"/>
                        <a:t>Count</a:t>
                      </a:r>
                    </a:p>
                  </a:txBody>
                  <a:tcPr anchor="ctr">
                    <a:lnL>
                      <a:noFill/>
                    </a:lnL>
                    <a:lnR>
                      <a:noFill/>
                    </a:lnR>
                    <a:lnT>
                      <a:noFill/>
                    </a:lnT>
                    <a:lnB>
                      <a:noFill/>
                    </a:lnB>
                  </a:tcPr>
                </a:tc>
                <a:extLst>
                  <a:ext uri="{0D108BD9-81ED-4DB2-BD59-A6C34878D82A}">
                    <a16:rowId xmlns:a16="http://schemas.microsoft.com/office/drawing/2014/main" val="2845519072"/>
                  </a:ext>
                </a:extLst>
              </a:tr>
              <a:tr h="0">
                <a:tc>
                  <a:txBody>
                    <a:bodyPr/>
                    <a:lstStyle/>
                    <a:p>
                      <a:r>
                        <a:rPr lang="en-US" b="1"/>
                        <a:t>Non-Resistant</a:t>
                      </a:r>
                    </a:p>
                  </a:txBody>
                  <a:tcPr anchor="ctr">
                    <a:lnL>
                      <a:noFill/>
                    </a:lnL>
                    <a:lnR>
                      <a:noFill/>
                    </a:lnR>
                    <a:lnT>
                      <a:noFill/>
                    </a:lnT>
                    <a:lnB>
                      <a:noFill/>
                    </a:lnB>
                  </a:tcPr>
                </a:tc>
                <a:tc>
                  <a:txBody>
                    <a:bodyPr/>
                    <a:lstStyle/>
                    <a:p>
                      <a:r>
                        <a:rPr lang="en-US" b="1" dirty="0"/>
                        <a:t>500</a:t>
                      </a:r>
                    </a:p>
                  </a:txBody>
                  <a:tcPr anchor="ctr">
                    <a:lnL>
                      <a:noFill/>
                    </a:lnL>
                    <a:lnR>
                      <a:noFill/>
                    </a:lnR>
                    <a:lnT>
                      <a:noFill/>
                    </a:lnT>
                    <a:lnB>
                      <a:noFill/>
                    </a:lnB>
                  </a:tcPr>
                </a:tc>
                <a:extLst>
                  <a:ext uri="{0D108BD9-81ED-4DB2-BD59-A6C34878D82A}">
                    <a16:rowId xmlns:a16="http://schemas.microsoft.com/office/drawing/2014/main" val="1437148178"/>
                  </a:ext>
                </a:extLst>
              </a:tr>
              <a:tr h="0">
                <a:tc>
                  <a:txBody>
                    <a:bodyPr/>
                    <a:lstStyle/>
                    <a:p>
                      <a:r>
                        <a:rPr lang="en-US" b="1" dirty="0"/>
                        <a:t>Resistant</a:t>
                      </a:r>
                    </a:p>
                  </a:txBody>
                  <a:tcPr anchor="ctr">
                    <a:lnL>
                      <a:noFill/>
                    </a:lnL>
                    <a:lnR>
                      <a:noFill/>
                    </a:lnR>
                    <a:lnT>
                      <a:noFill/>
                    </a:lnT>
                    <a:lnB>
                      <a:noFill/>
                    </a:lnB>
                  </a:tcPr>
                </a:tc>
                <a:tc>
                  <a:txBody>
                    <a:bodyPr/>
                    <a:lstStyle/>
                    <a:p>
                      <a:r>
                        <a:rPr lang="en-US" b="1" dirty="0"/>
                        <a:t>500</a:t>
                      </a:r>
                    </a:p>
                  </a:txBody>
                  <a:tcPr anchor="ctr">
                    <a:lnL>
                      <a:noFill/>
                    </a:lnL>
                    <a:lnR>
                      <a:noFill/>
                    </a:lnR>
                    <a:lnT>
                      <a:noFill/>
                    </a:lnT>
                    <a:lnB>
                      <a:noFill/>
                    </a:lnB>
                  </a:tcPr>
                </a:tc>
                <a:extLst>
                  <a:ext uri="{0D108BD9-81ED-4DB2-BD59-A6C34878D82A}">
                    <a16:rowId xmlns:a16="http://schemas.microsoft.com/office/drawing/2014/main" val="657487524"/>
                  </a:ext>
                </a:extLst>
              </a:tr>
            </a:tbl>
          </a:graphicData>
        </a:graphic>
      </p:graphicFrame>
      <p:sp>
        <p:nvSpPr>
          <p:cNvPr id="6" name="Rectangle 5"/>
          <p:cNvSpPr/>
          <p:nvPr/>
        </p:nvSpPr>
        <p:spPr>
          <a:xfrm>
            <a:off x="833258" y="6354036"/>
            <a:ext cx="3778278" cy="369332"/>
          </a:xfrm>
          <a:prstGeom prst="rect">
            <a:avLst/>
          </a:prstGeom>
        </p:spPr>
        <p:txBody>
          <a:bodyPr wrap="none">
            <a:spAutoFit/>
          </a:bodyPr>
          <a:lstStyle/>
          <a:p>
            <a:r>
              <a:rPr lang="en-US" dirty="0"/>
              <a:t>This indicates a well-balanced dataset.</a:t>
            </a:r>
          </a:p>
        </p:txBody>
      </p:sp>
    </p:spTree>
    <p:extLst>
      <p:ext uri="{BB962C8B-B14F-4D97-AF65-F5344CB8AC3E}">
        <p14:creationId xmlns:p14="http://schemas.microsoft.com/office/powerpoint/2010/main" val="12203939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70498" y="1852449"/>
            <a:ext cx="5651003" cy="4297689"/>
          </a:xfrm>
        </p:spPr>
      </p:pic>
    </p:spTree>
    <p:extLst>
      <p:ext uri="{BB962C8B-B14F-4D97-AF65-F5344CB8AC3E}">
        <p14:creationId xmlns:p14="http://schemas.microsoft.com/office/powerpoint/2010/main" val="34079098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Bar Chart Plot</a:t>
            </a:r>
            <a:endParaRPr lang="en-US" b="1" dirty="0"/>
          </a:p>
        </p:txBody>
      </p:sp>
      <p:sp>
        <p:nvSpPr>
          <p:cNvPr id="3" name="Content Placeholder 2"/>
          <p:cNvSpPr>
            <a:spLocks noGrp="1"/>
          </p:cNvSpPr>
          <p:nvPr>
            <p:ph idx="1"/>
          </p:nvPr>
        </p:nvSpPr>
        <p:spPr/>
        <p:txBody>
          <a:bodyPr/>
          <a:lstStyle/>
          <a:p>
            <a:pPr marL="0" indent="0">
              <a:buNone/>
            </a:pPr>
            <a:r>
              <a:rPr lang="en-US" b="1" dirty="0" smtClean="0"/>
              <a:t>Potential </a:t>
            </a:r>
            <a:r>
              <a:rPr lang="en-US" b="1" dirty="0"/>
              <a:t>Class </a:t>
            </a:r>
            <a:r>
              <a:rPr lang="en-US" b="1" dirty="0" smtClean="0"/>
              <a:t>Imbalance</a:t>
            </a:r>
          </a:p>
          <a:p>
            <a:endParaRPr lang="en-US" b="1" dirty="0"/>
          </a:p>
        </p:txBody>
      </p:sp>
      <p:graphicFrame>
        <p:nvGraphicFramePr>
          <p:cNvPr id="4" name="Table 3"/>
          <p:cNvGraphicFramePr>
            <a:graphicFrameLocks noGrp="1"/>
          </p:cNvGraphicFramePr>
          <p:nvPr>
            <p:extLst>
              <p:ext uri="{D42A27DB-BD31-4B8C-83A1-F6EECF244321}">
                <p14:modId xmlns:p14="http://schemas.microsoft.com/office/powerpoint/2010/main" val="2760962744"/>
              </p:ext>
            </p:extLst>
          </p:nvPr>
        </p:nvGraphicFramePr>
        <p:xfrm>
          <a:off x="954315" y="2559289"/>
          <a:ext cx="10515600" cy="1097280"/>
        </p:xfrm>
        <a:graphic>
          <a:graphicData uri="http://schemas.openxmlformats.org/drawingml/2006/table">
            <a:tbl>
              <a:tblPr/>
              <a:tblGrid>
                <a:gridCol w="5257800">
                  <a:extLst>
                    <a:ext uri="{9D8B030D-6E8A-4147-A177-3AD203B41FA5}">
                      <a16:colId xmlns:a16="http://schemas.microsoft.com/office/drawing/2014/main" val="527808498"/>
                    </a:ext>
                  </a:extLst>
                </a:gridCol>
                <a:gridCol w="5257800">
                  <a:extLst>
                    <a:ext uri="{9D8B030D-6E8A-4147-A177-3AD203B41FA5}">
                      <a16:colId xmlns:a16="http://schemas.microsoft.com/office/drawing/2014/main" val="1145223437"/>
                    </a:ext>
                  </a:extLst>
                </a:gridCol>
              </a:tblGrid>
              <a:tr h="0">
                <a:tc>
                  <a:txBody>
                    <a:bodyPr/>
                    <a:lstStyle/>
                    <a:p>
                      <a:r>
                        <a:rPr lang="en-US" b="1"/>
                        <a:t>Class</a:t>
                      </a:r>
                    </a:p>
                  </a:txBody>
                  <a:tcPr anchor="ctr">
                    <a:lnL>
                      <a:noFill/>
                    </a:lnL>
                    <a:lnR>
                      <a:noFill/>
                    </a:lnR>
                    <a:lnT>
                      <a:noFill/>
                    </a:lnT>
                    <a:lnB>
                      <a:noFill/>
                    </a:lnB>
                  </a:tcPr>
                </a:tc>
                <a:tc>
                  <a:txBody>
                    <a:bodyPr/>
                    <a:lstStyle/>
                    <a:p>
                      <a:r>
                        <a:rPr lang="en-US" b="1"/>
                        <a:t>Count</a:t>
                      </a:r>
                    </a:p>
                  </a:txBody>
                  <a:tcPr anchor="ctr">
                    <a:lnL>
                      <a:noFill/>
                    </a:lnL>
                    <a:lnR>
                      <a:noFill/>
                    </a:lnR>
                    <a:lnT>
                      <a:noFill/>
                    </a:lnT>
                    <a:lnB>
                      <a:noFill/>
                    </a:lnB>
                  </a:tcPr>
                </a:tc>
                <a:extLst>
                  <a:ext uri="{0D108BD9-81ED-4DB2-BD59-A6C34878D82A}">
                    <a16:rowId xmlns:a16="http://schemas.microsoft.com/office/drawing/2014/main" val="787693194"/>
                  </a:ext>
                </a:extLst>
              </a:tr>
              <a:tr h="0">
                <a:tc>
                  <a:txBody>
                    <a:bodyPr/>
                    <a:lstStyle/>
                    <a:p>
                      <a:r>
                        <a:rPr lang="en-US" b="1" dirty="0"/>
                        <a:t>Non-Resistant</a:t>
                      </a:r>
                    </a:p>
                  </a:txBody>
                  <a:tcPr anchor="ctr">
                    <a:lnL>
                      <a:noFill/>
                    </a:lnL>
                    <a:lnR>
                      <a:noFill/>
                    </a:lnR>
                    <a:lnT>
                      <a:noFill/>
                    </a:lnT>
                    <a:lnB>
                      <a:noFill/>
                    </a:lnB>
                  </a:tcPr>
                </a:tc>
                <a:tc>
                  <a:txBody>
                    <a:bodyPr/>
                    <a:lstStyle/>
                    <a:p>
                      <a:r>
                        <a:rPr lang="en-US" b="1"/>
                        <a:t>850</a:t>
                      </a:r>
                    </a:p>
                  </a:txBody>
                  <a:tcPr anchor="ctr">
                    <a:lnL>
                      <a:noFill/>
                    </a:lnL>
                    <a:lnR>
                      <a:noFill/>
                    </a:lnR>
                    <a:lnT>
                      <a:noFill/>
                    </a:lnT>
                    <a:lnB>
                      <a:noFill/>
                    </a:lnB>
                  </a:tcPr>
                </a:tc>
                <a:extLst>
                  <a:ext uri="{0D108BD9-81ED-4DB2-BD59-A6C34878D82A}">
                    <a16:rowId xmlns:a16="http://schemas.microsoft.com/office/drawing/2014/main" val="3725893496"/>
                  </a:ext>
                </a:extLst>
              </a:tr>
              <a:tr h="0">
                <a:tc>
                  <a:txBody>
                    <a:bodyPr/>
                    <a:lstStyle/>
                    <a:p>
                      <a:r>
                        <a:rPr lang="en-US" b="1"/>
                        <a:t>Resistant</a:t>
                      </a:r>
                    </a:p>
                  </a:txBody>
                  <a:tcPr anchor="ctr">
                    <a:lnL>
                      <a:noFill/>
                    </a:lnL>
                    <a:lnR>
                      <a:noFill/>
                    </a:lnR>
                    <a:lnT>
                      <a:noFill/>
                    </a:lnT>
                    <a:lnB>
                      <a:noFill/>
                    </a:lnB>
                  </a:tcPr>
                </a:tc>
                <a:tc>
                  <a:txBody>
                    <a:bodyPr/>
                    <a:lstStyle/>
                    <a:p>
                      <a:r>
                        <a:rPr lang="en-US" b="1" dirty="0"/>
                        <a:t>150</a:t>
                      </a:r>
                    </a:p>
                  </a:txBody>
                  <a:tcPr anchor="ctr">
                    <a:lnL>
                      <a:noFill/>
                    </a:lnL>
                    <a:lnR>
                      <a:noFill/>
                    </a:lnR>
                    <a:lnT>
                      <a:noFill/>
                    </a:lnT>
                    <a:lnB>
                      <a:noFill/>
                    </a:lnB>
                  </a:tcPr>
                </a:tc>
                <a:extLst>
                  <a:ext uri="{0D108BD9-81ED-4DB2-BD59-A6C34878D82A}">
                    <a16:rowId xmlns:a16="http://schemas.microsoft.com/office/drawing/2014/main" val="2931710758"/>
                  </a:ext>
                </a:extLst>
              </a:tr>
            </a:tbl>
          </a:graphicData>
        </a:graphic>
      </p:graphicFrame>
      <p:sp>
        <p:nvSpPr>
          <p:cNvPr id="5" name="Rectangle 4"/>
          <p:cNvSpPr/>
          <p:nvPr/>
        </p:nvSpPr>
        <p:spPr>
          <a:xfrm>
            <a:off x="838199" y="4001294"/>
            <a:ext cx="8146143" cy="2585323"/>
          </a:xfrm>
          <a:prstGeom prst="rect">
            <a:avLst/>
          </a:prstGeom>
        </p:spPr>
        <p:txBody>
          <a:bodyPr wrap="square">
            <a:spAutoFit/>
          </a:bodyPr>
          <a:lstStyle/>
          <a:p>
            <a:r>
              <a:rPr lang="en-US" dirty="0"/>
              <a:t>This indicates class imbalance, which may cause:</a:t>
            </a:r>
          </a:p>
          <a:p>
            <a:pPr>
              <a:buFont typeface="Arial" panose="020B0604020202020204" pitchFamily="34" charset="0"/>
              <a:buChar char="•"/>
            </a:pPr>
            <a:r>
              <a:rPr lang="en-US" dirty="0"/>
              <a:t>Biased predictions </a:t>
            </a:r>
          </a:p>
          <a:p>
            <a:pPr>
              <a:buFont typeface="Arial" panose="020B0604020202020204" pitchFamily="34" charset="0"/>
              <a:buChar char="•"/>
            </a:pPr>
            <a:r>
              <a:rPr lang="en-US" dirty="0"/>
              <a:t>Lower recall for minority class </a:t>
            </a:r>
          </a:p>
          <a:p>
            <a:pPr>
              <a:buFont typeface="Arial" panose="020B0604020202020204" pitchFamily="34" charset="0"/>
              <a:buChar char="•"/>
            </a:pPr>
            <a:r>
              <a:rPr lang="en-US" dirty="0"/>
              <a:t>Reduced model generalization </a:t>
            </a:r>
          </a:p>
          <a:p>
            <a:r>
              <a:rPr lang="en-US" dirty="0" smtClean="0"/>
              <a:t>Possible solutions:</a:t>
            </a:r>
          </a:p>
          <a:p>
            <a:pPr>
              <a:buFont typeface="Arial" panose="020B0604020202020204" pitchFamily="34" charset="0"/>
              <a:buChar char="•"/>
            </a:pPr>
            <a:r>
              <a:rPr lang="en-US" dirty="0" smtClean="0"/>
              <a:t>Oversampling </a:t>
            </a:r>
          </a:p>
          <a:p>
            <a:pPr>
              <a:buFont typeface="Arial" panose="020B0604020202020204" pitchFamily="34" charset="0"/>
              <a:buChar char="•"/>
            </a:pPr>
            <a:r>
              <a:rPr lang="en-US" dirty="0" err="1" smtClean="0"/>
              <a:t>Undersampling</a:t>
            </a:r>
            <a:r>
              <a:rPr lang="en-US" dirty="0" smtClean="0"/>
              <a:t> </a:t>
            </a:r>
          </a:p>
          <a:p>
            <a:pPr>
              <a:buFont typeface="Arial" panose="020B0604020202020204" pitchFamily="34" charset="0"/>
              <a:buChar char="•"/>
            </a:pPr>
            <a:r>
              <a:rPr lang="en-US" dirty="0" smtClean="0"/>
              <a:t>SMOTE </a:t>
            </a:r>
          </a:p>
          <a:p>
            <a:pPr>
              <a:buFont typeface="Arial" panose="020B0604020202020204" pitchFamily="34" charset="0"/>
              <a:buChar char="•"/>
            </a:pPr>
            <a:r>
              <a:rPr lang="en-US" dirty="0" smtClean="0"/>
              <a:t>Class weighting</a:t>
            </a:r>
            <a:endParaRPr lang="en-US" dirty="0"/>
          </a:p>
        </p:txBody>
      </p:sp>
    </p:spTree>
    <p:extLst>
      <p:ext uri="{BB962C8B-B14F-4D97-AF65-F5344CB8AC3E}">
        <p14:creationId xmlns:p14="http://schemas.microsoft.com/office/powerpoint/2010/main" val="40268830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96678" y="1825625"/>
            <a:ext cx="4998644" cy="4351338"/>
          </a:xfrm>
        </p:spPr>
      </p:pic>
    </p:spTree>
    <p:extLst>
      <p:ext uri="{BB962C8B-B14F-4D97-AF65-F5344CB8AC3E}">
        <p14:creationId xmlns:p14="http://schemas.microsoft.com/office/powerpoint/2010/main" val="17523478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Stacked Bar Chart Plot</a:t>
            </a:r>
            <a:endParaRPr lang="en-US" b="1" dirty="0"/>
          </a:p>
        </p:txBody>
      </p:sp>
      <p:sp>
        <p:nvSpPr>
          <p:cNvPr id="3" name="Content Placeholder 2"/>
          <p:cNvSpPr>
            <a:spLocks noGrp="1"/>
          </p:cNvSpPr>
          <p:nvPr>
            <p:ph idx="1"/>
          </p:nvPr>
        </p:nvSpPr>
        <p:spPr/>
        <p:txBody>
          <a:bodyPr/>
          <a:lstStyle/>
          <a:p>
            <a:r>
              <a:rPr lang="en-US" dirty="0"/>
              <a:t>Drug resistance is not confined to a single subtype.</a:t>
            </a:r>
          </a:p>
          <a:p>
            <a:r>
              <a:rPr lang="en-US" dirty="0"/>
              <a:t>This indicates:</a:t>
            </a:r>
          </a:p>
          <a:p>
            <a:r>
              <a:rPr lang="en-US" dirty="0"/>
              <a:t>Broad mutation occurrence </a:t>
            </a:r>
          </a:p>
          <a:p>
            <a:r>
              <a:rPr lang="en-US" dirty="0"/>
              <a:t>Need for subtype-independent predictive models</a:t>
            </a:r>
          </a:p>
          <a:p>
            <a:endParaRPr lang="en-US" dirty="0"/>
          </a:p>
        </p:txBody>
      </p:sp>
      <p:sp>
        <p:nvSpPr>
          <p:cNvPr id="4" name="Rectangle 3"/>
          <p:cNvSpPr/>
          <p:nvPr/>
        </p:nvSpPr>
        <p:spPr>
          <a:xfrm>
            <a:off x="986971" y="4207693"/>
            <a:ext cx="6096000" cy="1200329"/>
          </a:xfrm>
          <a:prstGeom prst="rect">
            <a:avLst/>
          </a:prstGeom>
        </p:spPr>
        <p:txBody>
          <a:bodyPr>
            <a:spAutoFit/>
          </a:bodyPr>
          <a:lstStyle/>
          <a:p>
            <a:r>
              <a:rPr lang="en-US" dirty="0"/>
              <a:t>Subtype B contributes the largest number of resistant samples.</a:t>
            </a:r>
          </a:p>
          <a:p>
            <a:r>
              <a:rPr lang="en-US" dirty="0"/>
              <a:t>Potential implications:</a:t>
            </a:r>
          </a:p>
          <a:p>
            <a:pPr>
              <a:buFont typeface="Arial" panose="020B0604020202020204" pitchFamily="34" charset="0"/>
              <a:buChar char="•"/>
            </a:pPr>
            <a:r>
              <a:rPr lang="en-US" dirty="0"/>
              <a:t>Higher mutation frequency </a:t>
            </a:r>
          </a:p>
          <a:p>
            <a:pPr>
              <a:buFont typeface="Arial" panose="020B0604020202020204" pitchFamily="34" charset="0"/>
              <a:buChar char="•"/>
            </a:pPr>
            <a:r>
              <a:rPr lang="en-US" dirty="0"/>
              <a:t>Greater treatment challenges</a:t>
            </a:r>
          </a:p>
        </p:txBody>
      </p:sp>
      <p:sp>
        <p:nvSpPr>
          <p:cNvPr id="5" name="Rectangle 4"/>
          <p:cNvSpPr/>
          <p:nvPr/>
        </p:nvSpPr>
        <p:spPr>
          <a:xfrm>
            <a:off x="986971" y="5259364"/>
            <a:ext cx="6096000" cy="1477328"/>
          </a:xfrm>
          <a:prstGeom prst="rect">
            <a:avLst/>
          </a:prstGeom>
        </p:spPr>
        <p:txBody>
          <a:bodyPr>
            <a:spAutoFit/>
          </a:bodyPr>
          <a:lstStyle/>
          <a:p>
            <a:r>
              <a:rPr lang="en-US" dirty="0"/>
              <a:t>Each subtype contains both resistant and non-resistant samples.</a:t>
            </a:r>
          </a:p>
          <a:p>
            <a:r>
              <a:rPr lang="en-US" dirty="0"/>
              <a:t>Benefits:</a:t>
            </a:r>
          </a:p>
          <a:p>
            <a:pPr>
              <a:buFont typeface="Arial" panose="020B0604020202020204" pitchFamily="34" charset="0"/>
              <a:buChar char="•"/>
            </a:pPr>
            <a:r>
              <a:rPr lang="en-US" dirty="0"/>
              <a:t>Improved model learning </a:t>
            </a:r>
          </a:p>
          <a:p>
            <a:pPr>
              <a:buFont typeface="Arial" panose="020B0604020202020204" pitchFamily="34" charset="0"/>
              <a:buChar char="•"/>
            </a:pPr>
            <a:r>
              <a:rPr lang="en-US" dirty="0"/>
              <a:t>Reduced classification bias</a:t>
            </a:r>
          </a:p>
        </p:txBody>
      </p:sp>
    </p:spTree>
    <p:extLst>
      <p:ext uri="{BB962C8B-B14F-4D97-AF65-F5344CB8AC3E}">
        <p14:creationId xmlns:p14="http://schemas.microsoft.com/office/powerpoint/2010/main" val="22468314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3959" y="1825625"/>
            <a:ext cx="10244081" cy="4351338"/>
          </a:xfrm>
        </p:spPr>
      </p:pic>
    </p:spTree>
    <p:extLst>
      <p:ext uri="{BB962C8B-B14F-4D97-AF65-F5344CB8AC3E}">
        <p14:creationId xmlns:p14="http://schemas.microsoft.com/office/powerpoint/2010/main" val="15856733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Combined Stacked Bar Plot</a:t>
            </a:r>
            <a:endParaRPr lang="en-US" b="1" dirty="0"/>
          </a:p>
        </p:txBody>
      </p:sp>
      <p:sp>
        <p:nvSpPr>
          <p:cNvPr id="3" name="Content Placeholder 2"/>
          <p:cNvSpPr>
            <a:spLocks noGrp="1"/>
          </p:cNvSpPr>
          <p:nvPr>
            <p:ph idx="1"/>
          </p:nvPr>
        </p:nvSpPr>
        <p:spPr/>
        <p:txBody>
          <a:bodyPr/>
          <a:lstStyle/>
          <a:p>
            <a:r>
              <a:rPr lang="en-US" dirty="0"/>
              <a:t>The combined stacked bar chart extends the analysis by comparing multiple categorical variables simultaneously.</a:t>
            </a:r>
          </a:p>
          <a:p>
            <a:r>
              <a:rPr lang="en-US" dirty="0"/>
              <a:t>Variables included:</a:t>
            </a:r>
          </a:p>
          <a:p>
            <a:r>
              <a:rPr lang="en-US" dirty="0"/>
              <a:t>HIV Subtype </a:t>
            </a:r>
          </a:p>
          <a:p>
            <a:r>
              <a:rPr lang="en-US" dirty="0"/>
              <a:t>Gender</a:t>
            </a:r>
          </a:p>
          <a:p>
            <a:endParaRPr lang="en-US" dirty="0"/>
          </a:p>
        </p:txBody>
      </p:sp>
    </p:spTree>
    <p:extLst>
      <p:ext uri="{BB962C8B-B14F-4D97-AF65-F5344CB8AC3E}">
        <p14:creationId xmlns:p14="http://schemas.microsoft.com/office/powerpoint/2010/main" val="5562272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Biological Interpretation</a:t>
            </a:r>
          </a:p>
        </p:txBody>
      </p:sp>
      <p:sp>
        <p:nvSpPr>
          <p:cNvPr id="3" name="Content Placeholder 2"/>
          <p:cNvSpPr>
            <a:spLocks noGrp="1"/>
          </p:cNvSpPr>
          <p:nvPr>
            <p:ph idx="1"/>
          </p:nvPr>
        </p:nvSpPr>
        <p:spPr/>
        <p:txBody>
          <a:bodyPr/>
          <a:lstStyle/>
          <a:p>
            <a:r>
              <a:rPr lang="en-US" dirty="0"/>
              <a:t>For HIV drug resistance prediction:</a:t>
            </a:r>
          </a:p>
          <a:p>
            <a:r>
              <a:rPr lang="en-US" dirty="0"/>
              <a:t>Non-resistant sequences indicate susceptibility to antiretroviral drugs. </a:t>
            </a:r>
          </a:p>
          <a:p>
            <a:r>
              <a:rPr lang="en-US" dirty="0"/>
              <a:t>Resistant sequences contain mutations associated with reduced drug effectiveness. </a:t>
            </a:r>
          </a:p>
          <a:p>
            <a:r>
              <a:rPr lang="en-US" dirty="0"/>
              <a:t>The histogram provides an overview of how frequently resistance-associated mutations occur within the dataset.</a:t>
            </a:r>
          </a:p>
          <a:p>
            <a:endParaRPr lang="en-US" dirty="0"/>
          </a:p>
        </p:txBody>
      </p:sp>
    </p:spTree>
    <p:extLst>
      <p:ext uri="{BB962C8B-B14F-4D97-AF65-F5344CB8AC3E}">
        <p14:creationId xmlns:p14="http://schemas.microsoft.com/office/powerpoint/2010/main" val="19798649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Research Significance</a:t>
            </a:r>
          </a:p>
        </p:txBody>
      </p:sp>
      <p:sp>
        <p:nvSpPr>
          <p:cNvPr id="3" name="Content Placeholder 2"/>
          <p:cNvSpPr>
            <a:spLocks noGrp="1"/>
          </p:cNvSpPr>
          <p:nvPr>
            <p:ph idx="1"/>
          </p:nvPr>
        </p:nvSpPr>
        <p:spPr/>
        <p:txBody>
          <a:bodyPr/>
          <a:lstStyle/>
          <a:p>
            <a:r>
              <a:rPr lang="en-US" b="1" dirty="0"/>
              <a:t>Research Significance</a:t>
            </a:r>
          </a:p>
          <a:p>
            <a:r>
              <a:rPr lang="en-US" dirty="0"/>
              <a:t>The visualization helps researchers:</a:t>
            </a:r>
          </a:p>
          <a:p>
            <a:r>
              <a:rPr lang="en-US" dirty="0"/>
              <a:t>Understand mutation prevalence </a:t>
            </a:r>
          </a:p>
          <a:p>
            <a:r>
              <a:rPr lang="en-US" dirty="0"/>
              <a:t>Evaluate resistance patterns </a:t>
            </a:r>
          </a:p>
          <a:p>
            <a:r>
              <a:rPr lang="en-US" dirty="0"/>
              <a:t>Assess dataset readiness for predictive modeling </a:t>
            </a:r>
          </a:p>
          <a:p>
            <a:r>
              <a:rPr lang="en-US" dirty="0"/>
              <a:t>Support development of personalized treatment strategies</a:t>
            </a:r>
          </a:p>
          <a:p>
            <a:endParaRPr lang="en-US" dirty="0"/>
          </a:p>
        </p:txBody>
      </p:sp>
    </p:spTree>
    <p:extLst>
      <p:ext uri="{BB962C8B-B14F-4D97-AF65-F5344CB8AC3E}">
        <p14:creationId xmlns:p14="http://schemas.microsoft.com/office/powerpoint/2010/main" val="13693563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Conclusion</a:t>
            </a:r>
          </a:p>
        </p:txBody>
      </p:sp>
      <p:sp>
        <p:nvSpPr>
          <p:cNvPr id="3" name="Content Placeholder 2"/>
          <p:cNvSpPr>
            <a:spLocks noGrp="1"/>
          </p:cNvSpPr>
          <p:nvPr>
            <p:ph idx="1"/>
          </p:nvPr>
        </p:nvSpPr>
        <p:spPr/>
        <p:txBody>
          <a:bodyPr/>
          <a:lstStyle/>
          <a:p>
            <a:r>
              <a:rPr lang="en-US" dirty="0"/>
              <a:t>The histogram is an essential exploratory data analysis (EDA) tool that reveals the distribution of HIV drug resistance classes. A balanced distribution indicates a suitable dataset for supervised learning, while an imbalanced distribution highlights the need for preprocessing techniques before model training. These insights guide the selection of appropriate machine learning methods and evaluation strategies for HIV drug resistance prediction.</a:t>
            </a:r>
          </a:p>
        </p:txBody>
      </p:sp>
    </p:spTree>
    <p:extLst>
      <p:ext uri="{BB962C8B-B14F-4D97-AF65-F5344CB8AC3E}">
        <p14:creationId xmlns:p14="http://schemas.microsoft.com/office/powerpoint/2010/main" val="20199518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TotalTime>
  <Words>526</Words>
  <Application>Microsoft Office PowerPoint</Application>
  <PresentationFormat>Widescreen</PresentationFormat>
  <Paragraphs>117</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Cambria Math</vt:lpstr>
      <vt:lpstr>CIDFont+F1</vt:lpstr>
      <vt:lpstr>Office Theme</vt:lpstr>
      <vt:lpstr>Predicting HIV Drug Resistance Mutations Using Supervised Learning</vt:lpstr>
      <vt:lpstr>Google Colab URL</vt:lpstr>
      <vt:lpstr>Objectives</vt:lpstr>
      <vt:lpstr>Dataset Description</vt:lpstr>
      <vt:lpstr>Sample Dataset</vt:lpstr>
      <vt:lpstr> Synthetic Dataset Generation </vt:lpstr>
      <vt:lpstr>Data Visualization</vt:lpstr>
      <vt:lpstr>Histogram Plot</vt:lpstr>
      <vt:lpstr>Data Visualization </vt:lpstr>
      <vt:lpstr>Bar Chart Plot</vt:lpstr>
      <vt:lpstr>Data Visualization</vt:lpstr>
      <vt:lpstr>Bar Chart Plot</vt:lpstr>
      <vt:lpstr>Data Visualization</vt:lpstr>
      <vt:lpstr>Stacked Bar Chart Plot</vt:lpstr>
      <vt:lpstr>Data Visualization</vt:lpstr>
      <vt:lpstr>Combined Stacked Bar Plot</vt:lpstr>
      <vt:lpstr>Biological Interpretation</vt:lpstr>
      <vt:lpstr>Research Significance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HIV Drug Resistance Mutations Using Supervised Learning</dc:title>
  <dc:creator>KUMAR</dc:creator>
  <cp:lastModifiedBy>KUMAR</cp:lastModifiedBy>
  <cp:revision>32</cp:revision>
  <dcterms:created xsi:type="dcterms:W3CDTF">2026-05-22T04:52:51Z</dcterms:created>
  <dcterms:modified xsi:type="dcterms:W3CDTF">2026-05-31T12:20:01Z</dcterms:modified>
</cp:coreProperties>
</file>