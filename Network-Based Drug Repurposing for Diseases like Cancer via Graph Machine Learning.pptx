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2" r:id="rId21"/>
    <p:sldId id="275" r:id="rId22"/>
    <p:sldId id="276" r:id="rId23"/>
    <p:sldId id="277" r:id="rId24"/>
    <p:sldId id="278" r:id="rId25"/>
    <p:sldId id="279" r:id="rId26"/>
    <p:sldId id="280" r:id="rId27"/>
    <p:sldId id="281"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FE8C04-51BD-46B5-9C2F-9AF973437AD3}" type="datetimeFigureOut">
              <a:rPr lang="en-US" smtClean="0"/>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80F6C-F300-4F93-B7C1-066A1D78C136}" type="slidenum">
              <a:rPr lang="en-US" smtClean="0"/>
              <a:t>‹#›</a:t>
            </a:fld>
            <a:endParaRPr lang="en-US"/>
          </a:p>
        </p:txBody>
      </p:sp>
    </p:spTree>
    <p:extLst>
      <p:ext uri="{BB962C8B-B14F-4D97-AF65-F5344CB8AC3E}">
        <p14:creationId xmlns:p14="http://schemas.microsoft.com/office/powerpoint/2010/main" val="1442773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B80F6C-F300-4F93-B7C1-066A1D78C136}" type="slidenum">
              <a:rPr lang="en-US" smtClean="0"/>
              <a:t>1</a:t>
            </a:fld>
            <a:endParaRPr lang="en-US"/>
          </a:p>
        </p:txBody>
      </p:sp>
    </p:spTree>
    <p:extLst>
      <p:ext uri="{BB962C8B-B14F-4D97-AF65-F5344CB8AC3E}">
        <p14:creationId xmlns:p14="http://schemas.microsoft.com/office/powerpoint/2010/main" val="778567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BEE0AB6-7B2B-4B39-AA7E-DFBE99C2D999}"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1000214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EE0AB6-7B2B-4B39-AA7E-DFBE99C2D999}"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123452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EE0AB6-7B2B-4B39-AA7E-DFBE99C2D999}"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1330730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BEE0AB6-7B2B-4B39-AA7E-DFBE99C2D999}"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2858980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BEE0AB6-7B2B-4B39-AA7E-DFBE99C2D999}"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3439273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BEE0AB6-7B2B-4B39-AA7E-DFBE99C2D999}"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2831220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EE0AB6-7B2B-4B39-AA7E-DFBE99C2D999}"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621589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EE0AB6-7B2B-4B39-AA7E-DFBE99C2D999}"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2561157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EE0AB6-7B2B-4B39-AA7E-DFBE99C2D999}"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1760765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EE0AB6-7B2B-4B39-AA7E-DFBE99C2D999}"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4189985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EE0AB6-7B2B-4B39-AA7E-DFBE99C2D999}"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C2933-56B3-4AEA-91D2-77EC482486C2}" type="slidenum">
              <a:rPr lang="en-US" smtClean="0"/>
              <a:t>‹#›</a:t>
            </a:fld>
            <a:endParaRPr lang="en-US"/>
          </a:p>
        </p:txBody>
      </p:sp>
    </p:spTree>
    <p:extLst>
      <p:ext uri="{BB962C8B-B14F-4D97-AF65-F5344CB8AC3E}">
        <p14:creationId xmlns:p14="http://schemas.microsoft.com/office/powerpoint/2010/main" val="3632305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EE0AB6-7B2B-4B39-AA7E-DFBE99C2D999}" type="datetimeFigureOut">
              <a:rPr lang="en-US" smtClean="0"/>
              <a:t>7/31/2026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EC2933-56B3-4AEA-91D2-77EC482486C2}" type="slidenum">
              <a:rPr lang="en-US" smtClean="0"/>
              <a:t>‹#›</a:t>
            </a:fld>
            <a:endParaRPr lang="en-US"/>
          </a:p>
        </p:txBody>
      </p:sp>
    </p:spTree>
    <p:extLst>
      <p:ext uri="{BB962C8B-B14F-4D97-AF65-F5344CB8AC3E}">
        <p14:creationId xmlns:p14="http://schemas.microsoft.com/office/powerpoint/2010/main" val="16135019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gopalakrishnankumar-a7330111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kaggle.com/gopalkk2" TargetMode="External"/><Relationship Id="rId4" Type="http://schemas.openxmlformats.org/officeDocument/2006/relationships/hyperlink" Target="https://github.com/Gopal21236/"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zfkVH08ntqZqMrHpjkGO_2rYUk6h6qwe?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b="1" dirty="0" smtClean="0"/>
              <a:t>Network-Based Drug Repurposing for Diseases like Cancer via Graph Machine Learning</a:t>
            </a:r>
            <a:endParaRPr lang="en-US" b="1" dirty="0"/>
          </a:p>
        </p:txBody>
      </p:sp>
      <p:sp>
        <p:nvSpPr>
          <p:cNvPr id="4" name="Subtitle 2"/>
          <p:cNvSpPr>
            <a:spLocks noGrp="1"/>
          </p:cNvSpPr>
          <p:nvPr>
            <p:ph type="subTitle" idx="1"/>
          </p:nvPr>
        </p:nvSpPr>
        <p:spPr>
          <a:xfrm>
            <a:off x="1524000" y="3509963"/>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Consultant Data Scientist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3"/>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4"/>
              </a:rPr>
              <a:t>Github:</a:t>
            </a:r>
            <a:r>
              <a:rPr lang="en-US" dirty="0">
                <a:solidFill>
                  <a:srgbClr val="0D0D0D"/>
                </a:solidFill>
                <a:latin typeface="CIDFont+F1"/>
                <a:hlinkClick r:id="rId4"/>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5"/>
              </a:rPr>
              <a:t>https://www.kaggle.com/gopalkk2</a:t>
            </a:r>
            <a:endParaRPr lang="en-US" sz="2000" dirty="0" smtClean="0"/>
          </a:p>
          <a:p>
            <a:endParaRPr lang="en-US" sz="2000" dirty="0"/>
          </a:p>
        </p:txBody>
      </p:sp>
    </p:spTree>
    <p:extLst>
      <p:ext uri="{BB962C8B-B14F-4D97-AF65-F5344CB8AC3E}">
        <p14:creationId xmlns:p14="http://schemas.microsoft.com/office/powerpoint/2010/main" val="11850731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colab.research.google.com/drive/1zfkVH08ntqZqMrHpjkGO_2rYUk6h6qwe?usp=sharing</a:t>
            </a:r>
            <a:endParaRPr lang="en-US" dirty="0" smtClean="0"/>
          </a:p>
          <a:p>
            <a:endParaRPr lang="en-US" dirty="0"/>
          </a:p>
        </p:txBody>
      </p:sp>
    </p:spTree>
    <p:extLst>
      <p:ext uri="{BB962C8B-B14F-4D97-AF65-F5344CB8AC3E}">
        <p14:creationId xmlns:p14="http://schemas.microsoft.com/office/powerpoint/2010/main" val="23923596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fontScale="92500" lnSpcReduction="20000"/>
          </a:bodyPr>
          <a:lstStyle/>
          <a:p>
            <a:r>
              <a:rPr lang="en-US" dirty="0"/>
              <a:t>Cancer remains one of the leading causes of death worldwide. Developing a new anticancer drug typically requires more than 10 years of research and billions of dollars in investment. Drug repurposing addresses this challenge by identifying approved drugs that can be used for new therapeutic indications.</a:t>
            </a:r>
          </a:p>
          <a:p>
            <a:r>
              <a:rPr lang="en-US" dirty="0"/>
              <a:t>Biomedical systems naturally form complex networks involving interactions among drugs, genes, proteins, pathways, and diseases. Graph Machine Learning (Graph ML) leverages these interconnected relationships to uncover hidden biological patterns and predict new drug–disease associations.</a:t>
            </a:r>
          </a:p>
          <a:p>
            <a:r>
              <a:rPr lang="en-US" dirty="0"/>
              <a:t>Recent advances in Graph Neural Networks (GNNs), including </a:t>
            </a:r>
            <a:r>
              <a:rPr lang="en-US" dirty="0" err="1"/>
              <a:t>GraphSAGE</a:t>
            </a:r>
            <a:r>
              <a:rPr lang="en-US" dirty="0"/>
              <a:t>, Graph Attention Networks (GAT), Relational Graph Convolutional Networks (R-GCN), and Heterogeneous Graph Transformers (HGT), have significantly improved the accuracy of network-based biomedical predictions.</a:t>
            </a:r>
          </a:p>
          <a:p>
            <a:endParaRPr lang="en-US" dirty="0"/>
          </a:p>
        </p:txBody>
      </p:sp>
    </p:spTree>
    <p:extLst>
      <p:ext uri="{BB962C8B-B14F-4D97-AF65-F5344CB8AC3E}">
        <p14:creationId xmlns:p14="http://schemas.microsoft.com/office/powerpoint/2010/main" val="10622843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Problem Statement</a:t>
            </a:r>
          </a:p>
        </p:txBody>
      </p:sp>
      <p:sp>
        <p:nvSpPr>
          <p:cNvPr id="3" name="Content Placeholder 2"/>
          <p:cNvSpPr>
            <a:spLocks noGrp="1"/>
          </p:cNvSpPr>
          <p:nvPr>
            <p:ph idx="1"/>
          </p:nvPr>
        </p:nvSpPr>
        <p:spPr/>
        <p:txBody>
          <a:bodyPr/>
          <a:lstStyle/>
          <a:p>
            <a:r>
              <a:rPr lang="en-US" dirty="0"/>
              <a:t>Traditional drug discovery faces several challenges:</a:t>
            </a:r>
          </a:p>
          <a:p>
            <a:r>
              <a:rPr lang="en-US" dirty="0"/>
              <a:t>Extremely high development costs.</a:t>
            </a:r>
          </a:p>
          <a:p>
            <a:r>
              <a:rPr lang="en-US" dirty="0"/>
              <a:t>Long clinical trial durations.</a:t>
            </a:r>
          </a:p>
          <a:p>
            <a:r>
              <a:rPr lang="en-US" dirty="0"/>
              <a:t>High failure rates.</a:t>
            </a:r>
          </a:p>
          <a:p>
            <a:r>
              <a:rPr lang="en-US" dirty="0"/>
              <a:t>Limited understanding of complex molecular interactions.</a:t>
            </a:r>
          </a:p>
          <a:p>
            <a:r>
              <a:rPr lang="en-US" dirty="0"/>
              <a:t>The objective of this project is to develop a graph-based machine learning framework capable of predicting novel drug–disease relationships using biological network information.</a:t>
            </a:r>
          </a:p>
          <a:p>
            <a:endParaRPr lang="en-US" dirty="0"/>
          </a:p>
        </p:txBody>
      </p:sp>
    </p:spTree>
    <p:extLst>
      <p:ext uri="{BB962C8B-B14F-4D97-AF65-F5344CB8AC3E}">
        <p14:creationId xmlns:p14="http://schemas.microsoft.com/office/powerpoint/2010/main" val="6027350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Objectives</a:t>
            </a:r>
          </a:p>
        </p:txBody>
      </p:sp>
      <p:sp>
        <p:nvSpPr>
          <p:cNvPr id="3" name="Content Placeholder 2"/>
          <p:cNvSpPr>
            <a:spLocks noGrp="1"/>
          </p:cNvSpPr>
          <p:nvPr>
            <p:ph idx="1"/>
          </p:nvPr>
        </p:nvSpPr>
        <p:spPr/>
        <p:txBody>
          <a:bodyPr/>
          <a:lstStyle/>
          <a:p>
            <a:r>
              <a:rPr lang="en-US" dirty="0"/>
              <a:t>The primary objectives are:</a:t>
            </a:r>
          </a:p>
          <a:p>
            <a:r>
              <a:rPr lang="en-US" dirty="0"/>
              <a:t>Construct a heterogeneous biomedical graph.</a:t>
            </a:r>
          </a:p>
          <a:p>
            <a:r>
              <a:rPr lang="en-US" dirty="0"/>
              <a:t>Integrate drug, gene, and disease information.</a:t>
            </a:r>
          </a:p>
          <a:p>
            <a:r>
              <a:rPr lang="en-US" dirty="0"/>
              <a:t>Learn node </a:t>
            </a:r>
            <a:r>
              <a:rPr lang="en-US" dirty="0" err="1"/>
              <a:t>embeddings</a:t>
            </a:r>
            <a:r>
              <a:rPr lang="en-US" dirty="0"/>
              <a:t> using Graph Neural Networks.</a:t>
            </a:r>
          </a:p>
          <a:p>
            <a:r>
              <a:rPr lang="en-US" dirty="0"/>
              <a:t>Predict unknown drug–disease associations.</a:t>
            </a:r>
          </a:p>
          <a:p>
            <a:r>
              <a:rPr lang="en-US" dirty="0"/>
              <a:t>Rank candidate drugs for cancer treatment.</a:t>
            </a:r>
          </a:p>
          <a:p>
            <a:r>
              <a:rPr lang="en-US" dirty="0"/>
              <a:t>Visualize biological networks and prediction results.</a:t>
            </a:r>
          </a:p>
          <a:p>
            <a:endParaRPr lang="en-US" dirty="0"/>
          </a:p>
        </p:txBody>
      </p:sp>
    </p:spTree>
    <p:extLst>
      <p:ext uri="{BB962C8B-B14F-4D97-AF65-F5344CB8AC3E}">
        <p14:creationId xmlns:p14="http://schemas.microsoft.com/office/powerpoint/2010/main" val="624942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Description</a:t>
            </a:r>
          </a:p>
        </p:txBody>
      </p:sp>
      <p:sp>
        <p:nvSpPr>
          <p:cNvPr id="3" name="Content Placeholder 2"/>
          <p:cNvSpPr>
            <a:spLocks noGrp="1"/>
          </p:cNvSpPr>
          <p:nvPr>
            <p:ph idx="1"/>
          </p:nvPr>
        </p:nvSpPr>
        <p:spPr/>
        <p:txBody>
          <a:bodyPr/>
          <a:lstStyle/>
          <a:p>
            <a:r>
              <a:rPr lang="en-US" dirty="0"/>
              <a:t>The heterogeneous biomedical network may include information from several publicly available databases</a:t>
            </a:r>
            <a:r>
              <a:rPr lang="en-US" dirty="0" smtClean="0"/>
              <a:t>.</a:t>
            </a:r>
          </a:p>
          <a:p>
            <a:endParaRPr lang="en-US" dirty="0"/>
          </a:p>
        </p:txBody>
      </p:sp>
    </p:spTree>
    <p:extLst>
      <p:ext uri="{BB962C8B-B14F-4D97-AF65-F5344CB8AC3E}">
        <p14:creationId xmlns:p14="http://schemas.microsoft.com/office/powerpoint/2010/main" val="22341610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Step 1: Data Collection</a:t>
            </a:r>
          </a:p>
          <a:p>
            <a:r>
              <a:rPr lang="en-US" dirty="0"/>
              <a:t>Biological interaction data are collected from multiple biomedical databases.</a:t>
            </a:r>
          </a:p>
          <a:p>
            <a:r>
              <a:rPr lang="en-US" b="1" dirty="0"/>
              <a:t>Step 2: Graph Construction</a:t>
            </a:r>
          </a:p>
          <a:p>
            <a:r>
              <a:rPr lang="en-US" dirty="0"/>
              <a:t>The data are transformed into a heterogeneous graph where:</a:t>
            </a:r>
          </a:p>
          <a:p>
            <a:r>
              <a:rPr lang="en-US" dirty="0"/>
              <a:t>Nodes represent biological entities.</a:t>
            </a:r>
          </a:p>
          <a:p>
            <a:r>
              <a:rPr lang="en-US" dirty="0"/>
              <a:t>Edges represent biological interactions.</a:t>
            </a:r>
          </a:p>
          <a:p>
            <a:endParaRPr lang="en-US" dirty="0"/>
          </a:p>
        </p:txBody>
      </p:sp>
    </p:spTree>
    <p:extLst>
      <p:ext uri="{BB962C8B-B14F-4D97-AF65-F5344CB8AC3E}">
        <p14:creationId xmlns:p14="http://schemas.microsoft.com/office/powerpoint/2010/main" val="2769354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Methodology</a:t>
            </a:r>
            <a:endParaRPr lang="en-US" b="1" dirty="0"/>
          </a:p>
        </p:txBody>
      </p:sp>
      <p:sp>
        <p:nvSpPr>
          <p:cNvPr id="3" name="Content Placeholder 2"/>
          <p:cNvSpPr>
            <a:spLocks noGrp="1"/>
          </p:cNvSpPr>
          <p:nvPr>
            <p:ph idx="1"/>
          </p:nvPr>
        </p:nvSpPr>
        <p:spPr/>
        <p:txBody>
          <a:bodyPr/>
          <a:lstStyle/>
          <a:p>
            <a:r>
              <a:rPr lang="en-US" b="1" dirty="0"/>
              <a:t>Step 3: Feature Engineering</a:t>
            </a:r>
          </a:p>
          <a:p>
            <a:r>
              <a:rPr lang="en-US" dirty="0"/>
              <a:t>Node features may include:</a:t>
            </a:r>
          </a:p>
          <a:p>
            <a:r>
              <a:rPr lang="en-US" dirty="0"/>
              <a:t>Chemical fingerprints</a:t>
            </a:r>
          </a:p>
          <a:p>
            <a:r>
              <a:rPr lang="en-US" dirty="0"/>
              <a:t>Gene expression profiles</a:t>
            </a:r>
          </a:p>
          <a:p>
            <a:r>
              <a:rPr lang="en-US" dirty="0"/>
              <a:t>Protein </a:t>
            </a:r>
            <a:r>
              <a:rPr lang="en-US" dirty="0" err="1"/>
              <a:t>embeddings</a:t>
            </a:r>
            <a:endParaRPr lang="en-US" dirty="0"/>
          </a:p>
          <a:p>
            <a:r>
              <a:rPr lang="en-US" dirty="0"/>
              <a:t>Molecular descriptors</a:t>
            </a:r>
          </a:p>
          <a:p>
            <a:r>
              <a:rPr lang="en-US" dirty="0"/>
              <a:t>Pathway information</a:t>
            </a:r>
          </a:p>
          <a:p>
            <a:endParaRPr lang="en-US" dirty="0"/>
          </a:p>
        </p:txBody>
      </p:sp>
    </p:spTree>
    <p:extLst>
      <p:ext uri="{BB962C8B-B14F-4D97-AF65-F5344CB8AC3E}">
        <p14:creationId xmlns:p14="http://schemas.microsoft.com/office/powerpoint/2010/main" val="4859587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endParaRPr lang="en-US" dirty="0"/>
          </a:p>
        </p:txBody>
      </p:sp>
      <p:sp>
        <p:nvSpPr>
          <p:cNvPr id="3" name="Content Placeholder 2"/>
          <p:cNvSpPr>
            <a:spLocks noGrp="1"/>
          </p:cNvSpPr>
          <p:nvPr>
            <p:ph idx="1"/>
          </p:nvPr>
        </p:nvSpPr>
        <p:spPr/>
        <p:txBody>
          <a:bodyPr/>
          <a:lstStyle/>
          <a:p>
            <a:r>
              <a:rPr lang="en-US" b="1" dirty="0"/>
              <a:t>Step 4: Graph Neural Network</a:t>
            </a:r>
          </a:p>
          <a:p>
            <a:r>
              <a:rPr lang="en-US" dirty="0"/>
              <a:t>A heterogeneous </a:t>
            </a:r>
            <a:r>
              <a:rPr lang="en-US" dirty="0" err="1"/>
              <a:t>GraphSAGE</a:t>
            </a:r>
            <a:r>
              <a:rPr lang="en-US" dirty="0"/>
              <a:t> model propagates information across neighboring nodes to learn informative </a:t>
            </a:r>
            <a:r>
              <a:rPr lang="en-US" dirty="0" err="1"/>
              <a:t>embeddings</a:t>
            </a:r>
            <a:r>
              <a:rPr lang="en-US" dirty="0"/>
              <a:t>.</a:t>
            </a:r>
          </a:p>
          <a:p>
            <a:r>
              <a:rPr lang="en-US" b="1" dirty="0"/>
              <a:t>Step 5: Link Prediction</a:t>
            </a:r>
          </a:p>
          <a:p>
            <a:r>
              <a:rPr lang="en-US" dirty="0"/>
              <a:t>A decoder estimates the probability that a drug can treat a disease.</a:t>
            </a:r>
          </a:p>
          <a:p>
            <a:r>
              <a:rPr lang="en-US" b="1" dirty="0"/>
              <a:t>Step 6: Ranking</a:t>
            </a:r>
          </a:p>
          <a:p>
            <a:r>
              <a:rPr lang="en-US" dirty="0"/>
              <a:t>Drug–disease pairs are ranked according to predicted probabilities, identifying the most promising repurposing candidates.</a:t>
            </a:r>
          </a:p>
          <a:p>
            <a:endParaRPr lang="en-US" dirty="0"/>
          </a:p>
        </p:txBody>
      </p:sp>
    </p:spTree>
    <p:extLst>
      <p:ext uri="{BB962C8B-B14F-4D97-AF65-F5344CB8AC3E}">
        <p14:creationId xmlns:p14="http://schemas.microsoft.com/office/powerpoint/2010/main" val="31354470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Graph Machine Learning Architecture</a:t>
            </a:r>
          </a:p>
        </p:txBody>
      </p:sp>
      <p:sp>
        <p:nvSpPr>
          <p:cNvPr id="3" name="Content Placeholder 2"/>
          <p:cNvSpPr>
            <a:spLocks noGrp="1"/>
          </p:cNvSpPr>
          <p:nvPr>
            <p:ph idx="1"/>
          </p:nvPr>
        </p:nvSpPr>
        <p:spPr/>
        <p:txBody>
          <a:bodyPr>
            <a:normAutofit fontScale="70000" lnSpcReduction="20000"/>
          </a:bodyPr>
          <a:lstStyle/>
          <a:p>
            <a:r>
              <a:rPr lang="en-US" dirty="0"/>
              <a:t>Drug Nodes</a:t>
            </a:r>
            <a:br>
              <a:rPr lang="en-US" dirty="0"/>
            </a:br>
            <a:r>
              <a:rPr lang="en-US" dirty="0"/>
              <a:t>↓</a:t>
            </a:r>
            <a:br>
              <a:rPr lang="en-US" dirty="0"/>
            </a:br>
            <a:r>
              <a:rPr lang="en-US" dirty="0"/>
              <a:t>Drug–Gene Edges</a:t>
            </a:r>
            <a:br>
              <a:rPr lang="en-US" dirty="0"/>
            </a:br>
            <a:r>
              <a:rPr lang="en-US" dirty="0"/>
              <a:t>↓</a:t>
            </a:r>
            <a:br>
              <a:rPr lang="en-US" dirty="0"/>
            </a:br>
            <a:r>
              <a:rPr lang="en-US" dirty="0"/>
              <a:t>Gene Nodes</a:t>
            </a:r>
            <a:br>
              <a:rPr lang="en-US" dirty="0"/>
            </a:br>
            <a:r>
              <a:rPr lang="en-US" dirty="0"/>
              <a:t>↓</a:t>
            </a:r>
            <a:br>
              <a:rPr lang="en-US" dirty="0"/>
            </a:br>
            <a:r>
              <a:rPr lang="en-US" dirty="0"/>
              <a:t>Gene–Gene Interaction Network</a:t>
            </a:r>
            <a:br>
              <a:rPr lang="en-US" dirty="0"/>
            </a:br>
            <a:r>
              <a:rPr lang="en-US" dirty="0"/>
              <a:t>↓</a:t>
            </a:r>
            <a:br>
              <a:rPr lang="en-US" dirty="0"/>
            </a:br>
            <a:r>
              <a:rPr lang="en-US" dirty="0"/>
              <a:t>Disease-Associated Genes</a:t>
            </a:r>
            <a:br>
              <a:rPr lang="en-US" dirty="0"/>
            </a:br>
            <a:r>
              <a:rPr lang="en-US" dirty="0"/>
              <a:t>↓</a:t>
            </a:r>
            <a:br>
              <a:rPr lang="en-US" dirty="0"/>
            </a:br>
            <a:r>
              <a:rPr lang="en-US" dirty="0"/>
              <a:t>Disease Nodes</a:t>
            </a:r>
            <a:br>
              <a:rPr lang="en-US" dirty="0"/>
            </a:br>
            <a:r>
              <a:rPr lang="en-US" dirty="0"/>
              <a:t>↓</a:t>
            </a:r>
            <a:br>
              <a:rPr lang="en-US" dirty="0"/>
            </a:br>
            <a:r>
              <a:rPr lang="en-US" dirty="0"/>
              <a:t>Graph Neural Network</a:t>
            </a:r>
            <a:br>
              <a:rPr lang="en-US" dirty="0"/>
            </a:br>
            <a:r>
              <a:rPr lang="en-US" dirty="0"/>
              <a:t>↓</a:t>
            </a:r>
            <a:br>
              <a:rPr lang="en-US" dirty="0"/>
            </a:br>
            <a:r>
              <a:rPr lang="en-US" dirty="0"/>
              <a:t>Node </a:t>
            </a:r>
            <a:r>
              <a:rPr lang="en-US" dirty="0" err="1"/>
              <a:t>Embeddings</a:t>
            </a:r>
            <a:r>
              <a:rPr lang="en-US" dirty="0"/>
              <a:t/>
            </a:r>
            <a:br>
              <a:rPr lang="en-US" dirty="0"/>
            </a:br>
            <a:r>
              <a:rPr lang="en-US" dirty="0"/>
              <a:t>↓</a:t>
            </a:r>
            <a:br>
              <a:rPr lang="en-US" dirty="0"/>
            </a:br>
            <a:r>
              <a:rPr lang="en-US" dirty="0"/>
              <a:t>Link Prediction</a:t>
            </a:r>
            <a:br>
              <a:rPr lang="en-US" dirty="0"/>
            </a:br>
            <a:r>
              <a:rPr lang="en-US" dirty="0"/>
              <a:t>↓</a:t>
            </a:r>
            <a:br>
              <a:rPr lang="en-US" dirty="0"/>
            </a:br>
            <a:r>
              <a:rPr lang="en-US" dirty="0"/>
              <a:t>Novel Drug Candidates</a:t>
            </a:r>
          </a:p>
        </p:txBody>
      </p:sp>
    </p:spTree>
    <p:extLst>
      <p:ext uri="{BB962C8B-B14F-4D97-AF65-F5344CB8AC3E}">
        <p14:creationId xmlns:p14="http://schemas.microsoft.com/office/powerpoint/2010/main" val="39724320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Model Implementation</a:t>
            </a:r>
          </a:p>
        </p:txBody>
      </p:sp>
      <p:sp>
        <p:nvSpPr>
          <p:cNvPr id="3" name="Content Placeholder 2"/>
          <p:cNvSpPr>
            <a:spLocks noGrp="1"/>
          </p:cNvSpPr>
          <p:nvPr>
            <p:ph idx="1"/>
          </p:nvPr>
        </p:nvSpPr>
        <p:spPr/>
        <p:txBody>
          <a:bodyPr>
            <a:normAutofit fontScale="47500" lnSpcReduction="20000"/>
          </a:bodyPr>
          <a:lstStyle/>
          <a:p>
            <a:r>
              <a:rPr lang="en-US" dirty="0"/>
              <a:t>The project uses:</a:t>
            </a:r>
          </a:p>
          <a:p>
            <a:r>
              <a:rPr lang="en-US" dirty="0"/>
              <a:t>Python</a:t>
            </a:r>
          </a:p>
          <a:p>
            <a:r>
              <a:rPr lang="en-US" dirty="0" err="1"/>
              <a:t>PyTorch</a:t>
            </a:r>
            <a:endParaRPr lang="en-US" dirty="0"/>
          </a:p>
          <a:p>
            <a:r>
              <a:rPr lang="en-US" dirty="0" err="1"/>
              <a:t>PyTorch</a:t>
            </a:r>
            <a:r>
              <a:rPr lang="en-US" dirty="0"/>
              <a:t> Geometric</a:t>
            </a:r>
          </a:p>
          <a:p>
            <a:r>
              <a:rPr lang="en-US" dirty="0" err="1"/>
              <a:t>NetworkX</a:t>
            </a:r>
            <a:endParaRPr lang="en-US" dirty="0"/>
          </a:p>
          <a:p>
            <a:r>
              <a:rPr lang="en-US" dirty="0"/>
              <a:t>Pandas</a:t>
            </a:r>
          </a:p>
          <a:p>
            <a:r>
              <a:rPr lang="en-US" dirty="0" err="1"/>
              <a:t>NumPy</a:t>
            </a:r>
            <a:endParaRPr lang="en-US" dirty="0"/>
          </a:p>
          <a:p>
            <a:r>
              <a:rPr lang="en-US" dirty="0"/>
              <a:t>Matplotlib</a:t>
            </a:r>
          </a:p>
          <a:p>
            <a:r>
              <a:rPr lang="en-US" dirty="0"/>
              <a:t>Scikit-learn</a:t>
            </a:r>
          </a:p>
          <a:p>
            <a:r>
              <a:rPr lang="en-US" dirty="0"/>
              <a:t>The workflow includes:</a:t>
            </a:r>
          </a:p>
          <a:p>
            <a:r>
              <a:rPr lang="en-US" dirty="0"/>
              <a:t>Graph construction</a:t>
            </a:r>
          </a:p>
          <a:p>
            <a:r>
              <a:rPr lang="en-US" dirty="0"/>
              <a:t>Message passing</a:t>
            </a:r>
          </a:p>
          <a:p>
            <a:r>
              <a:rPr lang="en-US" dirty="0"/>
              <a:t>Embedding learning</a:t>
            </a:r>
          </a:p>
          <a:p>
            <a:r>
              <a:rPr lang="en-US" dirty="0"/>
              <a:t>Binary classification</a:t>
            </a:r>
          </a:p>
          <a:p>
            <a:r>
              <a:rPr lang="en-US" dirty="0"/>
              <a:t>Link prediction</a:t>
            </a:r>
          </a:p>
          <a:p>
            <a:r>
              <a:rPr lang="en-US" dirty="0"/>
              <a:t>Candidate ranking</a:t>
            </a:r>
          </a:p>
          <a:p>
            <a:endParaRPr lang="en-US" dirty="0"/>
          </a:p>
        </p:txBody>
      </p:sp>
    </p:spTree>
    <p:extLst>
      <p:ext uri="{BB962C8B-B14F-4D97-AF65-F5344CB8AC3E}">
        <p14:creationId xmlns:p14="http://schemas.microsoft.com/office/powerpoint/2010/main" val="23941682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99284" y="1825625"/>
            <a:ext cx="5393431" cy="4351338"/>
          </a:xfrm>
        </p:spPr>
      </p:pic>
    </p:spTree>
    <p:extLst>
      <p:ext uri="{BB962C8B-B14F-4D97-AF65-F5344CB8AC3E}">
        <p14:creationId xmlns:p14="http://schemas.microsoft.com/office/powerpoint/2010/main" val="370151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Histogram Plot</a:t>
            </a:r>
            <a:endParaRPr lang="en-US" b="1" dirty="0"/>
          </a:p>
        </p:txBody>
      </p:sp>
      <p:sp>
        <p:nvSpPr>
          <p:cNvPr id="3" name="Content Placeholder 2"/>
          <p:cNvSpPr>
            <a:spLocks noGrp="1"/>
          </p:cNvSpPr>
          <p:nvPr>
            <p:ph idx="1"/>
          </p:nvPr>
        </p:nvSpPr>
        <p:spPr/>
        <p:txBody>
          <a:bodyPr/>
          <a:lstStyle/>
          <a:p>
            <a:r>
              <a:rPr lang="en-US" b="1" dirty="0"/>
              <a:t>Histogram</a:t>
            </a:r>
          </a:p>
          <a:p>
            <a:r>
              <a:rPr lang="en-US" dirty="0"/>
              <a:t>Displays the distribution of prediction probabilities.</a:t>
            </a:r>
          </a:p>
          <a:p>
            <a:r>
              <a:rPr lang="en-US" dirty="0"/>
              <a:t>Purpose:</a:t>
            </a:r>
          </a:p>
          <a:p>
            <a:r>
              <a:rPr lang="en-US" dirty="0"/>
              <a:t>Detect score distribution.</a:t>
            </a:r>
          </a:p>
          <a:p>
            <a:r>
              <a:rPr lang="en-US" dirty="0"/>
              <a:t>Identify highly confident predictions.</a:t>
            </a:r>
          </a:p>
          <a:p>
            <a:r>
              <a:rPr lang="en-US" dirty="0"/>
              <a:t>Detect skewness.</a:t>
            </a:r>
          </a:p>
          <a:p>
            <a:endParaRPr lang="en-US" dirty="0"/>
          </a:p>
        </p:txBody>
      </p:sp>
    </p:spTree>
    <p:extLst>
      <p:ext uri="{BB962C8B-B14F-4D97-AF65-F5344CB8AC3E}">
        <p14:creationId xmlns:p14="http://schemas.microsoft.com/office/powerpoint/2010/main" val="1790078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8989" y="1825625"/>
            <a:ext cx="7294022" cy="4351338"/>
          </a:xfrm>
        </p:spPr>
      </p:pic>
    </p:spTree>
    <p:extLst>
      <p:ext uri="{BB962C8B-B14F-4D97-AF65-F5344CB8AC3E}">
        <p14:creationId xmlns:p14="http://schemas.microsoft.com/office/powerpoint/2010/main" val="2348771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Bar </a:t>
            </a:r>
            <a:r>
              <a:rPr lang="en-US" b="1" dirty="0" smtClean="0"/>
              <a:t>Chart Plot</a:t>
            </a:r>
            <a:endParaRPr lang="en-US" b="1" dirty="0"/>
          </a:p>
        </p:txBody>
      </p:sp>
      <p:sp>
        <p:nvSpPr>
          <p:cNvPr id="5" name="Content Placeholder 4"/>
          <p:cNvSpPr>
            <a:spLocks noGrp="1"/>
          </p:cNvSpPr>
          <p:nvPr>
            <p:ph idx="1"/>
          </p:nvPr>
        </p:nvSpPr>
        <p:spPr/>
        <p:txBody>
          <a:bodyPr/>
          <a:lstStyle/>
          <a:p>
            <a:r>
              <a:rPr lang="en-US" dirty="0"/>
              <a:t>Displays:</a:t>
            </a:r>
          </a:p>
          <a:p>
            <a:r>
              <a:rPr lang="en-US" dirty="0"/>
              <a:t>Top predicted drugs</a:t>
            </a:r>
          </a:p>
          <a:p>
            <a:r>
              <a:rPr lang="en-US" dirty="0"/>
              <a:t>Disease frequencies</a:t>
            </a:r>
          </a:p>
          <a:p>
            <a:r>
              <a:rPr lang="en-US" dirty="0"/>
              <a:t>Gene target counts</a:t>
            </a:r>
          </a:p>
          <a:p>
            <a:r>
              <a:rPr lang="en-US" dirty="0"/>
              <a:t>Purpose:</a:t>
            </a:r>
          </a:p>
          <a:p>
            <a:r>
              <a:rPr lang="en-US" dirty="0"/>
              <a:t>Compare prediction scores.</a:t>
            </a:r>
          </a:p>
          <a:p>
            <a:r>
              <a:rPr lang="en-US" dirty="0"/>
              <a:t>Compare node connectivity.</a:t>
            </a:r>
          </a:p>
          <a:p>
            <a:endParaRPr lang="en-US" dirty="0"/>
          </a:p>
        </p:txBody>
      </p:sp>
    </p:spTree>
    <p:extLst>
      <p:ext uri="{BB962C8B-B14F-4D97-AF65-F5344CB8AC3E}">
        <p14:creationId xmlns:p14="http://schemas.microsoft.com/office/powerpoint/2010/main" val="407440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8989" y="1825625"/>
            <a:ext cx="7294022" cy="4351338"/>
          </a:xfrm>
        </p:spPr>
      </p:pic>
    </p:spTree>
    <p:extLst>
      <p:ext uri="{BB962C8B-B14F-4D97-AF65-F5344CB8AC3E}">
        <p14:creationId xmlns:p14="http://schemas.microsoft.com/office/powerpoint/2010/main" val="927118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Stacked Bar Chart Plot </a:t>
            </a:r>
            <a:endParaRPr lang="en-US" b="1" dirty="0"/>
          </a:p>
        </p:txBody>
      </p:sp>
      <p:sp>
        <p:nvSpPr>
          <p:cNvPr id="5" name="Content Placeholder 4"/>
          <p:cNvSpPr>
            <a:spLocks noGrp="1"/>
          </p:cNvSpPr>
          <p:nvPr>
            <p:ph idx="1"/>
          </p:nvPr>
        </p:nvSpPr>
        <p:spPr/>
        <p:txBody>
          <a:bodyPr/>
          <a:lstStyle/>
          <a:p>
            <a:r>
              <a:rPr lang="en-US" dirty="0"/>
              <a:t>Displays:</a:t>
            </a:r>
          </a:p>
          <a:p>
            <a:r>
              <a:rPr lang="en-US" dirty="0"/>
              <a:t>Known versus predicted drug associations.</a:t>
            </a:r>
          </a:p>
          <a:p>
            <a:r>
              <a:rPr lang="en-US" dirty="0"/>
              <a:t>Gene expression categories.</a:t>
            </a:r>
          </a:p>
          <a:p>
            <a:r>
              <a:rPr lang="en-US" dirty="0"/>
              <a:t>Drug target classes.</a:t>
            </a:r>
          </a:p>
          <a:p>
            <a:r>
              <a:rPr lang="en-US" dirty="0"/>
              <a:t>Purpose:</a:t>
            </a:r>
          </a:p>
          <a:p>
            <a:r>
              <a:rPr lang="en-US" dirty="0"/>
              <a:t>Compare multiple biological components simultaneously.</a:t>
            </a:r>
          </a:p>
          <a:p>
            <a:endParaRPr lang="en-US" dirty="0"/>
          </a:p>
        </p:txBody>
      </p:sp>
    </p:spTree>
    <p:extLst>
      <p:ext uri="{BB962C8B-B14F-4D97-AF65-F5344CB8AC3E}">
        <p14:creationId xmlns:p14="http://schemas.microsoft.com/office/powerpoint/2010/main" val="1517474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166860" y="1825625"/>
            <a:ext cx="5858279" cy="4351338"/>
          </a:xfrm>
        </p:spPr>
      </p:pic>
    </p:spTree>
    <p:extLst>
      <p:ext uri="{BB962C8B-B14F-4D97-AF65-F5344CB8AC3E}">
        <p14:creationId xmlns:p14="http://schemas.microsoft.com/office/powerpoint/2010/main" val="2303855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Combined Stacked Bar Chart Plot </a:t>
            </a:r>
            <a:endParaRPr lang="en-US" b="1" dirty="0"/>
          </a:p>
        </p:txBody>
      </p:sp>
      <p:sp>
        <p:nvSpPr>
          <p:cNvPr id="3" name="Content Placeholder 2"/>
          <p:cNvSpPr>
            <a:spLocks noGrp="1"/>
          </p:cNvSpPr>
          <p:nvPr>
            <p:ph idx="1"/>
          </p:nvPr>
        </p:nvSpPr>
        <p:spPr/>
        <p:txBody>
          <a:bodyPr/>
          <a:lstStyle/>
          <a:p>
            <a:r>
              <a:rPr lang="en-US" dirty="0"/>
              <a:t>Integrates multiple biological summaries into a single figure for comprehensive interpretation.</a:t>
            </a:r>
          </a:p>
        </p:txBody>
      </p:sp>
    </p:spTree>
    <p:extLst>
      <p:ext uri="{BB962C8B-B14F-4D97-AF65-F5344CB8AC3E}">
        <p14:creationId xmlns:p14="http://schemas.microsoft.com/office/powerpoint/2010/main" val="778457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Experimental Results</a:t>
            </a:r>
            <a:endParaRPr lang="en-US" dirty="0"/>
          </a:p>
        </p:txBody>
      </p:sp>
      <p:sp>
        <p:nvSpPr>
          <p:cNvPr id="3" name="Content Placeholder 2"/>
          <p:cNvSpPr>
            <a:spLocks noGrp="1"/>
          </p:cNvSpPr>
          <p:nvPr>
            <p:ph idx="1"/>
          </p:nvPr>
        </p:nvSpPr>
        <p:spPr/>
        <p:txBody>
          <a:bodyPr>
            <a:normAutofit fontScale="55000" lnSpcReduction="20000"/>
          </a:bodyPr>
          <a:lstStyle/>
          <a:p>
            <a:r>
              <a:rPr lang="en-US" dirty="0"/>
              <a:t>The Graph Neural Network successfully learns relationships among biological entities.</a:t>
            </a:r>
          </a:p>
          <a:p>
            <a:r>
              <a:rPr lang="en-US" dirty="0"/>
              <a:t>Typical observations include:</a:t>
            </a:r>
          </a:p>
          <a:p>
            <a:r>
              <a:rPr lang="en-US" dirty="0"/>
              <a:t>High-confidence drug–disease predictions.</a:t>
            </a:r>
          </a:p>
          <a:p>
            <a:r>
              <a:rPr lang="en-US" dirty="0"/>
              <a:t>Identification of highly connected hub genes.</a:t>
            </a:r>
          </a:p>
          <a:p>
            <a:r>
              <a:rPr lang="en-US" dirty="0"/>
              <a:t>Strong biological clustering.</a:t>
            </a:r>
          </a:p>
          <a:p>
            <a:r>
              <a:rPr lang="en-US" dirty="0"/>
              <a:t>Improved prediction accuracy with increasing training epochs.</a:t>
            </a:r>
          </a:p>
          <a:p>
            <a:r>
              <a:rPr lang="en-US" dirty="0"/>
              <a:t>Example output:</a:t>
            </a:r>
          </a:p>
          <a:p>
            <a:r>
              <a:rPr lang="en-US" dirty="0"/>
              <a:t>Drug 17 → Breast Cancer</a:t>
            </a:r>
          </a:p>
          <a:p>
            <a:r>
              <a:rPr lang="en-US" dirty="0"/>
              <a:t>Prediction Probability = 0.97</a:t>
            </a:r>
          </a:p>
          <a:p>
            <a:r>
              <a:rPr lang="en-US" dirty="0"/>
              <a:t>Drug 5 → Lung Cancer</a:t>
            </a:r>
          </a:p>
          <a:p>
            <a:r>
              <a:rPr lang="en-US" dirty="0"/>
              <a:t>Prediction Probability = 0.95</a:t>
            </a:r>
          </a:p>
          <a:p>
            <a:r>
              <a:rPr lang="en-US" dirty="0"/>
              <a:t>Drug 31 → Glioblastoma</a:t>
            </a:r>
          </a:p>
          <a:p>
            <a:r>
              <a:rPr lang="en-US" dirty="0"/>
              <a:t>Prediction Probability = 0.94</a:t>
            </a:r>
          </a:p>
          <a:p>
            <a:r>
              <a:rPr lang="en-US" dirty="0"/>
              <a:t>These candidates can be prioritized for laboratory validation.</a:t>
            </a:r>
          </a:p>
          <a:p>
            <a:endParaRPr lang="en-US" dirty="0"/>
          </a:p>
        </p:txBody>
      </p:sp>
    </p:spTree>
    <p:extLst>
      <p:ext uri="{BB962C8B-B14F-4D97-AF65-F5344CB8AC3E}">
        <p14:creationId xmlns:p14="http://schemas.microsoft.com/office/powerpoint/2010/main" val="908843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Insights</a:t>
            </a:r>
          </a:p>
        </p:txBody>
      </p:sp>
      <p:sp>
        <p:nvSpPr>
          <p:cNvPr id="3" name="Content Placeholder 2"/>
          <p:cNvSpPr>
            <a:spLocks noGrp="1"/>
          </p:cNvSpPr>
          <p:nvPr>
            <p:ph idx="1"/>
          </p:nvPr>
        </p:nvSpPr>
        <p:spPr/>
        <p:txBody>
          <a:bodyPr>
            <a:normAutofit fontScale="92500" lnSpcReduction="10000"/>
          </a:bodyPr>
          <a:lstStyle/>
          <a:p>
            <a:r>
              <a:rPr lang="en-US" dirty="0"/>
              <a:t>The experimental analysis demonstrates that Graph Machine Learning is an effective approach for network-based drug repurposing. By integrating heterogeneous biomedical data into a unified graph structure, the model learns complex biological relationships that are difficult to capture using conventional machine learning techniques. The following key insights were obtained from the study</a:t>
            </a:r>
            <a:r>
              <a:rPr lang="en-US" dirty="0" smtClean="0"/>
              <a:t>:</a:t>
            </a:r>
          </a:p>
          <a:p>
            <a:r>
              <a:rPr lang="en-US" b="1" dirty="0"/>
              <a:t>1. High-Confidence Drug Repurposing Candidates</a:t>
            </a:r>
          </a:p>
          <a:p>
            <a:r>
              <a:rPr lang="en-US" dirty="0"/>
              <a:t>The Graph Neural Network successfully identified several drug–disease pairs with high prediction probabilities. These high-confidence predictions indicate that the model can discover potential therapeutic uses for existing drugs beyond their approved indications, making them suitable candidates for further biological validation.</a:t>
            </a:r>
          </a:p>
          <a:p>
            <a:endParaRPr lang="en-US" dirty="0"/>
          </a:p>
        </p:txBody>
      </p:sp>
    </p:spTree>
    <p:extLst>
      <p:ext uri="{BB962C8B-B14F-4D97-AF65-F5344CB8AC3E}">
        <p14:creationId xmlns:p14="http://schemas.microsoft.com/office/powerpoint/2010/main" val="1495749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 </a:t>
            </a:r>
            <a:endParaRPr lang="en-US" b="1" dirty="0"/>
          </a:p>
        </p:txBody>
      </p:sp>
      <p:sp>
        <p:nvSpPr>
          <p:cNvPr id="3" name="Content Placeholder 2"/>
          <p:cNvSpPr>
            <a:spLocks noGrp="1"/>
          </p:cNvSpPr>
          <p:nvPr>
            <p:ph idx="1"/>
          </p:nvPr>
        </p:nvSpPr>
        <p:spPr/>
        <p:txBody>
          <a:bodyPr>
            <a:normAutofit lnSpcReduction="10000"/>
          </a:bodyPr>
          <a:lstStyle/>
          <a:p>
            <a:r>
              <a:rPr lang="en-US" b="1" dirty="0"/>
              <a:t>2. Importance of Network Connectivity</a:t>
            </a:r>
          </a:p>
          <a:p>
            <a:r>
              <a:rPr lang="en-US" dirty="0"/>
              <a:t>Highly connected genes (hub genes) were found to play a significant role in the prediction process. Since hub genes participate in multiple biological pathways, they strongly influence disease progression and drug response, making them valuable therapeutic targets</a:t>
            </a:r>
            <a:r>
              <a:rPr lang="en-US" dirty="0" smtClean="0"/>
              <a:t>.</a:t>
            </a:r>
          </a:p>
          <a:p>
            <a:r>
              <a:rPr lang="en-US" b="1" dirty="0"/>
              <a:t>3. Effectiveness of Heterogeneous Graph Learning</a:t>
            </a:r>
          </a:p>
          <a:p>
            <a:r>
              <a:rPr lang="en-US" dirty="0"/>
              <a:t>Integrating drugs, genes, proteins, and diseases within a heterogeneous graph enabled the model to capture indirect biological relationships that are often overlooked by traditional feature-based approaches. This richer representation improved the quality of node </a:t>
            </a:r>
            <a:r>
              <a:rPr lang="en-US" dirty="0" err="1"/>
              <a:t>embeddings</a:t>
            </a:r>
            <a:r>
              <a:rPr lang="en-US" dirty="0"/>
              <a:t> and enhanced link prediction performance.</a:t>
            </a:r>
          </a:p>
          <a:p>
            <a:endParaRPr lang="en-US" dirty="0"/>
          </a:p>
          <a:p>
            <a:endParaRPr lang="en-US" dirty="0"/>
          </a:p>
        </p:txBody>
      </p:sp>
    </p:spTree>
    <p:extLst>
      <p:ext uri="{BB962C8B-B14F-4D97-AF65-F5344CB8AC3E}">
        <p14:creationId xmlns:p14="http://schemas.microsoft.com/office/powerpoint/2010/main" val="3941327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 </a:t>
            </a:r>
            <a:endParaRPr lang="en-US" b="1" dirty="0"/>
          </a:p>
        </p:txBody>
      </p:sp>
      <p:sp>
        <p:nvSpPr>
          <p:cNvPr id="3" name="Content Placeholder 2"/>
          <p:cNvSpPr>
            <a:spLocks noGrp="1"/>
          </p:cNvSpPr>
          <p:nvPr>
            <p:ph idx="1"/>
          </p:nvPr>
        </p:nvSpPr>
        <p:spPr/>
        <p:txBody>
          <a:bodyPr>
            <a:normAutofit lnSpcReduction="10000"/>
          </a:bodyPr>
          <a:lstStyle/>
          <a:p>
            <a:r>
              <a:rPr lang="en-US" b="1" dirty="0"/>
              <a:t>4. Improved Prediction Accuracy</a:t>
            </a:r>
          </a:p>
          <a:p>
            <a:r>
              <a:rPr lang="en-US" dirty="0"/>
              <a:t>The Graph Neural Network exhibited continuous improvement during training, with decreasing binary cross-entropy loss and increasing ROC-AUC values. This indicates effective learning of meaningful biological patterns and good convergence of the optimization process.</a:t>
            </a:r>
          </a:p>
          <a:p>
            <a:r>
              <a:rPr lang="en-US" b="1" dirty="0"/>
              <a:t>5. Biological Interpretability</a:t>
            </a:r>
          </a:p>
          <a:p>
            <a:r>
              <a:rPr lang="en-US" dirty="0"/>
              <a:t>Unlike conventional black-box prediction models, graph-based learning provides interpretable results by tracing predicted drug–disease associations through intermediate biological entities such as genes, proteins, and pathways. This improves confidence in the generated hypotheses.</a:t>
            </a:r>
          </a:p>
          <a:p>
            <a:endParaRPr lang="en-US" dirty="0"/>
          </a:p>
        </p:txBody>
      </p:sp>
    </p:spTree>
    <p:extLst>
      <p:ext uri="{BB962C8B-B14F-4D97-AF65-F5344CB8AC3E}">
        <p14:creationId xmlns:p14="http://schemas.microsoft.com/office/powerpoint/2010/main" val="2372682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normAutofit lnSpcReduction="10000"/>
          </a:bodyPr>
          <a:lstStyle/>
          <a:p>
            <a:r>
              <a:rPr lang="en-US" b="1" dirty="0"/>
              <a:t>6. Identification of Potential Biomarkers</a:t>
            </a:r>
          </a:p>
          <a:p>
            <a:r>
              <a:rPr lang="en-US" dirty="0"/>
              <a:t>The network analysis identified highly connected genes that may serve as biomarkers for cancer diagnosis, prognosis, or therapeutic intervention. These biomarkers could assist researchers in understanding disease mechanisms and prioritizing experimental studies.</a:t>
            </a:r>
          </a:p>
          <a:p>
            <a:r>
              <a:rPr lang="en-US" b="1" dirty="0"/>
              <a:t>7. Scalability of the Framework</a:t>
            </a:r>
          </a:p>
          <a:p>
            <a:r>
              <a:rPr lang="en-US" dirty="0"/>
              <a:t>The proposed framework can efficiently analyze large biomedical knowledge graphs containing thousands of drugs, genes, proteins, and diseases. This scalability makes it suitable for real-world pharmaceutical research and large-scale drug repurposing studies.</a:t>
            </a:r>
          </a:p>
          <a:p>
            <a:endParaRPr lang="en-US" dirty="0"/>
          </a:p>
        </p:txBody>
      </p:sp>
    </p:spTree>
    <p:extLst>
      <p:ext uri="{BB962C8B-B14F-4D97-AF65-F5344CB8AC3E}">
        <p14:creationId xmlns:p14="http://schemas.microsoft.com/office/powerpoint/2010/main" val="2087999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a:t>8. Value of Data Integration</a:t>
            </a:r>
          </a:p>
          <a:p>
            <a:r>
              <a:rPr lang="en-US" dirty="0"/>
              <a:t>Combining information from multiple biomedical databases improved prediction reliability by providing complementary biological evidence. Integrating drug–target interactions, protein–protein interactions, disease–gene associations, and pathway information resulted in a more comprehensive representation of disease biology.</a:t>
            </a:r>
          </a:p>
          <a:p>
            <a:r>
              <a:rPr lang="en-US" b="1" dirty="0"/>
              <a:t>9. Visualization Supports Interpretation</a:t>
            </a:r>
          </a:p>
          <a:p>
            <a:r>
              <a:rPr lang="en-US" dirty="0"/>
              <a:t>Histogram, bar chart, stacked bar chart, and combined stacked bar chart visualizations effectively summarized prediction scores, biological relationships, target distributions, and model performance. These visualizations facilitate interpretation and communication of results.</a:t>
            </a:r>
          </a:p>
          <a:p>
            <a:endParaRPr lang="en-US" dirty="0"/>
          </a:p>
        </p:txBody>
      </p:sp>
    </p:spTree>
    <p:extLst>
      <p:ext uri="{BB962C8B-B14F-4D97-AF65-F5344CB8AC3E}">
        <p14:creationId xmlns:p14="http://schemas.microsoft.com/office/powerpoint/2010/main" val="364704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 </a:t>
            </a:r>
            <a:endParaRPr lang="en-US" b="1" dirty="0"/>
          </a:p>
        </p:txBody>
      </p:sp>
      <p:sp>
        <p:nvSpPr>
          <p:cNvPr id="3" name="Content Placeholder 2"/>
          <p:cNvSpPr>
            <a:spLocks noGrp="1"/>
          </p:cNvSpPr>
          <p:nvPr>
            <p:ph idx="1"/>
          </p:nvPr>
        </p:nvSpPr>
        <p:spPr/>
        <p:txBody>
          <a:bodyPr/>
          <a:lstStyle/>
          <a:p>
            <a:r>
              <a:rPr lang="en-US" b="1" dirty="0"/>
              <a:t>10. Potential Impact on Precision Medicine</a:t>
            </a:r>
          </a:p>
          <a:p>
            <a:r>
              <a:rPr lang="en-US" dirty="0"/>
              <a:t>The proposed Graph Machine Learning framework can support precision medicine by identifying existing drugs that may be effective for specific cancer subtypes or patient populations. This has the potential to reduce drug development costs, shorten discovery timelines, and improve treatment strategies through data-driven therapeutic recommendations</a:t>
            </a:r>
            <a:r>
              <a:rPr lang="en-US" dirty="0" smtClean="0"/>
              <a:t>.</a:t>
            </a:r>
          </a:p>
          <a:p>
            <a:endParaRPr lang="en-US" dirty="0"/>
          </a:p>
          <a:p>
            <a:endParaRPr lang="en-US" dirty="0"/>
          </a:p>
        </p:txBody>
      </p:sp>
    </p:spTree>
    <p:extLst>
      <p:ext uri="{BB962C8B-B14F-4D97-AF65-F5344CB8AC3E}">
        <p14:creationId xmlns:p14="http://schemas.microsoft.com/office/powerpoint/2010/main" val="396753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Advantages</a:t>
            </a:r>
          </a:p>
        </p:txBody>
      </p:sp>
      <p:sp>
        <p:nvSpPr>
          <p:cNvPr id="5" name="Rectangle 4"/>
          <p:cNvSpPr/>
          <p:nvPr/>
        </p:nvSpPr>
        <p:spPr>
          <a:xfrm>
            <a:off x="1204686" y="1550351"/>
            <a:ext cx="9071428" cy="2308324"/>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t>Integrates multiple biological data sources.</a:t>
            </a:r>
          </a:p>
          <a:p>
            <a:pPr lvl="0" eaLnBrk="0" fontAlgn="base" hangingPunct="0">
              <a:spcBef>
                <a:spcPct val="0"/>
              </a:spcBef>
              <a:spcAft>
                <a:spcPct val="0"/>
              </a:spcAft>
              <a:buFontTx/>
              <a:buChar char="•"/>
            </a:pPr>
            <a:r>
              <a:rPr lang="en-US" altLang="en-US" sz="2400" dirty="0"/>
              <a:t>Captures complex molecular interactions.</a:t>
            </a:r>
          </a:p>
          <a:p>
            <a:pPr lvl="0" eaLnBrk="0" fontAlgn="base" hangingPunct="0">
              <a:spcBef>
                <a:spcPct val="0"/>
              </a:spcBef>
              <a:spcAft>
                <a:spcPct val="0"/>
              </a:spcAft>
              <a:buFontTx/>
              <a:buChar char="•"/>
            </a:pPr>
            <a:r>
              <a:rPr lang="en-US" altLang="en-US" sz="2400" dirty="0"/>
              <a:t>Reduces drug discovery costs.</a:t>
            </a:r>
          </a:p>
          <a:p>
            <a:pPr lvl="0" eaLnBrk="0" fontAlgn="base" hangingPunct="0">
              <a:spcBef>
                <a:spcPct val="0"/>
              </a:spcBef>
              <a:spcAft>
                <a:spcPct val="0"/>
              </a:spcAft>
              <a:buFontTx/>
              <a:buChar char="•"/>
            </a:pPr>
            <a:r>
              <a:rPr lang="en-US" altLang="en-US" sz="2400" dirty="0"/>
              <a:t>Accelerates identification of therapeutic candidates.</a:t>
            </a:r>
          </a:p>
          <a:p>
            <a:pPr lvl="0" eaLnBrk="0" fontAlgn="base" hangingPunct="0">
              <a:spcBef>
                <a:spcPct val="0"/>
              </a:spcBef>
              <a:spcAft>
                <a:spcPct val="0"/>
              </a:spcAft>
              <a:buFontTx/>
              <a:buChar char="•"/>
            </a:pPr>
            <a:r>
              <a:rPr lang="en-US" altLang="en-US" sz="2400" dirty="0"/>
              <a:t>Scalable to very large biomedical networks.</a:t>
            </a:r>
          </a:p>
          <a:p>
            <a:pPr lvl="0" eaLnBrk="0" fontAlgn="base" hangingPunct="0">
              <a:spcBef>
                <a:spcPct val="0"/>
              </a:spcBef>
              <a:spcAft>
                <a:spcPct val="0"/>
              </a:spcAft>
              <a:buFontTx/>
              <a:buChar char="•"/>
            </a:pPr>
            <a:r>
              <a:rPr lang="en-US" altLang="en-US" sz="2400" dirty="0"/>
              <a:t>Supports precision medicine initiatives. </a:t>
            </a:r>
          </a:p>
        </p:txBody>
      </p:sp>
    </p:spTree>
    <p:extLst>
      <p:ext uri="{BB962C8B-B14F-4D97-AF65-F5344CB8AC3E}">
        <p14:creationId xmlns:p14="http://schemas.microsoft.com/office/powerpoint/2010/main" val="2351679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Limitations</a:t>
            </a:r>
          </a:p>
        </p:txBody>
      </p:sp>
      <p:sp>
        <p:nvSpPr>
          <p:cNvPr id="8" name="Rectangle 7"/>
          <p:cNvSpPr/>
          <p:nvPr/>
        </p:nvSpPr>
        <p:spPr>
          <a:xfrm>
            <a:off x="1509485" y="1469910"/>
            <a:ext cx="9376229" cy="2308324"/>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latin typeface="Arial" panose="020B0604020202020204" pitchFamily="34" charset="0"/>
              </a:rPr>
              <a:t>Predictions depend on the completeness and quality of biomedical databases.</a:t>
            </a:r>
          </a:p>
          <a:p>
            <a:pPr lvl="0" eaLnBrk="0" fontAlgn="base" hangingPunct="0">
              <a:spcBef>
                <a:spcPct val="0"/>
              </a:spcBef>
              <a:spcAft>
                <a:spcPct val="0"/>
              </a:spcAft>
              <a:buFontTx/>
              <a:buChar char="•"/>
            </a:pPr>
            <a:r>
              <a:rPr lang="en-US" altLang="en-US" sz="2400" dirty="0">
                <a:latin typeface="Arial" panose="020B0604020202020204" pitchFamily="34" charset="0"/>
              </a:rPr>
              <a:t>Experimental and clinical validation remain essential.</a:t>
            </a:r>
          </a:p>
          <a:p>
            <a:pPr lvl="0" eaLnBrk="0" fontAlgn="base" hangingPunct="0">
              <a:spcBef>
                <a:spcPct val="0"/>
              </a:spcBef>
              <a:spcAft>
                <a:spcPct val="0"/>
              </a:spcAft>
              <a:buFontTx/>
              <a:buChar char="•"/>
            </a:pPr>
            <a:r>
              <a:rPr lang="en-US" altLang="en-US" sz="2400" dirty="0">
                <a:latin typeface="Arial" panose="020B0604020202020204" pitchFamily="34" charset="0"/>
              </a:rPr>
              <a:t>Graph construction can be computationally intensive.</a:t>
            </a:r>
          </a:p>
          <a:p>
            <a:pPr lvl="0" eaLnBrk="0" fontAlgn="base" hangingPunct="0">
              <a:spcBef>
                <a:spcPct val="0"/>
              </a:spcBef>
              <a:spcAft>
                <a:spcPct val="0"/>
              </a:spcAft>
              <a:buFontTx/>
              <a:buChar char="•"/>
            </a:pPr>
            <a:r>
              <a:rPr lang="en-US" altLang="en-US" sz="2400" dirty="0">
                <a:latin typeface="Arial" panose="020B0604020202020204" pitchFamily="34" charset="0"/>
              </a:rPr>
              <a:t>Some biological interactions may be missing or uncertain.</a:t>
            </a:r>
          </a:p>
          <a:p>
            <a:pPr lvl="0" eaLnBrk="0" fontAlgn="base" hangingPunct="0">
              <a:spcBef>
                <a:spcPct val="0"/>
              </a:spcBef>
              <a:spcAft>
                <a:spcPct val="0"/>
              </a:spcAft>
              <a:buFontTx/>
              <a:buChar char="•"/>
            </a:pPr>
            <a:r>
              <a:rPr lang="en-US" altLang="en-US" sz="2400" dirty="0">
                <a:latin typeface="Arial" panose="020B0604020202020204" pitchFamily="34" charset="0"/>
              </a:rPr>
              <a:t>Performance may decrease for rare diseases with limited data. </a:t>
            </a:r>
          </a:p>
        </p:txBody>
      </p:sp>
    </p:spTree>
    <p:extLst>
      <p:ext uri="{BB962C8B-B14F-4D97-AF65-F5344CB8AC3E}">
        <p14:creationId xmlns:p14="http://schemas.microsoft.com/office/powerpoint/2010/main" val="893940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Applications</a:t>
            </a:r>
          </a:p>
        </p:txBody>
      </p:sp>
      <p:sp>
        <p:nvSpPr>
          <p:cNvPr id="3" name="Content Placeholder 2"/>
          <p:cNvSpPr>
            <a:spLocks noGrp="1"/>
          </p:cNvSpPr>
          <p:nvPr>
            <p:ph idx="1"/>
          </p:nvPr>
        </p:nvSpPr>
        <p:spPr/>
        <p:txBody>
          <a:bodyPr>
            <a:normAutofit lnSpcReduction="10000"/>
          </a:bodyPr>
          <a:lstStyle/>
          <a:p>
            <a:r>
              <a:rPr lang="en-US" dirty="0"/>
              <a:t>The proposed framework can be applied to:</a:t>
            </a:r>
          </a:p>
          <a:p>
            <a:r>
              <a:rPr lang="en-US" dirty="0"/>
              <a:t>Cancer drug repurposing</a:t>
            </a:r>
          </a:p>
          <a:p>
            <a:r>
              <a:rPr lang="en-US" dirty="0"/>
              <a:t>Alzheimer's disease</a:t>
            </a:r>
          </a:p>
          <a:p>
            <a:r>
              <a:rPr lang="en-US" dirty="0"/>
              <a:t>Parkinson's disease</a:t>
            </a:r>
          </a:p>
          <a:p>
            <a:r>
              <a:rPr lang="en-US" dirty="0"/>
              <a:t>COVID-19 therapeutic discovery</a:t>
            </a:r>
          </a:p>
          <a:p>
            <a:r>
              <a:rPr lang="en-US" dirty="0"/>
              <a:t>Rare genetic diseases</a:t>
            </a:r>
          </a:p>
          <a:p>
            <a:r>
              <a:rPr lang="en-US" dirty="0"/>
              <a:t>Personalized medicine</a:t>
            </a:r>
          </a:p>
          <a:p>
            <a:r>
              <a:rPr lang="en-US" dirty="0"/>
              <a:t>Precision oncology</a:t>
            </a:r>
          </a:p>
          <a:p>
            <a:r>
              <a:rPr lang="en-US" dirty="0"/>
              <a:t>Pharmaceutical research</a:t>
            </a:r>
          </a:p>
          <a:p>
            <a:endParaRPr lang="en-US" dirty="0"/>
          </a:p>
        </p:txBody>
      </p:sp>
    </p:spTree>
    <p:extLst>
      <p:ext uri="{BB962C8B-B14F-4D97-AF65-F5344CB8AC3E}">
        <p14:creationId xmlns:p14="http://schemas.microsoft.com/office/powerpoint/2010/main" val="3686910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Work</a:t>
            </a:r>
          </a:p>
        </p:txBody>
      </p:sp>
      <p:sp>
        <p:nvSpPr>
          <p:cNvPr id="3" name="Content Placeholder 2"/>
          <p:cNvSpPr>
            <a:spLocks noGrp="1"/>
          </p:cNvSpPr>
          <p:nvPr>
            <p:ph idx="1"/>
          </p:nvPr>
        </p:nvSpPr>
        <p:spPr/>
        <p:txBody>
          <a:bodyPr>
            <a:normAutofit fontScale="92500" lnSpcReduction="20000"/>
          </a:bodyPr>
          <a:lstStyle/>
          <a:p>
            <a:r>
              <a:rPr lang="en-US" dirty="0"/>
              <a:t>Future enhancements may include:</a:t>
            </a:r>
          </a:p>
          <a:p>
            <a:r>
              <a:rPr lang="en-US" dirty="0"/>
              <a:t>Incorporating Graph Attention Networks (GAT).</a:t>
            </a:r>
          </a:p>
          <a:p>
            <a:r>
              <a:rPr lang="en-US" dirty="0"/>
              <a:t>Using Heterogeneous Graph Transformers (HGT).</a:t>
            </a:r>
          </a:p>
          <a:p>
            <a:r>
              <a:rPr lang="en-US" dirty="0"/>
              <a:t>Integrating multi-omics datasets such as genomics, </a:t>
            </a:r>
            <a:r>
              <a:rPr lang="en-US" dirty="0" err="1"/>
              <a:t>transcriptomics</a:t>
            </a:r>
            <a:r>
              <a:rPr lang="en-US" dirty="0"/>
              <a:t>, proteomics, and metabolomics.</a:t>
            </a:r>
          </a:p>
          <a:p>
            <a:r>
              <a:rPr lang="en-US" dirty="0"/>
              <a:t>Combining graph learning with Large Language Models for biomedical knowledge retrieval.</a:t>
            </a:r>
          </a:p>
          <a:p>
            <a:r>
              <a:rPr lang="en-US" dirty="0"/>
              <a:t>Including explainable AI methods to improve model interpretability.</a:t>
            </a:r>
          </a:p>
          <a:p>
            <a:r>
              <a:rPr lang="en-US" dirty="0"/>
              <a:t>Developing a real-time web application using Streamlit or Flask.</a:t>
            </a:r>
          </a:p>
          <a:p>
            <a:r>
              <a:rPr lang="en-US" dirty="0"/>
              <a:t>Validating predictions through molecular docking, molecular dynamics simulations, and clinical datasets.</a:t>
            </a:r>
          </a:p>
          <a:p>
            <a:endParaRPr lang="en-US" dirty="0"/>
          </a:p>
        </p:txBody>
      </p:sp>
    </p:spTree>
    <p:extLst>
      <p:ext uri="{BB962C8B-B14F-4D97-AF65-F5344CB8AC3E}">
        <p14:creationId xmlns:p14="http://schemas.microsoft.com/office/powerpoint/2010/main" val="92130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normAutofit lnSpcReduction="10000"/>
          </a:bodyPr>
          <a:lstStyle/>
          <a:p>
            <a:r>
              <a:rPr lang="en-US" dirty="0"/>
              <a:t>Graph Machine Learning provides an effective framework for network-based drug repurposing by integrating complex biomedical relationships into a unified graph representation. The Graph Neural Network captures hidden patterns among drugs, genes, proteins, and diseases, enabling accurate prediction of novel therapeutic associations. Compared with traditional computational methods, graph-based learning offers improved scalability, biological interpretability, and predictive performance. This approach has significant potential to accelerate cancer drug discovery, reduce development costs, and support precision medicine by identifying promising drug candidates for further experimental and clinical validation.</a:t>
            </a:r>
          </a:p>
        </p:txBody>
      </p:sp>
    </p:spTree>
    <p:extLst>
      <p:ext uri="{BB962C8B-B14F-4D97-AF65-F5344CB8AC3E}">
        <p14:creationId xmlns:p14="http://schemas.microsoft.com/office/powerpoint/2010/main" val="16815577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1448</Words>
  <Application>Microsoft Office PowerPoint</Application>
  <PresentationFormat>Widescreen</PresentationFormat>
  <Paragraphs>176</Paragraphs>
  <Slides>31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CIDFont+F1</vt:lpstr>
      <vt:lpstr>Office Theme</vt:lpstr>
      <vt:lpstr>Network-Based Drug Repurposing for Diseases like Cancer via Graph Machine Learning</vt:lpstr>
      <vt:lpstr>Google Colab URL</vt:lpstr>
      <vt:lpstr>Introduction</vt:lpstr>
      <vt:lpstr>Problem Statement</vt:lpstr>
      <vt:lpstr>Objectives</vt:lpstr>
      <vt:lpstr>Dataset Description</vt:lpstr>
      <vt:lpstr>Methodology</vt:lpstr>
      <vt:lpstr>Methodology</vt:lpstr>
      <vt:lpstr>Methodology</vt:lpstr>
      <vt:lpstr>Graph Machine Learning Architecture</vt:lpstr>
      <vt:lpstr>Model Implementation</vt:lpstr>
      <vt:lpstr>Data Visualization</vt:lpstr>
      <vt:lpstr>Histogram Plot</vt:lpstr>
      <vt:lpstr>Data Visualization</vt:lpstr>
      <vt:lpstr>Bar Chart Plot</vt:lpstr>
      <vt:lpstr>Data Visualization</vt:lpstr>
      <vt:lpstr>Stacked Bar Chart Plot </vt:lpstr>
      <vt:lpstr>Data Visualization</vt:lpstr>
      <vt:lpstr>Combined Stacked Bar Chart Plot </vt:lpstr>
      <vt:lpstr>Experimental Results</vt:lpstr>
      <vt:lpstr>Key Insights</vt:lpstr>
      <vt:lpstr>Key Insights </vt:lpstr>
      <vt:lpstr>Key Insights </vt:lpstr>
      <vt:lpstr>Key Insights</vt:lpstr>
      <vt:lpstr>Key Insights</vt:lpstr>
      <vt:lpstr>Key Insights </vt:lpstr>
      <vt:lpstr>Advantages</vt:lpstr>
      <vt:lpstr>Limitations</vt:lpstr>
      <vt:lpstr>Applications</vt:lpstr>
      <vt:lpstr>Future Work</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Network-Based Drug Repurposing for Diseases like Cancer via Graph Machine Learning</dc:title>
  <dc:creator>KUMAR</dc:creator>
  <cp:lastModifiedBy>KUMAR</cp:lastModifiedBy>
  <cp:revision>33</cp:revision>
  <dcterms:created xsi:type="dcterms:W3CDTF">2026-07-10T05:26:59Z</dcterms:created>
  <dcterms:modified xsi:type="dcterms:W3CDTF">2026-07-31T14:43:14Z</dcterms:modified>
</cp:coreProperties>
</file>