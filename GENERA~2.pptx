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8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1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9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3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3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7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81A92-8413-49E8-B151-59EF24B265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3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wm5mr4ioewHtxcZ3N9Zk0bjAkDRTMj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 smtClean="0"/>
              <a:t>Generative AI for Designing Novel Drug Molecules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70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https://colab.research.google.com/drive/1swm5mr4ioewHtxcZ3N9Zk0bjAkDRTMjT?usp=sharing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4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Drug discovery is a highly complex and resource-intensive process, often requiring years of research and significant financial investment. One of the major challenges lies in exploring the vast </a:t>
            </a:r>
            <a:r>
              <a:rPr lang="en-US" b="1" dirty="0"/>
              <a:t>chemical space</a:t>
            </a:r>
            <a:r>
              <a:rPr lang="en-US" dirty="0"/>
              <a:t> to identify molecules that are both </a:t>
            </a:r>
            <a:r>
              <a:rPr lang="en-US" b="1" dirty="0"/>
              <a:t>biologically active</a:t>
            </a:r>
            <a:r>
              <a:rPr lang="en-US" dirty="0"/>
              <a:t> and </a:t>
            </a:r>
            <a:r>
              <a:rPr lang="en-US" b="1" dirty="0"/>
              <a:t>drug-like</a:t>
            </a:r>
            <a:r>
              <a:rPr lang="en-US" dirty="0"/>
              <a:t>. Traditional rule-based or trial-and-error approaches are insufficient to efficiently navigate this space.</a:t>
            </a:r>
          </a:p>
          <a:p>
            <a:r>
              <a:rPr lang="en-US" b="1" dirty="0"/>
              <a:t>Generative Artificial Intelligence (AI)</a:t>
            </a:r>
            <a:r>
              <a:rPr lang="en-US" dirty="0"/>
              <a:t> has emerged as a transformative solution by enabling the automatic design of </a:t>
            </a:r>
            <a:r>
              <a:rPr lang="en-US" b="1" dirty="0"/>
              <a:t>novel molecular structures</a:t>
            </a:r>
            <a:r>
              <a:rPr lang="en-US" dirty="0"/>
              <a:t>. By learning patterns from existing chemical representations, generative models can propose new molecules that satisfy predefined physicochemical and biological constraints.</a:t>
            </a:r>
          </a:p>
          <a:p>
            <a:r>
              <a:rPr lang="en-US" dirty="0"/>
              <a:t>This project demonstrates the application of </a:t>
            </a:r>
            <a:r>
              <a:rPr lang="en-US" b="1" dirty="0"/>
              <a:t>Generative AI techniques</a:t>
            </a:r>
            <a:r>
              <a:rPr lang="en-US" dirty="0"/>
              <a:t> for designing novel drug-like molecules using </a:t>
            </a:r>
            <a:r>
              <a:rPr lang="en-US" b="1" dirty="0"/>
              <a:t>SMILES-based deep learning models</a:t>
            </a:r>
            <a:r>
              <a:rPr lang="en-US" dirty="0"/>
              <a:t>, supported by comprehensive </a:t>
            </a:r>
            <a:r>
              <a:rPr lang="en-US" b="1" dirty="0"/>
              <a:t>data visualization and analysis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The primary objectives of this project are:</a:t>
            </a:r>
          </a:p>
          <a:p>
            <a:r>
              <a:rPr lang="en-US" dirty="0"/>
              <a:t>To design a </a:t>
            </a:r>
            <a:r>
              <a:rPr lang="en-US" b="1" dirty="0"/>
              <a:t>Generative AI model</a:t>
            </a:r>
            <a:r>
              <a:rPr lang="en-US" dirty="0"/>
              <a:t> capable of producing novel drug molecules</a:t>
            </a:r>
          </a:p>
          <a:p>
            <a:r>
              <a:rPr lang="en-US" dirty="0"/>
              <a:t>To analyze generated molecules using </a:t>
            </a:r>
            <a:r>
              <a:rPr lang="en-US" b="1" dirty="0"/>
              <a:t>drug-likeness indicators</a:t>
            </a:r>
            <a:endParaRPr lang="en-US" dirty="0"/>
          </a:p>
          <a:p>
            <a:r>
              <a:rPr lang="en-US" dirty="0"/>
              <a:t>To evaluate molecular properties such as </a:t>
            </a:r>
            <a:r>
              <a:rPr lang="en-US" b="1" dirty="0"/>
              <a:t>molecular weight distribution</a:t>
            </a:r>
            <a:endParaRPr lang="en-US" dirty="0"/>
          </a:p>
          <a:p>
            <a:r>
              <a:rPr lang="en-US" dirty="0"/>
              <a:t>To compare </a:t>
            </a:r>
            <a:r>
              <a:rPr lang="en-US" b="1" dirty="0"/>
              <a:t>generation quality before and after optimization</a:t>
            </a:r>
            <a:endParaRPr lang="en-US" dirty="0"/>
          </a:p>
          <a:p>
            <a:r>
              <a:rPr lang="en-US" dirty="0"/>
              <a:t>To visualize results using statistical and comparative plots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3.1 Molecular Representation</a:t>
            </a:r>
          </a:p>
          <a:p>
            <a:r>
              <a:rPr lang="en-US" dirty="0"/>
              <a:t>Molecules are represented using </a:t>
            </a:r>
            <a:r>
              <a:rPr lang="en-US" b="1" dirty="0"/>
              <a:t>SMILES (Simplified Molecular Input Line Entry System)</a:t>
            </a:r>
            <a:r>
              <a:rPr lang="en-US" dirty="0"/>
              <a:t> strings. SMILES encodes molecular structures as character sequences, making them suitable for </a:t>
            </a:r>
            <a:r>
              <a:rPr lang="en-US" b="1" dirty="0"/>
              <a:t>sequence-based deep learning models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5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3.2 Generative Model Architecture</a:t>
            </a:r>
          </a:p>
          <a:p>
            <a:r>
              <a:rPr lang="en-US" b="1" dirty="0"/>
              <a:t>Model Type:</a:t>
            </a:r>
            <a:r>
              <a:rPr lang="en-US" dirty="0"/>
              <a:t> Long Short-Term Memory (LSTM) Neural Network</a:t>
            </a:r>
          </a:p>
          <a:p>
            <a:r>
              <a:rPr lang="en-US" b="1" dirty="0"/>
              <a:t>Learning Objective:</a:t>
            </a:r>
            <a:r>
              <a:rPr lang="en-US" dirty="0"/>
              <a:t> Learn the syntax and structure of valid SMILES sequences</a:t>
            </a:r>
          </a:p>
          <a:p>
            <a:r>
              <a:rPr lang="en-US" b="1" dirty="0"/>
              <a:t>Generation Strategy:</a:t>
            </a:r>
            <a:r>
              <a:rPr lang="en-US" dirty="0"/>
              <a:t> Character-level sequence prediction</a:t>
            </a:r>
          </a:p>
          <a:p>
            <a:r>
              <a:rPr lang="en-US" b="1" dirty="0"/>
              <a:t>Output:</a:t>
            </a:r>
            <a:r>
              <a:rPr lang="en-US" dirty="0"/>
              <a:t> Novel SMILES strings representing candidate drug molecules</a:t>
            </a:r>
          </a:p>
          <a:p>
            <a:r>
              <a:rPr lang="en-US" dirty="0"/>
              <a:t>The trained model generates new molecules by predicting the next character in a SMILES sequence based on learned chemical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7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limited availability of open-source proprietary drug datasets, a </a:t>
            </a:r>
            <a:r>
              <a:rPr lang="en-US" b="1" dirty="0"/>
              <a:t>synthetic yet realistic dataset</a:t>
            </a:r>
            <a:r>
              <a:rPr lang="en-US" dirty="0"/>
              <a:t> was used.</a:t>
            </a:r>
          </a:p>
          <a:p>
            <a:r>
              <a:rPr lang="en-US" b="1" dirty="0"/>
              <a:t>Dataset Characteristics</a:t>
            </a:r>
          </a:p>
          <a:p>
            <a:r>
              <a:rPr lang="en-US" dirty="0"/>
              <a:t>Generated molecules categorized into molecular weight ranges</a:t>
            </a:r>
          </a:p>
          <a:p>
            <a:r>
              <a:rPr lang="en-US" dirty="0"/>
              <a:t>Molecules labeled as </a:t>
            </a:r>
            <a:r>
              <a:rPr lang="en-US" b="1" dirty="0"/>
              <a:t>drug-like</a:t>
            </a:r>
            <a:r>
              <a:rPr lang="en-US" dirty="0"/>
              <a:t> or </a:t>
            </a:r>
            <a:r>
              <a:rPr lang="en-US" b="1" dirty="0"/>
              <a:t>non-drug-like</a:t>
            </a:r>
            <a:r>
              <a:rPr lang="en-US" dirty="0"/>
              <a:t> based on heuristic rules</a:t>
            </a:r>
          </a:p>
          <a:p>
            <a:r>
              <a:rPr lang="en-US" dirty="0"/>
              <a:t>Two generative rounds considered:</a:t>
            </a:r>
          </a:p>
          <a:p>
            <a:pPr lvl="1"/>
            <a:r>
              <a:rPr lang="en-US" b="1" dirty="0"/>
              <a:t>Round 1:</a:t>
            </a:r>
            <a:r>
              <a:rPr lang="en-US" dirty="0"/>
              <a:t> Initial generation</a:t>
            </a:r>
          </a:p>
          <a:p>
            <a:pPr lvl="1"/>
            <a:r>
              <a:rPr lang="en-US" b="1" dirty="0"/>
              <a:t>Round 2:</a:t>
            </a:r>
            <a:r>
              <a:rPr lang="en-US" dirty="0"/>
              <a:t> After model optimization and refinement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3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5457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5.1 Histogram Plot – Molecular Weight Distribution</a:t>
            </a:r>
          </a:p>
          <a:p>
            <a:r>
              <a:rPr lang="en-US" dirty="0" smtClean="0"/>
              <a:t>The </a:t>
            </a:r>
            <a:r>
              <a:rPr lang="en-US" dirty="0"/>
              <a:t>histogram visualizes the </a:t>
            </a:r>
            <a:r>
              <a:rPr lang="en-US" b="1" dirty="0"/>
              <a:t>distribution of molecular weights</a:t>
            </a:r>
            <a:r>
              <a:rPr lang="en-US" dirty="0"/>
              <a:t> of AI-generated drug molecules.</a:t>
            </a:r>
          </a:p>
          <a:p>
            <a:r>
              <a:rPr lang="en-US" b="1" dirty="0"/>
              <a:t>Key Observations</a:t>
            </a:r>
          </a:p>
          <a:p>
            <a:r>
              <a:rPr lang="en-US" dirty="0"/>
              <a:t>Distribution follows an approximately </a:t>
            </a:r>
            <a:r>
              <a:rPr lang="en-US" b="1" dirty="0"/>
              <a:t>normal pattern</a:t>
            </a:r>
            <a:endParaRPr lang="en-US" dirty="0"/>
          </a:p>
          <a:p>
            <a:r>
              <a:rPr lang="en-US" dirty="0"/>
              <a:t>Most molecules fall within the </a:t>
            </a:r>
            <a:r>
              <a:rPr lang="en-US" b="1" dirty="0"/>
              <a:t>300–400 molecular weight range</a:t>
            </a:r>
            <a:endParaRPr lang="en-US" dirty="0"/>
          </a:p>
          <a:p>
            <a:r>
              <a:rPr lang="en-US" dirty="0"/>
              <a:t>Very few molecules exceed extreme weight values</a:t>
            </a:r>
          </a:p>
          <a:p>
            <a:r>
              <a:rPr lang="en-US" b="1" dirty="0"/>
              <a:t>Significance</a:t>
            </a:r>
          </a:p>
          <a:p>
            <a:r>
              <a:rPr lang="en-US" dirty="0"/>
              <a:t>Indicates that the generative model produces </a:t>
            </a:r>
            <a:r>
              <a:rPr lang="en-US" b="1" dirty="0"/>
              <a:t>drug-like molecular sizes</a:t>
            </a:r>
            <a:endParaRPr lang="en-US" dirty="0"/>
          </a:p>
          <a:p>
            <a:r>
              <a:rPr lang="en-US" dirty="0"/>
              <a:t>Aligns with </a:t>
            </a:r>
            <a:r>
              <a:rPr lang="en-US" b="1" dirty="0"/>
              <a:t>Lipinski’s Rule of Five</a:t>
            </a:r>
            <a:endParaRPr lang="en-US" dirty="0"/>
          </a:p>
          <a:p>
            <a:r>
              <a:rPr lang="en-US" dirty="0"/>
              <a:t>Confirms controlled exploration of chemical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2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165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</a:t>
            </a:r>
            <a:r>
              <a:rPr lang="en-US" b="1" dirty="0" smtClean="0"/>
              <a:t>Analysis   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5.2 Bar Chart – Molecular Weight Categories</a:t>
            </a:r>
          </a:p>
          <a:p>
            <a:r>
              <a:rPr lang="en-US" dirty="0"/>
              <a:t>The bar chart categorizes molecules into predefined molecular weight ranges.</a:t>
            </a:r>
          </a:p>
          <a:p>
            <a:r>
              <a:rPr lang="en-US" b="1" dirty="0"/>
              <a:t>Insights</a:t>
            </a:r>
          </a:p>
          <a:p>
            <a:r>
              <a:rPr lang="en-US" dirty="0"/>
              <a:t>Highest concentration observed in </a:t>
            </a:r>
            <a:r>
              <a:rPr lang="en-US" b="1" dirty="0"/>
              <a:t>300–350</a:t>
            </a:r>
            <a:r>
              <a:rPr lang="en-US" dirty="0"/>
              <a:t> and </a:t>
            </a:r>
            <a:r>
              <a:rPr lang="en-US" b="1" dirty="0"/>
              <a:t>350–400</a:t>
            </a:r>
            <a:r>
              <a:rPr lang="en-US" dirty="0"/>
              <a:t> ranges</a:t>
            </a:r>
          </a:p>
          <a:p>
            <a:r>
              <a:rPr lang="en-US" dirty="0"/>
              <a:t>Lower frequency of molecules below 300 and above 400</a:t>
            </a:r>
          </a:p>
          <a:p>
            <a:r>
              <a:rPr lang="en-US" dirty="0"/>
              <a:t>Reflects balanced molecular complexity</a:t>
            </a:r>
          </a:p>
          <a:p>
            <a:r>
              <a:rPr lang="en-US" b="1" dirty="0"/>
              <a:t>Importance</a:t>
            </a:r>
          </a:p>
          <a:p>
            <a:r>
              <a:rPr lang="en-US" dirty="0"/>
              <a:t>Supports early-stage </a:t>
            </a:r>
            <a:r>
              <a:rPr lang="en-US" b="1" dirty="0"/>
              <a:t>lead filtering</a:t>
            </a:r>
            <a:endParaRPr lang="en-US" dirty="0"/>
          </a:p>
          <a:p>
            <a:r>
              <a:rPr lang="en-US" dirty="0"/>
              <a:t>Helps eliminate molecules likely to fail in later development stages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4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30173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5.3 Stacked Bar Chart – Drug-like vs Non-Drug-like Molecules</a:t>
            </a:r>
          </a:p>
          <a:p>
            <a:r>
              <a:rPr lang="en-US" dirty="0"/>
              <a:t>This visualization compares </a:t>
            </a:r>
            <a:r>
              <a:rPr lang="en-US" b="1" dirty="0"/>
              <a:t>quality composition</a:t>
            </a:r>
            <a:r>
              <a:rPr lang="en-US" dirty="0"/>
              <a:t> across molecular weight ranges.</a:t>
            </a:r>
          </a:p>
          <a:p>
            <a:r>
              <a:rPr lang="en-US" b="1" dirty="0"/>
              <a:t>Key Findings</a:t>
            </a:r>
          </a:p>
          <a:p>
            <a:r>
              <a:rPr lang="en-US" dirty="0"/>
              <a:t>Majority of molecules in optimal weight ranges are </a:t>
            </a:r>
            <a:r>
              <a:rPr lang="en-US" b="1" dirty="0"/>
              <a:t>drug-like</a:t>
            </a:r>
            <a:endParaRPr lang="en-US" dirty="0"/>
          </a:p>
          <a:p>
            <a:r>
              <a:rPr lang="en-US" dirty="0"/>
              <a:t>Non-drug-like molecules increase in higher molecular weight ranges</a:t>
            </a:r>
          </a:p>
          <a:p>
            <a:r>
              <a:rPr lang="en-US" dirty="0"/>
              <a:t>Confirms effectiveness of generative constraints</a:t>
            </a:r>
          </a:p>
          <a:p>
            <a:r>
              <a:rPr lang="en-US" b="1" dirty="0"/>
              <a:t>Interpretation</a:t>
            </a:r>
          </a:p>
          <a:p>
            <a:r>
              <a:rPr lang="en-US" dirty="0"/>
              <a:t>This chart enables simultaneous assessment of </a:t>
            </a:r>
            <a:r>
              <a:rPr lang="en-US" b="1" dirty="0"/>
              <a:t>quantity and quality</a:t>
            </a:r>
            <a:r>
              <a:rPr lang="en-US" dirty="0"/>
              <a:t>, which is critical in generative drug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3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26701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5.4 Combined Stacked Bar Chart – Generation Comparison</a:t>
            </a:r>
          </a:p>
          <a:p>
            <a:r>
              <a:rPr lang="en-US" dirty="0"/>
              <a:t>The combined stacked bar chart compares </a:t>
            </a:r>
            <a:r>
              <a:rPr lang="en-US" b="1" dirty="0"/>
              <a:t>two rounds of molecule generation</a:t>
            </a:r>
            <a:r>
              <a:rPr lang="en-US" dirty="0"/>
              <a:t>.</a:t>
            </a:r>
          </a:p>
          <a:p>
            <a:r>
              <a:rPr lang="en-US" b="1" dirty="0"/>
              <a:t>Round 1 (Initial Generation)</a:t>
            </a:r>
          </a:p>
          <a:p>
            <a:r>
              <a:rPr lang="en-US" dirty="0"/>
              <a:t>Higher proportion of non-drug-like molecules</a:t>
            </a:r>
          </a:p>
          <a:p>
            <a:r>
              <a:rPr lang="en-US" dirty="0"/>
              <a:t>Less concentration in optimal weight ranges</a:t>
            </a:r>
          </a:p>
          <a:p>
            <a:r>
              <a:rPr lang="en-US" b="1" dirty="0"/>
              <a:t>Round 2 (After Optimization)</a:t>
            </a:r>
          </a:p>
          <a:p>
            <a:r>
              <a:rPr lang="en-US" dirty="0"/>
              <a:t>Significant increase in </a:t>
            </a:r>
            <a:r>
              <a:rPr lang="en-US" b="1" dirty="0"/>
              <a:t>drug-like molecules</a:t>
            </a:r>
            <a:endParaRPr lang="en-US" dirty="0"/>
          </a:p>
          <a:p>
            <a:r>
              <a:rPr lang="en-US" dirty="0"/>
              <a:t>Reduction in non-drug-like molecules</a:t>
            </a:r>
          </a:p>
          <a:p>
            <a:r>
              <a:rPr lang="en-US" dirty="0"/>
              <a:t>Improved molecular quality control</a:t>
            </a:r>
          </a:p>
          <a:p>
            <a:r>
              <a:rPr lang="en-US" b="1" dirty="0"/>
              <a:t>Conclusion from Chart</a:t>
            </a:r>
          </a:p>
          <a:p>
            <a:r>
              <a:rPr lang="en-US" dirty="0"/>
              <a:t>The optimization process clearly enhances the </a:t>
            </a:r>
            <a:r>
              <a:rPr lang="en-US" b="1" dirty="0"/>
              <a:t>drug-likeness and relevance</a:t>
            </a:r>
            <a:r>
              <a:rPr lang="en-US" dirty="0"/>
              <a:t> of generated molecules.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5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73955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and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3791" y="1690688"/>
            <a:ext cx="9644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Generative AI successfully produces </a:t>
            </a:r>
            <a:r>
              <a:rPr lang="en-US" altLang="en-US" sz="2400" b="1" dirty="0"/>
              <a:t>novel drug-like molecules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Model refinement improves </a:t>
            </a:r>
            <a:r>
              <a:rPr lang="en-US" altLang="en-US" sz="2400" b="1" dirty="0"/>
              <a:t>quality over successive generations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Molecular properties remain within realistic pharmaceutical ranges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Visualization confirms effective </a:t>
            </a:r>
            <a:r>
              <a:rPr lang="en-US" altLang="en-US" sz="2400" b="1" dirty="0"/>
              <a:t>chemical space exploration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Combined charts validate </a:t>
            </a:r>
            <a:r>
              <a:rPr lang="en-US" altLang="en-US" sz="2400" b="1" dirty="0"/>
              <a:t>model learning and optimization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372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 of the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Rapid generation of novel molecules</a:t>
            </a:r>
            <a:br>
              <a:rPr lang="en-US" dirty="0"/>
            </a:br>
            <a:r>
              <a:rPr lang="en-US" dirty="0"/>
              <a:t>✔ Reduced dependency on manual chemical design</a:t>
            </a:r>
            <a:br>
              <a:rPr lang="en-US" dirty="0"/>
            </a:br>
            <a:r>
              <a:rPr lang="en-US" dirty="0"/>
              <a:t>✔ Efficient exploration of chemical space</a:t>
            </a:r>
            <a:br>
              <a:rPr lang="en-US" dirty="0"/>
            </a:br>
            <a:r>
              <a:rPr lang="en-US" dirty="0"/>
              <a:t>✔ Scalable to real-world datasets</a:t>
            </a:r>
            <a:br>
              <a:rPr lang="en-US" dirty="0"/>
            </a:br>
            <a:r>
              <a:rPr lang="en-US" dirty="0"/>
              <a:t>✔ Easily extendable with biological constraints</a:t>
            </a:r>
          </a:p>
        </p:txBody>
      </p:sp>
    </p:spTree>
    <p:extLst>
      <p:ext uri="{BB962C8B-B14F-4D97-AF65-F5344CB8AC3E}">
        <p14:creationId xmlns:p14="http://schemas.microsoft.com/office/powerpoint/2010/main" val="1442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Synthetic data may not fully capture biological complexity</a:t>
            </a:r>
          </a:p>
          <a:p>
            <a:r>
              <a:rPr lang="en-US" dirty="0"/>
              <a:t>Chemical validity not explicitly verified without cheminformatics tools</a:t>
            </a:r>
          </a:p>
          <a:p>
            <a:r>
              <a:rPr lang="en-US" dirty="0"/>
              <a:t>Biological activity prediction not included in this phase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can be extended by:</a:t>
            </a:r>
          </a:p>
          <a:p>
            <a:r>
              <a:rPr lang="en-US" dirty="0"/>
              <a:t>Integrating </a:t>
            </a:r>
            <a:r>
              <a:rPr lang="en-US" b="1" dirty="0" err="1"/>
              <a:t>RDKit</a:t>
            </a:r>
            <a:r>
              <a:rPr lang="en-US" dirty="0"/>
              <a:t> for chemical validity checks</a:t>
            </a:r>
          </a:p>
          <a:p>
            <a:r>
              <a:rPr lang="en-US" dirty="0"/>
              <a:t>Using </a:t>
            </a:r>
            <a:r>
              <a:rPr lang="en-US" b="1" dirty="0" err="1"/>
              <a:t>Variational</a:t>
            </a:r>
            <a:r>
              <a:rPr lang="en-US" b="1" dirty="0"/>
              <a:t> </a:t>
            </a:r>
            <a:r>
              <a:rPr lang="en-US" b="1" dirty="0" err="1"/>
              <a:t>Autoencoders</a:t>
            </a:r>
            <a:r>
              <a:rPr lang="en-US" b="1" dirty="0"/>
              <a:t> (VAE)</a:t>
            </a:r>
            <a:r>
              <a:rPr lang="en-US" dirty="0"/>
              <a:t> or </a:t>
            </a:r>
            <a:r>
              <a:rPr lang="en-US" b="1" dirty="0"/>
              <a:t>GANs</a:t>
            </a:r>
            <a:endParaRPr lang="en-US" dirty="0"/>
          </a:p>
          <a:p>
            <a:r>
              <a:rPr lang="en-US" dirty="0"/>
              <a:t>Conditioning generation on </a:t>
            </a:r>
            <a:r>
              <a:rPr lang="en-US" b="1" dirty="0"/>
              <a:t>activity or toxicity scores</a:t>
            </a:r>
            <a:endParaRPr lang="en-US" dirty="0"/>
          </a:p>
          <a:p>
            <a:r>
              <a:rPr lang="en-US" dirty="0"/>
              <a:t>Incorporating </a:t>
            </a:r>
            <a:r>
              <a:rPr lang="en-US" b="1" dirty="0"/>
              <a:t>QSAR and docking simulations</a:t>
            </a:r>
            <a:endParaRPr lang="en-US" dirty="0"/>
          </a:p>
          <a:p>
            <a:r>
              <a:rPr lang="en-US" dirty="0"/>
              <a:t>Deploying as a </a:t>
            </a:r>
            <a:r>
              <a:rPr lang="en-US" b="1" dirty="0"/>
              <a:t>drug discovery decision-support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strong potential of </a:t>
            </a:r>
            <a:r>
              <a:rPr lang="en-US" b="1" dirty="0"/>
              <a:t>Generative AI in drug discovery</a:t>
            </a:r>
            <a:r>
              <a:rPr lang="en-US" dirty="0"/>
              <a:t>, particularly for </a:t>
            </a:r>
            <a:r>
              <a:rPr lang="en-US" b="1" dirty="0"/>
              <a:t>novel molecule design</a:t>
            </a:r>
            <a:r>
              <a:rPr lang="en-US" dirty="0"/>
              <a:t>. By combining deep learning–based generation with comprehensive data visualization, the framework effectively balances </a:t>
            </a:r>
            <a:r>
              <a:rPr lang="en-US" b="1" dirty="0"/>
              <a:t>innovation and drug-likeness</a:t>
            </a:r>
            <a:r>
              <a:rPr lang="en-US" dirty="0"/>
              <a:t>, offering a scalable and efficient approach for early-stage drug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4331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829</Words>
  <Application>Microsoft Office PowerPoint</Application>
  <PresentationFormat>Widescreen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CIDFont+F1</vt:lpstr>
      <vt:lpstr>Office Theme</vt:lpstr>
      <vt:lpstr>Generative AI for Designing Novel Drug Molecules</vt:lpstr>
      <vt:lpstr>Google Colab URL</vt:lpstr>
      <vt:lpstr>Introduction</vt:lpstr>
      <vt:lpstr>Objectives of the Project</vt:lpstr>
      <vt:lpstr>Methodology</vt:lpstr>
      <vt:lpstr>Methodology</vt:lpstr>
      <vt:lpstr>Dataset Description</vt:lpstr>
      <vt:lpstr>Data Visualization </vt:lpstr>
      <vt:lpstr>Data Visualization and Analysis</vt:lpstr>
      <vt:lpstr>Data Visualization </vt:lpstr>
      <vt:lpstr>Data Visualization and Analysis    </vt:lpstr>
      <vt:lpstr>Data Visualization </vt:lpstr>
      <vt:lpstr>Data Visualization and Analysis</vt:lpstr>
      <vt:lpstr>Data Visualization </vt:lpstr>
      <vt:lpstr>Data Visualization and Analysis</vt:lpstr>
      <vt:lpstr>Data Visualization </vt:lpstr>
      <vt:lpstr>Results and Findings</vt:lpstr>
      <vt:lpstr>Advantages of the Proposed Approach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for Designing Novel Drug Molecules</dc:title>
  <dc:creator>KUMAR</dc:creator>
  <cp:lastModifiedBy>KUMAR</cp:lastModifiedBy>
  <cp:revision>23</cp:revision>
  <dcterms:created xsi:type="dcterms:W3CDTF">2025-12-18T23:38:41Z</dcterms:created>
  <dcterms:modified xsi:type="dcterms:W3CDTF">2025-12-19T06:20:41Z</dcterms:modified>
</cp:coreProperties>
</file>