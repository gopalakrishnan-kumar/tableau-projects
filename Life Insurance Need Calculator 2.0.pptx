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550F-ABE4-41C3-9E76-49492822503F}" type="datetimeFigureOut">
              <a:rPr lang="en-US" smtClean="0"/>
              <a:t>3/14/2026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C472E-98E2-43FB-A638-6AA3DEE8CD99}" type="slidenum">
              <a:rPr lang="en-US" smtClean="0"/>
              <a:t>‹#›</a:t>
            </a:fld>
            <a:endParaRPr lang="en-US" dirty="0"/>
          </a:p>
        </p:txBody>
      </p:sp>
    </p:spTree>
    <p:extLst>
      <p:ext uri="{BB962C8B-B14F-4D97-AF65-F5344CB8AC3E}">
        <p14:creationId xmlns:p14="http://schemas.microsoft.com/office/powerpoint/2010/main" val="3638928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AC472E-98E2-43FB-A638-6AA3DEE8CD99}" type="slidenum">
              <a:rPr lang="en-US" smtClean="0"/>
              <a:t>1</a:t>
            </a:fld>
            <a:endParaRPr lang="en-US"/>
          </a:p>
        </p:txBody>
      </p:sp>
    </p:spTree>
    <p:extLst>
      <p:ext uri="{BB962C8B-B14F-4D97-AF65-F5344CB8AC3E}">
        <p14:creationId xmlns:p14="http://schemas.microsoft.com/office/powerpoint/2010/main" val="703933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2632970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312994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420659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3603089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4067372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4201810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225893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1631163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339345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2436291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5CD152-9966-4AFB-8615-75EA81DA79D7}" type="datetimeFigureOut">
              <a:rPr lang="en-US" smtClean="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C98BA2-4559-45D1-A171-21486B0EA8D4}" type="slidenum">
              <a:rPr lang="en-US" smtClean="0"/>
              <a:t>‹#›</a:t>
            </a:fld>
            <a:endParaRPr lang="en-US" dirty="0"/>
          </a:p>
        </p:txBody>
      </p:sp>
    </p:spTree>
    <p:extLst>
      <p:ext uri="{BB962C8B-B14F-4D97-AF65-F5344CB8AC3E}">
        <p14:creationId xmlns:p14="http://schemas.microsoft.com/office/powerpoint/2010/main" val="655850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CD152-9966-4AFB-8615-75EA81DA79D7}" type="datetimeFigureOut">
              <a:rPr lang="en-US" smtClean="0"/>
              <a:t>3/14/2026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C98BA2-4559-45D1-A171-21486B0EA8D4}" type="slidenum">
              <a:rPr lang="en-US" smtClean="0"/>
              <a:t>‹#›</a:t>
            </a:fld>
            <a:endParaRPr lang="en-US" dirty="0"/>
          </a:p>
        </p:txBody>
      </p:sp>
    </p:spTree>
    <p:extLst>
      <p:ext uri="{BB962C8B-B14F-4D97-AF65-F5344CB8AC3E}">
        <p14:creationId xmlns:p14="http://schemas.microsoft.com/office/powerpoint/2010/main" val="1399857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gopalakrishnankumar-a7330111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kaggle.com/gopalkk2" TargetMode="External"/><Relationship Id="rId4" Type="http://schemas.openxmlformats.org/officeDocument/2006/relationships/hyperlink" Target="https://www.krishgopal.kumar86@gmail.com"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UOB8DfOcFUdrn6muv6v7sR_qMZfvU8v4?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Life Insurance Need Calculator 2.0</a:t>
            </a:r>
            <a:endParaRPr lang="en-US" b="1"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3"/>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4"/>
              </a:rPr>
              <a:t>Github:https://www.</a:t>
            </a:r>
            <a:r>
              <a:rPr lang="en-US" dirty="0" smtClean="0">
                <a:hlinkClick r:id="rId4"/>
              </a:rPr>
              <a:t>krishgopal.kumar86@gmail.com</a:t>
            </a:r>
            <a:endParaRPr lang="en-US" dirty="0" smtClean="0">
              <a:solidFill>
                <a:srgbClr val="0D0D0D"/>
              </a:solidFill>
              <a:latin typeface="CIDFont+F1"/>
            </a:endParaRPr>
          </a:p>
        </p:txBody>
      </p:sp>
      <p:sp>
        <p:nvSpPr>
          <p:cNvPr id="6" name="Subtitle 2"/>
          <p:cNvSpPr>
            <a:spLocks noGrp="1"/>
          </p:cNvSpPr>
          <p:nvPr>
            <p:ph type="subTitle" idx="1"/>
          </p:nvPr>
        </p:nvSpPr>
        <p:spPr>
          <a:xfrm>
            <a:off x="1524000" y="3572308"/>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7" name="TextBox 6"/>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5"/>
              </a:rPr>
              <a:t>https://www.kaggle.com/gopalkk2</a:t>
            </a:r>
            <a:endParaRPr lang="en-US" sz="2000" dirty="0" smtClean="0"/>
          </a:p>
          <a:p>
            <a:endParaRPr lang="en-US" sz="2000" dirty="0"/>
          </a:p>
        </p:txBody>
      </p:sp>
    </p:spTree>
    <p:extLst>
      <p:ext uri="{BB962C8B-B14F-4D97-AF65-F5344CB8AC3E}">
        <p14:creationId xmlns:p14="http://schemas.microsoft.com/office/powerpoint/2010/main" val="468718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https://colab.research.google.com/drive/1UOB8DfOcFUdrn6muv6v7sR_qMZfvU8v4?usp=sharing</a:t>
            </a:r>
            <a:endParaRPr lang="en-US" dirty="0" smtClean="0"/>
          </a:p>
          <a:p>
            <a:endParaRPr lang="en-US" dirty="0"/>
          </a:p>
        </p:txBody>
      </p:sp>
    </p:spTree>
    <p:extLst>
      <p:ext uri="{BB962C8B-B14F-4D97-AF65-F5344CB8AC3E}">
        <p14:creationId xmlns:p14="http://schemas.microsoft.com/office/powerpoint/2010/main" val="3869167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0014"/>
            <a:ext cx="10515600" cy="1325563"/>
          </a:xfrm>
        </p:spPr>
        <p:txBody>
          <a:bodyPr/>
          <a:lstStyle/>
          <a:p>
            <a:pPr algn="ctr"/>
            <a:r>
              <a:rPr lang="en-US" b="1" dirty="0" smtClean="0"/>
              <a:t>Introduction</a:t>
            </a:r>
            <a:endParaRPr lang="en-US" b="1" dirty="0"/>
          </a:p>
        </p:txBody>
      </p:sp>
      <p:sp>
        <p:nvSpPr>
          <p:cNvPr id="3" name="Content Placeholder 2"/>
          <p:cNvSpPr>
            <a:spLocks noGrp="1"/>
          </p:cNvSpPr>
          <p:nvPr>
            <p:ph idx="1"/>
          </p:nvPr>
        </p:nvSpPr>
        <p:spPr/>
        <p:txBody>
          <a:bodyPr>
            <a:normAutofit lnSpcReduction="10000"/>
          </a:bodyPr>
          <a:lstStyle/>
          <a:p>
            <a:r>
              <a:rPr lang="en-US" dirty="0" smtClean="0"/>
              <a:t>Life insurance plays a crucial role in ensuring financial protection for families in the event of an unexpected loss of income due to the death of a primary earning member. With rising living costs, increasing financial obligations, and long-term family responsibilities, determining the appropriate life insurance coverage has become a critical financial planning decision.</a:t>
            </a:r>
          </a:p>
          <a:p>
            <a:r>
              <a:rPr lang="en-US" dirty="0" smtClean="0"/>
              <a:t>Traditional life insurance estimation methods often rely on simple rules such as purchasing insurance equal to 10–15 times annual income. However, such rules do not always account for individual financial circumstances, liabilities, future financial goals, and existing assets. As a result, many individuals remain either underinsured or </a:t>
            </a:r>
            <a:r>
              <a:rPr lang="en-US" dirty="0" err="1" smtClean="0"/>
              <a:t>overinsured</a:t>
            </a:r>
            <a:r>
              <a:rPr lang="en-US" dirty="0" smtClean="0"/>
              <a:t>.</a:t>
            </a:r>
          </a:p>
          <a:p>
            <a:endParaRPr lang="en-US" dirty="0"/>
          </a:p>
        </p:txBody>
      </p:sp>
    </p:spTree>
    <p:extLst>
      <p:ext uri="{BB962C8B-B14F-4D97-AF65-F5344CB8AC3E}">
        <p14:creationId xmlns:p14="http://schemas.microsoft.com/office/powerpoint/2010/main" val="419777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Introduction</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The </a:t>
            </a:r>
            <a:r>
              <a:rPr lang="en-US" b="1" dirty="0" smtClean="0"/>
              <a:t>Life Insurance Need Calculator 2.0</a:t>
            </a:r>
            <a:r>
              <a:rPr lang="en-US" dirty="0" smtClean="0"/>
              <a:t> project introduces a </a:t>
            </a:r>
            <a:r>
              <a:rPr lang="en-US" b="1" dirty="0" smtClean="0"/>
              <a:t>data-driven approach to estimating optimal life insurance coverage</a:t>
            </a:r>
            <a:r>
              <a:rPr lang="en-US" dirty="0" smtClean="0"/>
              <a:t> by integrating multiple financial components such as income replacement, liabilities, future expenses, and existing financial resources. The model leverages Python-based analytics and data visualization techniques to simulate financial profiles and estimate the insurance coverage required for individuals across different demographic segments.</a:t>
            </a:r>
          </a:p>
          <a:p>
            <a:r>
              <a:rPr lang="en-US" dirty="0" smtClean="0"/>
              <a:t>This research project also applies multiple visualization techniques including </a:t>
            </a:r>
            <a:r>
              <a:rPr lang="en-US" b="1" dirty="0" smtClean="0"/>
              <a:t>histograms, bar charts, stacked bar charts, and combined stacked bar charts</a:t>
            </a:r>
            <a:r>
              <a:rPr lang="en-US" dirty="0" smtClean="0"/>
              <a:t> to analyze the distribution of insurance needs across populations and identify patterns that can support financial planning decisions.</a:t>
            </a:r>
          </a:p>
          <a:p>
            <a:r>
              <a:rPr lang="en-US" dirty="0" smtClean="0"/>
              <a:t>The objective of this project is to develop an analytical framework that helps individuals, financial planners, and insurance companies determine appropriate life insurance coverage using quantitative financial modeling.</a:t>
            </a:r>
          </a:p>
          <a:p>
            <a:endParaRPr lang="en-US" dirty="0"/>
          </a:p>
        </p:txBody>
      </p:sp>
    </p:spTree>
    <p:extLst>
      <p:ext uri="{BB962C8B-B14F-4D97-AF65-F5344CB8AC3E}">
        <p14:creationId xmlns:p14="http://schemas.microsoft.com/office/powerpoint/2010/main" val="753328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Objectives of the Study</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primary objectives of the </a:t>
            </a:r>
            <a:r>
              <a:rPr lang="en-US" b="1" dirty="0" smtClean="0"/>
              <a:t>Life Insurance Need Calculator 2.0</a:t>
            </a:r>
            <a:r>
              <a:rPr lang="en-US" dirty="0" smtClean="0"/>
              <a:t> project are as follows:</a:t>
            </a:r>
          </a:p>
          <a:p>
            <a:r>
              <a:rPr lang="en-US" dirty="0" smtClean="0"/>
              <a:t>To develop a financial model for estimating optimal life insurance coverage.</a:t>
            </a:r>
          </a:p>
          <a:p>
            <a:r>
              <a:rPr lang="en-US" dirty="0" smtClean="0"/>
              <a:t>To analyze how income, liabilities, savings, and future expenses affect insurance needs.</a:t>
            </a:r>
          </a:p>
          <a:p>
            <a:r>
              <a:rPr lang="en-US" dirty="0" smtClean="0"/>
              <a:t>To simulate financial profiles of individuals across different demographic segments.</a:t>
            </a:r>
          </a:p>
          <a:p>
            <a:r>
              <a:rPr lang="en-US" dirty="0" smtClean="0"/>
              <a:t>To visualize insurance coverage requirements using advanced data visualization techniques.</a:t>
            </a:r>
          </a:p>
          <a:p>
            <a:r>
              <a:rPr lang="en-US" dirty="0" smtClean="0"/>
              <a:t>To generate insights that support data-driven financial planning and insurance product design.</a:t>
            </a:r>
          </a:p>
          <a:p>
            <a:endParaRPr lang="en-US" dirty="0"/>
          </a:p>
        </p:txBody>
      </p:sp>
    </p:spTree>
    <p:extLst>
      <p:ext uri="{BB962C8B-B14F-4D97-AF65-F5344CB8AC3E}">
        <p14:creationId xmlns:p14="http://schemas.microsoft.com/office/powerpoint/2010/main" val="3135865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Importance of Life Insurance Planning</a:t>
            </a:r>
            <a:endParaRPr lang="en-US" b="1" dirty="0"/>
          </a:p>
        </p:txBody>
      </p:sp>
      <p:sp>
        <p:nvSpPr>
          <p:cNvPr id="3" name="Content Placeholder 2"/>
          <p:cNvSpPr>
            <a:spLocks noGrp="1"/>
          </p:cNvSpPr>
          <p:nvPr>
            <p:ph idx="1"/>
          </p:nvPr>
        </p:nvSpPr>
        <p:spPr/>
        <p:txBody>
          <a:bodyPr>
            <a:normAutofit/>
          </a:bodyPr>
          <a:lstStyle/>
          <a:p>
            <a:r>
              <a:rPr lang="en-US" dirty="0" smtClean="0"/>
              <a:t>Life insurance serves as a financial safety net that protects dependents from financial hardship when the primary income earner passes away. The proceeds from a life insurance policy can be used to:</a:t>
            </a:r>
          </a:p>
          <a:p>
            <a:r>
              <a:rPr lang="en-US" dirty="0" smtClean="0"/>
              <a:t>Replace lost income</a:t>
            </a:r>
          </a:p>
          <a:p>
            <a:r>
              <a:rPr lang="en-US" dirty="0" smtClean="0"/>
              <a:t>Pay off outstanding debts</a:t>
            </a:r>
          </a:p>
          <a:p>
            <a:r>
              <a:rPr lang="en-US" dirty="0" smtClean="0"/>
              <a:t>Fund children's education</a:t>
            </a:r>
          </a:p>
          <a:p>
            <a:r>
              <a:rPr lang="en-US" dirty="0" smtClean="0"/>
              <a:t>Cover daily living expenses</a:t>
            </a:r>
          </a:p>
          <a:p>
            <a:r>
              <a:rPr lang="en-US" dirty="0" smtClean="0"/>
              <a:t>Support long-term financial security for family members</a:t>
            </a:r>
          </a:p>
          <a:p>
            <a:endParaRPr lang="en-US" dirty="0"/>
          </a:p>
        </p:txBody>
      </p:sp>
    </p:spTree>
    <p:extLst>
      <p:ext uri="{BB962C8B-B14F-4D97-AF65-F5344CB8AC3E}">
        <p14:creationId xmlns:p14="http://schemas.microsoft.com/office/powerpoint/2010/main" val="1310129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Importance of Life Insurance Planning</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Despite its importance, many individuals lack adequate life insurance coverage due to limited financial awareness or incorrect estimation methods.</a:t>
            </a:r>
          </a:p>
          <a:p>
            <a:r>
              <a:rPr lang="en-US" dirty="0" smtClean="0"/>
              <a:t>A comprehensive life insurance planning model must consider several financial variables, including:</a:t>
            </a:r>
          </a:p>
          <a:p>
            <a:r>
              <a:rPr lang="en-US" dirty="0" smtClean="0"/>
              <a:t>Income replacement needs</a:t>
            </a:r>
          </a:p>
          <a:p>
            <a:r>
              <a:rPr lang="en-US" dirty="0" smtClean="0"/>
              <a:t>Outstanding liabilities</a:t>
            </a:r>
          </a:p>
          <a:p>
            <a:r>
              <a:rPr lang="en-US" dirty="0" smtClean="0"/>
              <a:t>Future family obligations</a:t>
            </a:r>
          </a:p>
          <a:p>
            <a:r>
              <a:rPr lang="en-US" dirty="0" smtClean="0"/>
              <a:t>Current savings and investments</a:t>
            </a:r>
          </a:p>
          <a:p>
            <a:r>
              <a:rPr lang="en-US" dirty="0" smtClean="0"/>
              <a:t>Existing insurance policies</a:t>
            </a:r>
          </a:p>
          <a:p>
            <a:r>
              <a:rPr lang="en-US" dirty="0" smtClean="0"/>
              <a:t>The </a:t>
            </a:r>
            <a:r>
              <a:rPr lang="en-US" b="1" dirty="0" smtClean="0"/>
              <a:t>Life Insurance Need Calculator 2.0</a:t>
            </a:r>
            <a:r>
              <a:rPr lang="en-US" dirty="0" smtClean="0"/>
              <a:t> integrates all these components to produce a more accurate estimate of the required life insurance coverage.</a:t>
            </a:r>
          </a:p>
          <a:p>
            <a:endParaRPr lang="en-US" dirty="0"/>
          </a:p>
        </p:txBody>
      </p:sp>
    </p:spTree>
    <p:extLst>
      <p:ext uri="{BB962C8B-B14F-4D97-AF65-F5344CB8AC3E}">
        <p14:creationId xmlns:p14="http://schemas.microsoft.com/office/powerpoint/2010/main" val="521539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a:xfrm>
            <a:off x="838200" y="1825625"/>
            <a:ext cx="10855036" cy="4351338"/>
          </a:xfrm>
        </p:spPr>
        <p:txBody>
          <a:bodyPr/>
          <a:lstStyle/>
          <a:p>
            <a:r>
              <a:rPr lang="en-US" dirty="0"/>
              <a:t>Since real-world financial datasets are often confidential, this project uses a </a:t>
            </a:r>
            <a:r>
              <a:rPr lang="en-US" b="1" dirty="0"/>
              <a:t>simulated dataset representing 1000 individuals</a:t>
            </a:r>
            <a:r>
              <a:rPr lang="en-US" dirty="0"/>
              <a:t>. The dataset was generated using Python to reflect realistic financial </a:t>
            </a:r>
            <a:r>
              <a:rPr lang="en-US" dirty="0" smtClean="0"/>
              <a:t>characteristics.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50625352"/>
              </p:ext>
            </p:extLst>
          </p:nvPr>
        </p:nvGraphicFramePr>
        <p:xfrm>
          <a:off x="1007918" y="3098483"/>
          <a:ext cx="10515600" cy="2926080"/>
        </p:xfrm>
        <a:graphic>
          <a:graphicData uri="http://schemas.openxmlformats.org/drawingml/2006/table">
            <a:tbl>
              <a:tblPr/>
              <a:tblGrid>
                <a:gridCol w="5257800">
                  <a:extLst>
                    <a:ext uri="{9D8B030D-6E8A-4147-A177-3AD203B41FA5}">
                      <a16:colId xmlns:a16="http://schemas.microsoft.com/office/drawing/2014/main" val="2792459494"/>
                    </a:ext>
                  </a:extLst>
                </a:gridCol>
                <a:gridCol w="5257800">
                  <a:extLst>
                    <a:ext uri="{9D8B030D-6E8A-4147-A177-3AD203B41FA5}">
                      <a16:colId xmlns:a16="http://schemas.microsoft.com/office/drawing/2014/main" val="1008845118"/>
                    </a:ext>
                  </a:extLst>
                </a:gridCol>
              </a:tblGrid>
              <a:tr h="0">
                <a:tc>
                  <a:txBody>
                    <a:bodyPr/>
                    <a:lstStyle/>
                    <a:p>
                      <a:r>
                        <a:rPr lang="en-US" b="1"/>
                        <a:t>Variable</a:t>
                      </a:r>
                    </a:p>
                  </a:txBody>
                  <a:tcPr anchor="ctr">
                    <a:lnL>
                      <a:noFill/>
                    </a:lnL>
                    <a:lnR>
                      <a:noFill/>
                    </a:lnR>
                    <a:lnT>
                      <a:noFill/>
                    </a:lnT>
                    <a:lnB>
                      <a:noFill/>
                    </a:lnB>
                  </a:tcPr>
                </a:tc>
                <a:tc>
                  <a:txBody>
                    <a:bodyPr/>
                    <a:lstStyle/>
                    <a:p>
                      <a:r>
                        <a:rPr lang="en-US" b="1"/>
                        <a:t>Description</a:t>
                      </a:r>
                    </a:p>
                  </a:txBody>
                  <a:tcPr anchor="ctr">
                    <a:lnL>
                      <a:noFill/>
                    </a:lnL>
                    <a:lnR>
                      <a:noFill/>
                    </a:lnR>
                    <a:lnT>
                      <a:noFill/>
                    </a:lnT>
                    <a:lnB>
                      <a:noFill/>
                    </a:lnB>
                  </a:tcPr>
                </a:tc>
                <a:extLst>
                  <a:ext uri="{0D108BD9-81ED-4DB2-BD59-A6C34878D82A}">
                    <a16:rowId xmlns:a16="http://schemas.microsoft.com/office/drawing/2014/main" val="3397784212"/>
                  </a:ext>
                </a:extLst>
              </a:tr>
              <a:tr h="0">
                <a:tc>
                  <a:txBody>
                    <a:bodyPr/>
                    <a:lstStyle/>
                    <a:p>
                      <a:r>
                        <a:rPr lang="en-US" b="1"/>
                        <a:t>Age Group</a:t>
                      </a:r>
                    </a:p>
                  </a:txBody>
                  <a:tcPr anchor="ctr">
                    <a:lnL>
                      <a:noFill/>
                    </a:lnL>
                    <a:lnR>
                      <a:noFill/>
                    </a:lnR>
                    <a:lnT>
                      <a:noFill/>
                    </a:lnT>
                    <a:lnB>
                      <a:noFill/>
                    </a:lnB>
                  </a:tcPr>
                </a:tc>
                <a:tc>
                  <a:txBody>
                    <a:bodyPr/>
                    <a:lstStyle/>
                    <a:p>
                      <a:r>
                        <a:rPr lang="en-US" b="1"/>
                        <a:t>Demographic age category</a:t>
                      </a:r>
                    </a:p>
                  </a:txBody>
                  <a:tcPr anchor="ctr">
                    <a:lnL>
                      <a:noFill/>
                    </a:lnL>
                    <a:lnR>
                      <a:noFill/>
                    </a:lnR>
                    <a:lnT>
                      <a:noFill/>
                    </a:lnT>
                    <a:lnB>
                      <a:noFill/>
                    </a:lnB>
                  </a:tcPr>
                </a:tc>
                <a:extLst>
                  <a:ext uri="{0D108BD9-81ED-4DB2-BD59-A6C34878D82A}">
                    <a16:rowId xmlns:a16="http://schemas.microsoft.com/office/drawing/2014/main" val="953661373"/>
                  </a:ext>
                </a:extLst>
              </a:tr>
              <a:tr h="0">
                <a:tc>
                  <a:txBody>
                    <a:bodyPr/>
                    <a:lstStyle/>
                    <a:p>
                      <a:r>
                        <a:rPr lang="en-US" b="1"/>
                        <a:t>Annual Income</a:t>
                      </a:r>
                    </a:p>
                  </a:txBody>
                  <a:tcPr anchor="ctr">
                    <a:lnL>
                      <a:noFill/>
                    </a:lnL>
                    <a:lnR>
                      <a:noFill/>
                    </a:lnR>
                    <a:lnT>
                      <a:noFill/>
                    </a:lnT>
                    <a:lnB>
                      <a:noFill/>
                    </a:lnB>
                  </a:tcPr>
                </a:tc>
                <a:tc>
                  <a:txBody>
                    <a:bodyPr/>
                    <a:lstStyle/>
                    <a:p>
                      <a:r>
                        <a:rPr lang="en-US" b="1"/>
                        <a:t>Individual yearly earnings</a:t>
                      </a:r>
                    </a:p>
                  </a:txBody>
                  <a:tcPr anchor="ctr">
                    <a:lnL>
                      <a:noFill/>
                    </a:lnL>
                    <a:lnR>
                      <a:noFill/>
                    </a:lnR>
                    <a:lnT>
                      <a:noFill/>
                    </a:lnT>
                    <a:lnB>
                      <a:noFill/>
                    </a:lnB>
                  </a:tcPr>
                </a:tc>
                <a:extLst>
                  <a:ext uri="{0D108BD9-81ED-4DB2-BD59-A6C34878D82A}">
                    <a16:rowId xmlns:a16="http://schemas.microsoft.com/office/drawing/2014/main" val="429553268"/>
                  </a:ext>
                </a:extLst>
              </a:tr>
              <a:tr h="0">
                <a:tc>
                  <a:txBody>
                    <a:bodyPr/>
                    <a:lstStyle/>
                    <a:p>
                      <a:r>
                        <a:rPr lang="en-US" b="1"/>
                        <a:t>Income Replacement Years</a:t>
                      </a:r>
                    </a:p>
                  </a:txBody>
                  <a:tcPr anchor="ctr">
                    <a:lnL>
                      <a:noFill/>
                    </a:lnL>
                    <a:lnR>
                      <a:noFill/>
                    </a:lnR>
                    <a:lnT>
                      <a:noFill/>
                    </a:lnT>
                    <a:lnB>
                      <a:noFill/>
                    </a:lnB>
                  </a:tcPr>
                </a:tc>
                <a:tc>
                  <a:txBody>
                    <a:bodyPr/>
                    <a:lstStyle/>
                    <a:p>
                      <a:r>
                        <a:rPr lang="en-US" b="1"/>
                        <a:t>Number of years income must support dependents</a:t>
                      </a:r>
                    </a:p>
                  </a:txBody>
                  <a:tcPr anchor="ctr">
                    <a:lnL>
                      <a:noFill/>
                    </a:lnL>
                    <a:lnR>
                      <a:noFill/>
                    </a:lnR>
                    <a:lnT>
                      <a:noFill/>
                    </a:lnT>
                    <a:lnB>
                      <a:noFill/>
                    </a:lnB>
                  </a:tcPr>
                </a:tc>
                <a:extLst>
                  <a:ext uri="{0D108BD9-81ED-4DB2-BD59-A6C34878D82A}">
                    <a16:rowId xmlns:a16="http://schemas.microsoft.com/office/drawing/2014/main" val="2319347974"/>
                  </a:ext>
                </a:extLst>
              </a:tr>
              <a:tr h="0">
                <a:tc>
                  <a:txBody>
                    <a:bodyPr/>
                    <a:lstStyle/>
                    <a:p>
                      <a:r>
                        <a:rPr lang="en-US" b="1"/>
                        <a:t>Liabilities</a:t>
                      </a:r>
                    </a:p>
                  </a:txBody>
                  <a:tcPr anchor="ctr">
                    <a:lnL>
                      <a:noFill/>
                    </a:lnL>
                    <a:lnR>
                      <a:noFill/>
                    </a:lnR>
                    <a:lnT>
                      <a:noFill/>
                    </a:lnT>
                    <a:lnB>
                      <a:noFill/>
                    </a:lnB>
                  </a:tcPr>
                </a:tc>
                <a:tc>
                  <a:txBody>
                    <a:bodyPr/>
                    <a:lstStyle/>
                    <a:p>
                      <a:r>
                        <a:rPr lang="en-US" b="1" dirty="0"/>
                        <a:t>Outstanding loans and financial obligations</a:t>
                      </a:r>
                    </a:p>
                  </a:txBody>
                  <a:tcPr anchor="ctr">
                    <a:lnL>
                      <a:noFill/>
                    </a:lnL>
                    <a:lnR>
                      <a:noFill/>
                    </a:lnR>
                    <a:lnT>
                      <a:noFill/>
                    </a:lnT>
                    <a:lnB>
                      <a:noFill/>
                    </a:lnB>
                  </a:tcPr>
                </a:tc>
                <a:extLst>
                  <a:ext uri="{0D108BD9-81ED-4DB2-BD59-A6C34878D82A}">
                    <a16:rowId xmlns:a16="http://schemas.microsoft.com/office/drawing/2014/main" val="145972744"/>
                  </a:ext>
                </a:extLst>
              </a:tr>
              <a:tr h="0">
                <a:tc>
                  <a:txBody>
                    <a:bodyPr/>
                    <a:lstStyle/>
                    <a:p>
                      <a:r>
                        <a:rPr lang="en-US" b="1"/>
                        <a:t>Future Expenses</a:t>
                      </a:r>
                    </a:p>
                  </a:txBody>
                  <a:tcPr anchor="ctr">
                    <a:lnL>
                      <a:noFill/>
                    </a:lnL>
                    <a:lnR>
                      <a:noFill/>
                    </a:lnR>
                    <a:lnT>
                      <a:noFill/>
                    </a:lnT>
                    <a:lnB>
                      <a:noFill/>
                    </a:lnB>
                  </a:tcPr>
                </a:tc>
                <a:tc>
                  <a:txBody>
                    <a:bodyPr/>
                    <a:lstStyle/>
                    <a:p>
                      <a:r>
                        <a:rPr lang="en-US" b="1"/>
                        <a:t>Estimated long-term expenses</a:t>
                      </a:r>
                    </a:p>
                  </a:txBody>
                  <a:tcPr anchor="ctr">
                    <a:lnL>
                      <a:noFill/>
                    </a:lnL>
                    <a:lnR>
                      <a:noFill/>
                    </a:lnR>
                    <a:lnT>
                      <a:noFill/>
                    </a:lnT>
                    <a:lnB>
                      <a:noFill/>
                    </a:lnB>
                  </a:tcPr>
                </a:tc>
                <a:extLst>
                  <a:ext uri="{0D108BD9-81ED-4DB2-BD59-A6C34878D82A}">
                    <a16:rowId xmlns:a16="http://schemas.microsoft.com/office/drawing/2014/main" val="707906969"/>
                  </a:ext>
                </a:extLst>
              </a:tr>
              <a:tr h="0">
                <a:tc>
                  <a:txBody>
                    <a:bodyPr/>
                    <a:lstStyle/>
                    <a:p>
                      <a:r>
                        <a:rPr lang="en-US" b="1"/>
                        <a:t>Savings</a:t>
                      </a:r>
                    </a:p>
                  </a:txBody>
                  <a:tcPr anchor="ctr">
                    <a:lnL>
                      <a:noFill/>
                    </a:lnL>
                    <a:lnR>
                      <a:noFill/>
                    </a:lnR>
                    <a:lnT>
                      <a:noFill/>
                    </a:lnT>
                    <a:lnB>
                      <a:noFill/>
                    </a:lnB>
                  </a:tcPr>
                </a:tc>
                <a:tc>
                  <a:txBody>
                    <a:bodyPr/>
                    <a:lstStyle/>
                    <a:p>
                      <a:r>
                        <a:rPr lang="en-US" b="1"/>
                        <a:t>Existing financial assets</a:t>
                      </a:r>
                    </a:p>
                  </a:txBody>
                  <a:tcPr anchor="ctr">
                    <a:lnL>
                      <a:noFill/>
                    </a:lnL>
                    <a:lnR>
                      <a:noFill/>
                    </a:lnR>
                    <a:lnT>
                      <a:noFill/>
                    </a:lnT>
                    <a:lnB>
                      <a:noFill/>
                    </a:lnB>
                  </a:tcPr>
                </a:tc>
                <a:extLst>
                  <a:ext uri="{0D108BD9-81ED-4DB2-BD59-A6C34878D82A}">
                    <a16:rowId xmlns:a16="http://schemas.microsoft.com/office/drawing/2014/main" val="626042001"/>
                  </a:ext>
                </a:extLst>
              </a:tr>
              <a:tr h="0">
                <a:tc>
                  <a:txBody>
                    <a:bodyPr/>
                    <a:lstStyle/>
                    <a:p>
                      <a:r>
                        <a:rPr lang="en-US" b="1"/>
                        <a:t>Existing Insurance</a:t>
                      </a:r>
                    </a:p>
                  </a:txBody>
                  <a:tcPr anchor="ctr">
                    <a:lnL>
                      <a:noFill/>
                    </a:lnL>
                    <a:lnR>
                      <a:noFill/>
                    </a:lnR>
                    <a:lnT>
                      <a:noFill/>
                    </a:lnT>
                    <a:lnB>
                      <a:noFill/>
                    </a:lnB>
                  </a:tcPr>
                </a:tc>
                <a:tc>
                  <a:txBody>
                    <a:bodyPr/>
                    <a:lstStyle/>
                    <a:p>
                      <a:r>
                        <a:rPr lang="en-US" b="1" dirty="0"/>
                        <a:t>Current life insurance coverage</a:t>
                      </a:r>
                    </a:p>
                  </a:txBody>
                  <a:tcPr anchor="ctr">
                    <a:lnL>
                      <a:noFill/>
                    </a:lnL>
                    <a:lnR>
                      <a:noFill/>
                    </a:lnR>
                    <a:lnT>
                      <a:noFill/>
                    </a:lnT>
                    <a:lnB>
                      <a:noFill/>
                    </a:lnB>
                  </a:tcPr>
                </a:tc>
                <a:extLst>
                  <a:ext uri="{0D108BD9-81ED-4DB2-BD59-A6C34878D82A}">
                    <a16:rowId xmlns:a16="http://schemas.microsoft.com/office/drawing/2014/main" val="2935766664"/>
                  </a:ext>
                </a:extLst>
              </a:tr>
            </a:tbl>
          </a:graphicData>
        </a:graphic>
      </p:graphicFrame>
      <p:sp>
        <p:nvSpPr>
          <p:cNvPr id="5" name="Rectangle 4"/>
          <p:cNvSpPr/>
          <p:nvPr/>
        </p:nvSpPr>
        <p:spPr>
          <a:xfrm>
            <a:off x="1007918" y="6024563"/>
            <a:ext cx="9660082" cy="646331"/>
          </a:xfrm>
          <a:prstGeom prst="rect">
            <a:avLst/>
          </a:prstGeom>
        </p:spPr>
        <p:txBody>
          <a:bodyPr wrap="square">
            <a:spAutoFit/>
          </a:bodyPr>
          <a:lstStyle/>
          <a:p>
            <a:r>
              <a:rPr lang="en-US" dirty="0"/>
              <a:t>The simulation approach ensures that the dataset reflects a realistic distribution of financial </a:t>
            </a:r>
            <a:r>
              <a:rPr lang="en-US" dirty="0" smtClean="0"/>
              <a:t>profiles</a:t>
            </a:r>
          </a:p>
          <a:p>
            <a:r>
              <a:rPr lang="en-US" dirty="0" smtClean="0"/>
              <a:t>across </a:t>
            </a:r>
            <a:r>
              <a:rPr lang="en-US" dirty="0"/>
              <a:t>the population.</a:t>
            </a:r>
          </a:p>
        </p:txBody>
      </p:sp>
    </p:spTree>
    <p:extLst>
      <p:ext uri="{BB962C8B-B14F-4D97-AF65-F5344CB8AC3E}">
        <p14:creationId xmlns:p14="http://schemas.microsoft.com/office/powerpoint/2010/main" val="2318471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Methodology</a:t>
            </a:r>
          </a:p>
        </p:txBody>
      </p:sp>
      <p:sp>
        <p:nvSpPr>
          <p:cNvPr id="3" name="Content Placeholder 2"/>
          <p:cNvSpPr>
            <a:spLocks noGrp="1"/>
          </p:cNvSpPr>
          <p:nvPr>
            <p:ph idx="1"/>
          </p:nvPr>
        </p:nvSpPr>
        <p:spPr/>
        <p:txBody>
          <a:bodyPr>
            <a:normAutofit fontScale="77500" lnSpcReduction="20000"/>
          </a:bodyPr>
          <a:lstStyle/>
          <a:p>
            <a:r>
              <a:rPr lang="en-US" dirty="0"/>
              <a:t>The Life Insurance Need Calculator 2.0 model estimates insurance coverage requirements using a structured financial framework</a:t>
            </a:r>
            <a:r>
              <a:rPr lang="en-US" dirty="0" smtClean="0"/>
              <a:t>.</a:t>
            </a:r>
          </a:p>
          <a:p>
            <a:r>
              <a:rPr lang="en-US" dirty="0"/>
              <a:t>The Life Insurance Need Calculator 2.0 model estimates insurance coverage requirements using a structured financial framework.</a:t>
            </a:r>
          </a:p>
          <a:p>
            <a:r>
              <a:rPr lang="en-US" b="1" dirty="0"/>
              <a:t>5.1 Income Replacement Model</a:t>
            </a:r>
          </a:p>
          <a:p>
            <a:r>
              <a:rPr lang="en-US" dirty="0"/>
              <a:t>The most important component of life insurance planning is </a:t>
            </a:r>
            <a:r>
              <a:rPr lang="en-US" b="1" dirty="0"/>
              <a:t>income replacement</a:t>
            </a:r>
            <a:r>
              <a:rPr lang="en-US" dirty="0"/>
              <a:t>, which ensures that dependents can maintain their standard of living after the policyholder's death.</a:t>
            </a:r>
          </a:p>
          <a:p>
            <a:r>
              <a:rPr lang="en-US" dirty="0"/>
              <a:t>The formula used in the model is:</a:t>
            </a:r>
          </a:p>
          <a:p>
            <a:r>
              <a:rPr lang="en-US" dirty="0"/>
              <a:t>Income Replacement Need =</a:t>
            </a:r>
            <a:br>
              <a:rPr lang="en-US" dirty="0"/>
            </a:br>
            <a:r>
              <a:rPr lang="en-US" dirty="0"/>
              <a:t>Annual Income × Income Replacement Years</a:t>
            </a:r>
          </a:p>
          <a:p>
            <a:r>
              <a:rPr lang="en-US" dirty="0"/>
              <a:t>For example, if an individual earns $50,000 annually and wants to replace income for 20 years, the required income replacement amount would be:</a:t>
            </a:r>
          </a:p>
          <a:p>
            <a:r>
              <a:rPr lang="en-US" dirty="0"/>
              <a:t>$50,000 × 20 = $1,000,000</a:t>
            </a:r>
          </a:p>
          <a:p>
            <a:endParaRPr lang="en-US" dirty="0"/>
          </a:p>
        </p:txBody>
      </p:sp>
    </p:spTree>
    <p:extLst>
      <p:ext uri="{BB962C8B-B14F-4D97-AF65-F5344CB8AC3E}">
        <p14:creationId xmlns:p14="http://schemas.microsoft.com/office/powerpoint/2010/main" val="1453333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5.2 Liabilities Coverage</a:t>
            </a:r>
          </a:p>
          <a:p>
            <a:r>
              <a:rPr lang="en-US" dirty="0"/>
              <a:t>Outstanding financial obligations must also be considered when calculating insurance needs. These include:</a:t>
            </a:r>
          </a:p>
          <a:p>
            <a:r>
              <a:rPr lang="en-US" dirty="0"/>
              <a:t>Home loans</a:t>
            </a:r>
          </a:p>
          <a:p>
            <a:r>
              <a:rPr lang="en-US" dirty="0"/>
              <a:t>Personal loans</a:t>
            </a:r>
          </a:p>
          <a:p>
            <a:r>
              <a:rPr lang="en-US" dirty="0"/>
              <a:t>Education loans</a:t>
            </a:r>
          </a:p>
          <a:p>
            <a:r>
              <a:rPr lang="en-US" dirty="0"/>
              <a:t>Credit card debt</a:t>
            </a:r>
          </a:p>
          <a:p>
            <a:r>
              <a:rPr lang="en-US" dirty="0"/>
              <a:t>Life insurance proceeds can help family members pay off these liabilities and avoid financial stress.</a:t>
            </a:r>
          </a:p>
          <a:p>
            <a:endParaRPr lang="en-US" dirty="0"/>
          </a:p>
        </p:txBody>
      </p:sp>
    </p:spTree>
    <p:extLst>
      <p:ext uri="{BB962C8B-B14F-4D97-AF65-F5344CB8AC3E}">
        <p14:creationId xmlns:p14="http://schemas.microsoft.com/office/powerpoint/2010/main" val="1392679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Methodology </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a:t>5.3 Future Financial Goals</a:t>
            </a:r>
          </a:p>
          <a:p>
            <a:r>
              <a:rPr lang="en-US" dirty="0"/>
              <a:t>Future financial commitments such as children's education and marriage expenses must also be accounted for. These expenses often represent large financial requirements that families may struggle to meet without proper insurance planning.</a:t>
            </a:r>
          </a:p>
          <a:p>
            <a:r>
              <a:rPr lang="en-US" b="1" dirty="0"/>
              <a:t>5.4 Available Financial Resources</a:t>
            </a:r>
          </a:p>
          <a:p>
            <a:r>
              <a:rPr lang="en-US" dirty="0"/>
              <a:t>Existing financial assets reduce the total insurance coverage required. These resources include:</a:t>
            </a:r>
          </a:p>
          <a:p>
            <a:r>
              <a:rPr lang="en-US" dirty="0"/>
              <a:t>Savings accounts</a:t>
            </a:r>
          </a:p>
          <a:p>
            <a:r>
              <a:rPr lang="en-US" dirty="0"/>
              <a:t>Investment portfolios</a:t>
            </a:r>
          </a:p>
          <a:p>
            <a:r>
              <a:rPr lang="en-US" dirty="0"/>
              <a:t>Retirement funds</a:t>
            </a:r>
          </a:p>
          <a:p>
            <a:r>
              <a:rPr lang="en-US" dirty="0"/>
              <a:t>Existing life insurance policies</a:t>
            </a:r>
          </a:p>
          <a:p>
            <a:endParaRPr lang="en-US" dirty="0"/>
          </a:p>
        </p:txBody>
      </p:sp>
    </p:spTree>
    <p:extLst>
      <p:ext uri="{BB962C8B-B14F-4D97-AF65-F5344CB8AC3E}">
        <p14:creationId xmlns:p14="http://schemas.microsoft.com/office/powerpoint/2010/main" val="242716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Final Life Insurance Need Formula</a:t>
            </a:r>
          </a:p>
        </p:txBody>
      </p:sp>
      <p:sp>
        <p:nvSpPr>
          <p:cNvPr id="3" name="Content Placeholder 2"/>
          <p:cNvSpPr>
            <a:spLocks noGrp="1"/>
          </p:cNvSpPr>
          <p:nvPr>
            <p:ph idx="1"/>
          </p:nvPr>
        </p:nvSpPr>
        <p:spPr/>
        <p:txBody>
          <a:bodyPr/>
          <a:lstStyle/>
          <a:p>
            <a:r>
              <a:rPr lang="en-US" dirty="0"/>
              <a:t>The final life insurance requirement is calculated as:</a:t>
            </a:r>
          </a:p>
          <a:p>
            <a:r>
              <a:rPr lang="en-US" dirty="0"/>
              <a:t>Recommended Life Insurance Coverage =</a:t>
            </a:r>
          </a:p>
          <a:p>
            <a:r>
              <a:rPr lang="en-US" dirty="0"/>
              <a:t>(Income Replacement + Liabilities + Future Expenses)</a:t>
            </a:r>
            <a:br>
              <a:rPr lang="en-US" dirty="0"/>
            </a:br>
            <a:r>
              <a:rPr lang="en-US" dirty="0"/>
              <a:t>− (Savings + Existing Insurance)</a:t>
            </a:r>
          </a:p>
          <a:p>
            <a:r>
              <a:rPr lang="en-US" dirty="0"/>
              <a:t>If the result is negative, the individual already has sufficient financial coverage.</a:t>
            </a:r>
          </a:p>
          <a:p>
            <a:endParaRPr lang="en-US" dirty="0"/>
          </a:p>
        </p:txBody>
      </p:sp>
    </p:spTree>
    <p:extLst>
      <p:ext uri="{BB962C8B-B14F-4D97-AF65-F5344CB8AC3E}">
        <p14:creationId xmlns:p14="http://schemas.microsoft.com/office/powerpoint/2010/main" val="3890823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289" y="1825625"/>
            <a:ext cx="7015421" cy="4351338"/>
          </a:xfrm>
        </p:spPr>
      </p:pic>
    </p:spTree>
    <p:extLst>
      <p:ext uri="{BB962C8B-B14F-4D97-AF65-F5344CB8AC3E}">
        <p14:creationId xmlns:p14="http://schemas.microsoft.com/office/powerpoint/2010/main" val="374217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Analytics</a:t>
            </a:r>
          </a:p>
        </p:txBody>
      </p:sp>
      <p:sp>
        <p:nvSpPr>
          <p:cNvPr id="3" name="Content Placeholder 2"/>
          <p:cNvSpPr>
            <a:spLocks noGrp="1"/>
          </p:cNvSpPr>
          <p:nvPr>
            <p:ph idx="1"/>
          </p:nvPr>
        </p:nvSpPr>
        <p:spPr/>
        <p:txBody>
          <a:bodyPr>
            <a:normAutofit fontScale="85000" lnSpcReduction="20000"/>
          </a:bodyPr>
          <a:lstStyle/>
          <a:p>
            <a:r>
              <a:rPr lang="en-US" dirty="0"/>
              <a:t>To better understand the distribution of insurance needs, multiple visualization techniques were used in this project.</a:t>
            </a:r>
          </a:p>
          <a:p>
            <a:r>
              <a:rPr lang="en-US" b="1" dirty="0"/>
              <a:t>7.1 Histogram Analysis</a:t>
            </a:r>
          </a:p>
          <a:p>
            <a:r>
              <a:rPr lang="en-US" dirty="0"/>
              <a:t>The histogram displays the </a:t>
            </a:r>
            <a:r>
              <a:rPr lang="en-US" b="1" dirty="0"/>
              <a:t>distribution of life insurance coverage needs across individuals</a:t>
            </a:r>
            <a:r>
              <a:rPr lang="en-US" dirty="0"/>
              <a:t>.</a:t>
            </a:r>
          </a:p>
          <a:p>
            <a:r>
              <a:rPr lang="en-US" dirty="0"/>
              <a:t>Key observations include:</a:t>
            </a:r>
          </a:p>
          <a:p>
            <a:r>
              <a:rPr lang="en-US" dirty="0"/>
              <a:t>Most individuals require moderate levels of insurance coverage.</a:t>
            </a:r>
          </a:p>
          <a:p>
            <a:r>
              <a:rPr lang="en-US" dirty="0"/>
              <a:t>A smaller portion of individuals require extremely large insurance policies due to higher income levels and financial obligations.</a:t>
            </a:r>
          </a:p>
          <a:p>
            <a:r>
              <a:rPr lang="en-US" dirty="0"/>
              <a:t>The distribution is </a:t>
            </a:r>
            <a:r>
              <a:rPr lang="en-US" b="1" dirty="0"/>
              <a:t>right-skewed</a:t>
            </a:r>
            <a:r>
              <a:rPr lang="en-US" dirty="0"/>
              <a:t>, meaning a small percentage of individuals have very large insurance needs.</a:t>
            </a:r>
          </a:p>
          <a:p>
            <a:r>
              <a:rPr lang="en-US" dirty="0"/>
              <a:t>This insight is important for insurance companies when designing product offerings.</a:t>
            </a:r>
          </a:p>
          <a:p>
            <a:endParaRPr lang="en-US" dirty="0"/>
          </a:p>
        </p:txBody>
      </p:sp>
    </p:spTree>
    <p:extLst>
      <p:ext uri="{BB962C8B-B14F-4D97-AF65-F5344CB8AC3E}">
        <p14:creationId xmlns:p14="http://schemas.microsoft.com/office/powerpoint/2010/main" val="2293178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289" y="1825625"/>
            <a:ext cx="7015421" cy="4351338"/>
          </a:xfrm>
        </p:spPr>
      </p:pic>
    </p:spTree>
    <p:extLst>
      <p:ext uri="{BB962C8B-B14F-4D97-AF65-F5344CB8AC3E}">
        <p14:creationId xmlns:p14="http://schemas.microsoft.com/office/powerpoint/2010/main" val="3658716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Analytics</a:t>
            </a:r>
          </a:p>
        </p:txBody>
      </p:sp>
      <p:sp>
        <p:nvSpPr>
          <p:cNvPr id="3" name="Content Placeholder 2"/>
          <p:cNvSpPr>
            <a:spLocks noGrp="1"/>
          </p:cNvSpPr>
          <p:nvPr>
            <p:ph idx="1"/>
          </p:nvPr>
        </p:nvSpPr>
        <p:spPr/>
        <p:txBody>
          <a:bodyPr>
            <a:normAutofit lnSpcReduction="10000"/>
          </a:bodyPr>
          <a:lstStyle/>
          <a:p>
            <a:r>
              <a:rPr lang="en-US" b="1" dirty="0"/>
              <a:t>7.2 Bar Chart Analysis</a:t>
            </a:r>
          </a:p>
          <a:p>
            <a:r>
              <a:rPr lang="en-US" dirty="0"/>
              <a:t>The bar chart compares </a:t>
            </a:r>
            <a:r>
              <a:rPr lang="en-US" b="1" dirty="0"/>
              <a:t>average insurance coverage needs across age groups</a:t>
            </a:r>
            <a:r>
              <a:rPr lang="en-US" dirty="0"/>
              <a:t>.</a:t>
            </a:r>
          </a:p>
          <a:p>
            <a:r>
              <a:rPr lang="en-US" dirty="0"/>
              <a:t>Key observations:</a:t>
            </a:r>
          </a:p>
          <a:p>
            <a:r>
              <a:rPr lang="en-US" dirty="0"/>
              <a:t>Younger individuals typically require higher coverage due to longer financial responsibilities.</a:t>
            </a:r>
          </a:p>
          <a:p>
            <a:r>
              <a:rPr lang="en-US" dirty="0"/>
              <a:t>Middle-aged individuals often show the highest coverage requirements because of mortgages and family responsibilities.</a:t>
            </a:r>
          </a:p>
          <a:p>
            <a:r>
              <a:rPr lang="en-US" dirty="0"/>
              <a:t>Older individuals generally require lower coverage as liabilities decrease.</a:t>
            </a:r>
          </a:p>
          <a:p>
            <a:endParaRPr lang="en-US" dirty="0"/>
          </a:p>
        </p:txBody>
      </p:sp>
    </p:spTree>
    <p:extLst>
      <p:ext uri="{BB962C8B-B14F-4D97-AF65-F5344CB8AC3E}">
        <p14:creationId xmlns:p14="http://schemas.microsoft.com/office/powerpoint/2010/main" val="90951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289" y="1825625"/>
            <a:ext cx="7015421" cy="4351338"/>
          </a:xfrm>
        </p:spPr>
      </p:pic>
    </p:spTree>
    <p:extLst>
      <p:ext uri="{BB962C8B-B14F-4D97-AF65-F5344CB8AC3E}">
        <p14:creationId xmlns:p14="http://schemas.microsoft.com/office/powerpoint/2010/main" val="3341858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Analytics</a:t>
            </a:r>
          </a:p>
        </p:txBody>
      </p:sp>
      <p:sp>
        <p:nvSpPr>
          <p:cNvPr id="3" name="Content Placeholder 2"/>
          <p:cNvSpPr>
            <a:spLocks noGrp="1"/>
          </p:cNvSpPr>
          <p:nvPr>
            <p:ph idx="1"/>
          </p:nvPr>
        </p:nvSpPr>
        <p:spPr/>
        <p:txBody>
          <a:bodyPr/>
          <a:lstStyle/>
          <a:p>
            <a:r>
              <a:rPr lang="en-US" b="1" dirty="0"/>
              <a:t>7.3 Stacked Bar Chart Analysis</a:t>
            </a:r>
          </a:p>
          <a:p>
            <a:r>
              <a:rPr lang="en-US" dirty="0"/>
              <a:t>The stacked bar chart breaks down insurance needs across </a:t>
            </a:r>
            <a:r>
              <a:rPr lang="en-US" b="1" dirty="0"/>
              <a:t>age groups and income levels</a:t>
            </a:r>
            <a:r>
              <a:rPr lang="en-US" dirty="0"/>
              <a:t>.</a:t>
            </a:r>
          </a:p>
          <a:p>
            <a:r>
              <a:rPr lang="en-US" dirty="0"/>
              <a:t>This analysis reveals:</a:t>
            </a:r>
          </a:p>
          <a:p>
            <a:r>
              <a:rPr lang="en-US" dirty="0"/>
              <a:t>High-income individuals require significantly larger insurance coverage.</a:t>
            </a:r>
          </a:p>
          <a:p>
            <a:r>
              <a:rPr lang="en-US" dirty="0"/>
              <a:t>Middle-income groups form the largest customer segment for insurance companies.</a:t>
            </a:r>
          </a:p>
          <a:p>
            <a:r>
              <a:rPr lang="en-US" dirty="0"/>
              <a:t>Insurance demand varies significantly across demographic segments.</a:t>
            </a:r>
          </a:p>
          <a:p>
            <a:endParaRPr lang="en-US" dirty="0"/>
          </a:p>
        </p:txBody>
      </p:sp>
    </p:spTree>
    <p:extLst>
      <p:ext uri="{BB962C8B-B14F-4D97-AF65-F5344CB8AC3E}">
        <p14:creationId xmlns:p14="http://schemas.microsoft.com/office/powerpoint/2010/main" val="2107084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289" y="1825625"/>
            <a:ext cx="7015421" cy="4351338"/>
          </a:xfrm>
        </p:spPr>
      </p:pic>
    </p:spTree>
    <p:extLst>
      <p:ext uri="{BB962C8B-B14F-4D97-AF65-F5344CB8AC3E}">
        <p14:creationId xmlns:p14="http://schemas.microsoft.com/office/powerpoint/2010/main" val="3651960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7.4 Combined Stacked Bar Chart Analysis</a:t>
            </a:r>
          </a:p>
          <a:p>
            <a:r>
              <a:rPr lang="en-US" dirty="0"/>
              <a:t>The combined stacked bar chart compares </a:t>
            </a:r>
            <a:r>
              <a:rPr lang="en-US" b="1" dirty="0"/>
              <a:t>income replacement needs, liabilities, and available resources across age groups</a:t>
            </a:r>
            <a:r>
              <a:rPr lang="en-US" dirty="0"/>
              <a:t>.</a:t>
            </a:r>
          </a:p>
          <a:p>
            <a:r>
              <a:rPr lang="en-US" dirty="0"/>
              <a:t>This visualization highlights:</a:t>
            </a:r>
          </a:p>
          <a:p>
            <a:r>
              <a:rPr lang="en-US" dirty="0"/>
              <a:t>Income replacement is the largest component of insurance needs.</a:t>
            </a:r>
          </a:p>
          <a:p>
            <a:r>
              <a:rPr lang="en-US" dirty="0"/>
              <a:t>Liabilities peak in middle-age groups due to home loans and financial commitments.</a:t>
            </a:r>
          </a:p>
          <a:p>
            <a:r>
              <a:rPr lang="en-US" dirty="0"/>
              <a:t>Available resources increase with age due to savings accumulation.</a:t>
            </a:r>
          </a:p>
          <a:p>
            <a:endParaRPr lang="en-US" dirty="0"/>
          </a:p>
        </p:txBody>
      </p:sp>
    </p:spTree>
    <p:extLst>
      <p:ext uri="{BB962C8B-B14F-4D97-AF65-F5344CB8AC3E}">
        <p14:creationId xmlns:p14="http://schemas.microsoft.com/office/powerpoint/2010/main" val="1764586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Applications</a:t>
            </a:r>
          </a:p>
        </p:txBody>
      </p:sp>
      <p:sp>
        <p:nvSpPr>
          <p:cNvPr id="40" name="Rectangle 39"/>
          <p:cNvSpPr/>
          <p:nvPr/>
        </p:nvSpPr>
        <p:spPr>
          <a:xfrm>
            <a:off x="1025236" y="1789790"/>
            <a:ext cx="10501746" cy="1938992"/>
          </a:xfrm>
          <a:prstGeom prst="rect">
            <a:avLst/>
          </a:prstGeom>
        </p:spPr>
        <p:txBody>
          <a:bodyPr wrap="square">
            <a:spAutoFit/>
          </a:bodyPr>
          <a:lstStyle/>
          <a:p>
            <a:r>
              <a:rPr lang="en-US" sz="2400" dirty="0"/>
              <a:t>The Life Insurance Need Calculator 2.0 has several practical applications in the financial services industry.</a:t>
            </a:r>
          </a:p>
          <a:p>
            <a:r>
              <a:rPr lang="en-US" sz="2400" b="1" dirty="0"/>
              <a:t>Financial Planning</a:t>
            </a:r>
          </a:p>
          <a:p>
            <a:r>
              <a:rPr lang="en-US" sz="2400" dirty="0"/>
              <a:t>Financial advisors can use the model to estimate appropriate insurance coverage for clients.</a:t>
            </a:r>
          </a:p>
        </p:txBody>
      </p:sp>
      <p:sp>
        <p:nvSpPr>
          <p:cNvPr id="42" name="Rectangle 41"/>
          <p:cNvSpPr/>
          <p:nvPr/>
        </p:nvSpPr>
        <p:spPr>
          <a:xfrm>
            <a:off x="1025236" y="3827884"/>
            <a:ext cx="10328564" cy="1200329"/>
          </a:xfrm>
          <a:prstGeom prst="rect">
            <a:avLst/>
          </a:prstGeom>
        </p:spPr>
        <p:txBody>
          <a:bodyPr wrap="square">
            <a:spAutoFit/>
          </a:bodyPr>
          <a:lstStyle/>
          <a:p>
            <a:r>
              <a:rPr lang="en-US" sz="2400" b="1" dirty="0"/>
              <a:t>Insurance Product Design</a:t>
            </a:r>
          </a:p>
          <a:p>
            <a:r>
              <a:rPr lang="en-US" sz="2400" dirty="0"/>
              <a:t>Insurance companies can analyze coverage demand patterns and design suitable insurance policies.</a:t>
            </a:r>
          </a:p>
        </p:txBody>
      </p:sp>
      <p:sp>
        <p:nvSpPr>
          <p:cNvPr id="44" name="Rectangle 43"/>
          <p:cNvSpPr/>
          <p:nvPr/>
        </p:nvSpPr>
        <p:spPr>
          <a:xfrm>
            <a:off x="1025235" y="5127315"/>
            <a:ext cx="11166765" cy="1200329"/>
          </a:xfrm>
          <a:prstGeom prst="rect">
            <a:avLst/>
          </a:prstGeom>
        </p:spPr>
        <p:txBody>
          <a:bodyPr wrap="square">
            <a:spAutoFit/>
          </a:bodyPr>
          <a:lstStyle/>
          <a:p>
            <a:r>
              <a:rPr lang="en-US" sz="2400" b="1" dirty="0"/>
              <a:t>Customer Segmentation</a:t>
            </a:r>
          </a:p>
          <a:p>
            <a:r>
              <a:rPr lang="en-US" sz="2400" dirty="0"/>
              <a:t>Analytics can help insurers identify different customer segments based on income, age, and financial responsibilities.</a:t>
            </a:r>
          </a:p>
        </p:txBody>
      </p:sp>
    </p:spTree>
    <p:extLst>
      <p:ext uri="{BB962C8B-B14F-4D97-AF65-F5344CB8AC3E}">
        <p14:creationId xmlns:p14="http://schemas.microsoft.com/office/powerpoint/2010/main" val="2109982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Applications</a:t>
            </a:r>
          </a:p>
        </p:txBody>
      </p:sp>
      <p:sp>
        <p:nvSpPr>
          <p:cNvPr id="13" name="Rectangle 12"/>
          <p:cNvSpPr/>
          <p:nvPr/>
        </p:nvSpPr>
        <p:spPr>
          <a:xfrm>
            <a:off x="1052946" y="1690688"/>
            <a:ext cx="10778836" cy="1200329"/>
          </a:xfrm>
          <a:prstGeom prst="rect">
            <a:avLst/>
          </a:prstGeom>
        </p:spPr>
        <p:txBody>
          <a:bodyPr wrap="square">
            <a:spAutoFit/>
          </a:bodyPr>
          <a:lstStyle/>
          <a:p>
            <a:r>
              <a:rPr lang="en-US" sz="2400" b="1" dirty="0"/>
              <a:t>Risk Assessment</a:t>
            </a:r>
          </a:p>
          <a:p>
            <a:r>
              <a:rPr lang="en-US" sz="2400" dirty="0"/>
              <a:t>The model helps insurers evaluate the potential risk exposure associated with policyholders.</a:t>
            </a:r>
          </a:p>
        </p:txBody>
      </p:sp>
      <p:sp>
        <p:nvSpPr>
          <p:cNvPr id="14" name="Rectangle 13"/>
          <p:cNvSpPr/>
          <p:nvPr/>
        </p:nvSpPr>
        <p:spPr>
          <a:xfrm>
            <a:off x="1052946" y="3016251"/>
            <a:ext cx="10889672" cy="1200329"/>
          </a:xfrm>
          <a:prstGeom prst="rect">
            <a:avLst/>
          </a:prstGeom>
        </p:spPr>
        <p:txBody>
          <a:bodyPr wrap="square">
            <a:spAutoFit/>
          </a:bodyPr>
          <a:lstStyle/>
          <a:p>
            <a:r>
              <a:rPr lang="en-US" sz="2400" b="1" dirty="0"/>
              <a:t>Digital Insurance Platforms</a:t>
            </a:r>
          </a:p>
          <a:p>
            <a:r>
              <a:rPr lang="en-US" sz="2400" dirty="0"/>
              <a:t>The calculator can be integrated into online financial planning tools to provide personalized insurance recommendations.</a:t>
            </a:r>
          </a:p>
        </p:txBody>
      </p:sp>
    </p:spTree>
    <p:extLst>
      <p:ext uri="{BB962C8B-B14F-4D97-AF65-F5344CB8AC3E}">
        <p14:creationId xmlns:p14="http://schemas.microsoft.com/office/powerpoint/2010/main" val="585324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Key </a:t>
            </a:r>
            <a:r>
              <a:rPr lang="en-US" b="1" dirty="0"/>
              <a:t>Insights</a:t>
            </a:r>
            <a:br>
              <a:rPr lang="en-US" b="1" dirty="0"/>
            </a:br>
            <a:endParaRPr lang="en-US" b="1" dirty="0"/>
          </a:p>
        </p:txBody>
      </p:sp>
      <p:sp>
        <p:nvSpPr>
          <p:cNvPr id="3" name="Content Placeholder 2"/>
          <p:cNvSpPr>
            <a:spLocks noGrp="1"/>
          </p:cNvSpPr>
          <p:nvPr>
            <p:ph idx="1"/>
          </p:nvPr>
        </p:nvSpPr>
        <p:spPr>
          <a:xfrm>
            <a:off x="34636" y="1797916"/>
            <a:ext cx="12122727" cy="4351338"/>
          </a:xfrm>
        </p:spPr>
        <p:txBody>
          <a:bodyPr>
            <a:normAutofit fontScale="92500"/>
          </a:bodyPr>
          <a:lstStyle/>
          <a:p>
            <a:r>
              <a:rPr lang="en-US" b="1" dirty="0"/>
              <a:t>1. Income replacement is the largest component of life insurance coverage </a:t>
            </a:r>
            <a:r>
              <a:rPr lang="en-US" b="1" dirty="0" smtClean="0"/>
              <a:t>needs</a:t>
            </a:r>
            <a:r>
              <a:rPr lang="en-US" b="1" dirty="0"/>
              <a:t>.</a:t>
            </a:r>
            <a:endParaRPr lang="en-US" dirty="0"/>
          </a:p>
          <a:p>
            <a:r>
              <a:rPr lang="en-US" b="1" dirty="0"/>
              <a:t>2. Middle-aged individuals typically require the highest life insurance coverage.</a:t>
            </a:r>
            <a:endParaRPr lang="en-US" dirty="0"/>
          </a:p>
          <a:p>
            <a:r>
              <a:rPr lang="en-US" b="1" dirty="0"/>
              <a:t>3. Financial liabilities significantly increase insurance requirements.</a:t>
            </a:r>
            <a:endParaRPr lang="en-US" dirty="0"/>
          </a:p>
          <a:p>
            <a:r>
              <a:rPr lang="en-US" b="1" dirty="0"/>
              <a:t>4. Higher income levels lead to substantially greater insurance coverage needs.</a:t>
            </a:r>
            <a:endParaRPr lang="en-US" dirty="0"/>
          </a:p>
          <a:p>
            <a:r>
              <a:rPr lang="en-US" b="1" dirty="0"/>
              <a:t>5. Available savings and investments reduce insurance dependency.</a:t>
            </a:r>
            <a:endParaRPr lang="en-US" dirty="0"/>
          </a:p>
          <a:p>
            <a:r>
              <a:rPr lang="en-US" b="1" dirty="0"/>
              <a:t>6. Insurance demand varies significantly across demographic segments.</a:t>
            </a:r>
            <a:endParaRPr lang="en-US" dirty="0"/>
          </a:p>
          <a:p>
            <a:r>
              <a:rPr lang="en-US" b="1" dirty="0"/>
              <a:t>7. Data-driven financial planning improves insurance coverage accuracy.</a:t>
            </a:r>
            <a:endParaRPr lang="en-US" dirty="0"/>
          </a:p>
          <a:p>
            <a:r>
              <a:rPr lang="en-US" b="1" dirty="0"/>
              <a:t>8. Visualization techniques help identify patterns in financial protection </a:t>
            </a:r>
            <a:r>
              <a:rPr lang="en-US" b="1" dirty="0" smtClean="0"/>
              <a:t>needs.</a:t>
            </a:r>
          </a:p>
          <a:p>
            <a:r>
              <a:rPr lang="en-US" b="1" dirty="0"/>
              <a:t>9. Personalized insurance calculators improve financial decision-making.</a:t>
            </a:r>
            <a:endParaRPr lang="en-US" dirty="0"/>
          </a:p>
          <a:p>
            <a:endParaRPr lang="en-US" dirty="0"/>
          </a:p>
        </p:txBody>
      </p:sp>
    </p:spTree>
    <p:extLst>
      <p:ext uri="{BB962C8B-B14F-4D97-AF65-F5344CB8AC3E}">
        <p14:creationId xmlns:p14="http://schemas.microsoft.com/office/powerpoint/2010/main" val="349376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Conclusion</a:t>
            </a:r>
            <a:endParaRPr lang="en-US" b="1" dirty="0"/>
          </a:p>
        </p:txBody>
      </p:sp>
      <p:sp>
        <p:nvSpPr>
          <p:cNvPr id="3" name="Content Placeholder 2"/>
          <p:cNvSpPr>
            <a:spLocks noGrp="1"/>
          </p:cNvSpPr>
          <p:nvPr>
            <p:ph idx="1"/>
          </p:nvPr>
        </p:nvSpPr>
        <p:spPr/>
        <p:txBody>
          <a:bodyPr>
            <a:normAutofit fontScale="85000" lnSpcReduction="20000"/>
          </a:bodyPr>
          <a:lstStyle/>
          <a:p>
            <a:r>
              <a:rPr lang="en-US" dirty="0"/>
              <a:t>Life insurance is an essential financial planning tool that protects families from financial uncertainty. However, determining the correct amount of coverage requires careful analysis of income, liabilities, future obligations, and existing financial resources.</a:t>
            </a:r>
          </a:p>
          <a:p>
            <a:r>
              <a:rPr lang="en-US" dirty="0"/>
              <a:t>The </a:t>
            </a:r>
            <a:r>
              <a:rPr lang="en-US" b="1" dirty="0"/>
              <a:t>Life Insurance Need Calculator 2.0</a:t>
            </a:r>
            <a:r>
              <a:rPr lang="en-US" dirty="0"/>
              <a:t> project demonstrates how data analytics and financial modeling can be used to estimate insurance coverage requirements more accurately. By integrating multiple financial components into a unified framework, the model provides a comprehensive estimate of life insurance needs.</a:t>
            </a:r>
          </a:p>
          <a:p>
            <a:r>
              <a:rPr lang="en-US" dirty="0"/>
              <a:t>The use of data visualization techniques enhances understanding of financial risk patterns and enables more effective decision-making for individuals and insurance providers.</a:t>
            </a:r>
          </a:p>
          <a:p>
            <a:r>
              <a:rPr lang="en-US" dirty="0"/>
              <a:t>Ultimately, data-driven insurance planning can improve financial security, optimize insurance product offerings, and support long-term financial stability for families.</a:t>
            </a:r>
          </a:p>
          <a:p>
            <a:endParaRPr lang="en-US" smtClean="0"/>
          </a:p>
          <a:p>
            <a:pPr marL="0" indent="0">
              <a:buNone/>
            </a:pPr>
            <a:endParaRPr lang="en-US" dirty="0"/>
          </a:p>
        </p:txBody>
      </p:sp>
    </p:spTree>
    <p:extLst>
      <p:ext uri="{BB962C8B-B14F-4D97-AF65-F5344CB8AC3E}">
        <p14:creationId xmlns:p14="http://schemas.microsoft.com/office/powerpoint/2010/main" val="3881625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1445</Words>
  <Application>Microsoft Office PowerPoint</Application>
  <PresentationFormat>Widescreen</PresentationFormat>
  <Paragraphs>153</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CIDFont+F1</vt:lpstr>
      <vt:lpstr>Office Theme</vt:lpstr>
      <vt:lpstr>Life Insurance Need Calculator 2.0</vt:lpstr>
      <vt:lpstr>Google Colab URL</vt:lpstr>
      <vt:lpstr>Introduction</vt:lpstr>
      <vt:lpstr>Introduction</vt:lpstr>
      <vt:lpstr>Objectives of the Study</vt:lpstr>
      <vt:lpstr>Importance of Life Insurance Planning</vt:lpstr>
      <vt:lpstr>Importance of Life Insurance Planning</vt:lpstr>
      <vt:lpstr>Dataset Description</vt:lpstr>
      <vt:lpstr>Methodology</vt:lpstr>
      <vt:lpstr>Methodology</vt:lpstr>
      <vt:lpstr>Methodology </vt:lpstr>
      <vt:lpstr>Final Life Insurance Need Formula</vt:lpstr>
      <vt:lpstr>Data Visualization</vt:lpstr>
      <vt:lpstr>Data Visualization and Analytics</vt:lpstr>
      <vt:lpstr>Data Visualization</vt:lpstr>
      <vt:lpstr>Data Visualization and Analytics</vt:lpstr>
      <vt:lpstr>Data Visualization</vt:lpstr>
      <vt:lpstr>Data Visualization and Analytics</vt:lpstr>
      <vt:lpstr>Data Visualization</vt:lpstr>
      <vt:lpstr>Methodology</vt:lpstr>
      <vt:lpstr>Business Applications</vt:lpstr>
      <vt:lpstr>Business Applications</vt:lpstr>
      <vt:lpstr> Key Insights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Insurance Need Calculator 2.0</dc:title>
  <dc:creator>KUMAR</dc:creator>
  <cp:lastModifiedBy>KUMAR</cp:lastModifiedBy>
  <cp:revision>38</cp:revision>
  <dcterms:created xsi:type="dcterms:W3CDTF">2026-03-14T05:47:19Z</dcterms:created>
  <dcterms:modified xsi:type="dcterms:W3CDTF">2026-03-14T13:14:19Z</dcterms:modified>
</cp:coreProperties>
</file>