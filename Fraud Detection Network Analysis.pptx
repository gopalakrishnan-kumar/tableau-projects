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35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69CCC7-1A79-438D-BDD9-4CDA0941F547}" type="datetimeFigureOut">
              <a:rPr lang="en-US" smtClean="0"/>
              <a:t>2/10/2026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3695D5-4A2E-4909-8A6F-3FE63FB9C837}" type="slidenum">
              <a:rPr lang="en-US" smtClean="0"/>
              <a:t>‹#›</a:t>
            </a:fld>
            <a:endParaRPr lang="en-US"/>
          </a:p>
        </p:txBody>
      </p:sp>
    </p:spTree>
    <p:extLst>
      <p:ext uri="{BB962C8B-B14F-4D97-AF65-F5344CB8AC3E}">
        <p14:creationId xmlns:p14="http://schemas.microsoft.com/office/powerpoint/2010/main" val="36361948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3695D5-4A2E-4909-8A6F-3FE63FB9C837}" type="slidenum">
              <a:rPr lang="en-US" smtClean="0"/>
              <a:t>9</a:t>
            </a:fld>
            <a:endParaRPr lang="en-US"/>
          </a:p>
        </p:txBody>
      </p:sp>
    </p:spTree>
    <p:extLst>
      <p:ext uri="{BB962C8B-B14F-4D97-AF65-F5344CB8AC3E}">
        <p14:creationId xmlns:p14="http://schemas.microsoft.com/office/powerpoint/2010/main" val="17071471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3695D5-4A2E-4909-8A6F-3FE63FB9C837}" type="slidenum">
              <a:rPr lang="en-US" smtClean="0"/>
              <a:t>14</a:t>
            </a:fld>
            <a:endParaRPr lang="en-US"/>
          </a:p>
        </p:txBody>
      </p:sp>
    </p:spTree>
    <p:extLst>
      <p:ext uri="{BB962C8B-B14F-4D97-AF65-F5344CB8AC3E}">
        <p14:creationId xmlns:p14="http://schemas.microsoft.com/office/powerpoint/2010/main" val="23112856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7D553C3-7759-4A36-8660-CF45DB3AAE5B}" type="datetimeFigureOut">
              <a:rPr lang="en-US" smtClean="0"/>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EE1939-8AC8-4E79-BEE5-4F954877969E}" type="slidenum">
              <a:rPr lang="en-US" smtClean="0"/>
              <a:t>‹#›</a:t>
            </a:fld>
            <a:endParaRPr lang="en-US"/>
          </a:p>
        </p:txBody>
      </p:sp>
    </p:spTree>
    <p:extLst>
      <p:ext uri="{BB962C8B-B14F-4D97-AF65-F5344CB8AC3E}">
        <p14:creationId xmlns:p14="http://schemas.microsoft.com/office/powerpoint/2010/main" val="35349302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7D553C3-7759-4A36-8660-CF45DB3AAE5B}" type="datetimeFigureOut">
              <a:rPr lang="en-US" smtClean="0"/>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EE1939-8AC8-4E79-BEE5-4F954877969E}" type="slidenum">
              <a:rPr lang="en-US" smtClean="0"/>
              <a:t>‹#›</a:t>
            </a:fld>
            <a:endParaRPr lang="en-US"/>
          </a:p>
        </p:txBody>
      </p:sp>
    </p:spTree>
    <p:extLst>
      <p:ext uri="{BB962C8B-B14F-4D97-AF65-F5344CB8AC3E}">
        <p14:creationId xmlns:p14="http://schemas.microsoft.com/office/powerpoint/2010/main" val="35475749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7D553C3-7759-4A36-8660-CF45DB3AAE5B}" type="datetimeFigureOut">
              <a:rPr lang="en-US" smtClean="0"/>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EE1939-8AC8-4E79-BEE5-4F954877969E}" type="slidenum">
              <a:rPr lang="en-US" smtClean="0"/>
              <a:t>‹#›</a:t>
            </a:fld>
            <a:endParaRPr lang="en-US"/>
          </a:p>
        </p:txBody>
      </p:sp>
    </p:spTree>
    <p:extLst>
      <p:ext uri="{BB962C8B-B14F-4D97-AF65-F5344CB8AC3E}">
        <p14:creationId xmlns:p14="http://schemas.microsoft.com/office/powerpoint/2010/main" val="331207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7D553C3-7759-4A36-8660-CF45DB3AAE5B}" type="datetimeFigureOut">
              <a:rPr lang="en-US" smtClean="0"/>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EE1939-8AC8-4E79-BEE5-4F954877969E}" type="slidenum">
              <a:rPr lang="en-US" smtClean="0"/>
              <a:t>‹#›</a:t>
            </a:fld>
            <a:endParaRPr lang="en-US"/>
          </a:p>
        </p:txBody>
      </p:sp>
    </p:spTree>
    <p:extLst>
      <p:ext uri="{BB962C8B-B14F-4D97-AF65-F5344CB8AC3E}">
        <p14:creationId xmlns:p14="http://schemas.microsoft.com/office/powerpoint/2010/main" val="2441909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7D553C3-7759-4A36-8660-CF45DB3AAE5B}" type="datetimeFigureOut">
              <a:rPr lang="en-US" smtClean="0"/>
              <a:t>2/10/2026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9EE1939-8AC8-4E79-BEE5-4F954877969E}" type="slidenum">
              <a:rPr lang="en-US" smtClean="0"/>
              <a:t>‹#›</a:t>
            </a:fld>
            <a:endParaRPr lang="en-US"/>
          </a:p>
        </p:txBody>
      </p:sp>
    </p:spTree>
    <p:extLst>
      <p:ext uri="{BB962C8B-B14F-4D97-AF65-F5344CB8AC3E}">
        <p14:creationId xmlns:p14="http://schemas.microsoft.com/office/powerpoint/2010/main" val="34672166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7D553C3-7759-4A36-8660-CF45DB3AAE5B}" type="datetimeFigureOut">
              <a:rPr lang="en-US" smtClean="0"/>
              <a:t>2/10/2026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9EE1939-8AC8-4E79-BEE5-4F954877969E}" type="slidenum">
              <a:rPr lang="en-US" smtClean="0"/>
              <a:t>‹#›</a:t>
            </a:fld>
            <a:endParaRPr lang="en-US"/>
          </a:p>
        </p:txBody>
      </p:sp>
    </p:spTree>
    <p:extLst>
      <p:ext uri="{BB962C8B-B14F-4D97-AF65-F5344CB8AC3E}">
        <p14:creationId xmlns:p14="http://schemas.microsoft.com/office/powerpoint/2010/main" val="40290827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D553C3-7759-4A36-8660-CF45DB3AAE5B}" type="datetimeFigureOut">
              <a:rPr lang="en-US" smtClean="0"/>
              <a:t>2/10/2026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9EE1939-8AC8-4E79-BEE5-4F954877969E}" type="slidenum">
              <a:rPr lang="en-US" smtClean="0"/>
              <a:t>‹#›</a:t>
            </a:fld>
            <a:endParaRPr lang="en-US"/>
          </a:p>
        </p:txBody>
      </p:sp>
    </p:spTree>
    <p:extLst>
      <p:ext uri="{BB962C8B-B14F-4D97-AF65-F5344CB8AC3E}">
        <p14:creationId xmlns:p14="http://schemas.microsoft.com/office/powerpoint/2010/main" val="17419571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7D553C3-7759-4A36-8660-CF45DB3AAE5B}" type="datetimeFigureOut">
              <a:rPr lang="en-US" smtClean="0"/>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EE1939-8AC8-4E79-BEE5-4F954877969E}" type="slidenum">
              <a:rPr lang="en-US" smtClean="0"/>
              <a:t>‹#›</a:t>
            </a:fld>
            <a:endParaRPr lang="en-US"/>
          </a:p>
        </p:txBody>
      </p:sp>
    </p:spTree>
    <p:extLst>
      <p:ext uri="{BB962C8B-B14F-4D97-AF65-F5344CB8AC3E}">
        <p14:creationId xmlns:p14="http://schemas.microsoft.com/office/powerpoint/2010/main" val="4203798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7D553C3-7759-4A36-8660-CF45DB3AAE5B}" type="datetimeFigureOut">
              <a:rPr lang="en-US" smtClean="0"/>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EE1939-8AC8-4E79-BEE5-4F954877969E}" type="slidenum">
              <a:rPr lang="en-US" smtClean="0"/>
              <a:t>‹#›</a:t>
            </a:fld>
            <a:endParaRPr lang="en-US"/>
          </a:p>
        </p:txBody>
      </p:sp>
    </p:spTree>
    <p:extLst>
      <p:ext uri="{BB962C8B-B14F-4D97-AF65-F5344CB8AC3E}">
        <p14:creationId xmlns:p14="http://schemas.microsoft.com/office/powerpoint/2010/main" val="1818370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7D553C3-7759-4A36-8660-CF45DB3AAE5B}" type="datetimeFigureOut">
              <a:rPr lang="en-US" smtClean="0"/>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EE1939-8AC8-4E79-BEE5-4F954877969E}" type="slidenum">
              <a:rPr lang="en-US" smtClean="0"/>
              <a:t>‹#›</a:t>
            </a:fld>
            <a:endParaRPr lang="en-US"/>
          </a:p>
        </p:txBody>
      </p:sp>
    </p:spTree>
    <p:extLst>
      <p:ext uri="{BB962C8B-B14F-4D97-AF65-F5344CB8AC3E}">
        <p14:creationId xmlns:p14="http://schemas.microsoft.com/office/powerpoint/2010/main" val="16588589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7D553C3-7759-4A36-8660-CF45DB3AAE5B}" type="datetimeFigureOut">
              <a:rPr lang="en-US" smtClean="0"/>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EE1939-8AC8-4E79-BEE5-4F954877969E}" type="slidenum">
              <a:rPr lang="en-US" smtClean="0"/>
              <a:t>‹#›</a:t>
            </a:fld>
            <a:endParaRPr lang="en-US"/>
          </a:p>
        </p:txBody>
      </p:sp>
    </p:spTree>
    <p:extLst>
      <p:ext uri="{BB962C8B-B14F-4D97-AF65-F5344CB8AC3E}">
        <p14:creationId xmlns:p14="http://schemas.microsoft.com/office/powerpoint/2010/main" val="39929214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7D553C3-7759-4A36-8660-CF45DB3AAE5B}" type="datetimeFigureOut">
              <a:rPr lang="en-US" smtClean="0"/>
              <a:t>2/10/2026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EE1939-8AC8-4E79-BEE5-4F954877969E}" type="slidenum">
              <a:rPr lang="en-US" smtClean="0"/>
              <a:t>‹#›</a:t>
            </a:fld>
            <a:endParaRPr lang="en-US"/>
          </a:p>
        </p:txBody>
      </p:sp>
    </p:spTree>
    <p:extLst>
      <p:ext uri="{BB962C8B-B14F-4D97-AF65-F5344CB8AC3E}">
        <p14:creationId xmlns:p14="http://schemas.microsoft.com/office/powerpoint/2010/main" val="3376420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Gopal21236/" TargetMode="External"/><Relationship Id="rId2" Type="http://schemas.openxmlformats.org/officeDocument/2006/relationships/hyperlink" Target="https://www.linkedin.com/in/gopalakrishnankumar-a73301110/" TargetMode="External"/><Relationship Id="rId1" Type="http://schemas.openxmlformats.org/officeDocument/2006/relationships/slideLayout" Target="../slideLayouts/slideLayout1.xml"/><Relationship Id="rId4" Type="http://schemas.openxmlformats.org/officeDocument/2006/relationships/hyperlink" Target="https://www.kaggle.com/gopalkk2" TargetMode="External"/></Relationships>
</file>

<file path=ppt/slides/_rels/slide2.xml.rels><?xml version="1.0" encoding="UTF-8" standalone="yes"?>
<Relationships xmlns="http://schemas.openxmlformats.org/package/2006/relationships"><Relationship Id="rId2" Type="http://schemas.openxmlformats.org/officeDocument/2006/relationships/hyperlink" Target="https://colab.research.google.com/drive/1HVeuLKaJibCEIBjbCd8K41U7Tr1ILQXH?usp=sharin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Fraud Detection Network Analysis</a:t>
            </a:r>
            <a:endParaRPr lang="en-US" b="1" dirty="0"/>
          </a:p>
        </p:txBody>
      </p:sp>
      <p:sp>
        <p:nvSpPr>
          <p:cNvPr id="4" name="Subtitle 2"/>
          <p:cNvSpPr>
            <a:spLocks noGrp="1"/>
          </p:cNvSpPr>
          <p:nvPr>
            <p:ph type="subTitle" idx="1"/>
          </p:nvPr>
        </p:nvSpPr>
        <p:spPr>
          <a:xfrm>
            <a:off x="1524000" y="3602038"/>
            <a:ext cx="9144000" cy="1655762"/>
          </a:xfrm>
        </p:spPr>
        <p:txBody>
          <a:bodyPr/>
          <a:lstStyle/>
          <a:p>
            <a:r>
              <a:rPr lang="en-US" b="1" dirty="0" smtClean="0"/>
              <a:t>By </a:t>
            </a:r>
            <a:r>
              <a:rPr lang="en-US" b="1" dirty="0" err="1" smtClean="0"/>
              <a:t>Gopalakrishnan</a:t>
            </a:r>
            <a:r>
              <a:rPr lang="en-US" b="1" dirty="0" smtClean="0"/>
              <a:t> Kumar, </a:t>
            </a:r>
            <a:r>
              <a:rPr lang="en-US" b="1" dirty="0" err="1" smtClean="0"/>
              <a:t>MTech</a:t>
            </a:r>
            <a:r>
              <a:rPr lang="en-US" b="1" dirty="0" smtClean="0"/>
              <a:t> IIT-Bombay,</a:t>
            </a:r>
          </a:p>
          <a:p>
            <a:r>
              <a:rPr lang="en-US" b="1" dirty="0" smtClean="0"/>
              <a:t>Freelance Data Science Consultant</a:t>
            </a:r>
          </a:p>
          <a:p>
            <a:endParaRPr lang="en-US" dirty="0"/>
          </a:p>
        </p:txBody>
      </p:sp>
      <p:sp>
        <p:nvSpPr>
          <p:cNvPr id="5" name="Rectangle 4"/>
          <p:cNvSpPr/>
          <p:nvPr/>
        </p:nvSpPr>
        <p:spPr>
          <a:xfrm>
            <a:off x="2355273" y="4519136"/>
            <a:ext cx="6096000" cy="1477328"/>
          </a:xfrm>
          <a:prstGeom prst="rect">
            <a:avLst/>
          </a:prstGeom>
        </p:spPr>
        <p:txBody>
          <a:bodyPr>
            <a:spAutoFit/>
          </a:bodyPr>
          <a:lstStyle/>
          <a:p>
            <a:r>
              <a:rPr lang="en-US" dirty="0" smtClean="0">
                <a:solidFill>
                  <a:srgbClr val="0D0D0D"/>
                </a:solidFill>
                <a:latin typeface="CIDFont+F1"/>
              </a:rPr>
              <a:t>LinkedIn: Profile Link : </a:t>
            </a:r>
            <a:r>
              <a:rPr lang="en-US" dirty="0" smtClean="0">
                <a:solidFill>
                  <a:srgbClr val="0D0D0D"/>
                </a:solidFill>
                <a:latin typeface="CIDFont+F1"/>
                <a:hlinkClick r:id="rId2"/>
              </a:rPr>
              <a:t>https://www.linkedin.com/in/gopalakrishnankumar-a73301110/</a:t>
            </a:r>
            <a:endParaRPr lang="en-US" dirty="0" smtClean="0">
              <a:solidFill>
                <a:srgbClr val="0D0D0D"/>
              </a:solidFill>
              <a:latin typeface="CIDFont+F1"/>
            </a:endParaRPr>
          </a:p>
          <a:p>
            <a:endParaRPr lang="en-US" dirty="0" smtClean="0">
              <a:solidFill>
                <a:srgbClr val="0D0D0D"/>
              </a:solidFill>
              <a:latin typeface="CIDFont+F1"/>
            </a:endParaRPr>
          </a:p>
          <a:p>
            <a:r>
              <a:rPr lang="en-US" dirty="0" smtClean="0">
                <a:solidFill>
                  <a:srgbClr val="0D0D0D"/>
                </a:solidFill>
                <a:latin typeface="CIDFont+F1"/>
                <a:hlinkClick r:id="rId3"/>
              </a:rPr>
              <a:t>Github:</a:t>
            </a:r>
            <a:r>
              <a:rPr lang="en-US" dirty="0">
                <a:solidFill>
                  <a:srgbClr val="0D0D0D"/>
                </a:solidFill>
                <a:latin typeface="CIDFont+F1"/>
                <a:hlinkClick r:id="rId3"/>
              </a:rPr>
              <a:t>https://github.com/Gopal21236/</a:t>
            </a:r>
            <a:endParaRPr lang="en-US" dirty="0">
              <a:solidFill>
                <a:srgbClr val="0D0D0D"/>
              </a:solidFill>
              <a:latin typeface="CIDFont+F1"/>
            </a:endParaRPr>
          </a:p>
        </p:txBody>
      </p:sp>
      <p:sp>
        <p:nvSpPr>
          <p:cNvPr id="6" name="TextBox 5"/>
          <p:cNvSpPr txBox="1"/>
          <p:nvPr/>
        </p:nvSpPr>
        <p:spPr>
          <a:xfrm>
            <a:off x="2355273" y="6065737"/>
            <a:ext cx="6150280" cy="707886"/>
          </a:xfrm>
          <a:prstGeom prst="rect">
            <a:avLst/>
          </a:prstGeom>
          <a:noFill/>
        </p:spPr>
        <p:txBody>
          <a:bodyPr wrap="square" rtlCol="0">
            <a:spAutoFit/>
          </a:bodyPr>
          <a:lstStyle/>
          <a:p>
            <a:r>
              <a:rPr lang="en-US" sz="2000" dirty="0" err="1" smtClean="0"/>
              <a:t>Kaggle</a:t>
            </a:r>
            <a:r>
              <a:rPr lang="en-US" sz="2000" dirty="0" smtClean="0"/>
              <a:t> URL- </a:t>
            </a:r>
            <a:r>
              <a:rPr lang="en-US" sz="2000" dirty="0" smtClean="0">
                <a:hlinkClick r:id="rId4"/>
              </a:rPr>
              <a:t>https://www.kaggle.com/gopalkk2</a:t>
            </a:r>
            <a:endParaRPr lang="en-US" sz="2000" dirty="0" smtClean="0"/>
          </a:p>
          <a:p>
            <a:endParaRPr lang="en-US" sz="2000" dirty="0"/>
          </a:p>
        </p:txBody>
      </p:sp>
    </p:spTree>
    <p:extLst>
      <p:ext uri="{BB962C8B-B14F-4D97-AF65-F5344CB8AC3E}">
        <p14:creationId xmlns:p14="http://schemas.microsoft.com/office/powerpoint/2010/main" val="90357886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Google Colab URL</a:t>
            </a:r>
            <a:endParaRPr lang="en-US" b="1" dirty="0"/>
          </a:p>
        </p:txBody>
      </p:sp>
      <p:sp>
        <p:nvSpPr>
          <p:cNvPr id="3" name="Content Placeholder 2"/>
          <p:cNvSpPr>
            <a:spLocks noGrp="1"/>
          </p:cNvSpPr>
          <p:nvPr>
            <p:ph idx="1"/>
          </p:nvPr>
        </p:nvSpPr>
        <p:spPr/>
        <p:txBody>
          <a:bodyPr/>
          <a:lstStyle/>
          <a:p>
            <a:r>
              <a:rPr lang="en-US" dirty="0" smtClean="0">
                <a:hlinkClick r:id="rId2"/>
              </a:rPr>
              <a:t>https://colab.research.google.com/drive/1HVeuLKaJibCEIBjbCd8K41U7Tr1ILQXH?usp=sharing</a:t>
            </a:r>
            <a:endParaRPr lang="en-US" dirty="0" smtClean="0"/>
          </a:p>
          <a:p>
            <a:endParaRPr lang="en-US" dirty="0"/>
          </a:p>
        </p:txBody>
      </p:sp>
    </p:spTree>
    <p:extLst>
      <p:ext uri="{BB962C8B-B14F-4D97-AF65-F5344CB8AC3E}">
        <p14:creationId xmlns:p14="http://schemas.microsoft.com/office/powerpoint/2010/main" val="4127409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Executive Summary</a:t>
            </a:r>
          </a:p>
        </p:txBody>
      </p:sp>
      <p:sp>
        <p:nvSpPr>
          <p:cNvPr id="3" name="Content Placeholder 2"/>
          <p:cNvSpPr>
            <a:spLocks noGrp="1"/>
          </p:cNvSpPr>
          <p:nvPr>
            <p:ph idx="1"/>
          </p:nvPr>
        </p:nvSpPr>
        <p:spPr/>
        <p:txBody>
          <a:bodyPr/>
          <a:lstStyle/>
          <a:p>
            <a:r>
              <a:rPr lang="en-US" dirty="0"/>
              <a:t>Financial institutions increasingly face sophisticated fraud involving collusion, mule accounts, and organized transaction networks. Traditional rule-based fraud detection systems struggle to detect such patterns due to their focus on individual transactions rather than relational behavior.</a:t>
            </a:r>
          </a:p>
          <a:p>
            <a:r>
              <a:rPr lang="en-US" dirty="0"/>
              <a:t>This project applies </a:t>
            </a:r>
            <a:r>
              <a:rPr lang="en-US" b="1" dirty="0"/>
              <a:t>network analysis techniques</a:t>
            </a:r>
            <a:r>
              <a:rPr lang="en-US" dirty="0"/>
              <a:t> to transaction data to uncover hidden fraud structures. By modeling customers as nodes and transactions as edges, the solution identifies suspicious hubs, intermediaries, and abnormal transaction patterns using graph analytics and visualization.</a:t>
            </a:r>
          </a:p>
          <a:p>
            <a:endParaRPr lang="en-US" dirty="0" smtClean="0"/>
          </a:p>
          <a:p>
            <a:endParaRPr lang="en-US" dirty="0"/>
          </a:p>
        </p:txBody>
      </p:sp>
    </p:spTree>
    <p:extLst>
      <p:ext uri="{BB962C8B-B14F-4D97-AF65-F5344CB8AC3E}">
        <p14:creationId xmlns:p14="http://schemas.microsoft.com/office/powerpoint/2010/main" val="326110122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8873"/>
            <a:ext cx="10515600" cy="1325563"/>
          </a:xfrm>
        </p:spPr>
        <p:txBody>
          <a:bodyPr/>
          <a:lstStyle/>
          <a:p>
            <a:pPr algn="ctr"/>
            <a:r>
              <a:rPr lang="en-US" b="1" dirty="0"/>
              <a:t>Business </a:t>
            </a:r>
            <a:r>
              <a:rPr lang="en-US" b="1" dirty="0" smtClean="0"/>
              <a:t>Problem</a:t>
            </a:r>
            <a:endParaRPr lang="en-US" b="1" dirty="0"/>
          </a:p>
        </p:txBody>
      </p:sp>
      <p:sp>
        <p:nvSpPr>
          <p:cNvPr id="3" name="Content Placeholder 2"/>
          <p:cNvSpPr>
            <a:spLocks noGrp="1"/>
          </p:cNvSpPr>
          <p:nvPr>
            <p:ph idx="1"/>
          </p:nvPr>
        </p:nvSpPr>
        <p:spPr/>
        <p:txBody>
          <a:bodyPr/>
          <a:lstStyle/>
          <a:p>
            <a:r>
              <a:rPr lang="en-US" dirty="0"/>
              <a:t>Fraud detection teams face the following challenges:</a:t>
            </a:r>
          </a:p>
          <a:p>
            <a:r>
              <a:rPr lang="en-US" dirty="0"/>
              <a:t>Inability to detect </a:t>
            </a:r>
            <a:r>
              <a:rPr lang="en-US" b="1" dirty="0"/>
              <a:t>collusive fraud rings</a:t>
            </a:r>
            <a:endParaRPr lang="en-US" dirty="0"/>
          </a:p>
          <a:p>
            <a:r>
              <a:rPr lang="en-US" dirty="0"/>
              <a:t>High false positives from rule-based systems</a:t>
            </a:r>
          </a:p>
          <a:p>
            <a:r>
              <a:rPr lang="en-US" dirty="0"/>
              <a:t>Limited visibility into </a:t>
            </a:r>
            <a:r>
              <a:rPr lang="en-US" b="1" dirty="0"/>
              <a:t>transaction relationships</a:t>
            </a:r>
            <a:endParaRPr lang="en-US" dirty="0"/>
          </a:p>
          <a:p>
            <a:r>
              <a:rPr lang="en-US" dirty="0"/>
              <a:t>Difficulty prioritizing investigations effectively</a:t>
            </a:r>
          </a:p>
          <a:p>
            <a:r>
              <a:rPr lang="en-US" dirty="0"/>
              <a:t>Without network-level analysis, fraud often remains undetected until losses accumulate.</a:t>
            </a:r>
          </a:p>
          <a:p>
            <a:endParaRPr lang="en-US" dirty="0"/>
          </a:p>
        </p:txBody>
      </p:sp>
    </p:spTree>
    <p:extLst>
      <p:ext uri="{BB962C8B-B14F-4D97-AF65-F5344CB8AC3E}">
        <p14:creationId xmlns:p14="http://schemas.microsoft.com/office/powerpoint/2010/main" val="368092973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Project Objectives</a:t>
            </a:r>
          </a:p>
        </p:txBody>
      </p:sp>
      <p:sp>
        <p:nvSpPr>
          <p:cNvPr id="3" name="Content Placeholder 2"/>
          <p:cNvSpPr>
            <a:spLocks noGrp="1"/>
          </p:cNvSpPr>
          <p:nvPr>
            <p:ph idx="1"/>
          </p:nvPr>
        </p:nvSpPr>
        <p:spPr/>
        <p:txBody>
          <a:bodyPr/>
          <a:lstStyle/>
          <a:p>
            <a:r>
              <a:rPr lang="en-US" dirty="0"/>
              <a:t>The objectives of this project are to:</a:t>
            </a:r>
          </a:p>
          <a:p>
            <a:r>
              <a:rPr lang="en-US" dirty="0"/>
              <a:t>Model financial transactions as a network graph</a:t>
            </a:r>
          </a:p>
          <a:p>
            <a:r>
              <a:rPr lang="en-US" dirty="0"/>
              <a:t>Identify suspicious accounts using network centrality metrics</a:t>
            </a:r>
          </a:p>
          <a:p>
            <a:r>
              <a:rPr lang="en-US" dirty="0"/>
              <a:t>Detect fraud patterns beyond single-transaction rules</a:t>
            </a:r>
          </a:p>
          <a:p>
            <a:r>
              <a:rPr lang="en-US" dirty="0"/>
              <a:t>Provide explainable, visual fraud insights</a:t>
            </a:r>
          </a:p>
          <a:p>
            <a:r>
              <a:rPr lang="en-US" dirty="0"/>
              <a:t>Enable better investigation prioritization</a:t>
            </a:r>
          </a:p>
          <a:p>
            <a:endParaRPr lang="en-US" dirty="0"/>
          </a:p>
        </p:txBody>
      </p:sp>
    </p:spTree>
    <p:extLst>
      <p:ext uri="{BB962C8B-B14F-4D97-AF65-F5344CB8AC3E}">
        <p14:creationId xmlns:p14="http://schemas.microsoft.com/office/powerpoint/2010/main" val="31301034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Data Description</a:t>
            </a:r>
          </a:p>
        </p:txBody>
      </p:sp>
      <p:sp>
        <p:nvSpPr>
          <p:cNvPr id="3" name="Content Placeholder 2"/>
          <p:cNvSpPr>
            <a:spLocks noGrp="1"/>
          </p:cNvSpPr>
          <p:nvPr>
            <p:ph idx="1"/>
          </p:nvPr>
        </p:nvSpPr>
        <p:spPr/>
        <p:txBody>
          <a:bodyPr/>
          <a:lstStyle/>
          <a:p>
            <a:r>
              <a:rPr lang="en-US" dirty="0"/>
              <a:t>The dataset consists of transaction-level records with:</a:t>
            </a:r>
          </a:p>
          <a:p>
            <a:r>
              <a:rPr lang="en-US" dirty="0"/>
              <a:t>Sender account</a:t>
            </a:r>
          </a:p>
          <a:p>
            <a:r>
              <a:rPr lang="en-US" dirty="0"/>
              <a:t>Receiver account</a:t>
            </a:r>
          </a:p>
          <a:p>
            <a:r>
              <a:rPr lang="en-US" dirty="0"/>
              <a:t>Transaction amount</a:t>
            </a:r>
          </a:p>
          <a:p>
            <a:r>
              <a:rPr lang="en-US" dirty="0"/>
              <a:t>Fraud label (Normal / Suspicious)</a:t>
            </a:r>
          </a:p>
          <a:p>
            <a:r>
              <a:rPr lang="en-US" dirty="0"/>
              <a:t>Each transaction represents a </a:t>
            </a:r>
            <a:r>
              <a:rPr lang="en-US" b="1" dirty="0"/>
              <a:t>directed edge</a:t>
            </a:r>
            <a:r>
              <a:rPr lang="en-US" dirty="0"/>
              <a:t> between two nodes.</a:t>
            </a:r>
          </a:p>
          <a:p>
            <a:endParaRPr lang="en-US" dirty="0"/>
          </a:p>
        </p:txBody>
      </p:sp>
    </p:spTree>
    <p:extLst>
      <p:ext uri="{BB962C8B-B14F-4D97-AF65-F5344CB8AC3E}">
        <p14:creationId xmlns:p14="http://schemas.microsoft.com/office/powerpoint/2010/main" val="90449298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Methodology</a:t>
            </a:r>
          </a:p>
        </p:txBody>
      </p:sp>
      <p:sp>
        <p:nvSpPr>
          <p:cNvPr id="3" name="Content Placeholder 2"/>
          <p:cNvSpPr>
            <a:spLocks noGrp="1"/>
          </p:cNvSpPr>
          <p:nvPr>
            <p:ph idx="1"/>
          </p:nvPr>
        </p:nvSpPr>
        <p:spPr/>
        <p:txBody>
          <a:bodyPr>
            <a:normAutofit fontScale="92500"/>
          </a:bodyPr>
          <a:lstStyle/>
          <a:p>
            <a:r>
              <a:rPr lang="en-US" b="1" dirty="0"/>
              <a:t>5.1 Network Construction</a:t>
            </a:r>
          </a:p>
          <a:p>
            <a:r>
              <a:rPr lang="en-US" dirty="0"/>
              <a:t>Customers are represented as </a:t>
            </a:r>
            <a:r>
              <a:rPr lang="en-US" b="1" dirty="0"/>
              <a:t>nodes</a:t>
            </a:r>
            <a:endParaRPr lang="en-US" dirty="0"/>
          </a:p>
          <a:p>
            <a:r>
              <a:rPr lang="en-US" dirty="0"/>
              <a:t>Transactions are represented as </a:t>
            </a:r>
            <a:r>
              <a:rPr lang="en-US" b="1" dirty="0"/>
              <a:t>directed edges</a:t>
            </a:r>
            <a:endParaRPr lang="en-US" dirty="0"/>
          </a:p>
          <a:p>
            <a:r>
              <a:rPr lang="en-US" dirty="0"/>
              <a:t>Edge weights capture transaction amounts</a:t>
            </a:r>
          </a:p>
          <a:p>
            <a:r>
              <a:rPr lang="en-US" b="1" dirty="0"/>
              <a:t>5.2 Network Metrics Used</a:t>
            </a:r>
          </a:p>
          <a:p>
            <a:r>
              <a:rPr lang="en-US" b="1" dirty="0"/>
              <a:t>Degree Centrality:</a:t>
            </a:r>
            <a:r>
              <a:rPr lang="en-US" dirty="0"/>
              <a:t> Identifies highly active nodes</a:t>
            </a:r>
          </a:p>
          <a:p>
            <a:r>
              <a:rPr lang="en-US" b="1" dirty="0" err="1"/>
              <a:t>Betweenness</a:t>
            </a:r>
            <a:r>
              <a:rPr lang="en-US" b="1" dirty="0"/>
              <a:t> Centrality:</a:t>
            </a:r>
            <a:r>
              <a:rPr lang="en-US" dirty="0"/>
              <a:t> Identifies intermediary or mule accounts</a:t>
            </a:r>
          </a:p>
          <a:p>
            <a:r>
              <a:rPr lang="en-US" b="1" dirty="0"/>
              <a:t>PageRank:</a:t>
            </a:r>
            <a:r>
              <a:rPr lang="en-US" dirty="0"/>
              <a:t> Measures influence within the network</a:t>
            </a:r>
          </a:p>
          <a:p>
            <a:r>
              <a:rPr lang="en-US" dirty="0"/>
              <a:t>These metrics help surface nodes that play critical roles in fraudulent flows.</a:t>
            </a:r>
          </a:p>
        </p:txBody>
      </p:sp>
    </p:spTree>
    <p:extLst>
      <p:ext uri="{BB962C8B-B14F-4D97-AF65-F5344CB8AC3E}">
        <p14:creationId xmlns:p14="http://schemas.microsoft.com/office/powerpoint/2010/main" val="78045095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 </a:t>
            </a:r>
            <a:endParaRPr lang="en-US" b="1"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62523" y="1921030"/>
            <a:ext cx="5266954" cy="4160528"/>
          </a:xfrm>
        </p:spPr>
      </p:pic>
    </p:spTree>
    <p:extLst>
      <p:ext uri="{BB962C8B-B14F-4D97-AF65-F5344CB8AC3E}">
        <p14:creationId xmlns:p14="http://schemas.microsoft.com/office/powerpoint/2010/main" val="165553682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Visualization and Analytics</a:t>
            </a:r>
          </a:p>
        </p:txBody>
      </p:sp>
      <p:sp>
        <p:nvSpPr>
          <p:cNvPr id="3" name="Content Placeholder 2"/>
          <p:cNvSpPr>
            <a:spLocks noGrp="1"/>
          </p:cNvSpPr>
          <p:nvPr>
            <p:ph idx="1"/>
          </p:nvPr>
        </p:nvSpPr>
        <p:spPr/>
        <p:txBody>
          <a:bodyPr/>
          <a:lstStyle/>
          <a:p>
            <a:r>
              <a:rPr lang="en-US" b="1" dirty="0"/>
              <a:t>6.1 Histogram Analysis</a:t>
            </a:r>
          </a:p>
          <a:p>
            <a:r>
              <a:rPr lang="en-US" dirty="0"/>
              <a:t>The histogram of transaction amounts highlights the distribution of transaction sizes.</a:t>
            </a:r>
          </a:p>
          <a:p>
            <a:r>
              <a:rPr lang="en-US" b="1" dirty="0"/>
              <a:t>Insight:</a:t>
            </a:r>
            <a:r>
              <a:rPr lang="en-US" dirty="0"/>
              <a:t/>
            </a:r>
            <a:br>
              <a:rPr lang="en-US" dirty="0"/>
            </a:br>
            <a:r>
              <a:rPr lang="en-US" dirty="0"/>
              <a:t>High-value outliers indicate potential fraud or coordinated fund movement.</a:t>
            </a:r>
          </a:p>
          <a:p>
            <a:endParaRPr lang="en-US" dirty="0"/>
          </a:p>
        </p:txBody>
      </p:sp>
    </p:spTree>
    <p:extLst>
      <p:ext uri="{BB962C8B-B14F-4D97-AF65-F5344CB8AC3E}">
        <p14:creationId xmlns:p14="http://schemas.microsoft.com/office/powerpoint/2010/main" val="14313368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 </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62523" y="1921030"/>
            <a:ext cx="5266954" cy="4160528"/>
          </a:xfrm>
        </p:spPr>
      </p:pic>
    </p:spTree>
    <p:extLst>
      <p:ext uri="{BB962C8B-B14F-4D97-AF65-F5344CB8AC3E}">
        <p14:creationId xmlns:p14="http://schemas.microsoft.com/office/powerpoint/2010/main" val="421245765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Visualization and Analytics</a:t>
            </a:r>
          </a:p>
        </p:txBody>
      </p:sp>
      <p:sp>
        <p:nvSpPr>
          <p:cNvPr id="3" name="Content Placeholder 2"/>
          <p:cNvSpPr>
            <a:spLocks noGrp="1"/>
          </p:cNvSpPr>
          <p:nvPr>
            <p:ph idx="1"/>
          </p:nvPr>
        </p:nvSpPr>
        <p:spPr/>
        <p:txBody>
          <a:bodyPr/>
          <a:lstStyle/>
          <a:p>
            <a:r>
              <a:rPr lang="en-US" b="1" dirty="0"/>
              <a:t>6.2 Bar Chart Analysis</a:t>
            </a:r>
          </a:p>
          <a:p>
            <a:r>
              <a:rPr lang="en-US" dirty="0"/>
              <a:t>The bar chart shows the number of transactions per customer.</a:t>
            </a:r>
          </a:p>
          <a:p>
            <a:r>
              <a:rPr lang="en-US" b="1" dirty="0"/>
              <a:t>Insight:</a:t>
            </a:r>
            <a:r>
              <a:rPr lang="en-US" dirty="0"/>
              <a:t/>
            </a:r>
            <a:br>
              <a:rPr lang="en-US" dirty="0"/>
            </a:br>
            <a:r>
              <a:rPr lang="en-US" dirty="0"/>
              <a:t>Accounts with unusually high activity often act as transaction hubs or intermediaries.</a:t>
            </a:r>
          </a:p>
          <a:p>
            <a:endParaRPr lang="en-US" dirty="0"/>
          </a:p>
        </p:txBody>
      </p:sp>
    </p:spTree>
    <p:extLst>
      <p:ext uri="{BB962C8B-B14F-4D97-AF65-F5344CB8AC3E}">
        <p14:creationId xmlns:p14="http://schemas.microsoft.com/office/powerpoint/2010/main" val="44786743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 </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62523" y="1921030"/>
            <a:ext cx="5266954" cy="4160528"/>
          </a:xfrm>
        </p:spPr>
      </p:pic>
    </p:spTree>
    <p:extLst>
      <p:ext uri="{BB962C8B-B14F-4D97-AF65-F5344CB8AC3E}">
        <p14:creationId xmlns:p14="http://schemas.microsoft.com/office/powerpoint/2010/main" val="688403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Visualization and Analytics</a:t>
            </a:r>
            <a:endParaRPr lang="en-US" b="1" dirty="0"/>
          </a:p>
        </p:txBody>
      </p:sp>
      <p:sp>
        <p:nvSpPr>
          <p:cNvPr id="3" name="Content Placeholder 2"/>
          <p:cNvSpPr>
            <a:spLocks noGrp="1"/>
          </p:cNvSpPr>
          <p:nvPr>
            <p:ph idx="1"/>
          </p:nvPr>
        </p:nvSpPr>
        <p:spPr/>
        <p:txBody>
          <a:bodyPr/>
          <a:lstStyle/>
          <a:p>
            <a:r>
              <a:rPr lang="en-US" b="1" dirty="0"/>
              <a:t>6.3 Stacked Bar Chart Analysis</a:t>
            </a:r>
          </a:p>
          <a:p>
            <a:r>
              <a:rPr lang="en-US" dirty="0"/>
              <a:t>The stacked bar chart breaks transactions per customer into:</a:t>
            </a:r>
          </a:p>
          <a:p>
            <a:r>
              <a:rPr lang="en-US" dirty="0"/>
              <a:t>Normal transactions</a:t>
            </a:r>
          </a:p>
          <a:p>
            <a:r>
              <a:rPr lang="en-US" dirty="0"/>
              <a:t>Suspicious transactions</a:t>
            </a:r>
          </a:p>
          <a:p>
            <a:r>
              <a:rPr lang="en-US" b="1" dirty="0"/>
              <a:t>Insight:</a:t>
            </a:r>
            <a:r>
              <a:rPr lang="en-US" dirty="0"/>
              <a:t/>
            </a:r>
            <a:br>
              <a:rPr lang="en-US" dirty="0"/>
            </a:br>
            <a:r>
              <a:rPr lang="en-US" dirty="0"/>
              <a:t>Customers with a high proportion of suspicious transactions require immediate review.</a:t>
            </a:r>
          </a:p>
          <a:p>
            <a:endParaRPr lang="en-US" dirty="0"/>
          </a:p>
        </p:txBody>
      </p:sp>
    </p:spTree>
    <p:extLst>
      <p:ext uri="{BB962C8B-B14F-4D97-AF65-F5344CB8AC3E}">
        <p14:creationId xmlns:p14="http://schemas.microsoft.com/office/powerpoint/2010/main" val="81915070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 </a:t>
            </a:r>
            <a:endParaRPr lang="en-US" b="1" dirty="0"/>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371082" y="1921030"/>
            <a:ext cx="5449835" cy="4160528"/>
          </a:xfrm>
        </p:spPr>
      </p:pic>
    </p:spTree>
    <p:extLst>
      <p:ext uri="{BB962C8B-B14F-4D97-AF65-F5344CB8AC3E}">
        <p14:creationId xmlns:p14="http://schemas.microsoft.com/office/powerpoint/2010/main" val="243706238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Visualization and Analytics</a:t>
            </a:r>
          </a:p>
        </p:txBody>
      </p:sp>
      <p:sp>
        <p:nvSpPr>
          <p:cNvPr id="3" name="Content Placeholder 2"/>
          <p:cNvSpPr>
            <a:spLocks noGrp="1"/>
          </p:cNvSpPr>
          <p:nvPr>
            <p:ph idx="1"/>
          </p:nvPr>
        </p:nvSpPr>
        <p:spPr/>
        <p:txBody>
          <a:bodyPr/>
          <a:lstStyle/>
          <a:p>
            <a:r>
              <a:rPr lang="en-US" b="1" dirty="0"/>
              <a:t>6.4 Combined Stacked Bar Chart Analysis</a:t>
            </a:r>
          </a:p>
          <a:p>
            <a:r>
              <a:rPr lang="en-US" dirty="0"/>
              <a:t>The combined stacked bar chart shows:</a:t>
            </a:r>
          </a:p>
          <a:p>
            <a:r>
              <a:rPr lang="en-US" dirty="0"/>
              <a:t>Total transaction volume per customer</a:t>
            </a:r>
          </a:p>
          <a:p>
            <a:r>
              <a:rPr lang="en-US" dirty="0"/>
              <a:t>Composition of normal vs suspicious transactions</a:t>
            </a:r>
          </a:p>
          <a:p>
            <a:r>
              <a:rPr lang="en-US" dirty="0"/>
              <a:t>Annotated totals for executive clarity</a:t>
            </a:r>
          </a:p>
          <a:p>
            <a:endParaRPr lang="en-US" dirty="0"/>
          </a:p>
        </p:txBody>
      </p:sp>
    </p:spTree>
    <p:extLst>
      <p:ext uri="{BB962C8B-B14F-4D97-AF65-F5344CB8AC3E}">
        <p14:creationId xmlns:p14="http://schemas.microsoft.com/office/powerpoint/2010/main" val="19008237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Key Insights</a:t>
            </a:r>
          </a:p>
        </p:txBody>
      </p:sp>
      <p:sp>
        <p:nvSpPr>
          <p:cNvPr id="5" name="Rectangle 4"/>
          <p:cNvSpPr/>
          <p:nvPr/>
        </p:nvSpPr>
        <p:spPr>
          <a:xfrm>
            <a:off x="1459830" y="1690688"/>
            <a:ext cx="9284369" cy="2308324"/>
          </a:xfrm>
          <a:prstGeom prst="rect">
            <a:avLst/>
          </a:prstGeom>
        </p:spPr>
        <p:txBody>
          <a:bodyPr wrap="square">
            <a:spAutoFit/>
          </a:bodyPr>
          <a:lstStyle/>
          <a:p>
            <a:pPr lvl="0" eaLnBrk="0" fontAlgn="base" hangingPunct="0">
              <a:spcBef>
                <a:spcPct val="0"/>
              </a:spcBef>
              <a:spcAft>
                <a:spcPct val="0"/>
              </a:spcAft>
              <a:buFontTx/>
              <a:buChar char="•"/>
            </a:pPr>
            <a:r>
              <a:rPr lang="en-US" altLang="en-US" sz="2400" b="1" dirty="0">
                <a:latin typeface="Arial" panose="020B0604020202020204" pitchFamily="34" charset="0"/>
              </a:rPr>
              <a:t>Fraud often manifests as network patterns, not isolated </a:t>
            </a:r>
            <a:r>
              <a:rPr lang="en-US" altLang="en-US" sz="2400" b="1" dirty="0" smtClean="0">
                <a:latin typeface="Arial" panose="020B0604020202020204" pitchFamily="34" charset="0"/>
              </a:rPr>
              <a:t> </a:t>
            </a:r>
          </a:p>
          <a:p>
            <a:pPr lvl="0" eaLnBrk="0" fontAlgn="base" hangingPunct="0">
              <a:spcBef>
                <a:spcPct val="0"/>
              </a:spcBef>
              <a:spcAft>
                <a:spcPct val="0"/>
              </a:spcAft>
            </a:pPr>
            <a:r>
              <a:rPr lang="en-US" altLang="en-US" sz="2400" b="1" dirty="0" smtClean="0">
                <a:latin typeface="Arial" panose="020B0604020202020204" pitchFamily="34" charset="0"/>
              </a:rPr>
              <a:t> events</a:t>
            </a:r>
            <a:endParaRPr lang="en-US" altLang="en-US" sz="2400" b="1" dirty="0">
              <a:latin typeface="Arial" panose="020B0604020202020204" pitchFamily="34" charset="0"/>
            </a:endParaRPr>
          </a:p>
          <a:p>
            <a:pPr lvl="0" eaLnBrk="0" fontAlgn="base" hangingPunct="0">
              <a:spcBef>
                <a:spcPct val="0"/>
              </a:spcBef>
              <a:spcAft>
                <a:spcPct val="0"/>
              </a:spcAft>
              <a:buFontTx/>
              <a:buChar char="•"/>
            </a:pPr>
            <a:r>
              <a:rPr lang="en-US" altLang="en-US" sz="2400" b="1" dirty="0">
                <a:latin typeface="Arial" panose="020B0604020202020204" pitchFamily="34" charset="0"/>
              </a:rPr>
              <a:t>High </a:t>
            </a:r>
            <a:r>
              <a:rPr lang="en-US" altLang="en-US" sz="2400" b="1" dirty="0" err="1">
                <a:latin typeface="Arial" panose="020B0604020202020204" pitchFamily="34" charset="0"/>
              </a:rPr>
              <a:t>betweenness</a:t>
            </a:r>
            <a:r>
              <a:rPr lang="en-US" altLang="en-US" sz="2400" b="1" dirty="0">
                <a:latin typeface="Arial" panose="020B0604020202020204" pitchFamily="34" charset="0"/>
              </a:rPr>
              <a:t> nodes are strong fraud candidates</a:t>
            </a:r>
          </a:p>
          <a:p>
            <a:pPr lvl="0" eaLnBrk="0" fontAlgn="base" hangingPunct="0">
              <a:spcBef>
                <a:spcPct val="0"/>
              </a:spcBef>
              <a:spcAft>
                <a:spcPct val="0"/>
              </a:spcAft>
              <a:buFontTx/>
              <a:buChar char="•"/>
            </a:pPr>
            <a:r>
              <a:rPr lang="en-US" altLang="en-US" sz="2400" b="1" dirty="0">
                <a:latin typeface="Arial" panose="020B0604020202020204" pitchFamily="34" charset="0"/>
              </a:rPr>
              <a:t>Transaction hubs frequently indicate mule accounts</a:t>
            </a:r>
          </a:p>
          <a:p>
            <a:pPr lvl="0" eaLnBrk="0" fontAlgn="base" hangingPunct="0">
              <a:spcBef>
                <a:spcPct val="0"/>
              </a:spcBef>
              <a:spcAft>
                <a:spcPct val="0"/>
              </a:spcAft>
              <a:buFontTx/>
              <a:buChar char="•"/>
            </a:pPr>
            <a:r>
              <a:rPr lang="en-US" altLang="en-US" sz="2400" b="1" dirty="0">
                <a:latin typeface="Arial" panose="020B0604020202020204" pitchFamily="34" charset="0"/>
              </a:rPr>
              <a:t>Visualization significantly improves fraud </a:t>
            </a:r>
            <a:r>
              <a:rPr lang="en-US" altLang="en-US" sz="2400" b="1" dirty="0" err="1">
                <a:latin typeface="Arial" panose="020B0604020202020204" pitchFamily="34" charset="0"/>
              </a:rPr>
              <a:t>explainability</a:t>
            </a:r>
            <a:endParaRPr lang="en-US" altLang="en-US" sz="2400" b="1" dirty="0">
              <a:latin typeface="Arial" panose="020B0604020202020204" pitchFamily="34" charset="0"/>
            </a:endParaRPr>
          </a:p>
          <a:p>
            <a:pPr lvl="0" eaLnBrk="0" fontAlgn="base" hangingPunct="0">
              <a:spcBef>
                <a:spcPct val="0"/>
              </a:spcBef>
              <a:spcAft>
                <a:spcPct val="0"/>
              </a:spcAft>
              <a:buFontTx/>
              <a:buChar char="•"/>
            </a:pPr>
            <a:r>
              <a:rPr lang="en-US" altLang="en-US" sz="2400" b="1" dirty="0">
                <a:latin typeface="Arial" panose="020B0604020202020204" pitchFamily="34" charset="0"/>
              </a:rPr>
              <a:t>Network analysis reduces false positives</a:t>
            </a:r>
          </a:p>
        </p:txBody>
      </p:sp>
    </p:spTree>
    <p:extLst>
      <p:ext uri="{BB962C8B-B14F-4D97-AF65-F5344CB8AC3E}">
        <p14:creationId xmlns:p14="http://schemas.microsoft.com/office/powerpoint/2010/main" val="11145149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Future Enhancements</a:t>
            </a:r>
          </a:p>
        </p:txBody>
      </p:sp>
      <p:sp>
        <p:nvSpPr>
          <p:cNvPr id="5" name="Rectangle 4"/>
          <p:cNvSpPr/>
          <p:nvPr/>
        </p:nvSpPr>
        <p:spPr>
          <a:xfrm>
            <a:off x="1363579" y="1968441"/>
            <a:ext cx="8959516" cy="1938992"/>
          </a:xfrm>
          <a:prstGeom prst="rect">
            <a:avLst/>
          </a:prstGeom>
        </p:spPr>
        <p:txBody>
          <a:bodyPr wrap="square">
            <a:spAutoFit/>
          </a:bodyPr>
          <a:lstStyle/>
          <a:p>
            <a:pPr lvl="0" eaLnBrk="0" fontAlgn="base" hangingPunct="0">
              <a:spcBef>
                <a:spcPct val="0"/>
              </a:spcBef>
              <a:spcAft>
                <a:spcPct val="0"/>
              </a:spcAft>
              <a:buFontTx/>
              <a:buChar char="•"/>
            </a:pPr>
            <a:r>
              <a:rPr lang="en-US" altLang="en-US" sz="2400" dirty="0">
                <a:latin typeface="Arial" panose="020B0604020202020204" pitchFamily="34" charset="0"/>
              </a:rPr>
              <a:t>Community detection for fraud rings</a:t>
            </a:r>
          </a:p>
          <a:p>
            <a:pPr lvl="0" eaLnBrk="0" fontAlgn="base" hangingPunct="0">
              <a:spcBef>
                <a:spcPct val="0"/>
              </a:spcBef>
              <a:spcAft>
                <a:spcPct val="0"/>
              </a:spcAft>
              <a:buFontTx/>
              <a:buChar char="•"/>
            </a:pPr>
            <a:r>
              <a:rPr lang="en-US" altLang="en-US" sz="2400" dirty="0">
                <a:latin typeface="Arial" panose="020B0604020202020204" pitchFamily="34" charset="0"/>
              </a:rPr>
              <a:t>Temporal network analysis</a:t>
            </a:r>
          </a:p>
          <a:p>
            <a:pPr lvl="0" eaLnBrk="0" fontAlgn="base" hangingPunct="0">
              <a:spcBef>
                <a:spcPct val="0"/>
              </a:spcBef>
              <a:spcAft>
                <a:spcPct val="0"/>
              </a:spcAft>
              <a:buFontTx/>
              <a:buChar char="•"/>
            </a:pPr>
            <a:r>
              <a:rPr lang="en-US" altLang="en-US" sz="2400" dirty="0">
                <a:latin typeface="Arial" panose="020B0604020202020204" pitchFamily="34" charset="0"/>
              </a:rPr>
              <a:t>Machine-learning-based fraud scoring</a:t>
            </a:r>
          </a:p>
          <a:p>
            <a:pPr lvl="0" eaLnBrk="0" fontAlgn="base" hangingPunct="0">
              <a:spcBef>
                <a:spcPct val="0"/>
              </a:spcBef>
              <a:spcAft>
                <a:spcPct val="0"/>
              </a:spcAft>
              <a:buFontTx/>
              <a:buChar char="•"/>
            </a:pPr>
            <a:r>
              <a:rPr lang="en-US" altLang="en-US" sz="2400" dirty="0">
                <a:latin typeface="Arial" panose="020B0604020202020204" pitchFamily="34" charset="0"/>
              </a:rPr>
              <a:t>Real-time transaction monitoring</a:t>
            </a:r>
          </a:p>
          <a:p>
            <a:pPr lvl="0" eaLnBrk="0" fontAlgn="base" hangingPunct="0">
              <a:spcBef>
                <a:spcPct val="0"/>
              </a:spcBef>
              <a:spcAft>
                <a:spcPct val="0"/>
              </a:spcAft>
              <a:buFontTx/>
              <a:buChar char="•"/>
            </a:pPr>
            <a:r>
              <a:rPr lang="en-US" altLang="en-US" sz="2400" dirty="0">
                <a:latin typeface="Arial" panose="020B0604020202020204" pitchFamily="34" charset="0"/>
              </a:rPr>
              <a:t>Dashboard integration</a:t>
            </a:r>
          </a:p>
        </p:txBody>
      </p:sp>
    </p:spTree>
    <p:extLst>
      <p:ext uri="{BB962C8B-B14F-4D97-AF65-F5344CB8AC3E}">
        <p14:creationId xmlns:p14="http://schemas.microsoft.com/office/powerpoint/2010/main" val="5295425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Conclusion</a:t>
            </a:r>
            <a:endParaRPr lang="en-US" b="1" dirty="0"/>
          </a:p>
        </p:txBody>
      </p:sp>
      <p:sp>
        <p:nvSpPr>
          <p:cNvPr id="3" name="Content Placeholder 2"/>
          <p:cNvSpPr>
            <a:spLocks noGrp="1"/>
          </p:cNvSpPr>
          <p:nvPr>
            <p:ph idx="1"/>
          </p:nvPr>
        </p:nvSpPr>
        <p:spPr/>
        <p:txBody>
          <a:bodyPr/>
          <a:lstStyle/>
          <a:p>
            <a:r>
              <a:rPr lang="en-US" dirty="0"/>
              <a:t>This project demonstrates how network analytics transforms fraud detection by uncovering hidden relationships and collusive behavior. By combining graph metrics with intuitive visualizations, the approach delivers explainable, scalable, and business-ready fraud insights aligned with modern financial risk management practices.</a:t>
            </a:r>
          </a:p>
        </p:txBody>
      </p:sp>
    </p:spTree>
    <p:extLst>
      <p:ext uri="{BB962C8B-B14F-4D97-AF65-F5344CB8AC3E}">
        <p14:creationId xmlns:p14="http://schemas.microsoft.com/office/powerpoint/2010/main" val="30055121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TotalTime>
  <Words>503</Words>
  <Application>Microsoft Office PowerPoint</Application>
  <PresentationFormat>Widescreen</PresentationFormat>
  <Paragraphs>84</Paragraphs>
  <Slides>18</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CIDFont+F1</vt:lpstr>
      <vt:lpstr>Office Theme</vt:lpstr>
      <vt:lpstr>Fraud Detection Network Analysis</vt:lpstr>
      <vt:lpstr>Google Colab URL</vt:lpstr>
      <vt:lpstr>Executive Summary</vt:lpstr>
      <vt:lpstr>Business Problem</vt:lpstr>
      <vt:lpstr>Project Objectives</vt:lpstr>
      <vt:lpstr>Data Description</vt:lpstr>
      <vt:lpstr>Methodology</vt:lpstr>
      <vt:lpstr>Data Visualization </vt:lpstr>
      <vt:lpstr>Visualization and Analytics</vt:lpstr>
      <vt:lpstr>Data Visualization </vt:lpstr>
      <vt:lpstr>Visualization and Analytics</vt:lpstr>
      <vt:lpstr>Data Visualization </vt:lpstr>
      <vt:lpstr>Visualization and Analytics</vt:lpstr>
      <vt:lpstr>Data Visualization </vt:lpstr>
      <vt:lpstr>Visualization and Analytics</vt:lpstr>
      <vt:lpstr>Key Insights</vt:lpstr>
      <vt:lpstr>Future Enhancements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Fraud Detection Network Analysis</dc:title>
  <dc:creator>KUMAR</dc:creator>
  <cp:lastModifiedBy>KUMAR</cp:lastModifiedBy>
  <cp:revision>21</cp:revision>
  <dcterms:created xsi:type="dcterms:W3CDTF">2026-02-07T13:51:03Z</dcterms:created>
  <dcterms:modified xsi:type="dcterms:W3CDTF">2026-02-10T00:51:05Z</dcterms:modified>
</cp:coreProperties>
</file>