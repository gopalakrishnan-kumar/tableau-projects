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36" autoAdjust="0"/>
  </p:normalViewPr>
  <p:slideViewPr>
    <p:cSldViewPr snapToGrid="0">
      <p:cViewPr varScale="1">
        <p:scale>
          <a:sx n="65" d="100"/>
          <a:sy n="65"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D25902-F5D9-4D63-89E5-5D4F0204C129}"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1BFF7D-005D-4066-B635-4D13E50A33CE}" type="slidenum">
              <a:rPr lang="en-US" smtClean="0"/>
              <a:t>‹#›</a:t>
            </a:fld>
            <a:endParaRPr lang="en-US"/>
          </a:p>
        </p:txBody>
      </p:sp>
    </p:spTree>
    <p:extLst>
      <p:ext uri="{BB962C8B-B14F-4D97-AF65-F5344CB8AC3E}">
        <p14:creationId xmlns:p14="http://schemas.microsoft.com/office/powerpoint/2010/main" val="2639038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8C1BFF7D-005D-4066-B635-4D13E50A33CE}" type="slidenum">
              <a:rPr lang="en-US" smtClean="0"/>
              <a:t>1</a:t>
            </a:fld>
            <a:endParaRPr lang="en-US"/>
          </a:p>
        </p:txBody>
      </p:sp>
    </p:spTree>
    <p:extLst>
      <p:ext uri="{BB962C8B-B14F-4D97-AF65-F5344CB8AC3E}">
        <p14:creationId xmlns:p14="http://schemas.microsoft.com/office/powerpoint/2010/main" val="3665711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8D9C717-2AE2-45D5-86B4-020E632617B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9CA090-8B6B-4114-A6E1-BA5AA4A99D83}" type="slidenum">
              <a:rPr lang="en-US" smtClean="0"/>
              <a:t>‹#›</a:t>
            </a:fld>
            <a:endParaRPr lang="en-US"/>
          </a:p>
        </p:txBody>
      </p:sp>
    </p:spTree>
    <p:extLst>
      <p:ext uri="{BB962C8B-B14F-4D97-AF65-F5344CB8AC3E}">
        <p14:creationId xmlns:p14="http://schemas.microsoft.com/office/powerpoint/2010/main" val="2038334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D9C717-2AE2-45D5-86B4-020E632617B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9CA090-8B6B-4114-A6E1-BA5AA4A99D83}" type="slidenum">
              <a:rPr lang="en-US" smtClean="0"/>
              <a:t>‹#›</a:t>
            </a:fld>
            <a:endParaRPr lang="en-US"/>
          </a:p>
        </p:txBody>
      </p:sp>
    </p:spTree>
    <p:extLst>
      <p:ext uri="{BB962C8B-B14F-4D97-AF65-F5344CB8AC3E}">
        <p14:creationId xmlns:p14="http://schemas.microsoft.com/office/powerpoint/2010/main" val="7951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D9C717-2AE2-45D5-86B4-020E632617B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9CA090-8B6B-4114-A6E1-BA5AA4A99D83}" type="slidenum">
              <a:rPr lang="en-US" smtClean="0"/>
              <a:t>‹#›</a:t>
            </a:fld>
            <a:endParaRPr lang="en-US"/>
          </a:p>
        </p:txBody>
      </p:sp>
    </p:spTree>
    <p:extLst>
      <p:ext uri="{BB962C8B-B14F-4D97-AF65-F5344CB8AC3E}">
        <p14:creationId xmlns:p14="http://schemas.microsoft.com/office/powerpoint/2010/main" val="3122834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8D9C717-2AE2-45D5-86B4-020E632617B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9CA090-8B6B-4114-A6E1-BA5AA4A99D83}" type="slidenum">
              <a:rPr lang="en-US" smtClean="0"/>
              <a:t>‹#›</a:t>
            </a:fld>
            <a:endParaRPr lang="en-US"/>
          </a:p>
        </p:txBody>
      </p:sp>
    </p:spTree>
    <p:extLst>
      <p:ext uri="{BB962C8B-B14F-4D97-AF65-F5344CB8AC3E}">
        <p14:creationId xmlns:p14="http://schemas.microsoft.com/office/powerpoint/2010/main" val="510258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8D9C717-2AE2-45D5-86B4-020E632617B4}" type="datetimeFigureOut">
              <a:rPr lang="en-US" smtClean="0"/>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9CA090-8B6B-4114-A6E1-BA5AA4A99D83}" type="slidenum">
              <a:rPr lang="en-US" smtClean="0"/>
              <a:t>‹#›</a:t>
            </a:fld>
            <a:endParaRPr lang="en-US"/>
          </a:p>
        </p:txBody>
      </p:sp>
    </p:spTree>
    <p:extLst>
      <p:ext uri="{BB962C8B-B14F-4D97-AF65-F5344CB8AC3E}">
        <p14:creationId xmlns:p14="http://schemas.microsoft.com/office/powerpoint/2010/main" val="211702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8D9C717-2AE2-45D5-86B4-020E632617B4}"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9CA090-8B6B-4114-A6E1-BA5AA4A99D83}" type="slidenum">
              <a:rPr lang="en-US" smtClean="0"/>
              <a:t>‹#›</a:t>
            </a:fld>
            <a:endParaRPr lang="en-US"/>
          </a:p>
        </p:txBody>
      </p:sp>
    </p:spTree>
    <p:extLst>
      <p:ext uri="{BB962C8B-B14F-4D97-AF65-F5344CB8AC3E}">
        <p14:creationId xmlns:p14="http://schemas.microsoft.com/office/powerpoint/2010/main" val="3556757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D9C717-2AE2-45D5-86B4-020E632617B4}" type="datetimeFigureOut">
              <a:rPr lang="en-US" smtClean="0"/>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9CA090-8B6B-4114-A6E1-BA5AA4A99D83}" type="slidenum">
              <a:rPr lang="en-US" smtClean="0"/>
              <a:t>‹#›</a:t>
            </a:fld>
            <a:endParaRPr lang="en-US"/>
          </a:p>
        </p:txBody>
      </p:sp>
    </p:spTree>
    <p:extLst>
      <p:ext uri="{BB962C8B-B14F-4D97-AF65-F5344CB8AC3E}">
        <p14:creationId xmlns:p14="http://schemas.microsoft.com/office/powerpoint/2010/main" val="550888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8D9C717-2AE2-45D5-86B4-020E632617B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9CA090-8B6B-4114-A6E1-BA5AA4A99D83}" type="slidenum">
              <a:rPr lang="en-US" smtClean="0"/>
              <a:t>‹#›</a:t>
            </a:fld>
            <a:endParaRPr lang="en-US"/>
          </a:p>
        </p:txBody>
      </p:sp>
    </p:spTree>
    <p:extLst>
      <p:ext uri="{BB962C8B-B14F-4D97-AF65-F5344CB8AC3E}">
        <p14:creationId xmlns:p14="http://schemas.microsoft.com/office/powerpoint/2010/main" val="3021140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8D9C717-2AE2-45D5-86B4-020E632617B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9CA090-8B6B-4114-A6E1-BA5AA4A99D83}" type="slidenum">
              <a:rPr lang="en-US" smtClean="0"/>
              <a:t>‹#›</a:t>
            </a:fld>
            <a:endParaRPr lang="en-US"/>
          </a:p>
        </p:txBody>
      </p:sp>
    </p:spTree>
    <p:extLst>
      <p:ext uri="{BB962C8B-B14F-4D97-AF65-F5344CB8AC3E}">
        <p14:creationId xmlns:p14="http://schemas.microsoft.com/office/powerpoint/2010/main" val="3726363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D9C717-2AE2-45D5-86B4-020E632617B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9CA090-8B6B-4114-A6E1-BA5AA4A99D83}" type="slidenum">
              <a:rPr lang="en-US" smtClean="0"/>
              <a:t>‹#›</a:t>
            </a:fld>
            <a:endParaRPr lang="en-US"/>
          </a:p>
        </p:txBody>
      </p:sp>
    </p:spTree>
    <p:extLst>
      <p:ext uri="{BB962C8B-B14F-4D97-AF65-F5344CB8AC3E}">
        <p14:creationId xmlns:p14="http://schemas.microsoft.com/office/powerpoint/2010/main" val="1066238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D9C717-2AE2-45D5-86B4-020E632617B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9CA090-8B6B-4114-A6E1-BA5AA4A99D83}" type="slidenum">
              <a:rPr lang="en-US" smtClean="0"/>
              <a:t>‹#›</a:t>
            </a:fld>
            <a:endParaRPr lang="en-US"/>
          </a:p>
        </p:txBody>
      </p:sp>
    </p:spTree>
    <p:extLst>
      <p:ext uri="{BB962C8B-B14F-4D97-AF65-F5344CB8AC3E}">
        <p14:creationId xmlns:p14="http://schemas.microsoft.com/office/powerpoint/2010/main" val="2789726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D9C717-2AE2-45D5-86B4-020E632617B4}" type="datetimeFigureOut">
              <a:rPr lang="en-US" smtClean="0"/>
              <a:t>9/1/2026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9CA090-8B6B-4114-A6E1-BA5AA4A99D83}" type="slidenum">
              <a:rPr lang="en-US" smtClean="0"/>
              <a:t>‹#›</a:t>
            </a:fld>
            <a:endParaRPr lang="en-US"/>
          </a:p>
        </p:txBody>
      </p:sp>
    </p:spTree>
    <p:extLst>
      <p:ext uri="{BB962C8B-B14F-4D97-AF65-F5344CB8AC3E}">
        <p14:creationId xmlns:p14="http://schemas.microsoft.com/office/powerpoint/2010/main" val="3750815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gopalakrishnankumar-a7330111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kaggle.com/gopalkk2" TargetMode="External"/><Relationship Id="rId4" Type="http://schemas.openxmlformats.org/officeDocument/2006/relationships/hyperlink" Target="https://github.com/Gopal21236/"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Pku0OVcafi0c9ec0vM5mI164108Pheqb?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Personalized Cancer Medication Prediction with Deep Learning on Mutation Datasets</a:t>
            </a:r>
            <a:endParaRPr lang="en-US" b="1" dirty="0"/>
          </a:p>
        </p:txBody>
      </p:sp>
      <p:sp>
        <p:nvSpPr>
          <p:cNvPr id="4" name="Subtitle 2"/>
          <p:cNvSpPr>
            <a:spLocks noGrp="1"/>
          </p:cNvSpPr>
          <p:nvPr>
            <p:ph type="subTitle" idx="1"/>
          </p:nvPr>
        </p:nvSpPr>
        <p:spPr>
          <a:xfrm>
            <a:off x="1524000" y="3509963"/>
            <a:ext cx="9144000" cy="1655762"/>
          </a:xfrm>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Data Analyst/ Scientist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3"/>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4"/>
              </a:rPr>
              <a:t>Github:</a:t>
            </a:r>
            <a:r>
              <a:rPr lang="en-US" dirty="0">
                <a:solidFill>
                  <a:srgbClr val="0D0D0D"/>
                </a:solidFill>
                <a:latin typeface="CIDFont+F1"/>
                <a:hlinkClick r:id="rId4"/>
              </a:rPr>
              <a:t>https://github.com/Gopal21236/</a:t>
            </a:r>
            <a:endParaRPr lang="en-US" dirty="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5"/>
              </a:rPr>
              <a:t>https://www.kaggle.com/gopalkk2</a:t>
            </a:r>
            <a:endParaRPr lang="en-US" sz="2000" dirty="0" smtClean="0"/>
          </a:p>
          <a:p>
            <a:endParaRPr lang="en-US" sz="2000" dirty="0"/>
          </a:p>
        </p:txBody>
      </p:sp>
    </p:spTree>
    <p:extLst>
      <p:ext uri="{BB962C8B-B14F-4D97-AF65-F5344CB8AC3E}">
        <p14:creationId xmlns:p14="http://schemas.microsoft.com/office/powerpoint/2010/main" val="459362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smtClean="0">
                <a:hlinkClick r:id="rId2"/>
              </a:rPr>
              <a:t>https://colab.research.google.com/drive/1Pku0OVcafi0c9ec0vM5mI164108Pheqb?usp=sharing</a:t>
            </a:r>
            <a:endParaRPr lang="en-US" dirty="0" smtClean="0"/>
          </a:p>
          <a:p>
            <a:pPr marL="0" indent="0">
              <a:buNone/>
            </a:pPr>
            <a:endParaRPr lang="en-US" dirty="0"/>
          </a:p>
        </p:txBody>
      </p:sp>
    </p:spTree>
    <p:extLst>
      <p:ext uri="{BB962C8B-B14F-4D97-AF65-F5344CB8AC3E}">
        <p14:creationId xmlns:p14="http://schemas.microsoft.com/office/powerpoint/2010/main" val="3712465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Introduction</a:t>
            </a:r>
            <a:endParaRPr lang="en-US" b="1" dirty="0"/>
          </a:p>
        </p:txBody>
      </p:sp>
      <p:sp>
        <p:nvSpPr>
          <p:cNvPr id="3" name="Content Placeholder 2"/>
          <p:cNvSpPr>
            <a:spLocks noGrp="1"/>
          </p:cNvSpPr>
          <p:nvPr>
            <p:ph idx="1"/>
          </p:nvPr>
        </p:nvSpPr>
        <p:spPr/>
        <p:txBody>
          <a:bodyPr/>
          <a:lstStyle/>
          <a:p>
            <a:r>
              <a:rPr lang="en-US" dirty="0" smtClean="0"/>
              <a:t>Cancer is a complex disease, and different patients can respond differently to the same treatment. One important reason is that tumors can contain different genetic mutations.</a:t>
            </a:r>
          </a:p>
          <a:p>
            <a:r>
              <a:rPr lang="en-US" dirty="0" smtClean="0"/>
              <a:t>Personalized medicine attempts to use information about a patient's tumor, including genetic alterations, to support selection of appropriate treatment strategies.</a:t>
            </a:r>
          </a:p>
          <a:p>
            <a:r>
              <a:rPr lang="en-US" dirty="0" smtClean="0"/>
              <a:t>In this project, I demonstrate a </a:t>
            </a:r>
            <a:r>
              <a:rPr lang="en-US" b="1" dirty="0" smtClean="0"/>
              <a:t>deep-learning-based prediction workflow</a:t>
            </a:r>
            <a:r>
              <a:rPr lang="en-US" dirty="0" smtClean="0"/>
              <a:t> using mutation-related data.</a:t>
            </a:r>
          </a:p>
          <a:p>
            <a:endParaRPr lang="en-US" dirty="0"/>
          </a:p>
        </p:txBody>
      </p:sp>
    </p:spTree>
    <p:extLst>
      <p:ext uri="{BB962C8B-B14F-4D97-AF65-F5344CB8AC3E}">
        <p14:creationId xmlns:p14="http://schemas.microsoft.com/office/powerpoint/2010/main" val="3837461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Problem Statement</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The main problem addressed in this project is how machine learning can be used to analyze mutation information and classify patients into treatment categories.</a:t>
            </a:r>
          </a:p>
          <a:p>
            <a:r>
              <a:rPr lang="en-US" dirty="0" smtClean="0"/>
              <a:t>The input may include features such as:</a:t>
            </a:r>
          </a:p>
          <a:p>
            <a:r>
              <a:rPr lang="en-US" dirty="0" smtClean="0"/>
              <a:t>Patient age</a:t>
            </a:r>
          </a:p>
          <a:p>
            <a:r>
              <a:rPr lang="en-US" dirty="0" smtClean="0"/>
              <a:t>Gene</a:t>
            </a:r>
          </a:p>
          <a:p>
            <a:r>
              <a:rPr lang="en-US" dirty="0" smtClean="0"/>
              <a:t>Mutation type</a:t>
            </a:r>
          </a:p>
          <a:p>
            <a:r>
              <a:rPr lang="en-US" dirty="0" smtClean="0"/>
              <a:t>Mutation frequency</a:t>
            </a:r>
          </a:p>
          <a:p>
            <a:r>
              <a:rPr lang="en-US" dirty="0" smtClean="0"/>
              <a:t>Tumor mutation burden</a:t>
            </a:r>
          </a:p>
          <a:p>
            <a:r>
              <a:rPr lang="en-US" dirty="0" smtClean="0"/>
              <a:t>The model then produces a predicted treatment category.</a:t>
            </a:r>
          </a:p>
          <a:p>
            <a:endParaRPr lang="en-US" dirty="0"/>
          </a:p>
        </p:txBody>
      </p:sp>
    </p:spTree>
    <p:extLst>
      <p:ext uri="{BB962C8B-B14F-4D97-AF65-F5344CB8AC3E}">
        <p14:creationId xmlns:p14="http://schemas.microsoft.com/office/powerpoint/2010/main" val="4029373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Dataset</a:t>
            </a:r>
            <a:endParaRPr lang="en-US" b="1" dirty="0"/>
          </a:p>
        </p:txBody>
      </p:sp>
      <p:sp>
        <p:nvSpPr>
          <p:cNvPr id="3" name="Content Placeholder 2"/>
          <p:cNvSpPr>
            <a:spLocks noGrp="1"/>
          </p:cNvSpPr>
          <p:nvPr>
            <p:ph idx="1"/>
          </p:nvPr>
        </p:nvSpPr>
        <p:spPr/>
        <p:txBody>
          <a:bodyPr/>
          <a:lstStyle/>
          <a:p>
            <a:r>
              <a:rPr lang="en-US" dirty="0" smtClean="0"/>
              <a:t>For demonstration, I use a </a:t>
            </a:r>
            <a:r>
              <a:rPr lang="en-US" b="1" dirty="0" smtClean="0"/>
              <a:t>synthetic cancer mutation dataset</a:t>
            </a:r>
            <a:r>
              <a:rPr lang="en-US" dirty="0" smtClean="0"/>
              <a:t>.</a:t>
            </a:r>
          </a:p>
          <a:p>
            <a:r>
              <a:rPr lang="en-US" dirty="0" smtClean="0"/>
              <a:t>The dataset contains approximately 1,000 simulated patient records.</a:t>
            </a:r>
          </a:p>
          <a:p>
            <a:r>
              <a:rPr lang="en-US" dirty="0" smtClean="0"/>
              <a:t>Important variables include:</a:t>
            </a:r>
          </a:p>
          <a:p>
            <a:r>
              <a:rPr lang="en-US" b="1" dirty="0" err="1" smtClean="0"/>
              <a:t>Patient_ID</a:t>
            </a:r>
            <a:r>
              <a:rPr lang="en-US" dirty="0" smtClean="0"/>
              <a:t>, </a:t>
            </a:r>
            <a:r>
              <a:rPr lang="en-US" b="1" dirty="0" smtClean="0"/>
              <a:t>Age</a:t>
            </a:r>
            <a:r>
              <a:rPr lang="en-US" dirty="0" smtClean="0"/>
              <a:t>, </a:t>
            </a:r>
            <a:r>
              <a:rPr lang="en-US" b="1" dirty="0" smtClean="0"/>
              <a:t>Gene</a:t>
            </a:r>
            <a:r>
              <a:rPr lang="en-US" dirty="0" smtClean="0"/>
              <a:t>, </a:t>
            </a:r>
            <a:r>
              <a:rPr lang="en-US" b="1" dirty="0" err="1" smtClean="0"/>
              <a:t>Mutation_Type</a:t>
            </a:r>
            <a:r>
              <a:rPr lang="en-US" dirty="0" smtClean="0"/>
              <a:t>, </a:t>
            </a:r>
            <a:r>
              <a:rPr lang="en-US" b="1" dirty="0" err="1" smtClean="0"/>
              <a:t>Mutation_Frequency</a:t>
            </a:r>
            <a:r>
              <a:rPr lang="en-US" dirty="0" smtClean="0"/>
              <a:t>, </a:t>
            </a:r>
            <a:r>
              <a:rPr lang="en-US" b="1" dirty="0" err="1" smtClean="0"/>
              <a:t>Tumor_Mutation_Burden</a:t>
            </a:r>
            <a:r>
              <a:rPr lang="en-US" dirty="0" smtClean="0"/>
              <a:t>, and </a:t>
            </a:r>
            <a:r>
              <a:rPr lang="en-US" b="1" dirty="0" smtClean="0"/>
              <a:t>Medication</a:t>
            </a:r>
            <a:r>
              <a:rPr lang="en-US" dirty="0" smtClean="0"/>
              <a:t>.</a:t>
            </a:r>
          </a:p>
          <a:p>
            <a:r>
              <a:rPr lang="en-US" dirty="0" smtClean="0"/>
              <a:t>Example genes include TP53, BRCA1, BRCA2, EGFR, KRAS, BRAF, ALK, PIK3CA, PTEN and APC.</a:t>
            </a:r>
          </a:p>
          <a:p>
            <a:r>
              <a:rPr lang="en-US" dirty="0" smtClean="0"/>
              <a:t>The mutation types include missense, nonsense, frameshift, splice-site, insertion and deletion.</a:t>
            </a:r>
          </a:p>
          <a:p>
            <a:endParaRPr lang="en-US" dirty="0"/>
          </a:p>
        </p:txBody>
      </p:sp>
    </p:spTree>
    <p:extLst>
      <p:ext uri="{BB962C8B-B14F-4D97-AF65-F5344CB8AC3E}">
        <p14:creationId xmlns:p14="http://schemas.microsoft.com/office/powerpoint/2010/main" val="1788593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Generation</a:t>
            </a:r>
            <a:endParaRPr lang="en-US" b="1" dirty="0"/>
          </a:p>
        </p:txBody>
      </p:sp>
      <p:sp>
        <p:nvSpPr>
          <p:cNvPr id="6" name="Rectangle 5"/>
          <p:cNvSpPr/>
          <p:nvPr/>
        </p:nvSpPr>
        <p:spPr>
          <a:xfrm>
            <a:off x="1465943" y="1415350"/>
            <a:ext cx="8839200" cy="2677656"/>
          </a:xfrm>
          <a:prstGeom prst="rect">
            <a:avLst/>
          </a:prstGeom>
        </p:spPr>
        <p:txBody>
          <a:bodyPr wrap="square">
            <a:spAutoFit/>
          </a:bodyPr>
          <a:lstStyle/>
          <a:p>
            <a:pPr lvl="0" eaLnBrk="0" fontAlgn="base" hangingPunct="0">
              <a:spcBef>
                <a:spcPct val="0"/>
              </a:spcBef>
              <a:spcAft>
                <a:spcPct val="0"/>
              </a:spcAft>
            </a:pPr>
            <a:r>
              <a:rPr lang="en-US" altLang="en-US" sz="2800" dirty="0"/>
              <a:t>Since this demonstration uses synthetic data, Python is used to generate the dataset.</a:t>
            </a:r>
          </a:p>
          <a:p>
            <a:pPr lvl="0" eaLnBrk="0" fontAlgn="base" hangingPunct="0">
              <a:spcBef>
                <a:spcPct val="0"/>
              </a:spcBef>
              <a:spcAft>
                <a:spcPct val="0"/>
              </a:spcAft>
            </a:pPr>
            <a:r>
              <a:rPr lang="en-US" altLang="en-US" sz="2800" dirty="0" err="1"/>
              <a:t>NumPy</a:t>
            </a:r>
            <a:r>
              <a:rPr lang="en-US" altLang="en-US" sz="2800" dirty="0"/>
              <a:t> is used to create reproducible random values, while pandas is used to organize the data into a DataFrame.</a:t>
            </a:r>
          </a:p>
          <a:p>
            <a:pPr lvl="0" eaLnBrk="0" fontAlgn="base" hangingPunct="0">
              <a:spcBef>
                <a:spcPct val="0"/>
              </a:spcBef>
              <a:spcAft>
                <a:spcPct val="0"/>
              </a:spcAft>
            </a:pPr>
            <a:r>
              <a:rPr lang="en-US" altLang="en-US" sz="2800" dirty="0"/>
              <a:t>The generated dataset is saved as:</a:t>
            </a:r>
          </a:p>
          <a:p>
            <a:pPr lvl="0" eaLnBrk="0" fontAlgn="base" hangingPunct="0">
              <a:spcBef>
                <a:spcPct val="0"/>
              </a:spcBef>
              <a:spcAft>
                <a:spcPct val="0"/>
              </a:spcAft>
            </a:pPr>
            <a:r>
              <a:rPr kumimoji="0" lang="en-US" altLang="en-US" sz="2800" b="0" i="0" u="none" strike="noStrike" cap="none" normalizeH="0" baseline="0" dirty="0" smtClean="0">
                <a:ln>
                  <a:noFill/>
                </a:ln>
                <a:solidFill>
                  <a:schemeClr val="tx1"/>
                </a:solidFill>
                <a:effectLst/>
              </a:rPr>
              <a:t>synthetic_cancer_mutation_data.csv</a:t>
            </a:r>
            <a:endParaRPr lang="en-US" altLang="en-US" sz="2800" dirty="0"/>
          </a:p>
        </p:txBody>
      </p:sp>
    </p:spTree>
    <p:extLst>
      <p:ext uri="{BB962C8B-B14F-4D97-AF65-F5344CB8AC3E}">
        <p14:creationId xmlns:p14="http://schemas.microsoft.com/office/powerpoint/2010/main" val="2201647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Exploratory Data Analysis</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Before building the deep-learning model, exploratory data analysis is performed.</a:t>
            </a:r>
          </a:p>
          <a:p>
            <a:r>
              <a:rPr lang="en-US" dirty="0" smtClean="0"/>
              <a:t>First, I use a </a:t>
            </a:r>
            <a:r>
              <a:rPr lang="en-US" b="1" dirty="0" smtClean="0"/>
              <a:t>histogram plot</a:t>
            </a:r>
            <a:r>
              <a:rPr lang="en-US" dirty="0" smtClean="0"/>
              <a:t> to examine variables such as mutation frequency and tumor mutation burden.</a:t>
            </a:r>
          </a:p>
          <a:p>
            <a:r>
              <a:rPr lang="en-US" dirty="0" smtClean="0"/>
              <a:t>The histogram allows us to understand the distribution of numerical variables.</a:t>
            </a:r>
          </a:p>
          <a:p>
            <a:r>
              <a:rPr lang="en-US" dirty="0" smtClean="0"/>
              <a:t>Next, I use a </a:t>
            </a:r>
            <a:r>
              <a:rPr lang="en-US" b="1" dirty="0" smtClean="0"/>
              <a:t>bar chart</a:t>
            </a:r>
            <a:r>
              <a:rPr lang="en-US" dirty="0" smtClean="0"/>
              <a:t> to display the frequency of mutations across different genes.</a:t>
            </a:r>
          </a:p>
          <a:p>
            <a:r>
              <a:rPr lang="en-US" dirty="0" smtClean="0"/>
              <a:t>A </a:t>
            </a:r>
            <a:r>
              <a:rPr lang="en-US" b="1" dirty="0" smtClean="0"/>
              <a:t>stacked bar chart</a:t>
            </a:r>
            <a:r>
              <a:rPr lang="en-US" dirty="0" smtClean="0"/>
              <a:t> is then used to compare mutation types across genes.</a:t>
            </a:r>
          </a:p>
          <a:p>
            <a:r>
              <a:rPr lang="en-US" dirty="0" smtClean="0"/>
              <a:t>Finally, a combined stacked bar chart can be used to examine the relationship among genes, mutation types and medication categories.</a:t>
            </a:r>
          </a:p>
          <a:p>
            <a:endParaRPr lang="en-US" dirty="0"/>
          </a:p>
        </p:txBody>
      </p:sp>
    </p:spTree>
    <p:extLst>
      <p:ext uri="{BB962C8B-B14F-4D97-AF65-F5344CB8AC3E}">
        <p14:creationId xmlns:p14="http://schemas.microsoft.com/office/powerpoint/2010/main" val="1346767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Preprocessing</a:t>
            </a:r>
            <a:endParaRPr lang="en-US" b="1" dirty="0"/>
          </a:p>
        </p:txBody>
      </p:sp>
      <p:sp>
        <p:nvSpPr>
          <p:cNvPr id="3" name="Content Placeholder 2"/>
          <p:cNvSpPr>
            <a:spLocks noGrp="1"/>
          </p:cNvSpPr>
          <p:nvPr>
            <p:ph idx="1"/>
          </p:nvPr>
        </p:nvSpPr>
        <p:spPr/>
        <p:txBody>
          <a:bodyPr/>
          <a:lstStyle/>
          <a:p>
            <a:r>
              <a:rPr lang="en-US" dirty="0" smtClean="0"/>
              <a:t>Machine-learning models require numerical input.</a:t>
            </a:r>
          </a:p>
          <a:p>
            <a:r>
              <a:rPr lang="en-US" dirty="0" smtClean="0"/>
              <a:t>Therefore, categorical variables such as gene and mutation type are encoded into numerical representations.</a:t>
            </a:r>
          </a:p>
          <a:p>
            <a:r>
              <a:rPr lang="en-US" dirty="0" smtClean="0"/>
              <a:t>The medication category is also encoded as the target variable.</a:t>
            </a:r>
          </a:p>
          <a:p>
            <a:r>
              <a:rPr lang="en-US" dirty="0" smtClean="0"/>
              <a:t>The dataset is then divided into training and testing sets.</a:t>
            </a:r>
          </a:p>
          <a:p>
            <a:r>
              <a:rPr lang="en-US" dirty="0" smtClean="0"/>
              <a:t>In this demonstration, approximately 80 percent of the observations are used for training and 20 percent for testing.</a:t>
            </a:r>
          </a:p>
          <a:p>
            <a:endParaRPr lang="en-US" dirty="0"/>
          </a:p>
        </p:txBody>
      </p:sp>
    </p:spTree>
    <p:extLst>
      <p:ext uri="{BB962C8B-B14F-4D97-AF65-F5344CB8AC3E}">
        <p14:creationId xmlns:p14="http://schemas.microsoft.com/office/powerpoint/2010/main" val="3166755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Deep Learning Model</a:t>
            </a:r>
            <a:endParaRPr lang="en-US" b="1" dirty="0"/>
          </a:p>
        </p:txBody>
      </p:sp>
      <p:sp>
        <p:nvSpPr>
          <p:cNvPr id="3" name="Content Placeholder 2"/>
          <p:cNvSpPr>
            <a:spLocks noGrp="1"/>
          </p:cNvSpPr>
          <p:nvPr>
            <p:ph idx="1"/>
          </p:nvPr>
        </p:nvSpPr>
        <p:spPr/>
        <p:txBody>
          <a:bodyPr/>
          <a:lstStyle/>
          <a:p>
            <a:r>
              <a:rPr lang="en-US" dirty="0" smtClean="0"/>
              <a:t>The prediction model is a </a:t>
            </a:r>
            <a:r>
              <a:rPr lang="en-US" b="1" dirty="0" smtClean="0"/>
              <a:t>feed-forward artificial neural network</a:t>
            </a:r>
            <a:r>
              <a:rPr lang="en-US" dirty="0" smtClean="0"/>
              <a:t>.</a:t>
            </a:r>
          </a:p>
          <a:p>
            <a:r>
              <a:rPr lang="en-US" dirty="0" smtClean="0"/>
              <a:t>The network contains an input layer followed by dense hidden layers.</a:t>
            </a:r>
          </a:p>
          <a:p>
            <a:r>
              <a:rPr lang="en-US" dirty="0" smtClean="0"/>
              <a:t>The hidden layers use the </a:t>
            </a:r>
            <a:r>
              <a:rPr lang="en-US" b="1" dirty="0" smtClean="0"/>
              <a:t>ReLU activation function</a:t>
            </a:r>
            <a:r>
              <a:rPr lang="en-US" dirty="0" smtClean="0"/>
              <a:t>.</a:t>
            </a:r>
          </a:p>
          <a:p>
            <a:r>
              <a:rPr lang="en-US" dirty="0" smtClean="0"/>
              <a:t>Dropout layers are included to reduce overfitting.</a:t>
            </a:r>
          </a:p>
          <a:p>
            <a:r>
              <a:rPr lang="en-US" dirty="0" smtClean="0"/>
              <a:t>The final layer uses the </a:t>
            </a:r>
            <a:r>
              <a:rPr lang="en-US" b="1" dirty="0" err="1" smtClean="0"/>
              <a:t>softmax</a:t>
            </a:r>
            <a:r>
              <a:rPr lang="en-US" b="1" dirty="0" smtClean="0"/>
              <a:t> activation function</a:t>
            </a:r>
            <a:r>
              <a:rPr lang="en-US" dirty="0" smtClean="0"/>
              <a:t>, because this is a multiclass classification problem.</a:t>
            </a:r>
          </a:p>
          <a:p>
            <a:r>
              <a:rPr lang="en-US" dirty="0" smtClean="0"/>
              <a:t>The model is trained using the </a:t>
            </a:r>
            <a:r>
              <a:rPr lang="en-US" b="1" dirty="0" smtClean="0"/>
              <a:t>Adam optimizer</a:t>
            </a:r>
            <a:r>
              <a:rPr lang="en-US" dirty="0" smtClean="0"/>
              <a:t> and </a:t>
            </a:r>
            <a:r>
              <a:rPr lang="en-US" b="1" dirty="0" smtClean="0"/>
              <a:t>categorical cross-entropy loss</a:t>
            </a:r>
            <a:r>
              <a:rPr lang="en-US" dirty="0" smtClean="0"/>
              <a:t>.</a:t>
            </a:r>
          </a:p>
          <a:p>
            <a:endParaRPr lang="en-US" dirty="0"/>
          </a:p>
        </p:txBody>
      </p:sp>
    </p:spTree>
    <p:extLst>
      <p:ext uri="{BB962C8B-B14F-4D97-AF65-F5344CB8AC3E}">
        <p14:creationId xmlns:p14="http://schemas.microsoft.com/office/powerpoint/2010/main" val="4270964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Mathematical Formulation</a:t>
            </a:r>
            <a:endParaRPr lang="en-US" b="1" dirty="0"/>
          </a:p>
        </p:txBody>
      </p:sp>
      <p:sp>
        <p:nvSpPr>
          <p:cNvPr id="3" name="Content Placeholder 2"/>
          <p:cNvSpPr>
            <a:spLocks noGrp="1"/>
          </p:cNvSpPr>
          <p:nvPr>
            <p:ph idx="1"/>
          </p:nvPr>
        </p:nvSpPr>
        <p:spPr/>
        <p:txBody>
          <a:bodyPr>
            <a:normAutofit lnSpcReduction="10000"/>
          </a:bodyPr>
          <a:lstStyle/>
          <a:p>
            <a:r>
              <a:rPr lang="en-US" dirty="0" smtClean="0"/>
              <a:t>For a multiclass problem, the </a:t>
            </a:r>
            <a:r>
              <a:rPr lang="en-US" dirty="0" err="1" smtClean="0"/>
              <a:t>softmax</a:t>
            </a:r>
            <a:r>
              <a:rPr lang="en-US" dirty="0" smtClean="0"/>
              <a:t> probability for class (k) is:</a:t>
            </a:r>
          </a:p>
          <a:p>
            <a:r>
              <a:rPr lang="en-US" dirty="0" smtClean="0"/>
              <a:t>[</a:t>
            </a:r>
            <a:br>
              <a:rPr lang="en-US" dirty="0" smtClean="0"/>
            </a:br>
            <a:r>
              <a:rPr lang="en-US" dirty="0" smtClean="0"/>
              <a:t>P(y=</a:t>
            </a:r>
            <a:r>
              <a:rPr lang="en-US" dirty="0" err="1" smtClean="0"/>
              <a:t>k|x</a:t>
            </a:r>
            <a:r>
              <a:rPr lang="en-US" dirty="0" smtClean="0"/>
              <a:t>)=\</a:t>
            </a:r>
            <a:r>
              <a:rPr lang="en-US" dirty="0" err="1" smtClean="0"/>
              <a:t>frac</a:t>
            </a:r>
            <a:r>
              <a:rPr lang="en-US" dirty="0" smtClean="0"/>
              <a:t>{e^{</a:t>
            </a:r>
            <a:r>
              <a:rPr lang="en-US" dirty="0" err="1" smtClean="0"/>
              <a:t>z_k</a:t>
            </a:r>
            <a:r>
              <a:rPr lang="en-US" dirty="0" smtClean="0"/>
              <a:t>}}{\</a:t>
            </a:r>
            <a:r>
              <a:rPr lang="en-US" dirty="0" err="1" smtClean="0"/>
              <a:t>sum_j</a:t>
            </a:r>
            <a:r>
              <a:rPr lang="en-US" dirty="0" smtClean="0"/>
              <a:t> e^{</a:t>
            </a:r>
            <a:r>
              <a:rPr lang="en-US" dirty="0" err="1" smtClean="0"/>
              <a:t>z_j</a:t>
            </a:r>
            <a:r>
              <a:rPr lang="en-US" dirty="0" smtClean="0"/>
              <a:t>}}</a:t>
            </a:r>
            <a:br>
              <a:rPr lang="en-US" dirty="0" smtClean="0"/>
            </a:br>
            <a:r>
              <a:rPr lang="en-US" dirty="0" smtClean="0"/>
              <a:t>]</a:t>
            </a:r>
          </a:p>
          <a:p>
            <a:r>
              <a:rPr lang="en-US" dirty="0" smtClean="0"/>
              <a:t>The categorical cross-entropy loss is:</a:t>
            </a:r>
          </a:p>
          <a:p>
            <a:r>
              <a:rPr lang="en-US" dirty="0" smtClean="0"/>
              <a:t>[</a:t>
            </a:r>
            <a:br>
              <a:rPr lang="en-US" dirty="0" smtClean="0"/>
            </a:br>
            <a:r>
              <a:rPr lang="en-US" dirty="0" smtClean="0"/>
              <a:t>L=-\</a:t>
            </a:r>
            <a:r>
              <a:rPr lang="en-US" dirty="0" err="1" smtClean="0"/>
              <a:t>sum_k</a:t>
            </a:r>
            <a:r>
              <a:rPr lang="en-US" dirty="0" smtClean="0"/>
              <a:t> </a:t>
            </a:r>
            <a:r>
              <a:rPr lang="en-US" dirty="0" err="1" smtClean="0"/>
              <a:t>y_k</a:t>
            </a:r>
            <a:r>
              <a:rPr lang="en-US" dirty="0" smtClean="0"/>
              <a:t>\log(</a:t>
            </a:r>
            <a:r>
              <a:rPr lang="en-US" dirty="0" err="1" smtClean="0"/>
              <a:t>p_k</a:t>
            </a:r>
            <a:r>
              <a:rPr lang="en-US" dirty="0" smtClean="0"/>
              <a:t>)</a:t>
            </a:r>
            <a:br>
              <a:rPr lang="en-US" dirty="0" smtClean="0"/>
            </a:br>
            <a:r>
              <a:rPr lang="en-US" dirty="0" smtClean="0"/>
              <a:t>]</a:t>
            </a:r>
          </a:p>
          <a:p>
            <a:r>
              <a:rPr lang="en-US" dirty="0" smtClean="0"/>
              <a:t>During training, the neural network adjusts its weights using gradients of the loss function.</a:t>
            </a:r>
          </a:p>
          <a:p>
            <a:endParaRPr lang="en-US" dirty="0"/>
          </a:p>
        </p:txBody>
      </p:sp>
    </p:spTree>
    <p:extLst>
      <p:ext uri="{BB962C8B-B14F-4D97-AF65-F5344CB8AC3E}">
        <p14:creationId xmlns:p14="http://schemas.microsoft.com/office/powerpoint/2010/main" val="3527727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Model Training</a:t>
            </a:r>
            <a:endParaRPr lang="en-US" b="1" dirty="0"/>
          </a:p>
        </p:txBody>
      </p:sp>
      <p:sp>
        <p:nvSpPr>
          <p:cNvPr id="3" name="Content Placeholder 2"/>
          <p:cNvSpPr>
            <a:spLocks noGrp="1"/>
          </p:cNvSpPr>
          <p:nvPr>
            <p:ph idx="1"/>
          </p:nvPr>
        </p:nvSpPr>
        <p:spPr/>
        <p:txBody>
          <a:bodyPr/>
          <a:lstStyle/>
          <a:p>
            <a:r>
              <a:rPr lang="en-US" dirty="0" smtClean="0"/>
              <a:t>The neural network is trained for multiple epochs using the training dataset.</a:t>
            </a:r>
          </a:p>
          <a:p>
            <a:r>
              <a:rPr lang="en-US" dirty="0" smtClean="0"/>
              <a:t>During training, both training accuracy and validation accuracy are monitored.</a:t>
            </a:r>
          </a:p>
          <a:p>
            <a:r>
              <a:rPr lang="en-US" dirty="0" smtClean="0"/>
              <a:t>Similarly, training and validation loss are recorded.</a:t>
            </a:r>
          </a:p>
          <a:p>
            <a:r>
              <a:rPr lang="en-US" dirty="0" smtClean="0"/>
              <a:t>These values are plotted to determine whether the model is learning appropriately or overfitting.</a:t>
            </a:r>
          </a:p>
          <a:p>
            <a:endParaRPr lang="en-US" dirty="0"/>
          </a:p>
        </p:txBody>
      </p:sp>
    </p:spTree>
    <p:extLst>
      <p:ext uri="{BB962C8B-B14F-4D97-AF65-F5344CB8AC3E}">
        <p14:creationId xmlns:p14="http://schemas.microsoft.com/office/powerpoint/2010/main" val="4128443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Model Evaluation</a:t>
            </a:r>
            <a:endParaRPr lang="en-US" b="1" dirty="0"/>
          </a:p>
        </p:txBody>
      </p:sp>
      <p:sp>
        <p:nvSpPr>
          <p:cNvPr id="3" name="Content Placeholder 2"/>
          <p:cNvSpPr>
            <a:spLocks noGrp="1"/>
          </p:cNvSpPr>
          <p:nvPr>
            <p:ph idx="1"/>
          </p:nvPr>
        </p:nvSpPr>
        <p:spPr/>
        <p:txBody>
          <a:bodyPr/>
          <a:lstStyle/>
          <a:p>
            <a:r>
              <a:rPr lang="en-US" dirty="0" smtClean="0"/>
              <a:t>After training, the model is evaluated using the test dataset.</a:t>
            </a:r>
          </a:p>
          <a:p>
            <a:r>
              <a:rPr lang="en-US" dirty="0" smtClean="0"/>
              <a:t>Important evaluation measures include:</a:t>
            </a:r>
          </a:p>
          <a:p>
            <a:r>
              <a:rPr lang="en-US" b="1" dirty="0" smtClean="0"/>
              <a:t>Accuracy</a:t>
            </a:r>
            <a:r>
              <a:rPr lang="en-US" dirty="0" smtClean="0"/>
              <a:t>, </a:t>
            </a:r>
            <a:r>
              <a:rPr lang="en-US" b="1" dirty="0" smtClean="0"/>
              <a:t>Precision</a:t>
            </a:r>
            <a:r>
              <a:rPr lang="en-US" dirty="0" smtClean="0"/>
              <a:t>, </a:t>
            </a:r>
            <a:r>
              <a:rPr lang="en-US" b="1" dirty="0" smtClean="0"/>
              <a:t>Recall</a:t>
            </a:r>
            <a:r>
              <a:rPr lang="en-US" dirty="0" smtClean="0"/>
              <a:t>, </a:t>
            </a:r>
            <a:r>
              <a:rPr lang="en-US" b="1" dirty="0" smtClean="0"/>
              <a:t>F1-score</a:t>
            </a:r>
            <a:r>
              <a:rPr lang="en-US" dirty="0" smtClean="0"/>
              <a:t>, and the </a:t>
            </a:r>
            <a:r>
              <a:rPr lang="en-US" b="1" dirty="0" smtClean="0"/>
              <a:t>Confusion Matrix</a:t>
            </a:r>
            <a:r>
              <a:rPr lang="en-US" dirty="0" smtClean="0"/>
              <a:t>.</a:t>
            </a:r>
          </a:p>
          <a:p>
            <a:r>
              <a:rPr lang="en-US" dirty="0" smtClean="0"/>
              <a:t>The confusion matrix helps identify which treatment classes are predicted correctly and which classes are confused with one another.</a:t>
            </a:r>
          </a:p>
          <a:p>
            <a:endParaRPr lang="en-US" dirty="0"/>
          </a:p>
        </p:txBody>
      </p:sp>
    </p:spTree>
    <p:extLst>
      <p:ext uri="{BB962C8B-B14F-4D97-AF65-F5344CB8AC3E}">
        <p14:creationId xmlns:p14="http://schemas.microsoft.com/office/powerpoint/2010/main" val="362354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Prediction</a:t>
            </a:r>
            <a:endParaRPr lang="en-US" b="1" dirty="0"/>
          </a:p>
        </p:txBody>
      </p:sp>
      <p:sp>
        <p:nvSpPr>
          <p:cNvPr id="3" name="Content Placeholder 2"/>
          <p:cNvSpPr>
            <a:spLocks noGrp="1"/>
          </p:cNvSpPr>
          <p:nvPr>
            <p:ph idx="1"/>
          </p:nvPr>
        </p:nvSpPr>
        <p:spPr/>
        <p:txBody>
          <a:bodyPr/>
          <a:lstStyle/>
          <a:p>
            <a:r>
              <a:rPr lang="en-US" dirty="0" smtClean="0"/>
              <a:t>For a new mutation profile, the trained model produces probabilities for each treatment category.</a:t>
            </a:r>
          </a:p>
          <a:p>
            <a:r>
              <a:rPr lang="en-US" dirty="0" smtClean="0"/>
              <a:t>The category with the highest predicted probability is selected as the model's classification.</a:t>
            </a:r>
          </a:p>
          <a:p>
            <a:r>
              <a:rPr lang="en-US" dirty="0" smtClean="0"/>
              <a:t>For example, the model may return a probability distribution across several treatment categories and identify the category with the highest probability.</a:t>
            </a:r>
            <a:endParaRPr lang="en-US" dirty="0"/>
          </a:p>
        </p:txBody>
      </p:sp>
    </p:spTree>
    <p:extLst>
      <p:ext uri="{BB962C8B-B14F-4D97-AF65-F5344CB8AC3E}">
        <p14:creationId xmlns:p14="http://schemas.microsoft.com/office/powerpoint/2010/main" val="1542855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17746" y="1825625"/>
            <a:ext cx="6556507" cy="4351338"/>
          </a:xfrm>
        </p:spPr>
      </p:pic>
    </p:spTree>
    <p:extLst>
      <p:ext uri="{BB962C8B-B14F-4D97-AF65-F5344CB8AC3E}">
        <p14:creationId xmlns:p14="http://schemas.microsoft.com/office/powerpoint/2010/main" val="1135658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Histogram Plot </a:t>
            </a:r>
            <a:endParaRPr lang="en-US" b="1" dirty="0"/>
          </a:p>
        </p:txBody>
      </p:sp>
      <p:sp>
        <p:nvSpPr>
          <p:cNvPr id="3" name="Content Placeholder 2"/>
          <p:cNvSpPr>
            <a:spLocks noGrp="1"/>
          </p:cNvSpPr>
          <p:nvPr>
            <p:ph idx="1"/>
          </p:nvPr>
        </p:nvSpPr>
        <p:spPr/>
        <p:txBody>
          <a:bodyPr/>
          <a:lstStyle/>
          <a:p>
            <a:r>
              <a:rPr lang="en-US" b="1" dirty="0" smtClean="0"/>
              <a:t>Key insight:</a:t>
            </a:r>
            <a:r>
              <a:rPr lang="en-US" dirty="0" smtClean="0"/>
              <a:t> The histogram shows the frequency distribution of a numerical cancer-related feature. It helps identify the </a:t>
            </a:r>
            <a:r>
              <a:rPr lang="en-US" b="1" dirty="0" smtClean="0"/>
              <a:t>center, spread, concentration and potential extreme values</a:t>
            </a:r>
            <a:r>
              <a:rPr lang="en-US" dirty="0" smtClean="0"/>
              <a:t> in the synthetic dataset.</a:t>
            </a:r>
            <a:endParaRPr lang="en-US" dirty="0"/>
          </a:p>
        </p:txBody>
      </p:sp>
    </p:spTree>
    <p:extLst>
      <p:ext uri="{BB962C8B-B14F-4D97-AF65-F5344CB8AC3E}">
        <p14:creationId xmlns:p14="http://schemas.microsoft.com/office/powerpoint/2010/main" val="126343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17746" y="1825625"/>
            <a:ext cx="6556507" cy="4351338"/>
          </a:xfrm>
        </p:spPr>
      </p:pic>
    </p:spTree>
    <p:extLst>
      <p:ext uri="{BB962C8B-B14F-4D97-AF65-F5344CB8AC3E}">
        <p14:creationId xmlns:p14="http://schemas.microsoft.com/office/powerpoint/2010/main" val="3268625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Bar Chart Plot</a:t>
            </a:r>
            <a:endParaRPr lang="en-US" b="1" dirty="0"/>
          </a:p>
        </p:txBody>
      </p:sp>
      <p:sp>
        <p:nvSpPr>
          <p:cNvPr id="3" name="Content Placeholder 2"/>
          <p:cNvSpPr>
            <a:spLocks noGrp="1"/>
          </p:cNvSpPr>
          <p:nvPr>
            <p:ph idx="1"/>
          </p:nvPr>
        </p:nvSpPr>
        <p:spPr/>
        <p:txBody>
          <a:bodyPr/>
          <a:lstStyle/>
          <a:p>
            <a:r>
              <a:rPr lang="en-US" dirty="0" smtClean="0"/>
              <a:t>The bar chart provides a categorical comparison of mutation frequencies, allowing us to identify which genes or mutation types are most represented in the synthetic dataset. Large differences between categories can also highlight potential class imbalance that should be considered during model development.</a:t>
            </a:r>
            <a:endParaRPr lang="en-US" dirty="0"/>
          </a:p>
        </p:txBody>
      </p:sp>
    </p:spTree>
    <p:extLst>
      <p:ext uri="{BB962C8B-B14F-4D97-AF65-F5344CB8AC3E}">
        <p14:creationId xmlns:p14="http://schemas.microsoft.com/office/powerpoint/2010/main" val="1902447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43759" y="1825625"/>
            <a:ext cx="7504481" cy="4351338"/>
          </a:xfrm>
        </p:spPr>
      </p:pic>
    </p:spTree>
    <p:extLst>
      <p:ext uri="{BB962C8B-B14F-4D97-AF65-F5344CB8AC3E}">
        <p14:creationId xmlns:p14="http://schemas.microsoft.com/office/powerpoint/2010/main" val="1384834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Stacked Bar Chart Plot </a:t>
            </a:r>
            <a:endParaRPr lang="en-US" b="1" dirty="0"/>
          </a:p>
        </p:txBody>
      </p:sp>
      <p:sp>
        <p:nvSpPr>
          <p:cNvPr id="3" name="Content Placeholder 2"/>
          <p:cNvSpPr>
            <a:spLocks noGrp="1"/>
          </p:cNvSpPr>
          <p:nvPr>
            <p:ph idx="1"/>
          </p:nvPr>
        </p:nvSpPr>
        <p:spPr/>
        <p:txBody>
          <a:bodyPr/>
          <a:lstStyle/>
          <a:p>
            <a:r>
              <a:rPr lang="en-US" b="1" dirty="0" smtClean="0"/>
              <a:t>Key Insight:</a:t>
            </a:r>
            <a:r>
              <a:rPr lang="en-US" dirty="0" smtClean="0"/>
              <a:t> The stacked bar chart shows the total number of mutation records for each gene while simultaneously displaying the contribution of individual mutation types. It provides a compact view of the </a:t>
            </a:r>
            <a:r>
              <a:rPr lang="en-US" b="1" dirty="0" smtClean="0"/>
              <a:t>gene–mutation relationship</a:t>
            </a:r>
            <a:r>
              <a:rPr lang="en-US" dirty="0" smtClean="0"/>
              <a:t> and helps identify differences in mutation composition across genes.</a:t>
            </a:r>
            <a:endParaRPr lang="en-US" dirty="0"/>
          </a:p>
        </p:txBody>
      </p:sp>
    </p:spTree>
    <p:extLst>
      <p:ext uri="{BB962C8B-B14F-4D97-AF65-F5344CB8AC3E}">
        <p14:creationId xmlns:p14="http://schemas.microsoft.com/office/powerpoint/2010/main" val="2938958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8194" y="1825625"/>
            <a:ext cx="7815611" cy="4351338"/>
          </a:xfrm>
        </p:spPr>
      </p:pic>
    </p:spTree>
    <p:extLst>
      <p:ext uri="{BB962C8B-B14F-4D97-AF65-F5344CB8AC3E}">
        <p14:creationId xmlns:p14="http://schemas.microsoft.com/office/powerpoint/2010/main" val="1141783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Combined Stacked Bar Chart Plot </a:t>
            </a:r>
            <a:endParaRPr lang="en-US" b="1" dirty="0"/>
          </a:p>
        </p:txBody>
      </p:sp>
      <p:sp>
        <p:nvSpPr>
          <p:cNvPr id="3" name="Content Placeholder 2"/>
          <p:cNvSpPr>
            <a:spLocks noGrp="1"/>
          </p:cNvSpPr>
          <p:nvPr>
            <p:ph idx="1"/>
          </p:nvPr>
        </p:nvSpPr>
        <p:spPr/>
        <p:txBody>
          <a:bodyPr/>
          <a:lstStyle/>
          <a:p>
            <a:r>
              <a:rPr lang="en-US" dirty="0" smtClean="0"/>
              <a:t>The </a:t>
            </a:r>
            <a:r>
              <a:rPr lang="en-US" b="1" dirty="0" smtClean="0"/>
              <a:t>combined stacked bar chart</a:t>
            </a:r>
            <a:r>
              <a:rPr lang="en-US" dirty="0" smtClean="0"/>
              <a:t> provides a multi-dimensional view of the synthetic dataset:</a:t>
            </a:r>
          </a:p>
          <a:p>
            <a:r>
              <a:rPr lang="en-US" b="1" dirty="0" smtClean="0"/>
              <a:t>Gene → Mutation Type → Medication</a:t>
            </a:r>
            <a:endParaRPr lang="en-US" dirty="0" smtClean="0"/>
          </a:p>
          <a:p>
            <a:r>
              <a:rPr lang="en-US" dirty="0" smtClean="0"/>
              <a:t>The total height of each bar represents the number of records for a gene, while each segment represents a particular medication–mutation-type combination.</a:t>
            </a:r>
          </a:p>
          <a:p>
            <a:r>
              <a:rPr lang="en-US" b="1" dirty="0" smtClean="0"/>
              <a:t>Key insight:</a:t>
            </a:r>
            <a:r>
              <a:rPr lang="en-US" dirty="0" smtClean="0"/>
              <a:t> This visualization can reveal differences in the composition of mutation and treatment categories across genes and is useful during exploratory data analysis.</a:t>
            </a:r>
          </a:p>
          <a:p>
            <a:endParaRPr lang="en-US" dirty="0"/>
          </a:p>
        </p:txBody>
      </p:sp>
    </p:spTree>
    <p:extLst>
      <p:ext uri="{BB962C8B-B14F-4D97-AF65-F5344CB8AC3E}">
        <p14:creationId xmlns:p14="http://schemas.microsoft.com/office/powerpoint/2010/main" val="301179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a:t>
            </a:r>
            <a:endParaRPr lang="en-US" b="1" dirty="0"/>
          </a:p>
        </p:txBody>
      </p:sp>
      <p:sp>
        <p:nvSpPr>
          <p:cNvPr id="3" name="Content Placeholder 2"/>
          <p:cNvSpPr>
            <a:spLocks noGrp="1"/>
          </p:cNvSpPr>
          <p:nvPr>
            <p:ph idx="1"/>
          </p:nvPr>
        </p:nvSpPr>
        <p:spPr>
          <a:xfrm>
            <a:off x="838200" y="1796128"/>
            <a:ext cx="10515600" cy="4351338"/>
          </a:xfrm>
        </p:spPr>
        <p:txBody>
          <a:bodyPr>
            <a:normAutofit fontScale="92500"/>
          </a:bodyPr>
          <a:lstStyle/>
          <a:p>
            <a:r>
              <a:rPr lang="en-US" b="1" dirty="0" smtClean="0"/>
              <a:t>Mutation patterns:</a:t>
            </a:r>
            <a:r>
              <a:rPr lang="en-US" dirty="0" smtClean="0"/>
              <a:t> Gene and mutation-type distributions reveal the structure and diversity of the synthetic cancer dataset.</a:t>
            </a:r>
          </a:p>
          <a:p>
            <a:r>
              <a:rPr lang="en-US" b="1" dirty="0" smtClean="0"/>
              <a:t>Feature relationships:</a:t>
            </a:r>
            <a:r>
              <a:rPr lang="en-US" dirty="0" smtClean="0"/>
              <a:t> Stacked bar charts help compare mutation types across genes and treatment categories.</a:t>
            </a:r>
          </a:p>
          <a:p>
            <a:r>
              <a:rPr lang="en-US" b="1" dirty="0" smtClean="0"/>
              <a:t>Deep-learning capability:</a:t>
            </a:r>
            <a:r>
              <a:rPr lang="en-US" dirty="0" smtClean="0"/>
              <a:t> A neural network can learn nonlinear patterns from encoded genomic features for multiclass classification.</a:t>
            </a:r>
          </a:p>
          <a:p>
            <a:r>
              <a:rPr lang="en-US" b="1" dirty="0" smtClean="0"/>
              <a:t>Prediction output:</a:t>
            </a:r>
            <a:r>
              <a:rPr lang="en-US" dirty="0" smtClean="0"/>
              <a:t> The model produces probabilities for multiple medication categories and selects the highest-probability class.</a:t>
            </a:r>
          </a:p>
          <a:p>
            <a:r>
              <a:rPr lang="en-US" b="1" dirty="0" smtClean="0"/>
              <a:t>Evaluation is essential:</a:t>
            </a:r>
            <a:r>
              <a:rPr lang="en-US" dirty="0" smtClean="0"/>
              <a:t> Accuracy alone is insufficient; precision, recall, F1-score and confusion matrices provide a more complete assessment.</a:t>
            </a:r>
            <a:endParaRPr lang="en-US" i="1" dirty="0"/>
          </a:p>
        </p:txBody>
      </p:sp>
    </p:spTree>
    <p:extLst>
      <p:ext uri="{BB962C8B-B14F-4D97-AF65-F5344CB8AC3E}">
        <p14:creationId xmlns:p14="http://schemas.microsoft.com/office/powerpoint/2010/main" val="1358132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a:t>
            </a:r>
            <a:endParaRPr lang="en-US" dirty="0"/>
          </a:p>
        </p:txBody>
      </p:sp>
      <p:sp>
        <p:nvSpPr>
          <p:cNvPr id="3" name="Content Placeholder 2"/>
          <p:cNvSpPr>
            <a:spLocks noGrp="1"/>
          </p:cNvSpPr>
          <p:nvPr>
            <p:ph idx="1"/>
          </p:nvPr>
        </p:nvSpPr>
        <p:spPr/>
        <p:txBody>
          <a:bodyPr>
            <a:normAutofit lnSpcReduction="10000"/>
          </a:bodyPr>
          <a:lstStyle/>
          <a:p>
            <a:r>
              <a:rPr lang="en-US" b="1" dirty="0" smtClean="0"/>
              <a:t>Class imbalance matters:</a:t>
            </a:r>
            <a:r>
              <a:rPr lang="en-US" dirty="0" smtClean="0"/>
              <a:t> Uneven representation of treatment classes can bias model performance and should be investigated.</a:t>
            </a:r>
          </a:p>
          <a:p>
            <a:r>
              <a:rPr lang="en-US" b="1" dirty="0" smtClean="0"/>
              <a:t>Synthetic-data limitation:</a:t>
            </a:r>
            <a:r>
              <a:rPr lang="en-US" dirty="0" smtClean="0"/>
              <a:t> Results from randomly generated data demonstrate the workflow but do not establish real mutation–drug relationships.</a:t>
            </a:r>
          </a:p>
          <a:p>
            <a:r>
              <a:rPr lang="en-US" b="1" dirty="0" smtClean="0"/>
              <a:t>Clinical translation:</a:t>
            </a:r>
            <a:r>
              <a:rPr lang="en-US" dirty="0" smtClean="0"/>
              <a:t> Real-world use requires validated patient data, treatment-response outcomes, external validation, interpretability and oncologist oversight.</a:t>
            </a:r>
          </a:p>
          <a:p>
            <a:r>
              <a:rPr lang="en-US" b="1" dirty="0" smtClean="0"/>
              <a:t>Future direction:</a:t>
            </a:r>
            <a:r>
              <a:rPr lang="en-US" dirty="0" smtClean="0"/>
              <a:t> Integrating gene expression, copy-number alterations, clinical features and biologically informed </a:t>
            </a:r>
            <a:r>
              <a:rPr lang="en-US" dirty="0" err="1" smtClean="0"/>
              <a:t>embeddings</a:t>
            </a:r>
            <a:r>
              <a:rPr lang="en-US" dirty="0" smtClean="0"/>
              <a:t> could create a more robust research model.</a:t>
            </a:r>
            <a:endParaRPr lang="en-US" dirty="0"/>
          </a:p>
        </p:txBody>
      </p:sp>
    </p:spTree>
    <p:extLst>
      <p:ext uri="{BB962C8B-B14F-4D97-AF65-F5344CB8AC3E}">
        <p14:creationId xmlns:p14="http://schemas.microsoft.com/office/powerpoint/2010/main" val="1288049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Applications</a:t>
            </a:r>
            <a:endParaRPr lang="en-US" b="1" dirty="0"/>
          </a:p>
        </p:txBody>
      </p:sp>
      <p:sp>
        <p:nvSpPr>
          <p:cNvPr id="3" name="Content Placeholder 2"/>
          <p:cNvSpPr>
            <a:spLocks noGrp="1"/>
          </p:cNvSpPr>
          <p:nvPr>
            <p:ph idx="1"/>
          </p:nvPr>
        </p:nvSpPr>
        <p:spPr/>
        <p:txBody>
          <a:bodyPr/>
          <a:lstStyle/>
          <a:p>
            <a:r>
              <a:rPr lang="en-US" dirty="0" smtClean="0"/>
              <a:t>A validated version of this type of computational framework could potentially support research in:</a:t>
            </a:r>
          </a:p>
          <a:p>
            <a:r>
              <a:rPr lang="en-US" dirty="0" smtClean="0"/>
              <a:t>Precision oncology</a:t>
            </a:r>
          </a:p>
          <a:p>
            <a:r>
              <a:rPr lang="en-US" dirty="0" smtClean="0"/>
              <a:t>Drug-response modeling</a:t>
            </a:r>
          </a:p>
          <a:p>
            <a:r>
              <a:rPr lang="en-US" dirty="0" smtClean="0"/>
              <a:t>Genomic medicine</a:t>
            </a:r>
          </a:p>
          <a:p>
            <a:r>
              <a:rPr lang="en-US" dirty="0" smtClean="0"/>
              <a:t>Cancer biomarker analysis</a:t>
            </a:r>
          </a:p>
          <a:p>
            <a:r>
              <a:rPr lang="en-US" dirty="0" smtClean="0"/>
              <a:t>Treatment-response prediction</a:t>
            </a:r>
          </a:p>
          <a:p>
            <a:r>
              <a:rPr lang="en-US" dirty="0" smtClean="0"/>
              <a:t>Clinical decision-support research</a:t>
            </a:r>
          </a:p>
          <a:p>
            <a:endParaRPr lang="en-US" dirty="0"/>
          </a:p>
        </p:txBody>
      </p:sp>
    </p:spTree>
    <p:extLst>
      <p:ext uri="{BB962C8B-B14F-4D97-AF65-F5344CB8AC3E}">
        <p14:creationId xmlns:p14="http://schemas.microsoft.com/office/powerpoint/2010/main" val="829680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Limitations</a:t>
            </a:r>
            <a:endParaRPr lang="en-US" b="1" dirty="0"/>
          </a:p>
        </p:txBody>
      </p:sp>
      <p:sp>
        <p:nvSpPr>
          <p:cNvPr id="3" name="Content Placeholder 2"/>
          <p:cNvSpPr>
            <a:spLocks noGrp="1"/>
          </p:cNvSpPr>
          <p:nvPr>
            <p:ph idx="1"/>
          </p:nvPr>
        </p:nvSpPr>
        <p:spPr>
          <a:xfrm>
            <a:off x="838200" y="1690688"/>
            <a:ext cx="10515600" cy="4351338"/>
          </a:xfrm>
        </p:spPr>
        <p:txBody>
          <a:bodyPr>
            <a:normAutofit fontScale="92500" lnSpcReduction="10000"/>
          </a:bodyPr>
          <a:lstStyle/>
          <a:p>
            <a:r>
              <a:rPr lang="en-US" dirty="0" smtClean="0"/>
              <a:t>There are several important limitations.</a:t>
            </a:r>
          </a:p>
          <a:p>
            <a:r>
              <a:rPr lang="en-US" dirty="0" smtClean="0"/>
              <a:t>First, the dataset used here is synthetic and does not represent real patient outcomes.</a:t>
            </a:r>
          </a:p>
          <a:p>
            <a:r>
              <a:rPr lang="en-US" dirty="0" smtClean="0"/>
              <a:t>Second, randomly generated medication labels do not establish genuine biological relationships between mutations and treatment response.</a:t>
            </a:r>
          </a:p>
          <a:p>
            <a:r>
              <a:rPr lang="en-US" dirty="0" smtClean="0"/>
              <a:t>Third, real cancer treatment decisions depend on many factors, including cancer type, stage, pathology, molecular profile, previous treatments and patient-specific clinical factors.</a:t>
            </a:r>
          </a:p>
          <a:p>
            <a:r>
              <a:rPr lang="en-US" dirty="0" smtClean="0"/>
              <a:t>Therefore, this project should be considered an </a:t>
            </a:r>
            <a:r>
              <a:rPr lang="en-US" b="1" dirty="0" smtClean="0"/>
              <a:t>educational and computational prototype</a:t>
            </a:r>
            <a:r>
              <a:rPr lang="en-US" dirty="0" smtClean="0"/>
              <a:t>, not a clinical treatment recommendation system.</a:t>
            </a:r>
          </a:p>
          <a:p>
            <a:endParaRPr lang="en-US" dirty="0"/>
          </a:p>
        </p:txBody>
      </p:sp>
    </p:spTree>
    <p:extLst>
      <p:ext uri="{BB962C8B-B14F-4D97-AF65-F5344CB8AC3E}">
        <p14:creationId xmlns:p14="http://schemas.microsoft.com/office/powerpoint/2010/main" val="1096114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dirty="0" smtClean="0"/>
              <a:t>Future Work</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The next stage would be to replace the synthetic data with properly curated and ethically sourced cancer genomics datasets containing validated treatment-response information.</a:t>
            </a:r>
          </a:p>
          <a:p>
            <a:r>
              <a:rPr lang="en-US" dirty="0" smtClean="0"/>
              <a:t>Additional features such as gene expression, copy-number alterations and relevant clinical information could also be incorporated.</a:t>
            </a:r>
          </a:p>
          <a:p>
            <a:r>
              <a:rPr lang="en-US" dirty="0" smtClean="0"/>
              <a:t>More advanced models, including embedding-based neural networks and transformer architectures, could be evaluated.</a:t>
            </a:r>
          </a:p>
          <a:p>
            <a:r>
              <a:rPr lang="en-US" dirty="0" smtClean="0"/>
              <a:t>Model </a:t>
            </a:r>
            <a:r>
              <a:rPr lang="en-US" dirty="0" err="1" smtClean="0"/>
              <a:t>explainability</a:t>
            </a:r>
            <a:r>
              <a:rPr lang="en-US" dirty="0" smtClean="0"/>
              <a:t> techniques such as SHAP could also be used to investigate which genomic features influence predictions.</a:t>
            </a:r>
          </a:p>
          <a:p>
            <a:r>
              <a:rPr lang="en-US" dirty="0" smtClean="0"/>
              <a:t>External validation would be essential before any clinical application.</a:t>
            </a:r>
          </a:p>
          <a:p>
            <a:endParaRPr lang="en-US" dirty="0"/>
          </a:p>
        </p:txBody>
      </p:sp>
    </p:spTree>
    <p:extLst>
      <p:ext uri="{BB962C8B-B14F-4D97-AF65-F5344CB8AC3E}">
        <p14:creationId xmlns:p14="http://schemas.microsoft.com/office/powerpoint/2010/main" val="1613926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Conclusion</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To conclude, this project demonstrates an end-to-end deep-learning workflow for personalized cancer medication prediction.</a:t>
            </a:r>
          </a:p>
          <a:p>
            <a:r>
              <a:rPr lang="en-US" dirty="0" smtClean="0"/>
              <a:t>The workflow includes:</a:t>
            </a:r>
          </a:p>
          <a:p>
            <a:r>
              <a:rPr lang="en-US" b="1" dirty="0" smtClean="0"/>
              <a:t>Synthetic Data Generation → Data Preprocessing → Exploratory Analysis → Feature Encoding → Deep Learning → Prediction → Evaluation</a:t>
            </a:r>
            <a:endParaRPr lang="en-US" dirty="0" smtClean="0"/>
          </a:p>
          <a:p>
            <a:r>
              <a:rPr lang="en-US" dirty="0" smtClean="0"/>
              <a:t>The project demonstrates how artificial intelligence can be applied to genomic data analysis while also highlighting the importance of data quality, validation, interpretability and clinical safety.</a:t>
            </a:r>
          </a:p>
          <a:p>
            <a:r>
              <a:rPr lang="en-US" b="1" dirty="0"/>
              <a:t>Key insight:</a:t>
            </a:r>
            <a:r>
              <a:rPr lang="en-US" dirty="0"/>
              <a:t> This visualization can reveal differences in the composition of mutation and treatment categories across genes and is useful during exploratory data analysis.</a:t>
            </a:r>
            <a:endParaRPr lang="en-US" dirty="0"/>
          </a:p>
        </p:txBody>
      </p:sp>
    </p:spTree>
    <p:extLst>
      <p:ext uri="{BB962C8B-B14F-4D97-AF65-F5344CB8AC3E}">
        <p14:creationId xmlns:p14="http://schemas.microsoft.com/office/powerpoint/2010/main" val="28413190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1401</Words>
  <Application>Microsoft Office PowerPoint</Application>
  <PresentationFormat>Widescreen</PresentationFormat>
  <Paragraphs>127</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CIDFont+F1</vt:lpstr>
      <vt:lpstr>Office Theme</vt:lpstr>
      <vt:lpstr>Personalized Cancer Medication Prediction with Deep Learning on Mutation Datasets</vt:lpstr>
      <vt:lpstr>Google Colab URL</vt:lpstr>
      <vt:lpstr>Introduction</vt:lpstr>
      <vt:lpstr>Problem Statement</vt:lpstr>
      <vt:lpstr>Dataset</vt:lpstr>
      <vt:lpstr>Data Generation</vt:lpstr>
      <vt:lpstr>Exploratory Data Analysis</vt:lpstr>
      <vt:lpstr>Data Preprocessing</vt:lpstr>
      <vt:lpstr>Deep Learning Model</vt:lpstr>
      <vt:lpstr>Mathematical Formulation</vt:lpstr>
      <vt:lpstr>Model Training</vt:lpstr>
      <vt:lpstr>Model Evaluation</vt:lpstr>
      <vt:lpstr>Prediction</vt:lpstr>
      <vt:lpstr>Data Visualization</vt:lpstr>
      <vt:lpstr>Histogram Plot </vt:lpstr>
      <vt:lpstr>Data Visualization</vt:lpstr>
      <vt:lpstr>Bar Chart Plot</vt:lpstr>
      <vt:lpstr>Data Visualization</vt:lpstr>
      <vt:lpstr>Stacked Bar Chart Plot </vt:lpstr>
      <vt:lpstr>Data Visualization </vt:lpstr>
      <vt:lpstr>Combined Stacked Bar Chart Plot </vt:lpstr>
      <vt:lpstr>Key Insights</vt:lpstr>
      <vt:lpstr>Key Insights</vt:lpstr>
      <vt:lpstr>Applications</vt:lpstr>
      <vt:lpstr>Limitations</vt:lpstr>
      <vt:lpstr> Future Work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Personalized Cancer Medication Prediction with Deep Learning on Mutation Datasets</dc:title>
  <dc:creator>KUMAR</dc:creator>
  <cp:lastModifiedBy>KUMAR</cp:lastModifiedBy>
  <cp:revision>24</cp:revision>
  <dcterms:created xsi:type="dcterms:W3CDTF">2026-09-01T00:14:13Z</dcterms:created>
  <dcterms:modified xsi:type="dcterms:W3CDTF">2026-09-01T01:05:39Z</dcterms:modified>
</cp:coreProperties>
</file>