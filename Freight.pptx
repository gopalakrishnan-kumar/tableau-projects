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9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32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70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08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04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57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397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5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906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50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39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CD68D-2D07-43CF-9F6C-727150C573C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474B9-4F15-4EE2-9566-718C2E05D0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418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poBbdXMIo-YHZXHC-kNzrcjvnVLE-Dl_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Freight Volume Prediction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058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https://colab.research.google.com/drive/1poBbdXMIo-YHZXHC-kNzrcjvnVLE-Dl_?</a:t>
            </a:r>
            <a:r>
              <a:rPr lang="en-US" dirty="0" smtClean="0">
                <a:hlinkClick r:id="rId2"/>
              </a:rPr>
              <a:t>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4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Freight volume forecasting is a critical function for logistics providers, ports, railways, transportation companies, and supply chain planners. Forecasting helps organizations:</a:t>
            </a:r>
          </a:p>
          <a:p>
            <a:r>
              <a:rPr lang="en-US" dirty="0"/>
              <a:t>Optimize container and cargo capacity</a:t>
            </a:r>
          </a:p>
          <a:p>
            <a:r>
              <a:rPr lang="en-US" dirty="0"/>
              <a:t>Adjust fleet and manpower requirements</a:t>
            </a:r>
          </a:p>
          <a:p>
            <a:r>
              <a:rPr lang="en-US" dirty="0"/>
              <a:t>Plan shipping schedules</a:t>
            </a:r>
          </a:p>
          <a:p>
            <a:r>
              <a:rPr lang="en-US" dirty="0"/>
              <a:t>Predict peak demand periods</a:t>
            </a:r>
          </a:p>
          <a:p>
            <a:r>
              <a:rPr lang="en-US" dirty="0"/>
              <a:t>Reduce operational bottlenecks</a:t>
            </a:r>
          </a:p>
          <a:p>
            <a:r>
              <a:rPr lang="en-US" dirty="0"/>
              <a:t>This project models </a:t>
            </a:r>
            <a:r>
              <a:rPr lang="en-US" b="1" dirty="0"/>
              <a:t>monthly freight volume</a:t>
            </a:r>
            <a:r>
              <a:rPr lang="en-US" dirty="0"/>
              <a:t> using a synthetic time-series dataset. It applies the </a:t>
            </a:r>
            <a:r>
              <a:rPr lang="en-US" b="1" dirty="0"/>
              <a:t>SARIMAX</a:t>
            </a:r>
            <a:r>
              <a:rPr lang="en-US" dirty="0"/>
              <a:t> forecasting algorithm, which captures both trend and seasonal patterns commonly observed in logistics and cargo movements.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8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core objective of this project is to:</a:t>
            </a:r>
          </a:p>
          <a:p>
            <a:r>
              <a:rPr lang="en-US" dirty="0"/>
              <a:t>Forecast freight volumes for the next </a:t>
            </a:r>
            <a:r>
              <a:rPr lang="en-US" b="1" dirty="0"/>
              <a:t>24–36 months</a:t>
            </a:r>
            <a:endParaRPr lang="en-US" dirty="0"/>
          </a:p>
          <a:p>
            <a:r>
              <a:rPr lang="en-US" dirty="0"/>
              <a:t>Identify trend patterns and seasonal cycles</a:t>
            </a:r>
          </a:p>
          <a:p>
            <a:r>
              <a:rPr lang="en-US" dirty="0"/>
              <a:t>Provide actionable insights for long-term logistics planning</a:t>
            </a:r>
          </a:p>
          <a:p>
            <a:r>
              <a:rPr lang="en-US" dirty="0"/>
              <a:t>Outcome expectations:</a:t>
            </a:r>
          </a:p>
          <a:p>
            <a:r>
              <a:rPr lang="en-US" dirty="0"/>
              <a:t>Improved operational efficiency</a:t>
            </a:r>
          </a:p>
          <a:p>
            <a:r>
              <a:rPr lang="en-US" dirty="0"/>
              <a:t>Better inventory management</a:t>
            </a:r>
          </a:p>
          <a:p>
            <a:r>
              <a:rPr lang="en-US" dirty="0"/>
              <a:t>Reduced demurrage and detention costs</a:t>
            </a:r>
          </a:p>
          <a:p>
            <a:r>
              <a:rPr lang="en-US" dirty="0"/>
              <a:t>Smarter supply chain planning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12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synthetic monthly freight dataset</a:t>
            </a:r>
            <a:r>
              <a:rPr lang="en-US" dirty="0"/>
              <a:t> was created for the period </a:t>
            </a:r>
            <a:r>
              <a:rPr lang="en-US" b="1" dirty="0"/>
              <a:t>January 2015 to December 2024</a:t>
            </a:r>
            <a:r>
              <a:rPr lang="en-US" dirty="0"/>
              <a:t> to simulate real-world freight volume patterns</a:t>
            </a:r>
            <a:r>
              <a:rPr lang="en-US" dirty="0" smtClean="0"/>
              <a:t>.</a:t>
            </a:r>
          </a:p>
          <a:p>
            <a:r>
              <a:rPr lang="en-US" dirty="0"/>
              <a:t>Dataset </a:t>
            </a:r>
            <a:r>
              <a:rPr lang="en-US" dirty="0" smtClean="0"/>
              <a:t>Fields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181468"/>
              </p:ext>
            </p:extLst>
          </p:nvPr>
        </p:nvGraphicFramePr>
        <p:xfrm>
          <a:off x="838200" y="3716258"/>
          <a:ext cx="10515600" cy="2468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898645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27866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595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Monthly 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47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Freight_Volume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monthly freight demand (tonnage, TEUs, or units)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16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Sea_Freight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Estimated cargo moved by sea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528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Rail_Freight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Estimated cargo moved by rail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426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Road_Freight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Estimated cargo moved by road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953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58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Characteristics of the </a:t>
            </a:r>
            <a:r>
              <a:rPr lang="en-US" b="1" dirty="0" smtClean="0"/>
              <a:t>Data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727881" y="1787562"/>
            <a:ext cx="106259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Trend:</a:t>
            </a:r>
            <a:r>
              <a:rPr lang="en-US" altLang="en-US" sz="2400" dirty="0">
                <a:latin typeface="Arial" panose="020B0604020202020204" pitchFamily="34" charset="0"/>
              </a:rPr>
              <a:t> Clear upward trajectory over the years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Seasonality:</a:t>
            </a:r>
            <a:r>
              <a:rPr lang="en-US" altLang="en-US" sz="2400" dirty="0">
                <a:latin typeface="Arial" panose="020B0604020202020204" pitchFamily="34" charset="0"/>
              </a:rPr>
              <a:t> Repeated annual cycles — festival import season, harvest season, holiday shipping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Noise:</a:t>
            </a:r>
            <a:r>
              <a:rPr lang="en-US" altLang="en-US" sz="2400" dirty="0">
                <a:latin typeface="Arial" panose="020B0604020202020204" pitchFamily="34" charset="0"/>
              </a:rPr>
              <a:t> Realistic operational fluctuations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Non-stationary:</a:t>
            </a:r>
            <a:r>
              <a:rPr lang="en-US" altLang="en-US" sz="2400" dirty="0">
                <a:latin typeface="Arial" panose="020B0604020202020204" pitchFamily="34" charset="0"/>
              </a:rPr>
              <a:t> Trend + seasonality → SARIMAX required</a:t>
            </a:r>
          </a:p>
        </p:txBody>
      </p:sp>
    </p:spTree>
    <p:extLst>
      <p:ext uri="{BB962C8B-B14F-4D97-AF65-F5344CB8AC3E}">
        <p14:creationId xmlns:p14="http://schemas.microsoft.com/office/powerpoint/2010/main" val="418217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1543557"/>
            <a:ext cx="904343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Histogram – Distribution of Freight Volume</a:t>
            </a:r>
          </a:p>
          <a:p>
            <a:r>
              <a:rPr lang="en-US" dirty="0"/>
              <a:t>The histogram shows:</a:t>
            </a:r>
          </a:p>
          <a:p>
            <a:r>
              <a:rPr lang="en-US" dirty="0"/>
              <a:t>Concentration around moderate values</a:t>
            </a:r>
          </a:p>
          <a:p>
            <a:r>
              <a:rPr lang="en-US" dirty="0"/>
              <a:t>Long upper tail due to growing demand</a:t>
            </a:r>
          </a:p>
          <a:p>
            <a:r>
              <a:rPr lang="en-US" dirty="0"/>
              <a:t>Seasonal and trend-driven </a:t>
            </a:r>
            <a:r>
              <a:rPr lang="en-US" dirty="0" smtClean="0"/>
              <a:t>fluctuations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3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429" y="1825625"/>
            <a:ext cx="7295142" cy="4351338"/>
          </a:xfrm>
        </p:spPr>
      </p:pic>
    </p:spTree>
    <p:extLst>
      <p:ext uri="{BB962C8B-B14F-4D97-AF65-F5344CB8AC3E}">
        <p14:creationId xmlns:p14="http://schemas.microsoft.com/office/powerpoint/2010/main" val="275816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Exploratory Data Analysis (EDA)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Monthly Bar Chart</a:t>
            </a:r>
          </a:p>
          <a:p>
            <a:r>
              <a:rPr lang="en-US" dirty="0"/>
              <a:t>Bar charts reveal:</a:t>
            </a:r>
          </a:p>
          <a:p>
            <a:r>
              <a:rPr lang="en-US" dirty="0"/>
              <a:t>High freight volumes in </a:t>
            </a:r>
            <a:r>
              <a:rPr lang="en-US" b="1" dirty="0"/>
              <a:t>Q3 and Q4</a:t>
            </a:r>
            <a:r>
              <a:rPr lang="en-US" dirty="0"/>
              <a:t> (holiday, festival, harvest export seasons)</a:t>
            </a:r>
          </a:p>
          <a:p>
            <a:r>
              <a:rPr lang="en-US" dirty="0"/>
              <a:t>Lower volumes in </a:t>
            </a:r>
            <a:r>
              <a:rPr lang="en-US" b="1" dirty="0"/>
              <a:t>February–March</a:t>
            </a:r>
            <a:r>
              <a:rPr lang="en-US" dirty="0"/>
              <a:t> (post-holiday slowdown)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7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34" y="1852449"/>
            <a:ext cx="5760731" cy="4297689"/>
          </a:xfrm>
        </p:spPr>
      </p:pic>
    </p:spTree>
    <p:extLst>
      <p:ext uri="{BB962C8B-B14F-4D97-AF65-F5344CB8AC3E}">
        <p14:creationId xmlns:p14="http://schemas.microsoft.com/office/powerpoint/2010/main" val="228766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Stacked Bar Chart – Mode-Based Distribution</a:t>
            </a:r>
          </a:p>
          <a:p>
            <a:r>
              <a:rPr lang="en-US" b="1" dirty="0"/>
              <a:t>Sea Freight</a:t>
            </a:r>
            <a:r>
              <a:rPr lang="en-US" dirty="0"/>
              <a:t> dominates (≈ 55–65%)</a:t>
            </a:r>
          </a:p>
          <a:p>
            <a:r>
              <a:rPr lang="en-US" b="1" dirty="0"/>
              <a:t>Rail Freight</a:t>
            </a:r>
            <a:r>
              <a:rPr lang="en-US" dirty="0"/>
              <a:t> contributes 20–30%</a:t>
            </a:r>
          </a:p>
          <a:p>
            <a:r>
              <a:rPr lang="en-US" b="1" dirty="0"/>
              <a:t>Road Freight</a:t>
            </a:r>
            <a:r>
              <a:rPr lang="en-US" dirty="0"/>
              <a:t> varies between 15–25%</a:t>
            </a:r>
          </a:p>
          <a:p>
            <a:r>
              <a:rPr lang="en-US" dirty="0"/>
              <a:t>Seasonal spikes visible across all modes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55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717" y="1825625"/>
            <a:ext cx="9506566" cy="4351338"/>
          </a:xfrm>
        </p:spPr>
      </p:pic>
    </p:spTree>
    <p:extLst>
      <p:ext uri="{BB962C8B-B14F-4D97-AF65-F5344CB8AC3E}">
        <p14:creationId xmlns:p14="http://schemas.microsoft.com/office/powerpoint/2010/main" val="342169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Combined Stacked Bar Chart</a:t>
            </a:r>
          </a:p>
          <a:p>
            <a:r>
              <a:rPr lang="en-US" dirty="0"/>
              <a:t>Shows:</a:t>
            </a:r>
          </a:p>
          <a:p>
            <a:r>
              <a:rPr lang="en-US" dirty="0"/>
              <a:t>Total freight volume each month</a:t>
            </a:r>
          </a:p>
          <a:p>
            <a:r>
              <a:rPr lang="en-US" dirty="0"/>
              <a:t>Mode-wise contribution</a:t>
            </a:r>
          </a:p>
          <a:p>
            <a:r>
              <a:rPr lang="en-US" dirty="0"/>
              <a:t>Clear year-over-year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83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72" y="1825625"/>
            <a:ext cx="10251456" cy="4351338"/>
          </a:xfrm>
        </p:spPr>
      </p:pic>
    </p:spTree>
    <p:extLst>
      <p:ext uri="{BB962C8B-B14F-4D97-AF65-F5344CB8AC3E}">
        <p14:creationId xmlns:p14="http://schemas.microsoft.com/office/powerpoint/2010/main" val="394416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Used: SARIMAX</a:t>
            </a:r>
          </a:p>
          <a:p>
            <a:r>
              <a:rPr lang="en-US" dirty="0"/>
              <a:t>SARIMAX is well-suited because:</a:t>
            </a:r>
          </a:p>
          <a:p>
            <a:r>
              <a:rPr lang="en-US" dirty="0"/>
              <a:t>Freight volume exhibits </a:t>
            </a:r>
            <a:r>
              <a:rPr lang="en-US" b="1" dirty="0"/>
              <a:t>trend</a:t>
            </a:r>
            <a:endParaRPr lang="en-US" dirty="0"/>
          </a:p>
          <a:p>
            <a:r>
              <a:rPr lang="en-US" dirty="0"/>
              <a:t>Shows </a:t>
            </a:r>
            <a:r>
              <a:rPr lang="en-US" b="1" dirty="0"/>
              <a:t>clear seasonal patterns</a:t>
            </a:r>
            <a:r>
              <a:rPr lang="en-US" dirty="0"/>
              <a:t> (12-month cycle)</a:t>
            </a:r>
          </a:p>
          <a:p>
            <a:r>
              <a:rPr lang="en-US" dirty="0"/>
              <a:t>Requires forecasting with confidence intervals</a:t>
            </a:r>
          </a:p>
          <a:p>
            <a:r>
              <a:rPr lang="en-US" b="1" dirty="0"/>
              <a:t>Model </a:t>
            </a:r>
            <a:r>
              <a:rPr lang="en-US" b="1" dirty="0" smtClean="0"/>
              <a:t>Parameters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582990"/>
              </p:ext>
            </p:extLst>
          </p:nvPr>
        </p:nvGraphicFramePr>
        <p:xfrm>
          <a:off x="1056565" y="4953907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385041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47218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14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Non-seasonal order (p,d,q)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(1, 1, 1)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83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Seasonal order (P,D,Q,s)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(1, 1, 1, 12)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038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1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Findings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Seasonal Demand Patterns</a:t>
            </a:r>
          </a:p>
          <a:p>
            <a:r>
              <a:rPr lang="en-US" dirty="0" smtClean="0"/>
              <a:t>Peak freight months: </a:t>
            </a:r>
            <a:r>
              <a:rPr lang="en-US" b="1" dirty="0" smtClean="0"/>
              <a:t>July–August</a:t>
            </a:r>
            <a:r>
              <a:rPr lang="en-US" dirty="0" smtClean="0"/>
              <a:t> and </a:t>
            </a:r>
            <a:r>
              <a:rPr lang="en-US" b="1" dirty="0" smtClean="0"/>
              <a:t>November–December</a:t>
            </a:r>
            <a:endParaRPr lang="en-US" dirty="0" smtClean="0"/>
          </a:p>
          <a:p>
            <a:r>
              <a:rPr lang="en-US" dirty="0" smtClean="0"/>
              <a:t>Low freight months: </a:t>
            </a:r>
            <a:r>
              <a:rPr lang="en-US" b="1" dirty="0" smtClean="0"/>
              <a:t>February–March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9892" y="349757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Mode-Based Load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 freight remains the backbone of cargo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Rail and road freight complement seasonal variations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Road freight often spikes during high-import seasons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59892" y="479927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Long-Term Growth Trend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Freight demand increases consistently year over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Reflects expansion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E-commerce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Manufacturing 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Port 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International trade</a:t>
            </a:r>
          </a:p>
        </p:txBody>
      </p:sp>
    </p:spTree>
    <p:extLst>
      <p:ext uri="{BB962C8B-B14F-4D97-AF65-F5344CB8AC3E}">
        <p14:creationId xmlns:p14="http://schemas.microsoft.com/office/powerpoint/2010/main" val="103792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Findings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Operational Recommendations</a:t>
            </a:r>
          </a:p>
          <a:p>
            <a:r>
              <a:rPr lang="en-US" dirty="0"/>
              <a:t>Increase capacity planning during peak months</a:t>
            </a:r>
          </a:p>
          <a:p>
            <a:r>
              <a:rPr lang="en-US" dirty="0"/>
              <a:t>Strengthen intermodal logistics corridors</a:t>
            </a:r>
          </a:p>
          <a:p>
            <a:r>
              <a:rPr lang="en-US" dirty="0"/>
              <a:t>Optimize staffing and fleet scheduling</a:t>
            </a:r>
          </a:p>
          <a:p>
            <a:r>
              <a:rPr lang="en-US" dirty="0"/>
              <a:t>Expand rail-road connectivity for balanced cargo distribution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7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forecasting model helps businesses:</a:t>
            </a:r>
          </a:p>
          <a:p>
            <a:r>
              <a:rPr lang="en-US" b="1" dirty="0"/>
              <a:t>Shipping Companies</a:t>
            </a:r>
          </a:p>
          <a:p>
            <a:r>
              <a:rPr lang="en-US" dirty="0"/>
              <a:t>Plan container allocations</a:t>
            </a:r>
          </a:p>
          <a:p>
            <a:r>
              <a:rPr lang="en-US" dirty="0"/>
              <a:t>Optimize sailing schedules</a:t>
            </a:r>
          </a:p>
          <a:p>
            <a:r>
              <a:rPr lang="en-US" b="1" dirty="0"/>
              <a:t>Road/Rail Transporters</a:t>
            </a:r>
          </a:p>
          <a:p>
            <a:r>
              <a:rPr lang="en-US" dirty="0"/>
              <a:t>Manage fleet utilization</a:t>
            </a:r>
          </a:p>
          <a:p>
            <a:r>
              <a:rPr lang="en-US" dirty="0"/>
              <a:t>Reduce idling and empty trips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1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Port Authorities</a:t>
            </a:r>
          </a:p>
          <a:p>
            <a:r>
              <a:rPr lang="en-US" dirty="0"/>
              <a:t>Regulate docking windows</a:t>
            </a:r>
          </a:p>
          <a:p>
            <a:r>
              <a:rPr lang="en-US" dirty="0"/>
              <a:t>Reduce congestion and demurrage charges</a:t>
            </a:r>
          </a:p>
          <a:p>
            <a:r>
              <a:rPr lang="en-US" b="1" dirty="0"/>
              <a:t>Logistics &amp; SCM Teams</a:t>
            </a:r>
          </a:p>
          <a:p>
            <a:r>
              <a:rPr lang="en-US" dirty="0"/>
              <a:t>Predict inbound and outbound cargo</a:t>
            </a:r>
          </a:p>
          <a:p>
            <a:r>
              <a:rPr lang="en-US" dirty="0"/>
              <a:t>Improve supplier coordination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05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that freight volume forecasting using SARIMAX provides:</a:t>
            </a:r>
          </a:p>
          <a:p>
            <a:r>
              <a:rPr lang="en-US" dirty="0"/>
              <a:t>High accuracy</a:t>
            </a:r>
          </a:p>
          <a:p>
            <a:r>
              <a:rPr lang="en-US" dirty="0"/>
              <a:t>Clear trend and seasonality modeling</a:t>
            </a:r>
          </a:p>
          <a:p>
            <a:r>
              <a:rPr lang="en-US" dirty="0"/>
              <a:t>Practical visibility into future cargo demand</a:t>
            </a:r>
          </a:p>
          <a:p>
            <a:r>
              <a:rPr lang="en-US" dirty="0"/>
              <a:t>The insights gained are invaluable for strategic planning across logistics, shipping, and transportation ecosystems.</a:t>
            </a:r>
          </a:p>
          <a:p>
            <a:r>
              <a:rPr lang="en-US" dirty="0"/>
              <a:t>The forecasting plots for </a:t>
            </a:r>
            <a:r>
              <a:rPr lang="en-US" b="1" dirty="0"/>
              <a:t>24 and 36 months</a:t>
            </a:r>
            <a:r>
              <a:rPr lang="en-US" dirty="0"/>
              <a:t> give businesses a reliable roadmap for capacity, fleet, and infrastructure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39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NEWMIC~1</Template>
  <TotalTime>36</TotalTime>
  <Words>676</Words>
  <Application>Microsoft Office PowerPoint</Application>
  <PresentationFormat>Widescreen</PresentationFormat>
  <Paragraphs>131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CIDFont+F1</vt:lpstr>
      <vt:lpstr>Office Theme</vt:lpstr>
      <vt:lpstr>Freight Volume Prediction</vt:lpstr>
      <vt:lpstr>Google Colab URL</vt:lpstr>
      <vt:lpstr>Project Overview</vt:lpstr>
      <vt:lpstr>Business Objective</vt:lpstr>
      <vt:lpstr>Dataset Description</vt:lpstr>
      <vt:lpstr>Characteristics of the Data</vt:lpstr>
      <vt:lpstr>Data Visualization </vt:lpstr>
      <vt:lpstr>Exploratory Data Analysis (EDA)</vt:lpstr>
      <vt:lpstr>Data Visualization</vt:lpstr>
      <vt:lpstr>Exploratory Data Analysis (EDA)</vt:lpstr>
      <vt:lpstr>Data Visualization </vt:lpstr>
      <vt:lpstr>Exploratory Data Analysis (EDA)</vt:lpstr>
      <vt:lpstr>Data Visualization </vt:lpstr>
      <vt:lpstr>Exploratory Data Analysis (EDA)</vt:lpstr>
      <vt:lpstr>Data Visualization </vt:lpstr>
      <vt:lpstr>Modeling Strategy</vt:lpstr>
      <vt:lpstr>Key Findings &amp; Insights</vt:lpstr>
      <vt:lpstr>Key Findings &amp; Insights</vt:lpstr>
      <vt:lpstr>Business Impact</vt:lpstr>
      <vt:lpstr>Business Impact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Freight Volume Prediction</dc:title>
  <dc:creator>KUMAR</dc:creator>
  <cp:lastModifiedBy>KUMAR</cp:lastModifiedBy>
  <cp:revision>22</cp:revision>
  <dcterms:created xsi:type="dcterms:W3CDTF">2025-11-21T03:20:23Z</dcterms:created>
  <dcterms:modified xsi:type="dcterms:W3CDTF">2025-11-25T03:39:47Z</dcterms:modified>
</cp:coreProperties>
</file>