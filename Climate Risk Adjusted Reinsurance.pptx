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F3D920-D2B7-44A0-89CB-AE66AB2D5D1A}" type="datetimeFigureOut">
              <a:rPr lang="en-US" smtClean="0"/>
              <a:t>3/6/2026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50B415-036D-4522-B86F-50CC33E0876D}" type="slidenum">
              <a:rPr lang="en-US" smtClean="0"/>
              <a:t>‹#›</a:t>
            </a:fld>
            <a:endParaRPr lang="en-US"/>
          </a:p>
        </p:txBody>
      </p:sp>
    </p:spTree>
    <p:extLst>
      <p:ext uri="{BB962C8B-B14F-4D97-AF65-F5344CB8AC3E}">
        <p14:creationId xmlns:p14="http://schemas.microsoft.com/office/powerpoint/2010/main" val="1088677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950B415-036D-4522-B86F-50CC33E0876D}" type="slidenum">
              <a:rPr lang="en-US" smtClean="0"/>
              <a:t>8</a:t>
            </a:fld>
            <a:endParaRPr lang="en-US"/>
          </a:p>
        </p:txBody>
      </p:sp>
    </p:spTree>
    <p:extLst>
      <p:ext uri="{BB962C8B-B14F-4D97-AF65-F5344CB8AC3E}">
        <p14:creationId xmlns:p14="http://schemas.microsoft.com/office/powerpoint/2010/main" val="3812651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B279677-BB90-439F-8A1E-78785851D334}"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727CB-8142-4519-A9B1-89A6CF2C7CF8}" type="slidenum">
              <a:rPr lang="en-US" smtClean="0"/>
              <a:t>‹#›</a:t>
            </a:fld>
            <a:endParaRPr lang="en-US"/>
          </a:p>
        </p:txBody>
      </p:sp>
    </p:spTree>
    <p:extLst>
      <p:ext uri="{BB962C8B-B14F-4D97-AF65-F5344CB8AC3E}">
        <p14:creationId xmlns:p14="http://schemas.microsoft.com/office/powerpoint/2010/main" val="2169234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279677-BB90-439F-8A1E-78785851D334}"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727CB-8142-4519-A9B1-89A6CF2C7CF8}" type="slidenum">
              <a:rPr lang="en-US" smtClean="0"/>
              <a:t>‹#›</a:t>
            </a:fld>
            <a:endParaRPr lang="en-US"/>
          </a:p>
        </p:txBody>
      </p:sp>
    </p:spTree>
    <p:extLst>
      <p:ext uri="{BB962C8B-B14F-4D97-AF65-F5344CB8AC3E}">
        <p14:creationId xmlns:p14="http://schemas.microsoft.com/office/powerpoint/2010/main" val="4290961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B279677-BB90-439F-8A1E-78785851D334}"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727CB-8142-4519-A9B1-89A6CF2C7CF8}" type="slidenum">
              <a:rPr lang="en-US" smtClean="0"/>
              <a:t>‹#›</a:t>
            </a:fld>
            <a:endParaRPr lang="en-US"/>
          </a:p>
        </p:txBody>
      </p:sp>
    </p:spTree>
    <p:extLst>
      <p:ext uri="{BB962C8B-B14F-4D97-AF65-F5344CB8AC3E}">
        <p14:creationId xmlns:p14="http://schemas.microsoft.com/office/powerpoint/2010/main" val="948064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B279677-BB90-439F-8A1E-78785851D334}"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5727CB-8142-4519-A9B1-89A6CF2C7CF8}" type="slidenum">
              <a:rPr lang="en-US" smtClean="0"/>
              <a:t>‹#›</a:t>
            </a:fld>
            <a:endParaRPr lang="en-US"/>
          </a:p>
        </p:txBody>
      </p:sp>
    </p:spTree>
    <p:extLst>
      <p:ext uri="{BB962C8B-B14F-4D97-AF65-F5344CB8AC3E}">
        <p14:creationId xmlns:p14="http://schemas.microsoft.com/office/powerpoint/2010/main" val="1236134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B279677-BB90-439F-8A1E-78785851D334}" type="datetimeFigureOut">
              <a:rPr lang="en-US" smtClean="0"/>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5727CB-8142-4519-A9B1-89A6CF2C7CF8}" type="slidenum">
              <a:rPr lang="en-US" smtClean="0"/>
              <a:t>‹#›</a:t>
            </a:fld>
            <a:endParaRPr lang="en-US"/>
          </a:p>
        </p:txBody>
      </p:sp>
    </p:spTree>
    <p:extLst>
      <p:ext uri="{BB962C8B-B14F-4D97-AF65-F5344CB8AC3E}">
        <p14:creationId xmlns:p14="http://schemas.microsoft.com/office/powerpoint/2010/main" val="785148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B279677-BB90-439F-8A1E-78785851D334}" type="datetimeFigureOut">
              <a:rPr lang="en-US" smtClean="0"/>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5727CB-8142-4519-A9B1-89A6CF2C7CF8}" type="slidenum">
              <a:rPr lang="en-US" smtClean="0"/>
              <a:t>‹#›</a:t>
            </a:fld>
            <a:endParaRPr lang="en-US"/>
          </a:p>
        </p:txBody>
      </p:sp>
    </p:spTree>
    <p:extLst>
      <p:ext uri="{BB962C8B-B14F-4D97-AF65-F5344CB8AC3E}">
        <p14:creationId xmlns:p14="http://schemas.microsoft.com/office/powerpoint/2010/main" val="3076346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279677-BB90-439F-8A1E-78785851D334}" type="datetimeFigureOut">
              <a:rPr lang="en-US" smtClean="0"/>
              <a:t>3/6/2026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5727CB-8142-4519-A9B1-89A6CF2C7CF8}" type="slidenum">
              <a:rPr lang="en-US" smtClean="0"/>
              <a:t>‹#›</a:t>
            </a:fld>
            <a:endParaRPr lang="en-US"/>
          </a:p>
        </p:txBody>
      </p:sp>
    </p:spTree>
    <p:extLst>
      <p:ext uri="{BB962C8B-B14F-4D97-AF65-F5344CB8AC3E}">
        <p14:creationId xmlns:p14="http://schemas.microsoft.com/office/powerpoint/2010/main" val="1604503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B279677-BB90-439F-8A1E-78785851D334}"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5727CB-8142-4519-A9B1-89A6CF2C7CF8}" type="slidenum">
              <a:rPr lang="en-US" smtClean="0"/>
              <a:t>‹#›</a:t>
            </a:fld>
            <a:endParaRPr lang="en-US"/>
          </a:p>
        </p:txBody>
      </p:sp>
    </p:spTree>
    <p:extLst>
      <p:ext uri="{BB962C8B-B14F-4D97-AF65-F5344CB8AC3E}">
        <p14:creationId xmlns:p14="http://schemas.microsoft.com/office/powerpoint/2010/main" val="91265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B279677-BB90-439F-8A1E-78785851D334}"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5727CB-8142-4519-A9B1-89A6CF2C7CF8}" type="slidenum">
              <a:rPr lang="en-US" smtClean="0"/>
              <a:t>‹#›</a:t>
            </a:fld>
            <a:endParaRPr lang="en-US"/>
          </a:p>
        </p:txBody>
      </p:sp>
    </p:spTree>
    <p:extLst>
      <p:ext uri="{BB962C8B-B14F-4D97-AF65-F5344CB8AC3E}">
        <p14:creationId xmlns:p14="http://schemas.microsoft.com/office/powerpoint/2010/main" val="2126555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279677-BB90-439F-8A1E-78785851D334}"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727CB-8142-4519-A9B1-89A6CF2C7CF8}" type="slidenum">
              <a:rPr lang="en-US" smtClean="0"/>
              <a:t>‹#›</a:t>
            </a:fld>
            <a:endParaRPr lang="en-US"/>
          </a:p>
        </p:txBody>
      </p:sp>
    </p:spTree>
    <p:extLst>
      <p:ext uri="{BB962C8B-B14F-4D97-AF65-F5344CB8AC3E}">
        <p14:creationId xmlns:p14="http://schemas.microsoft.com/office/powerpoint/2010/main" val="823697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279677-BB90-439F-8A1E-78785851D334}"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5727CB-8142-4519-A9B1-89A6CF2C7CF8}" type="slidenum">
              <a:rPr lang="en-US" smtClean="0"/>
              <a:t>‹#›</a:t>
            </a:fld>
            <a:endParaRPr lang="en-US"/>
          </a:p>
        </p:txBody>
      </p:sp>
    </p:spTree>
    <p:extLst>
      <p:ext uri="{BB962C8B-B14F-4D97-AF65-F5344CB8AC3E}">
        <p14:creationId xmlns:p14="http://schemas.microsoft.com/office/powerpoint/2010/main" val="695447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279677-BB90-439F-8A1E-78785851D334}" type="datetimeFigureOut">
              <a:rPr lang="en-US" smtClean="0"/>
              <a:t>3/6/2026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5727CB-8142-4519-A9B1-89A6CF2C7CF8}" type="slidenum">
              <a:rPr lang="en-US" smtClean="0"/>
              <a:t>‹#›</a:t>
            </a:fld>
            <a:endParaRPr lang="en-US"/>
          </a:p>
        </p:txBody>
      </p:sp>
    </p:spTree>
    <p:extLst>
      <p:ext uri="{BB962C8B-B14F-4D97-AF65-F5344CB8AC3E}">
        <p14:creationId xmlns:p14="http://schemas.microsoft.com/office/powerpoint/2010/main" val="2313502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ithub.com/Gopalakrishnan-Kumar/"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tMxfxPuKpw3Ku3Sc7qBZuqzCbteAgVWe?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Climate Risk Adjusted Reinsurance</a:t>
            </a:r>
            <a:endParaRPr lang="en-US" b="1" dirty="0"/>
          </a:p>
        </p:txBody>
      </p:sp>
      <p:sp>
        <p:nvSpPr>
          <p:cNvPr id="4" name="Subtitle 2"/>
          <p:cNvSpPr>
            <a:spLocks noGrp="1"/>
          </p:cNvSpPr>
          <p:nvPr>
            <p:ph type="subTitle" idx="1"/>
          </p:nvPr>
        </p:nvSpPr>
        <p:spPr>
          <a:xfrm>
            <a:off x="1524000" y="3572308"/>
            <a:ext cx="9144000" cy="1655762"/>
          </a:xfrm>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Freelance Data Science Consultant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err="1" smtClean="0">
                <a:solidFill>
                  <a:srgbClr val="0D0D0D"/>
                </a:solidFill>
                <a:latin typeface="CIDFont+F1"/>
              </a:rPr>
              <a:t>Github:</a:t>
            </a:r>
            <a:r>
              <a:rPr lang="en-US" dirty="0" err="1" smtClean="0">
                <a:solidFill>
                  <a:srgbClr val="0D0D0D"/>
                </a:solidFill>
                <a:latin typeface="CIDFont+F1"/>
                <a:hlinkClick r:id="rId3"/>
              </a:rPr>
              <a:t>https</a:t>
            </a:r>
            <a:r>
              <a:rPr lang="en-US" dirty="0" smtClean="0">
                <a:solidFill>
                  <a:srgbClr val="0D0D0D"/>
                </a:solidFill>
                <a:latin typeface="CIDFont+F1"/>
                <a:hlinkClick r:id="rId3"/>
              </a:rPr>
              <a:t>://www.github.com/Gopalakrishnan-Kumar/</a:t>
            </a:r>
            <a:endParaRPr lang="en-US" dirty="0" smtClean="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473862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smtClean="0">
                <a:hlinkClick r:id="rId2"/>
              </a:rPr>
              <a:t>https://colab.research.google.com/drive/1tMxfxPuKpw3Ku3Sc7qBZuqzCbteAgVWe?usp=sharing</a:t>
            </a:r>
            <a:endParaRPr lang="en-US" dirty="0" smtClean="0"/>
          </a:p>
          <a:p>
            <a:endParaRPr lang="en-US" dirty="0"/>
          </a:p>
        </p:txBody>
      </p:sp>
    </p:spTree>
    <p:extLst>
      <p:ext uri="{BB962C8B-B14F-4D97-AF65-F5344CB8AC3E}">
        <p14:creationId xmlns:p14="http://schemas.microsoft.com/office/powerpoint/2010/main" val="18362651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Introduction</a:t>
            </a:r>
            <a:endParaRPr lang="en-US" b="1" dirty="0"/>
          </a:p>
        </p:txBody>
      </p:sp>
      <p:sp>
        <p:nvSpPr>
          <p:cNvPr id="3" name="Content Placeholder 2"/>
          <p:cNvSpPr>
            <a:spLocks noGrp="1"/>
          </p:cNvSpPr>
          <p:nvPr>
            <p:ph idx="1"/>
          </p:nvPr>
        </p:nvSpPr>
        <p:spPr/>
        <p:txBody>
          <a:bodyPr>
            <a:normAutofit/>
          </a:bodyPr>
          <a:lstStyle/>
          <a:p>
            <a:r>
              <a:rPr lang="en-US" dirty="0" smtClean="0"/>
              <a:t>Climate change has significantly increased the frequency and severity of natural disasters such as floods, cyclones, droughts, and storms. These climate-related events create substantial financial risks for insurance companies and reinsurers. Traditional reinsurance pricing models often rely on historical loss data; however, such approaches may underestimate emerging climate risks. Therefore, insurers are increasingly adopting </a:t>
            </a:r>
            <a:r>
              <a:rPr lang="en-US" b="1" dirty="0" smtClean="0"/>
              <a:t>climate risk-adjusted reinsurance models</a:t>
            </a:r>
            <a:r>
              <a:rPr lang="en-US" dirty="0" smtClean="0"/>
              <a:t> to better assess exposure and manage catastrophe risk.</a:t>
            </a:r>
          </a:p>
          <a:p>
            <a:endParaRPr lang="en-US" dirty="0"/>
          </a:p>
        </p:txBody>
      </p:sp>
    </p:spTree>
    <p:extLst>
      <p:ext uri="{BB962C8B-B14F-4D97-AF65-F5344CB8AC3E}">
        <p14:creationId xmlns:p14="http://schemas.microsoft.com/office/powerpoint/2010/main" val="34987678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Introduction</a:t>
            </a:r>
            <a:endParaRPr lang="en-US" b="1" dirty="0"/>
          </a:p>
        </p:txBody>
      </p:sp>
      <p:sp>
        <p:nvSpPr>
          <p:cNvPr id="3" name="Content Placeholder 2"/>
          <p:cNvSpPr>
            <a:spLocks noGrp="1"/>
          </p:cNvSpPr>
          <p:nvPr>
            <p:ph idx="1"/>
          </p:nvPr>
        </p:nvSpPr>
        <p:spPr/>
        <p:txBody>
          <a:bodyPr>
            <a:normAutofit lnSpcReduction="10000"/>
          </a:bodyPr>
          <a:lstStyle/>
          <a:p>
            <a:r>
              <a:rPr lang="en-US" dirty="0" smtClean="0"/>
              <a:t>The objective of this project is to develop a </a:t>
            </a:r>
            <a:r>
              <a:rPr lang="en-US" b="1" dirty="0" smtClean="0"/>
              <a:t>data-driven analytical framework</a:t>
            </a:r>
            <a:r>
              <a:rPr lang="en-US" dirty="0" smtClean="0"/>
              <a:t> that integrates climate risk indicators into insurance claim probability and severity estimation. Using Python-based data analytics and visualization techniques, this project simulates an insurance portfolio across multiple regions and policy types. The study then evaluates how climate risk factors influence claim occurrences and claim amounts.</a:t>
            </a:r>
          </a:p>
          <a:p>
            <a:r>
              <a:rPr lang="en-US" dirty="0" smtClean="0"/>
              <a:t>Through the application of </a:t>
            </a:r>
            <a:r>
              <a:rPr lang="en-US" b="1" dirty="0" smtClean="0"/>
              <a:t>histograms, bar charts, stacked bar charts, and combined stacked bar charts</a:t>
            </a:r>
            <a:r>
              <a:rPr lang="en-US" dirty="0" smtClean="0"/>
              <a:t>, the project provides a comprehensive understanding of climate-adjusted insurance losses and portfolio exposure across different regions.</a:t>
            </a:r>
          </a:p>
          <a:p>
            <a:endParaRPr lang="en-US" dirty="0"/>
          </a:p>
        </p:txBody>
      </p:sp>
    </p:spTree>
    <p:extLst>
      <p:ext uri="{BB962C8B-B14F-4D97-AF65-F5344CB8AC3E}">
        <p14:creationId xmlns:p14="http://schemas.microsoft.com/office/powerpoint/2010/main" val="33018881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Dataset Description</a:t>
            </a:r>
          </a:p>
        </p:txBody>
      </p:sp>
      <p:sp>
        <p:nvSpPr>
          <p:cNvPr id="3" name="Content Placeholder 2"/>
          <p:cNvSpPr>
            <a:spLocks noGrp="1"/>
          </p:cNvSpPr>
          <p:nvPr>
            <p:ph idx="1"/>
          </p:nvPr>
        </p:nvSpPr>
        <p:spPr/>
        <p:txBody>
          <a:bodyPr>
            <a:normAutofit lnSpcReduction="10000"/>
          </a:bodyPr>
          <a:lstStyle/>
          <a:p>
            <a:r>
              <a:rPr lang="en-US" dirty="0"/>
              <a:t>The dataset used in this analysis is a simulated insurance portfolio representing multiple policyholders across geographically diverse regions. The dataset includes the following key variables:</a:t>
            </a:r>
          </a:p>
          <a:p>
            <a:r>
              <a:rPr lang="en-US" b="1" dirty="0"/>
              <a:t>Region</a:t>
            </a:r>
            <a:r>
              <a:rPr lang="en-US" dirty="0"/>
              <a:t> – Geographic location where the policyholder resides (Coastal, River Basin, Urban, Semi-Urban, Rural).</a:t>
            </a:r>
          </a:p>
          <a:p>
            <a:r>
              <a:rPr lang="en-US" b="1" dirty="0"/>
              <a:t>Policy Type</a:t>
            </a:r>
            <a:r>
              <a:rPr lang="en-US" dirty="0"/>
              <a:t> – Type of insurance coverage such as Property, Crop, Health, or Commercial insurance.</a:t>
            </a:r>
          </a:p>
          <a:p>
            <a:r>
              <a:rPr lang="en-US" b="1" dirty="0"/>
              <a:t>Premium</a:t>
            </a:r>
            <a:r>
              <a:rPr lang="en-US" dirty="0"/>
              <a:t> – Annual premium paid by the policyholder.</a:t>
            </a:r>
          </a:p>
          <a:p>
            <a:r>
              <a:rPr lang="en-US" b="1" dirty="0"/>
              <a:t>Base Sum Insured</a:t>
            </a:r>
            <a:r>
              <a:rPr lang="en-US" dirty="0"/>
              <a:t> – Maximum coverage amount provided by the insurer.</a:t>
            </a:r>
          </a:p>
          <a:p>
            <a:endParaRPr lang="en-US" dirty="0"/>
          </a:p>
        </p:txBody>
      </p:sp>
    </p:spTree>
    <p:extLst>
      <p:ext uri="{BB962C8B-B14F-4D97-AF65-F5344CB8AC3E}">
        <p14:creationId xmlns:p14="http://schemas.microsoft.com/office/powerpoint/2010/main" val="7237576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Dataset Description</a:t>
            </a:r>
          </a:p>
        </p:txBody>
      </p:sp>
      <p:sp>
        <p:nvSpPr>
          <p:cNvPr id="3" name="Content Placeholder 2"/>
          <p:cNvSpPr>
            <a:spLocks noGrp="1"/>
          </p:cNvSpPr>
          <p:nvPr>
            <p:ph idx="1"/>
          </p:nvPr>
        </p:nvSpPr>
        <p:spPr/>
        <p:txBody>
          <a:bodyPr>
            <a:normAutofit fontScale="92500" lnSpcReduction="20000"/>
          </a:bodyPr>
          <a:lstStyle/>
          <a:p>
            <a:r>
              <a:rPr lang="en-US" b="1" dirty="0"/>
              <a:t>Base Claim Probability</a:t>
            </a:r>
            <a:r>
              <a:rPr lang="en-US" dirty="0"/>
              <a:t> – Probability of a claim occurring based on traditional underwriting models.</a:t>
            </a:r>
          </a:p>
          <a:p>
            <a:r>
              <a:rPr lang="en-US" b="1" dirty="0"/>
              <a:t>Climate Risk Index</a:t>
            </a:r>
            <a:r>
              <a:rPr lang="en-US" dirty="0"/>
              <a:t> – A risk score assigned to each region representing exposure to climate hazards.</a:t>
            </a:r>
          </a:p>
          <a:p>
            <a:r>
              <a:rPr lang="en-US" b="1" dirty="0"/>
              <a:t>Adjusted Claim Probability</a:t>
            </a:r>
            <a:r>
              <a:rPr lang="en-US" dirty="0"/>
              <a:t> – Claim probability recalculated after incorporating climate risk.</a:t>
            </a:r>
          </a:p>
          <a:p>
            <a:r>
              <a:rPr lang="en-US" b="1" dirty="0"/>
              <a:t>Claim Occurred</a:t>
            </a:r>
            <a:r>
              <a:rPr lang="en-US" dirty="0"/>
              <a:t> – Binary indicator representing whether a claim occurred.</a:t>
            </a:r>
          </a:p>
          <a:p>
            <a:r>
              <a:rPr lang="en-US" b="1" dirty="0"/>
              <a:t>Climate Adjusted Claim</a:t>
            </a:r>
            <a:r>
              <a:rPr lang="en-US" dirty="0"/>
              <a:t> – Final claim amount adjusted based on climate risk severity.</a:t>
            </a:r>
          </a:p>
          <a:p>
            <a:r>
              <a:rPr lang="en-US" dirty="0"/>
              <a:t>The </a:t>
            </a:r>
            <a:r>
              <a:rPr lang="en-US" b="1" dirty="0"/>
              <a:t>Climate Risk Index</a:t>
            </a:r>
            <a:r>
              <a:rPr lang="en-US" dirty="0"/>
              <a:t> plays a central role in this model by modifying the base claim probability and claim severity to reflect environmental exposure.</a:t>
            </a:r>
          </a:p>
          <a:p>
            <a:endParaRPr lang="en-US" dirty="0"/>
          </a:p>
        </p:txBody>
      </p:sp>
    </p:spTree>
    <p:extLst>
      <p:ext uri="{BB962C8B-B14F-4D97-AF65-F5344CB8AC3E}">
        <p14:creationId xmlns:p14="http://schemas.microsoft.com/office/powerpoint/2010/main" val="40581949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normAutofit/>
          </a:bodyPr>
          <a:lstStyle/>
          <a:p>
            <a:r>
              <a:rPr lang="en-US" dirty="0"/>
              <a:t>The analytical methodology consists of the following steps:</a:t>
            </a:r>
          </a:p>
          <a:p>
            <a:r>
              <a:rPr lang="en-US" b="1" dirty="0"/>
              <a:t>Step 1: Data Simulation</a:t>
            </a:r>
            <a:r>
              <a:rPr lang="en-US" dirty="0"/>
              <a:t/>
            </a:r>
            <a:br>
              <a:rPr lang="en-US" dirty="0"/>
            </a:br>
            <a:r>
              <a:rPr lang="en-US" dirty="0"/>
              <a:t>A synthetic dataset was generated using Python libraries such as </a:t>
            </a:r>
            <a:r>
              <a:rPr lang="en-US" dirty="0" err="1"/>
              <a:t>NumPy</a:t>
            </a:r>
            <a:r>
              <a:rPr lang="en-US" dirty="0"/>
              <a:t> and Pandas. This dataset mimics a real-world insurance portfolio containing 1000 policyholders across multiple regions.</a:t>
            </a:r>
          </a:p>
          <a:p>
            <a:r>
              <a:rPr lang="en-US" b="1" dirty="0"/>
              <a:t>Step 2: Climate Risk Adjustment</a:t>
            </a:r>
            <a:r>
              <a:rPr lang="en-US" dirty="0"/>
              <a:t/>
            </a:r>
            <a:br>
              <a:rPr lang="en-US" dirty="0"/>
            </a:br>
            <a:r>
              <a:rPr lang="en-US" dirty="0"/>
              <a:t>Each region was assigned a climate risk score representing environmental vulnerability. Coastal and river basin regions were assigned higher risk values due to exposure to floods, storms, and cyclones.</a:t>
            </a:r>
          </a:p>
          <a:p>
            <a:endParaRPr lang="en-US" dirty="0"/>
          </a:p>
        </p:txBody>
      </p:sp>
    </p:spTree>
    <p:extLst>
      <p:ext uri="{BB962C8B-B14F-4D97-AF65-F5344CB8AC3E}">
        <p14:creationId xmlns:p14="http://schemas.microsoft.com/office/powerpoint/2010/main" val="33055004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normAutofit/>
          </a:bodyPr>
          <a:lstStyle/>
          <a:p>
            <a:r>
              <a:rPr lang="en-US" b="1" dirty="0"/>
              <a:t>Step 3: Claim Probability Adjustment</a:t>
            </a:r>
            <a:r>
              <a:rPr lang="en-US" dirty="0"/>
              <a:t/>
            </a:r>
            <a:br>
              <a:rPr lang="en-US" dirty="0"/>
            </a:br>
            <a:r>
              <a:rPr lang="en-US" dirty="0"/>
              <a:t>The base claim probability was adjusted using the formula:</a:t>
            </a:r>
          </a:p>
          <a:p>
            <a:r>
              <a:rPr lang="en-US" dirty="0"/>
              <a:t>Adjusted Claim Probability = Base Claim Probability × (1 + Climate Risk Index)</a:t>
            </a:r>
          </a:p>
          <a:p>
            <a:r>
              <a:rPr lang="en-US" dirty="0"/>
              <a:t>This approach increases the likelihood of claims in climate-sensitive regions.</a:t>
            </a:r>
          </a:p>
          <a:p>
            <a:r>
              <a:rPr lang="en-US" b="1" dirty="0"/>
              <a:t>Step 4: Claim Simulation</a:t>
            </a:r>
            <a:r>
              <a:rPr lang="en-US" dirty="0"/>
              <a:t/>
            </a:r>
            <a:br>
              <a:rPr lang="en-US" dirty="0"/>
            </a:br>
            <a:r>
              <a:rPr lang="en-US" dirty="0"/>
              <a:t>Using a binomial distribution, claim occurrences were simulated based on the adjusted probability.</a:t>
            </a:r>
          </a:p>
          <a:p>
            <a:endParaRPr lang="en-US" dirty="0"/>
          </a:p>
        </p:txBody>
      </p:sp>
    </p:spTree>
    <p:extLst>
      <p:ext uri="{BB962C8B-B14F-4D97-AF65-F5344CB8AC3E}">
        <p14:creationId xmlns:p14="http://schemas.microsoft.com/office/powerpoint/2010/main" val="20489063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p:txBody>
          <a:bodyPr/>
          <a:lstStyle/>
          <a:p>
            <a:r>
              <a:rPr lang="en-US" b="1" dirty="0"/>
              <a:t>Step 5: Claim Severity Calculation</a:t>
            </a:r>
            <a:r>
              <a:rPr lang="en-US" dirty="0"/>
              <a:t/>
            </a:r>
            <a:br>
              <a:rPr lang="en-US" dirty="0"/>
            </a:br>
            <a:r>
              <a:rPr lang="en-US" dirty="0"/>
              <a:t>Claim amounts were calculated by multiplying the insured value with a climate severity multiplier influenced by the regional risk index.</a:t>
            </a:r>
          </a:p>
          <a:p>
            <a:r>
              <a:rPr lang="en-US" b="1" dirty="0"/>
              <a:t>Step 6: Data Visualization</a:t>
            </a:r>
            <a:r>
              <a:rPr lang="en-US" dirty="0"/>
              <a:t/>
            </a:r>
            <a:br>
              <a:rPr lang="en-US" dirty="0"/>
            </a:br>
            <a:r>
              <a:rPr lang="en-US" dirty="0"/>
              <a:t>Multiple visualization techniques were used to interpret the portfolio risk structure.</a:t>
            </a:r>
          </a:p>
          <a:p>
            <a:endParaRPr lang="en-US" dirty="0"/>
          </a:p>
        </p:txBody>
      </p:sp>
    </p:spTree>
    <p:extLst>
      <p:ext uri="{BB962C8B-B14F-4D97-AF65-F5344CB8AC3E}">
        <p14:creationId xmlns:p14="http://schemas.microsoft.com/office/powerpoint/2010/main" val="14434259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20206" y="1852449"/>
            <a:ext cx="5751587" cy="4297689"/>
          </a:xfrm>
        </p:spPr>
      </p:pic>
    </p:spTree>
    <p:extLst>
      <p:ext uri="{BB962C8B-B14F-4D97-AF65-F5344CB8AC3E}">
        <p14:creationId xmlns:p14="http://schemas.microsoft.com/office/powerpoint/2010/main" val="23829329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dirty="0" smtClean="0"/>
              <a:t>Data </a:t>
            </a:r>
            <a:r>
              <a:rPr lang="en-US" b="1" dirty="0"/>
              <a:t>Visualization and Analytics</a:t>
            </a:r>
            <a:br>
              <a:rPr lang="en-US" b="1" dirty="0"/>
            </a:br>
            <a:endParaRPr lang="en-US" b="1" dirty="0"/>
          </a:p>
        </p:txBody>
      </p:sp>
      <p:sp>
        <p:nvSpPr>
          <p:cNvPr id="3" name="Content Placeholder 2"/>
          <p:cNvSpPr>
            <a:spLocks noGrp="1"/>
          </p:cNvSpPr>
          <p:nvPr>
            <p:ph idx="1"/>
          </p:nvPr>
        </p:nvSpPr>
        <p:spPr/>
        <p:txBody>
          <a:bodyPr/>
          <a:lstStyle/>
          <a:p>
            <a:r>
              <a:rPr lang="en-US" b="1" dirty="0"/>
              <a:t>Histogram Analysis</a:t>
            </a:r>
          </a:p>
          <a:p>
            <a:r>
              <a:rPr lang="en-US" dirty="0"/>
              <a:t>The histogram illustrates the distribution of climate-adjusted claim amounts. Most claims fall within lower claim ranges, indicating that small claims occur frequently. However, the distribution also contains a long tail representing large catastrophic losses. This pattern reflects typical insurance risk structures where </a:t>
            </a:r>
            <a:r>
              <a:rPr lang="en-US" b="1" dirty="0"/>
              <a:t>high-severity low-frequency events dominate catastrophic risk</a:t>
            </a:r>
            <a:r>
              <a:rPr lang="en-US" dirty="0"/>
              <a:t>.</a:t>
            </a:r>
          </a:p>
          <a:p>
            <a:endParaRPr lang="en-US" dirty="0"/>
          </a:p>
        </p:txBody>
      </p:sp>
    </p:spTree>
    <p:extLst>
      <p:ext uri="{BB962C8B-B14F-4D97-AF65-F5344CB8AC3E}">
        <p14:creationId xmlns:p14="http://schemas.microsoft.com/office/powerpoint/2010/main" val="29048461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15634" y="1852449"/>
            <a:ext cx="5760731" cy="4297689"/>
          </a:xfrm>
        </p:spPr>
      </p:pic>
    </p:spTree>
    <p:extLst>
      <p:ext uri="{BB962C8B-B14F-4D97-AF65-F5344CB8AC3E}">
        <p14:creationId xmlns:p14="http://schemas.microsoft.com/office/powerpoint/2010/main" val="11969038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Visualization and Analytics</a:t>
            </a:r>
          </a:p>
        </p:txBody>
      </p:sp>
      <p:sp>
        <p:nvSpPr>
          <p:cNvPr id="3" name="Content Placeholder 2"/>
          <p:cNvSpPr>
            <a:spLocks noGrp="1"/>
          </p:cNvSpPr>
          <p:nvPr>
            <p:ph idx="1"/>
          </p:nvPr>
        </p:nvSpPr>
        <p:spPr/>
        <p:txBody>
          <a:bodyPr/>
          <a:lstStyle/>
          <a:p>
            <a:r>
              <a:rPr lang="en-US" b="1" dirty="0"/>
              <a:t>Bar Chart Analysis</a:t>
            </a:r>
          </a:p>
          <a:p>
            <a:r>
              <a:rPr lang="en-US" dirty="0"/>
              <a:t>The bar chart compares </a:t>
            </a:r>
            <a:r>
              <a:rPr lang="en-US" b="1" dirty="0"/>
              <a:t>total climate-adjusted claims across regions</a:t>
            </a:r>
            <a:r>
              <a:rPr lang="en-US" dirty="0"/>
              <a:t>. Regions with higher climate exposure, such as coastal and river basin areas, show significantly higher claim totals. This indicates that insurers operating heavily in these regions may experience greater loss volatility.</a:t>
            </a:r>
          </a:p>
          <a:p>
            <a:endParaRPr lang="en-US" dirty="0"/>
          </a:p>
        </p:txBody>
      </p:sp>
    </p:spTree>
    <p:extLst>
      <p:ext uri="{BB962C8B-B14F-4D97-AF65-F5344CB8AC3E}">
        <p14:creationId xmlns:p14="http://schemas.microsoft.com/office/powerpoint/2010/main" val="35008141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8202" y="1852449"/>
            <a:ext cx="5815596" cy="4297689"/>
          </a:xfrm>
        </p:spPr>
      </p:pic>
    </p:spTree>
    <p:extLst>
      <p:ext uri="{BB962C8B-B14F-4D97-AF65-F5344CB8AC3E}">
        <p14:creationId xmlns:p14="http://schemas.microsoft.com/office/powerpoint/2010/main" val="36666416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Visualization and Analytics</a:t>
            </a:r>
          </a:p>
        </p:txBody>
      </p:sp>
      <p:sp>
        <p:nvSpPr>
          <p:cNvPr id="3" name="Content Placeholder 2"/>
          <p:cNvSpPr>
            <a:spLocks noGrp="1"/>
          </p:cNvSpPr>
          <p:nvPr>
            <p:ph idx="1"/>
          </p:nvPr>
        </p:nvSpPr>
        <p:spPr/>
        <p:txBody>
          <a:bodyPr>
            <a:normAutofit fontScale="92500" lnSpcReduction="10000"/>
          </a:bodyPr>
          <a:lstStyle/>
          <a:p>
            <a:r>
              <a:rPr lang="en-US" b="1" dirty="0"/>
              <a:t>Stacked Bar Chart Analysis</a:t>
            </a:r>
          </a:p>
          <a:p>
            <a:r>
              <a:rPr lang="en-US" dirty="0"/>
              <a:t>The stacked bar chart breaks down claims by </a:t>
            </a:r>
            <a:r>
              <a:rPr lang="en-US" b="1" dirty="0"/>
              <a:t>region and policy type</a:t>
            </a:r>
            <a:r>
              <a:rPr lang="en-US" dirty="0"/>
              <a:t>. This visualization helps insurers understand which types of policies contribute most to climate-related losses.</a:t>
            </a:r>
          </a:p>
          <a:p>
            <a:r>
              <a:rPr lang="en-US" dirty="0"/>
              <a:t>For example:</a:t>
            </a:r>
          </a:p>
          <a:p>
            <a:r>
              <a:rPr lang="en-US" dirty="0"/>
              <a:t>Crop insurance claims may dominate in river basin regions due to flood exposure.</a:t>
            </a:r>
          </a:p>
          <a:p>
            <a:r>
              <a:rPr lang="en-US" dirty="0"/>
              <a:t>Property insurance claims may dominate in coastal regions due to cyclone damage.</a:t>
            </a:r>
          </a:p>
          <a:p>
            <a:r>
              <a:rPr lang="en-US" dirty="0"/>
              <a:t>This analysis helps insurers adjust underwriting strategies and pricing structures accordingly.</a:t>
            </a:r>
          </a:p>
          <a:p>
            <a:endParaRPr lang="en-US" dirty="0"/>
          </a:p>
        </p:txBody>
      </p:sp>
    </p:spTree>
    <p:extLst>
      <p:ext uri="{BB962C8B-B14F-4D97-AF65-F5344CB8AC3E}">
        <p14:creationId xmlns:p14="http://schemas.microsoft.com/office/powerpoint/2010/main" val="40518513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sp>
        <p:nvSpPr>
          <p:cNvPr id="3" name="Content Placeholder 2"/>
          <p:cNvSpPr>
            <a:spLocks noGrp="1"/>
          </p:cNvSpPr>
          <p:nvPr>
            <p:ph idx="1"/>
          </p:nvPr>
        </p:nvSpPr>
        <p:spPr/>
        <p:txBody>
          <a:bodyPr/>
          <a:lstStyle/>
          <a:p>
            <a:r>
              <a:rPr lang="en-US" b="1" dirty="0"/>
              <a:t>Combined Stacked Bar Chart Analysis</a:t>
            </a:r>
          </a:p>
          <a:p>
            <a:r>
              <a:rPr lang="en-US" dirty="0"/>
              <a:t>The combined stacked bar chart compares </a:t>
            </a:r>
            <a:r>
              <a:rPr lang="en-US" b="1" dirty="0"/>
              <a:t>total premiums collected versus climate-adjusted claims</a:t>
            </a:r>
            <a:r>
              <a:rPr lang="en-US" dirty="0"/>
              <a:t> across regions. This visualization highlights the financial balance between revenue and potential losses.</a:t>
            </a:r>
          </a:p>
          <a:p>
            <a:r>
              <a:rPr lang="en-US" dirty="0"/>
              <a:t>If claims significantly exceed premiums in certain regions, it indicates a </a:t>
            </a:r>
            <a:r>
              <a:rPr lang="en-US" b="1" dirty="0"/>
              <a:t>potential underwriting imbalance</a:t>
            </a:r>
            <a:r>
              <a:rPr lang="en-US" dirty="0"/>
              <a:t>, requiring pricing adjustments or reinsurance support.</a:t>
            </a:r>
          </a:p>
          <a:p>
            <a:endParaRPr lang="en-US" dirty="0"/>
          </a:p>
        </p:txBody>
      </p:sp>
    </p:spTree>
    <p:extLst>
      <p:ext uri="{BB962C8B-B14F-4D97-AF65-F5344CB8AC3E}">
        <p14:creationId xmlns:p14="http://schemas.microsoft.com/office/powerpoint/2010/main" val="400848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Business Applications</a:t>
            </a:r>
          </a:p>
        </p:txBody>
      </p:sp>
      <p:sp>
        <p:nvSpPr>
          <p:cNvPr id="3" name="Content Placeholder 2"/>
          <p:cNvSpPr>
            <a:spLocks noGrp="1"/>
          </p:cNvSpPr>
          <p:nvPr>
            <p:ph idx="1"/>
          </p:nvPr>
        </p:nvSpPr>
        <p:spPr/>
        <p:txBody>
          <a:bodyPr>
            <a:normAutofit/>
          </a:bodyPr>
          <a:lstStyle/>
          <a:p>
            <a:r>
              <a:rPr lang="en-US" dirty="0"/>
              <a:t>The climate risk-adjusted reinsurance model provides several practical benefits for insurance companies and reinsurers:</a:t>
            </a:r>
          </a:p>
          <a:p>
            <a:r>
              <a:rPr lang="en-US" b="1" dirty="0"/>
              <a:t>Risk-Based Pricing</a:t>
            </a:r>
            <a:r>
              <a:rPr lang="en-US" dirty="0"/>
              <a:t/>
            </a:r>
            <a:br>
              <a:rPr lang="en-US" dirty="0"/>
            </a:br>
            <a:r>
              <a:rPr lang="en-US" dirty="0"/>
              <a:t>Insurers can adjust premiums based on regional climate exposure to ensure sustainable underwriting profitability.</a:t>
            </a:r>
          </a:p>
          <a:p>
            <a:r>
              <a:rPr lang="en-US" b="1" dirty="0"/>
              <a:t>Improved Reinsurance Structuring</a:t>
            </a:r>
            <a:r>
              <a:rPr lang="en-US" dirty="0"/>
              <a:t/>
            </a:r>
            <a:br>
              <a:rPr lang="en-US" dirty="0"/>
            </a:br>
            <a:r>
              <a:rPr lang="en-US" dirty="0"/>
              <a:t>Reinsurers can use climate-adjusted models to design more effective catastrophe treaties.</a:t>
            </a:r>
          </a:p>
          <a:p>
            <a:endParaRPr lang="en-US" dirty="0"/>
          </a:p>
        </p:txBody>
      </p:sp>
      <p:sp>
        <p:nvSpPr>
          <p:cNvPr id="4" name="Rectangle 3"/>
          <p:cNvSpPr/>
          <p:nvPr/>
        </p:nvSpPr>
        <p:spPr>
          <a:xfrm>
            <a:off x="6650182" y="3161575"/>
            <a:ext cx="6096000" cy="923330"/>
          </a:xfrm>
          <a:prstGeom prst="rect">
            <a:avLst/>
          </a:prstGeom>
        </p:spPr>
        <p:txBody>
          <a:bodyPr>
            <a:spAutoFit/>
          </a:bodyPr>
          <a:lstStyle/>
          <a:p>
            <a:r>
              <a:rPr lang="en-US" b="1" dirty="0"/>
              <a:t>Portfolio Diversification</a:t>
            </a:r>
            <a:r>
              <a:rPr lang="en-US" dirty="0"/>
              <a:t/>
            </a:r>
            <a:br>
              <a:rPr lang="en-US" dirty="0"/>
            </a:br>
            <a:r>
              <a:rPr lang="en-US" dirty="0"/>
              <a:t>Companies can rebalance their portfolios by reducing concentration in high-risk climate zones</a:t>
            </a:r>
            <a:r>
              <a:rPr lang="en-US" dirty="0" smtClean="0"/>
              <a:t>.</a:t>
            </a:r>
            <a:endParaRPr lang="en-US" dirty="0"/>
          </a:p>
        </p:txBody>
      </p:sp>
    </p:spTree>
    <p:extLst>
      <p:ext uri="{BB962C8B-B14F-4D97-AF65-F5344CB8AC3E}">
        <p14:creationId xmlns:p14="http://schemas.microsoft.com/office/powerpoint/2010/main" val="2282583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Business Applications</a:t>
            </a:r>
          </a:p>
        </p:txBody>
      </p:sp>
      <p:sp>
        <p:nvSpPr>
          <p:cNvPr id="3" name="Content Placeholder 2"/>
          <p:cNvSpPr>
            <a:spLocks noGrp="1"/>
          </p:cNvSpPr>
          <p:nvPr>
            <p:ph idx="1"/>
          </p:nvPr>
        </p:nvSpPr>
        <p:spPr/>
        <p:txBody>
          <a:bodyPr/>
          <a:lstStyle/>
          <a:p>
            <a:r>
              <a:rPr lang="en-US" b="1" dirty="0"/>
              <a:t>Capital Allocation Optimization</a:t>
            </a:r>
            <a:r>
              <a:rPr lang="en-US" dirty="0"/>
              <a:t/>
            </a:r>
            <a:br>
              <a:rPr lang="en-US" dirty="0"/>
            </a:br>
            <a:r>
              <a:rPr lang="en-US" dirty="0"/>
              <a:t>Insurers can allocate reserves more efficiently based on expected climate-related losses.</a:t>
            </a:r>
          </a:p>
          <a:p>
            <a:r>
              <a:rPr lang="en-US" b="1" dirty="0"/>
              <a:t>Catastrophe Risk Management</a:t>
            </a:r>
            <a:r>
              <a:rPr lang="en-US" dirty="0"/>
              <a:t/>
            </a:r>
            <a:br>
              <a:rPr lang="en-US" dirty="0"/>
            </a:br>
            <a:r>
              <a:rPr lang="en-US" dirty="0"/>
              <a:t>Advanced analytics help insurers anticipate extreme events and mitigate financial impact.</a:t>
            </a:r>
          </a:p>
          <a:p>
            <a:endParaRPr lang="en-US" dirty="0"/>
          </a:p>
        </p:txBody>
      </p:sp>
    </p:spTree>
    <p:extLst>
      <p:ext uri="{BB962C8B-B14F-4D97-AF65-F5344CB8AC3E}">
        <p14:creationId xmlns:p14="http://schemas.microsoft.com/office/powerpoint/2010/main" val="4696566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normAutofit/>
          </a:bodyPr>
          <a:lstStyle/>
          <a:p>
            <a:r>
              <a:rPr lang="en-US" dirty="0"/>
              <a:t>Climate change presents a growing challenge for the insurance industry. Traditional underwriting models may fail to capture the full impact of environmental risk, leading to underpriced policies and unexpected losses.</a:t>
            </a:r>
          </a:p>
          <a:p>
            <a:r>
              <a:rPr lang="en-US" dirty="0"/>
              <a:t>This project demonstrates how </a:t>
            </a:r>
            <a:r>
              <a:rPr lang="en-US" b="1" dirty="0"/>
              <a:t>Python-based data analytics and visualization techniques</a:t>
            </a:r>
            <a:r>
              <a:rPr lang="en-US" dirty="0"/>
              <a:t> can be used to incorporate climate risk into reinsurance decision-making. By adjusting claim probabilities and claim severities using regional climate risk indicators, insurers can better estimate portfolio risk exposure.</a:t>
            </a:r>
          </a:p>
          <a:p>
            <a:endParaRPr lang="en-US" dirty="0"/>
          </a:p>
        </p:txBody>
      </p:sp>
    </p:spTree>
    <p:extLst>
      <p:ext uri="{BB962C8B-B14F-4D97-AF65-F5344CB8AC3E}">
        <p14:creationId xmlns:p14="http://schemas.microsoft.com/office/powerpoint/2010/main" val="1974512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lstStyle/>
          <a:p>
            <a:r>
              <a:rPr lang="en-US" dirty="0"/>
              <a:t>The visualizations developed in this project provide actionable insights for insurers, helping them understand the distribution of losses, regional risk concentrations, and the relationship between premiums and claims.</a:t>
            </a:r>
          </a:p>
          <a:p>
            <a:r>
              <a:rPr lang="en-US" dirty="0"/>
              <a:t>Ultimately, </a:t>
            </a:r>
            <a:r>
              <a:rPr lang="en-US" b="1" dirty="0"/>
              <a:t>climate risk-adjusted reinsurance models enable insurers to build more resilient portfolios, improve pricing accuracy, and enhance long-term financial stability in the face of increasing environmental uncertainty.</a:t>
            </a:r>
            <a:endParaRPr lang="en-US" dirty="0"/>
          </a:p>
          <a:p>
            <a:endParaRPr lang="en-US" dirty="0"/>
          </a:p>
        </p:txBody>
      </p:sp>
    </p:spTree>
    <p:extLst>
      <p:ext uri="{BB962C8B-B14F-4D97-AF65-F5344CB8AC3E}">
        <p14:creationId xmlns:p14="http://schemas.microsoft.com/office/powerpoint/2010/main" val="19368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844</Words>
  <Application>Microsoft Office PowerPoint</Application>
  <PresentationFormat>Widescreen</PresentationFormat>
  <Paragraphs>74</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CIDFont+F1</vt:lpstr>
      <vt:lpstr>Office Theme</vt:lpstr>
      <vt:lpstr>Climate Risk Adjusted Reinsurance</vt:lpstr>
      <vt:lpstr>Google Colab URL</vt:lpstr>
      <vt:lpstr>Introduction</vt:lpstr>
      <vt:lpstr>Introduction</vt:lpstr>
      <vt:lpstr>Dataset Description</vt:lpstr>
      <vt:lpstr>Dataset Description</vt:lpstr>
      <vt:lpstr>Methodology</vt:lpstr>
      <vt:lpstr>Methodology</vt:lpstr>
      <vt:lpstr>Methodology</vt:lpstr>
      <vt:lpstr>Data Visualization </vt:lpstr>
      <vt:lpstr> Data Visualization and Analytics </vt:lpstr>
      <vt:lpstr>Data Visualization</vt:lpstr>
      <vt:lpstr>Data Visualization and Analytics</vt:lpstr>
      <vt:lpstr>Data Visualization</vt:lpstr>
      <vt:lpstr>Data Visualization and Analytics</vt:lpstr>
      <vt:lpstr>Data Visualization</vt:lpstr>
      <vt:lpstr>Business Applications</vt:lpstr>
      <vt:lpstr>Business Applications</vt:lpstr>
      <vt:lpstr>Conclusion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 Risk Adjusted Reinsurance</dc:title>
  <dc:creator>KUMAR</dc:creator>
  <cp:lastModifiedBy>KUMAR</cp:lastModifiedBy>
  <cp:revision>21</cp:revision>
  <dcterms:created xsi:type="dcterms:W3CDTF">2026-03-05T12:47:44Z</dcterms:created>
  <dcterms:modified xsi:type="dcterms:W3CDTF">2026-03-06T01:38:53Z</dcterms:modified>
</cp:coreProperties>
</file>