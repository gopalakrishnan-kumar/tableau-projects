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2" r:id="rId7"/>
    <p:sldId id="261"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6" r:id="rId21"/>
    <p:sldId id="275" r:id="rId22"/>
    <p:sldId id="277" r:id="rId23"/>
    <p:sldId id="278" r:id="rId24"/>
    <p:sldId id="279" r:id="rId25"/>
    <p:sldId id="280" r:id="rId26"/>
    <p:sldId id="281" r:id="rId27"/>
    <p:sldId id="282" r:id="rId28"/>
    <p:sldId id="283" r:id="rId29"/>
    <p:sldId id="284" r:id="rId3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6" d="100"/>
          <a:sy n="66" d="100"/>
        </p:scale>
        <p:origin x="792"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83CD1251-08F4-4F69-9F21-E001A50A63C6}" type="datetimeFigureOut">
              <a:rPr lang="en-US" smtClean="0"/>
              <a:t>10/1/2026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A002C81-1A4C-47A9-9C2F-14EC8E3ADC30}" type="slidenum">
              <a:rPr lang="en-US" smtClean="0"/>
              <a:t>‹#›</a:t>
            </a:fld>
            <a:endParaRPr lang="en-US"/>
          </a:p>
        </p:txBody>
      </p:sp>
    </p:spTree>
    <p:extLst>
      <p:ext uri="{BB962C8B-B14F-4D97-AF65-F5344CB8AC3E}">
        <p14:creationId xmlns:p14="http://schemas.microsoft.com/office/powerpoint/2010/main" val="271023828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3CD1251-08F4-4F69-9F21-E001A50A63C6}" type="datetimeFigureOut">
              <a:rPr lang="en-US" smtClean="0"/>
              <a:t>10/1/2026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A002C81-1A4C-47A9-9C2F-14EC8E3ADC30}" type="slidenum">
              <a:rPr lang="en-US" smtClean="0"/>
              <a:t>‹#›</a:t>
            </a:fld>
            <a:endParaRPr lang="en-US"/>
          </a:p>
        </p:txBody>
      </p:sp>
    </p:spTree>
    <p:extLst>
      <p:ext uri="{BB962C8B-B14F-4D97-AF65-F5344CB8AC3E}">
        <p14:creationId xmlns:p14="http://schemas.microsoft.com/office/powerpoint/2010/main" val="13295875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83CD1251-08F4-4F69-9F21-E001A50A63C6}" type="datetimeFigureOut">
              <a:rPr lang="en-US" smtClean="0"/>
              <a:t>10/1/2026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A002C81-1A4C-47A9-9C2F-14EC8E3ADC30}" type="slidenum">
              <a:rPr lang="en-US" smtClean="0"/>
              <a:t>‹#›</a:t>
            </a:fld>
            <a:endParaRPr lang="en-US"/>
          </a:p>
        </p:txBody>
      </p:sp>
    </p:spTree>
    <p:extLst>
      <p:ext uri="{BB962C8B-B14F-4D97-AF65-F5344CB8AC3E}">
        <p14:creationId xmlns:p14="http://schemas.microsoft.com/office/powerpoint/2010/main" val="38816148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83CD1251-08F4-4F69-9F21-E001A50A63C6}" type="datetimeFigureOut">
              <a:rPr lang="en-US" smtClean="0"/>
              <a:t>10/1/2026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A002C81-1A4C-47A9-9C2F-14EC8E3ADC30}" type="slidenum">
              <a:rPr lang="en-US" smtClean="0"/>
              <a:t>‹#›</a:t>
            </a:fld>
            <a:endParaRPr lang="en-US"/>
          </a:p>
        </p:txBody>
      </p:sp>
    </p:spTree>
    <p:extLst>
      <p:ext uri="{BB962C8B-B14F-4D97-AF65-F5344CB8AC3E}">
        <p14:creationId xmlns:p14="http://schemas.microsoft.com/office/powerpoint/2010/main" val="33933294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83CD1251-08F4-4F69-9F21-E001A50A63C6}" type="datetimeFigureOut">
              <a:rPr lang="en-US" smtClean="0"/>
              <a:t>10/1/2026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A002C81-1A4C-47A9-9C2F-14EC8E3ADC30}" type="slidenum">
              <a:rPr lang="en-US" smtClean="0"/>
              <a:t>‹#›</a:t>
            </a:fld>
            <a:endParaRPr lang="en-US"/>
          </a:p>
        </p:txBody>
      </p:sp>
    </p:spTree>
    <p:extLst>
      <p:ext uri="{BB962C8B-B14F-4D97-AF65-F5344CB8AC3E}">
        <p14:creationId xmlns:p14="http://schemas.microsoft.com/office/powerpoint/2010/main" val="37295385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83CD1251-08F4-4F69-9F21-E001A50A63C6}" type="datetimeFigureOut">
              <a:rPr lang="en-US" smtClean="0"/>
              <a:t>10/1/2026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A002C81-1A4C-47A9-9C2F-14EC8E3ADC30}" type="slidenum">
              <a:rPr lang="en-US" smtClean="0"/>
              <a:t>‹#›</a:t>
            </a:fld>
            <a:endParaRPr lang="en-US"/>
          </a:p>
        </p:txBody>
      </p:sp>
    </p:spTree>
    <p:extLst>
      <p:ext uri="{BB962C8B-B14F-4D97-AF65-F5344CB8AC3E}">
        <p14:creationId xmlns:p14="http://schemas.microsoft.com/office/powerpoint/2010/main" val="37106227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3CD1251-08F4-4F69-9F21-E001A50A63C6}" type="datetimeFigureOut">
              <a:rPr lang="en-US" smtClean="0"/>
              <a:t>10/1/2026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A002C81-1A4C-47A9-9C2F-14EC8E3ADC30}" type="slidenum">
              <a:rPr lang="en-US" smtClean="0"/>
              <a:t>‹#›</a:t>
            </a:fld>
            <a:endParaRPr lang="en-US"/>
          </a:p>
        </p:txBody>
      </p:sp>
    </p:spTree>
    <p:extLst>
      <p:ext uri="{BB962C8B-B14F-4D97-AF65-F5344CB8AC3E}">
        <p14:creationId xmlns:p14="http://schemas.microsoft.com/office/powerpoint/2010/main" val="10500218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83CD1251-08F4-4F69-9F21-E001A50A63C6}" type="datetimeFigureOut">
              <a:rPr lang="en-US" smtClean="0"/>
              <a:t>10/1/2026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A002C81-1A4C-47A9-9C2F-14EC8E3ADC30}" type="slidenum">
              <a:rPr lang="en-US" smtClean="0"/>
              <a:t>‹#›</a:t>
            </a:fld>
            <a:endParaRPr lang="en-US"/>
          </a:p>
        </p:txBody>
      </p:sp>
    </p:spTree>
    <p:extLst>
      <p:ext uri="{BB962C8B-B14F-4D97-AF65-F5344CB8AC3E}">
        <p14:creationId xmlns:p14="http://schemas.microsoft.com/office/powerpoint/2010/main" val="36098356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83CD1251-08F4-4F69-9F21-E001A50A63C6}" type="datetimeFigureOut">
              <a:rPr lang="en-US" smtClean="0"/>
              <a:t>10/1/2026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A002C81-1A4C-47A9-9C2F-14EC8E3ADC30}" type="slidenum">
              <a:rPr lang="en-US" smtClean="0"/>
              <a:t>‹#›</a:t>
            </a:fld>
            <a:endParaRPr lang="en-US"/>
          </a:p>
        </p:txBody>
      </p:sp>
    </p:spTree>
    <p:extLst>
      <p:ext uri="{BB962C8B-B14F-4D97-AF65-F5344CB8AC3E}">
        <p14:creationId xmlns:p14="http://schemas.microsoft.com/office/powerpoint/2010/main" val="39076881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3CD1251-08F4-4F69-9F21-E001A50A63C6}" type="datetimeFigureOut">
              <a:rPr lang="en-US" smtClean="0"/>
              <a:t>10/1/2026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A002C81-1A4C-47A9-9C2F-14EC8E3ADC30}" type="slidenum">
              <a:rPr lang="en-US" smtClean="0"/>
              <a:t>‹#›</a:t>
            </a:fld>
            <a:endParaRPr lang="en-US"/>
          </a:p>
        </p:txBody>
      </p:sp>
    </p:spTree>
    <p:extLst>
      <p:ext uri="{BB962C8B-B14F-4D97-AF65-F5344CB8AC3E}">
        <p14:creationId xmlns:p14="http://schemas.microsoft.com/office/powerpoint/2010/main" val="13432199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83CD1251-08F4-4F69-9F21-E001A50A63C6}" type="datetimeFigureOut">
              <a:rPr lang="en-US" smtClean="0"/>
              <a:t>10/1/2026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A002C81-1A4C-47A9-9C2F-14EC8E3ADC30}" type="slidenum">
              <a:rPr lang="en-US" smtClean="0"/>
              <a:t>‹#›</a:t>
            </a:fld>
            <a:endParaRPr lang="en-US"/>
          </a:p>
        </p:txBody>
      </p:sp>
    </p:spTree>
    <p:extLst>
      <p:ext uri="{BB962C8B-B14F-4D97-AF65-F5344CB8AC3E}">
        <p14:creationId xmlns:p14="http://schemas.microsoft.com/office/powerpoint/2010/main" val="20595991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tileRect/>
        </a:gra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3CD1251-08F4-4F69-9F21-E001A50A63C6}" type="datetimeFigureOut">
              <a:rPr lang="en-US" smtClean="0"/>
              <a:t>10/1/2026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A002C81-1A4C-47A9-9C2F-14EC8E3ADC30}" type="slidenum">
              <a:rPr lang="en-US" smtClean="0"/>
              <a:t>‹#›</a:t>
            </a:fld>
            <a:endParaRPr lang="en-US"/>
          </a:p>
        </p:txBody>
      </p:sp>
    </p:spTree>
    <p:extLst>
      <p:ext uri="{BB962C8B-B14F-4D97-AF65-F5344CB8AC3E}">
        <p14:creationId xmlns:p14="http://schemas.microsoft.com/office/powerpoint/2010/main" val="18742540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github.com/Gopal21236/" TargetMode="External"/><Relationship Id="rId2" Type="http://schemas.openxmlformats.org/officeDocument/2006/relationships/hyperlink" Target="https://www.linkedin.com/in/gopalakrishnankumar-a73301110/" TargetMode="External"/><Relationship Id="rId1" Type="http://schemas.openxmlformats.org/officeDocument/2006/relationships/slideLayout" Target="../slideLayouts/slideLayout1.xml"/><Relationship Id="rId4" Type="http://schemas.openxmlformats.org/officeDocument/2006/relationships/hyperlink" Target="https://www.kaggle.com/gopalkk2" TargetMode="External"/></Relationships>
</file>

<file path=ppt/slides/_rels/slide2.xml.rels><?xml version="1.0" encoding="UTF-8" standalone="yes"?>
<Relationships xmlns="http://schemas.openxmlformats.org/package/2006/relationships"><Relationship Id="rId2" Type="http://schemas.openxmlformats.org/officeDocument/2006/relationships/hyperlink" Target="https://colab.research.google.com/drive/1pIJcUXCMNKPLGby7s2D7Z6-j7bcxTsvc?usp=sharing"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b="1" dirty="0"/>
              <a:t>FASTA/FASTQ Parser and Sequence Analysis in Python</a:t>
            </a:r>
            <a:endParaRPr lang="en-US" dirty="0"/>
          </a:p>
        </p:txBody>
      </p:sp>
      <p:sp>
        <p:nvSpPr>
          <p:cNvPr id="4" name="Subtitle 2"/>
          <p:cNvSpPr>
            <a:spLocks noGrp="1"/>
          </p:cNvSpPr>
          <p:nvPr>
            <p:ph type="subTitle" idx="1"/>
          </p:nvPr>
        </p:nvSpPr>
        <p:spPr>
          <a:xfrm>
            <a:off x="1524000" y="3509963"/>
            <a:ext cx="9144000" cy="1655762"/>
          </a:xfrm>
        </p:spPr>
        <p:txBody>
          <a:bodyPr/>
          <a:lstStyle/>
          <a:p>
            <a:r>
              <a:rPr lang="en-US" b="1" dirty="0" smtClean="0"/>
              <a:t>By </a:t>
            </a:r>
            <a:r>
              <a:rPr lang="en-US" b="1" dirty="0" err="1" smtClean="0"/>
              <a:t>Gopalakrishnan</a:t>
            </a:r>
            <a:r>
              <a:rPr lang="en-US" b="1" dirty="0" smtClean="0"/>
              <a:t> Kumar, </a:t>
            </a:r>
            <a:r>
              <a:rPr lang="en-US" b="1" dirty="0" err="1" smtClean="0"/>
              <a:t>MTech</a:t>
            </a:r>
            <a:r>
              <a:rPr lang="en-US" b="1" dirty="0" smtClean="0"/>
              <a:t> IIT-Bombay,</a:t>
            </a:r>
          </a:p>
          <a:p>
            <a:r>
              <a:rPr lang="en-US" b="1" dirty="0" smtClean="0"/>
              <a:t>Consultant Data Scientist</a:t>
            </a:r>
            <a:endParaRPr lang="en-US" b="1" dirty="0"/>
          </a:p>
        </p:txBody>
      </p:sp>
      <p:sp>
        <p:nvSpPr>
          <p:cNvPr id="5" name="Rectangle 4"/>
          <p:cNvSpPr/>
          <p:nvPr/>
        </p:nvSpPr>
        <p:spPr>
          <a:xfrm>
            <a:off x="2355273" y="4519136"/>
            <a:ext cx="6096000" cy="1477328"/>
          </a:xfrm>
          <a:prstGeom prst="rect">
            <a:avLst/>
          </a:prstGeom>
        </p:spPr>
        <p:txBody>
          <a:bodyPr>
            <a:spAutoFit/>
          </a:bodyPr>
          <a:lstStyle/>
          <a:p>
            <a:r>
              <a:rPr lang="en-US" dirty="0" smtClean="0">
                <a:solidFill>
                  <a:srgbClr val="0D0D0D"/>
                </a:solidFill>
                <a:latin typeface="CIDFont+F1"/>
              </a:rPr>
              <a:t>LinkedIn: Profile Link : </a:t>
            </a:r>
            <a:r>
              <a:rPr lang="en-US" dirty="0" smtClean="0">
                <a:solidFill>
                  <a:srgbClr val="0D0D0D"/>
                </a:solidFill>
                <a:latin typeface="CIDFont+F1"/>
                <a:hlinkClick r:id="rId2"/>
              </a:rPr>
              <a:t>https://www.linkedin.com/in/gopalakrishnankumar-a73301110/</a:t>
            </a:r>
            <a:endParaRPr lang="en-US" dirty="0" smtClean="0">
              <a:solidFill>
                <a:srgbClr val="0D0D0D"/>
              </a:solidFill>
              <a:latin typeface="CIDFont+F1"/>
            </a:endParaRPr>
          </a:p>
          <a:p>
            <a:endParaRPr lang="en-US" dirty="0" smtClean="0">
              <a:solidFill>
                <a:srgbClr val="0D0D0D"/>
              </a:solidFill>
              <a:latin typeface="CIDFont+F1"/>
            </a:endParaRPr>
          </a:p>
          <a:p>
            <a:r>
              <a:rPr lang="en-US" dirty="0" smtClean="0">
                <a:solidFill>
                  <a:srgbClr val="0D0D0D"/>
                </a:solidFill>
                <a:latin typeface="CIDFont+F1"/>
                <a:hlinkClick r:id="rId3"/>
              </a:rPr>
              <a:t>Github:</a:t>
            </a:r>
            <a:r>
              <a:rPr lang="en-US" dirty="0">
                <a:solidFill>
                  <a:srgbClr val="0D0D0D"/>
                </a:solidFill>
                <a:latin typeface="CIDFont+F1"/>
                <a:hlinkClick r:id="rId3"/>
              </a:rPr>
              <a:t>https://github.com/Gopal21236/</a:t>
            </a:r>
            <a:endParaRPr lang="en-US" dirty="0">
              <a:solidFill>
                <a:srgbClr val="0D0D0D"/>
              </a:solidFill>
              <a:latin typeface="CIDFont+F1"/>
            </a:endParaRPr>
          </a:p>
        </p:txBody>
      </p:sp>
      <p:sp>
        <p:nvSpPr>
          <p:cNvPr id="6" name="TextBox 5"/>
          <p:cNvSpPr txBox="1"/>
          <p:nvPr/>
        </p:nvSpPr>
        <p:spPr>
          <a:xfrm>
            <a:off x="2355273" y="6065737"/>
            <a:ext cx="6150280" cy="707886"/>
          </a:xfrm>
          <a:prstGeom prst="rect">
            <a:avLst/>
          </a:prstGeom>
          <a:noFill/>
        </p:spPr>
        <p:txBody>
          <a:bodyPr wrap="square" rtlCol="0">
            <a:spAutoFit/>
          </a:bodyPr>
          <a:lstStyle/>
          <a:p>
            <a:r>
              <a:rPr lang="en-US" sz="2000" dirty="0" err="1" smtClean="0"/>
              <a:t>Kaggle</a:t>
            </a:r>
            <a:r>
              <a:rPr lang="en-US" sz="2000" dirty="0" smtClean="0"/>
              <a:t> URL- </a:t>
            </a:r>
            <a:r>
              <a:rPr lang="en-US" sz="2000" dirty="0" smtClean="0">
                <a:hlinkClick r:id="rId4"/>
              </a:rPr>
              <a:t>https://www.kaggle.com/gopalkk2</a:t>
            </a:r>
            <a:endParaRPr lang="en-US" sz="2000" dirty="0" smtClean="0"/>
          </a:p>
          <a:p>
            <a:endParaRPr lang="en-US" sz="2000" dirty="0"/>
          </a:p>
        </p:txBody>
      </p:sp>
    </p:spTree>
    <p:extLst>
      <p:ext uri="{BB962C8B-B14F-4D97-AF65-F5344CB8AC3E}">
        <p14:creationId xmlns:p14="http://schemas.microsoft.com/office/powerpoint/2010/main" val="27684678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Google Colab URL</a:t>
            </a:r>
            <a:endParaRPr lang="en-US" b="1" dirty="0"/>
          </a:p>
        </p:txBody>
      </p:sp>
      <p:sp>
        <p:nvSpPr>
          <p:cNvPr id="3" name="Content Placeholder 2"/>
          <p:cNvSpPr>
            <a:spLocks noGrp="1"/>
          </p:cNvSpPr>
          <p:nvPr>
            <p:ph idx="1"/>
          </p:nvPr>
        </p:nvSpPr>
        <p:spPr/>
        <p:txBody>
          <a:bodyPr/>
          <a:lstStyle/>
          <a:p>
            <a:r>
              <a:rPr lang="en-US" dirty="0" smtClean="0">
                <a:hlinkClick r:id="rId2"/>
              </a:rPr>
              <a:t>https://colab.research.google.com/drive/1pIJcUXCMNKPLGby7s2D7Z6-j7bcxTsvc?usp=sharing</a:t>
            </a:r>
            <a:endParaRPr lang="en-US" dirty="0" smtClean="0"/>
          </a:p>
          <a:p>
            <a:pPr marL="0" indent="0">
              <a:buNone/>
            </a:pPr>
            <a:endParaRPr lang="en-US" dirty="0"/>
          </a:p>
        </p:txBody>
      </p:sp>
    </p:spTree>
    <p:extLst>
      <p:ext uri="{BB962C8B-B14F-4D97-AF65-F5344CB8AC3E}">
        <p14:creationId xmlns:p14="http://schemas.microsoft.com/office/powerpoint/2010/main" val="10986448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Abstract</a:t>
            </a:r>
          </a:p>
        </p:txBody>
      </p:sp>
      <p:sp>
        <p:nvSpPr>
          <p:cNvPr id="3" name="Content Placeholder 2"/>
          <p:cNvSpPr>
            <a:spLocks noGrp="1"/>
          </p:cNvSpPr>
          <p:nvPr>
            <p:ph idx="1"/>
          </p:nvPr>
        </p:nvSpPr>
        <p:spPr/>
        <p:txBody>
          <a:bodyPr/>
          <a:lstStyle/>
          <a:p>
            <a:r>
              <a:rPr lang="en-US" dirty="0"/>
              <a:t>This project develops a Python-based FASTA/FASTQ parser for processing synthetic biological sequence files. The system automatically identifies FASTA or FASTQ input, extracts sequence identifiers, descriptions, nucleotide sequences and, for FASTQ files, quality strings. It then performs sequence validation, length analysis, nucleotide composition, GC-content calculation and basic quality-score analysis. Visualization is performed using histogram, bar-chart, stacked-bar-chart and a combined stacked-bar plus GC-content plot. The project demonstrates a practical end-to-end bioinformatics workflow from sequence-file input to interpretable analytical output.</a:t>
            </a:r>
          </a:p>
          <a:p>
            <a:endParaRPr lang="en-US" dirty="0"/>
          </a:p>
        </p:txBody>
      </p:sp>
    </p:spTree>
    <p:extLst>
      <p:ext uri="{BB962C8B-B14F-4D97-AF65-F5344CB8AC3E}">
        <p14:creationId xmlns:p14="http://schemas.microsoft.com/office/powerpoint/2010/main" val="21192955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Introduction</a:t>
            </a:r>
          </a:p>
        </p:txBody>
      </p:sp>
      <p:sp>
        <p:nvSpPr>
          <p:cNvPr id="3" name="Content Placeholder 2"/>
          <p:cNvSpPr>
            <a:spLocks noGrp="1"/>
          </p:cNvSpPr>
          <p:nvPr>
            <p:ph idx="1"/>
          </p:nvPr>
        </p:nvSpPr>
        <p:spPr/>
        <p:txBody>
          <a:bodyPr/>
          <a:lstStyle/>
          <a:p>
            <a:r>
              <a:rPr lang="en-US" dirty="0"/>
              <a:t>FASTA and FASTQ are widely used text-based formats for storing biological sequence data. FASTA is commonly used for nucleotide or protein sequences, while FASTQ additionally stores per-base sequencing quality information. A parser converts these structured text records into Python objects that can be analyzed computationally. In this project, synthetic DNA sequences are used so that the complete workflow can be reproduced without requiring confidential or real sequencing data.</a:t>
            </a:r>
          </a:p>
          <a:p>
            <a:endParaRPr lang="en-US" dirty="0"/>
          </a:p>
        </p:txBody>
      </p:sp>
    </p:spTree>
    <p:extLst>
      <p:ext uri="{BB962C8B-B14F-4D97-AF65-F5344CB8AC3E}">
        <p14:creationId xmlns:p14="http://schemas.microsoft.com/office/powerpoint/2010/main" val="34324603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Objectives</a:t>
            </a:r>
          </a:p>
        </p:txBody>
      </p:sp>
      <p:sp>
        <p:nvSpPr>
          <p:cNvPr id="3" name="Content Placeholder 2"/>
          <p:cNvSpPr>
            <a:spLocks noGrp="1"/>
          </p:cNvSpPr>
          <p:nvPr>
            <p:ph idx="1"/>
          </p:nvPr>
        </p:nvSpPr>
        <p:spPr/>
        <p:txBody>
          <a:bodyPr>
            <a:normAutofit fontScale="92500" lnSpcReduction="20000"/>
          </a:bodyPr>
          <a:lstStyle/>
          <a:p>
            <a:pPr lvl="0"/>
            <a:r>
              <a:rPr lang="en-US" dirty="0"/>
              <a:t>Build a Python parser capable of reading FASTA and FASTQ files.</a:t>
            </a:r>
          </a:p>
          <a:p>
            <a:pPr lvl="0"/>
            <a:r>
              <a:rPr lang="en-US" dirty="0"/>
              <a:t>Automatically detect the input sequence-file format.</a:t>
            </a:r>
          </a:p>
          <a:p>
            <a:pPr lvl="0"/>
            <a:r>
              <a:rPr lang="en-US" dirty="0"/>
              <a:t>Extract sequence IDs, descriptions, sequences and FASTQ quality strings.</a:t>
            </a:r>
          </a:p>
          <a:p>
            <a:pPr lvl="0"/>
            <a:r>
              <a:rPr lang="en-US" dirty="0"/>
              <a:t>Validate DNA sequences and identify invalid characters.</a:t>
            </a:r>
          </a:p>
          <a:p>
            <a:pPr lvl="0"/>
            <a:r>
              <a:rPr lang="en-US" dirty="0"/>
              <a:t>Calculate sequence length, total bases, minimum, maximum and average length.</a:t>
            </a:r>
          </a:p>
          <a:p>
            <a:pPr lvl="0"/>
            <a:r>
              <a:rPr lang="en-US" dirty="0"/>
              <a:t>Calculate A, C, G and T nucleotide composition and GC content.</a:t>
            </a:r>
          </a:p>
          <a:p>
            <a:pPr lvl="0"/>
            <a:r>
              <a:rPr lang="en-US" dirty="0"/>
              <a:t>Convert FASTQ quality characters to </a:t>
            </a:r>
            <a:r>
              <a:rPr lang="en-US" dirty="0" err="1"/>
              <a:t>Phred</a:t>
            </a:r>
            <a:r>
              <a:rPr lang="en-US" dirty="0"/>
              <a:t> scores.</a:t>
            </a:r>
          </a:p>
          <a:p>
            <a:pPr lvl="0"/>
            <a:r>
              <a:rPr lang="en-US" dirty="0"/>
              <a:t>Generate synthetic FASTA and FASTQ datasets.</a:t>
            </a:r>
          </a:p>
          <a:p>
            <a:pPr lvl="0"/>
            <a:r>
              <a:rPr lang="en-US" dirty="0"/>
              <a:t>Create histogram, bar-chart and stacked-bar visualizations.</a:t>
            </a:r>
          </a:p>
          <a:p>
            <a:pPr lvl="0"/>
            <a:r>
              <a:rPr lang="en-US" dirty="0"/>
              <a:t>Create a combined stacked-bar chart with a GC-content line.</a:t>
            </a:r>
          </a:p>
          <a:p>
            <a:endParaRPr lang="en-US" dirty="0"/>
          </a:p>
        </p:txBody>
      </p:sp>
    </p:spTree>
    <p:extLst>
      <p:ext uri="{BB962C8B-B14F-4D97-AF65-F5344CB8AC3E}">
        <p14:creationId xmlns:p14="http://schemas.microsoft.com/office/powerpoint/2010/main" val="22442466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FASTA Format</a:t>
            </a:r>
          </a:p>
        </p:txBody>
      </p:sp>
      <p:sp>
        <p:nvSpPr>
          <p:cNvPr id="3" name="Content Placeholder 2"/>
          <p:cNvSpPr>
            <a:spLocks noGrp="1"/>
          </p:cNvSpPr>
          <p:nvPr>
            <p:ph idx="1"/>
          </p:nvPr>
        </p:nvSpPr>
        <p:spPr/>
        <p:txBody>
          <a:bodyPr/>
          <a:lstStyle/>
          <a:p>
            <a:r>
              <a:rPr lang="en-US" dirty="0"/>
              <a:t>A FASTA record begins with a greater-than symbol (&gt;) followed by an identifier and optional description. The following lines contain the sequence. A sequence may span multiple lines.</a:t>
            </a:r>
          </a:p>
          <a:p>
            <a:r>
              <a:rPr lang="en-US" b="1" i="1" dirty="0"/>
              <a:t>&gt;SEQ001 Human_Gene_1</a:t>
            </a:r>
            <a:br>
              <a:rPr lang="en-US" b="1" i="1" dirty="0"/>
            </a:br>
            <a:r>
              <a:rPr lang="en-US" b="1" i="1" dirty="0"/>
              <a:t>ATGCGTACGTAGCTAGCTAGCTAGCTAG</a:t>
            </a:r>
          </a:p>
          <a:p>
            <a:endParaRPr lang="en-US" dirty="0"/>
          </a:p>
        </p:txBody>
      </p:sp>
    </p:spTree>
    <p:extLst>
      <p:ext uri="{BB962C8B-B14F-4D97-AF65-F5344CB8AC3E}">
        <p14:creationId xmlns:p14="http://schemas.microsoft.com/office/powerpoint/2010/main" val="23858738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FASTQ Format</a:t>
            </a:r>
          </a:p>
        </p:txBody>
      </p:sp>
      <p:sp>
        <p:nvSpPr>
          <p:cNvPr id="3" name="Content Placeholder 2"/>
          <p:cNvSpPr>
            <a:spLocks noGrp="1"/>
          </p:cNvSpPr>
          <p:nvPr>
            <p:ph idx="1"/>
          </p:nvPr>
        </p:nvSpPr>
        <p:spPr/>
        <p:txBody>
          <a:bodyPr/>
          <a:lstStyle/>
          <a:p>
            <a:r>
              <a:rPr lang="en-US" dirty="0"/>
              <a:t>A FASTQ record normally contains four logical lines: a header beginning with @, the nucleotide sequence, a separator line beginning with +, and a quality string. The quality string contains one quality character per base</a:t>
            </a:r>
            <a:r>
              <a:rPr lang="en-US" dirty="0" smtClean="0"/>
              <a:t>.</a:t>
            </a:r>
          </a:p>
          <a:p>
            <a:r>
              <a:rPr lang="en-US" b="1" i="1" dirty="0"/>
              <a:t>@READ001 </a:t>
            </a:r>
            <a:r>
              <a:rPr lang="en-US" b="1" i="1" dirty="0" err="1"/>
              <a:t>Sample_A</a:t>
            </a:r>
            <a:r>
              <a:rPr lang="en-US" b="1" i="1" dirty="0"/>
              <a:t/>
            </a:r>
            <a:br>
              <a:rPr lang="en-US" b="1" i="1" dirty="0"/>
            </a:br>
            <a:r>
              <a:rPr lang="en-US" b="1" i="1" dirty="0"/>
              <a:t>ATGCGTACGTAGCTAG</a:t>
            </a:r>
            <a:br>
              <a:rPr lang="en-US" b="1" i="1" dirty="0"/>
            </a:br>
            <a:r>
              <a:rPr lang="en-US" b="1" i="1" dirty="0"/>
              <a:t>+</a:t>
            </a:r>
            <a:br>
              <a:rPr lang="en-US" b="1" i="1" dirty="0"/>
            </a:br>
            <a:r>
              <a:rPr lang="en-US" b="1" i="1" dirty="0"/>
              <a:t>IIIIIIIIIIIIIIII</a:t>
            </a:r>
          </a:p>
          <a:p>
            <a:endParaRPr lang="en-US" dirty="0"/>
          </a:p>
          <a:p>
            <a:endParaRPr lang="en-US" dirty="0"/>
          </a:p>
        </p:txBody>
      </p:sp>
    </p:spTree>
    <p:extLst>
      <p:ext uri="{BB962C8B-B14F-4D97-AF65-F5344CB8AC3E}">
        <p14:creationId xmlns:p14="http://schemas.microsoft.com/office/powerpoint/2010/main" val="1126268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Synthetic Dataset</a:t>
            </a:r>
          </a:p>
        </p:txBody>
      </p:sp>
      <p:sp>
        <p:nvSpPr>
          <p:cNvPr id="3" name="Content Placeholder 2"/>
          <p:cNvSpPr>
            <a:spLocks noGrp="1"/>
          </p:cNvSpPr>
          <p:nvPr>
            <p:ph idx="1"/>
          </p:nvPr>
        </p:nvSpPr>
        <p:spPr/>
        <p:txBody>
          <a:bodyPr/>
          <a:lstStyle/>
          <a:p>
            <a:r>
              <a:rPr lang="en-US" dirty="0"/>
              <a:t>The project uses synthetic DNA sequences composed of A, C, G and T. A reproducible random seed can be used to generate a larger dataset, for example 50 or 100 sequences with lengths selected from a defined range. The generated records can be written to both FASTA and FASTQ files. Synthetic data are useful for testing parser logic, plotting and validation without depending on an external biological dataset.</a:t>
            </a:r>
          </a:p>
          <a:p>
            <a:endParaRPr lang="en-US" dirty="0"/>
          </a:p>
        </p:txBody>
      </p:sp>
      <p:graphicFrame>
        <p:nvGraphicFramePr>
          <p:cNvPr id="4" name="Table 3"/>
          <p:cNvGraphicFramePr>
            <a:graphicFrameLocks noGrp="1"/>
          </p:cNvGraphicFramePr>
          <p:nvPr>
            <p:extLst>
              <p:ext uri="{D42A27DB-BD31-4B8C-83A1-F6EECF244321}">
                <p14:modId xmlns:p14="http://schemas.microsoft.com/office/powerpoint/2010/main" val="918349789"/>
              </p:ext>
            </p:extLst>
          </p:nvPr>
        </p:nvGraphicFramePr>
        <p:xfrm>
          <a:off x="2191657" y="4630057"/>
          <a:ext cx="8069944" cy="2075545"/>
        </p:xfrm>
        <a:graphic>
          <a:graphicData uri="http://schemas.openxmlformats.org/drawingml/2006/table">
            <a:tbl>
              <a:tblPr firstRow="1" firstCol="1" bandRow="1">
                <a:tableStyleId>{5C22544A-7EE6-4342-B048-85BDC9FD1C3A}</a:tableStyleId>
              </a:tblPr>
              <a:tblGrid>
                <a:gridCol w="2017486">
                  <a:extLst>
                    <a:ext uri="{9D8B030D-6E8A-4147-A177-3AD203B41FA5}">
                      <a16:colId xmlns:a16="http://schemas.microsoft.com/office/drawing/2014/main" val="2181920027"/>
                    </a:ext>
                  </a:extLst>
                </a:gridCol>
                <a:gridCol w="2017486">
                  <a:extLst>
                    <a:ext uri="{9D8B030D-6E8A-4147-A177-3AD203B41FA5}">
                      <a16:colId xmlns:a16="http://schemas.microsoft.com/office/drawing/2014/main" val="425885839"/>
                    </a:ext>
                  </a:extLst>
                </a:gridCol>
                <a:gridCol w="2017486">
                  <a:extLst>
                    <a:ext uri="{9D8B030D-6E8A-4147-A177-3AD203B41FA5}">
                      <a16:colId xmlns:a16="http://schemas.microsoft.com/office/drawing/2014/main" val="3160332691"/>
                    </a:ext>
                  </a:extLst>
                </a:gridCol>
                <a:gridCol w="2017486">
                  <a:extLst>
                    <a:ext uri="{9D8B030D-6E8A-4147-A177-3AD203B41FA5}">
                      <a16:colId xmlns:a16="http://schemas.microsoft.com/office/drawing/2014/main" val="1102928587"/>
                    </a:ext>
                  </a:extLst>
                </a:gridCol>
              </a:tblGrid>
              <a:tr h="415109">
                <a:tc>
                  <a:txBody>
                    <a:bodyPr/>
                    <a:lstStyle/>
                    <a:p>
                      <a:pPr marL="0" marR="0">
                        <a:lnSpc>
                          <a:spcPct val="115000"/>
                        </a:lnSpc>
                        <a:spcBef>
                          <a:spcPts val="0"/>
                        </a:spcBef>
                        <a:spcAft>
                          <a:spcPts val="0"/>
                        </a:spcAft>
                      </a:pPr>
                      <a:r>
                        <a:rPr lang="en-US" sz="1050">
                          <a:effectLst/>
                        </a:rPr>
                        <a:t>Record</a:t>
                      </a:r>
                      <a:endParaRPr lang="en-US" sz="1050">
                        <a:effectLst/>
                        <a:latin typeface="Calibri" panose="020F0502020204030204" pitchFamily="34" charset="0"/>
                        <a:ea typeface="MS Mincho"/>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en-US" sz="1050">
                          <a:effectLst/>
                        </a:rPr>
                        <a:t>Format</a:t>
                      </a:r>
                      <a:endParaRPr lang="en-US" sz="1050">
                        <a:effectLst/>
                        <a:latin typeface="Calibri" panose="020F0502020204030204" pitchFamily="34" charset="0"/>
                        <a:ea typeface="MS Mincho"/>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en-US" sz="1050">
                          <a:effectLst/>
                        </a:rPr>
                        <a:t>Sequence</a:t>
                      </a:r>
                      <a:endParaRPr lang="en-US" sz="1050">
                        <a:effectLst/>
                        <a:latin typeface="Calibri" panose="020F0502020204030204" pitchFamily="34" charset="0"/>
                        <a:ea typeface="MS Mincho"/>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en-US" sz="1050">
                          <a:effectLst/>
                        </a:rPr>
                        <a:t>Purpose</a:t>
                      </a:r>
                      <a:endParaRPr lang="en-US" sz="1050">
                        <a:effectLst/>
                        <a:latin typeface="Calibri" panose="020F0502020204030204" pitchFamily="34" charset="0"/>
                        <a:ea typeface="MS Mincho"/>
                        <a:cs typeface="Times New Roman" panose="02020603050405020304" pitchFamily="18" charset="0"/>
                      </a:endParaRPr>
                    </a:p>
                  </a:txBody>
                  <a:tcPr marL="68580" marR="68580" marT="0" marB="0"/>
                </a:tc>
                <a:extLst>
                  <a:ext uri="{0D108BD9-81ED-4DB2-BD59-A6C34878D82A}">
                    <a16:rowId xmlns:a16="http://schemas.microsoft.com/office/drawing/2014/main" val="3319628499"/>
                  </a:ext>
                </a:extLst>
              </a:tr>
              <a:tr h="415109">
                <a:tc>
                  <a:txBody>
                    <a:bodyPr/>
                    <a:lstStyle/>
                    <a:p>
                      <a:pPr marL="0" marR="0">
                        <a:lnSpc>
                          <a:spcPct val="115000"/>
                        </a:lnSpc>
                        <a:spcBef>
                          <a:spcPts val="0"/>
                        </a:spcBef>
                        <a:spcAft>
                          <a:spcPts val="0"/>
                        </a:spcAft>
                      </a:pPr>
                      <a:r>
                        <a:rPr lang="en-US" sz="1050">
                          <a:effectLst/>
                        </a:rPr>
                        <a:t>SEQ001</a:t>
                      </a:r>
                      <a:endParaRPr lang="en-US" sz="1050">
                        <a:effectLst/>
                        <a:latin typeface="Calibri" panose="020F0502020204030204" pitchFamily="34" charset="0"/>
                        <a:ea typeface="MS Mincho"/>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en-US" sz="1050">
                          <a:effectLst/>
                        </a:rPr>
                        <a:t>FASTA</a:t>
                      </a:r>
                      <a:endParaRPr lang="en-US" sz="1050">
                        <a:effectLst/>
                        <a:latin typeface="Calibri" panose="020F0502020204030204" pitchFamily="34" charset="0"/>
                        <a:ea typeface="MS Mincho"/>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en-US" sz="1050">
                          <a:effectLst/>
                        </a:rPr>
                        <a:t>ATGCGTACGTAGCTAG...</a:t>
                      </a:r>
                      <a:endParaRPr lang="en-US" sz="1050">
                        <a:effectLst/>
                        <a:latin typeface="Calibri" panose="020F0502020204030204" pitchFamily="34" charset="0"/>
                        <a:ea typeface="MS Mincho"/>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en-US" sz="1050">
                          <a:effectLst/>
                        </a:rPr>
                        <a:t>Synthetic gene</a:t>
                      </a:r>
                      <a:endParaRPr lang="en-US" sz="1050">
                        <a:effectLst/>
                        <a:latin typeface="Calibri" panose="020F0502020204030204" pitchFamily="34" charset="0"/>
                        <a:ea typeface="MS Mincho"/>
                        <a:cs typeface="Times New Roman" panose="02020603050405020304" pitchFamily="18" charset="0"/>
                      </a:endParaRPr>
                    </a:p>
                  </a:txBody>
                  <a:tcPr marL="68580" marR="68580" marT="0" marB="0"/>
                </a:tc>
                <a:extLst>
                  <a:ext uri="{0D108BD9-81ED-4DB2-BD59-A6C34878D82A}">
                    <a16:rowId xmlns:a16="http://schemas.microsoft.com/office/drawing/2014/main" val="2625012856"/>
                  </a:ext>
                </a:extLst>
              </a:tr>
              <a:tr h="415109">
                <a:tc>
                  <a:txBody>
                    <a:bodyPr/>
                    <a:lstStyle/>
                    <a:p>
                      <a:pPr marL="0" marR="0">
                        <a:lnSpc>
                          <a:spcPct val="115000"/>
                        </a:lnSpc>
                        <a:spcBef>
                          <a:spcPts val="0"/>
                        </a:spcBef>
                        <a:spcAft>
                          <a:spcPts val="0"/>
                        </a:spcAft>
                      </a:pPr>
                      <a:r>
                        <a:rPr lang="en-US" sz="1050">
                          <a:effectLst/>
                        </a:rPr>
                        <a:t>SEQ002</a:t>
                      </a:r>
                      <a:endParaRPr lang="en-US" sz="1050">
                        <a:effectLst/>
                        <a:latin typeface="Calibri" panose="020F0502020204030204" pitchFamily="34" charset="0"/>
                        <a:ea typeface="MS Mincho"/>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en-US" sz="1050">
                          <a:effectLst/>
                        </a:rPr>
                        <a:t>FASTA</a:t>
                      </a:r>
                      <a:endParaRPr lang="en-US" sz="1050">
                        <a:effectLst/>
                        <a:latin typeface="Calibri" panose="020F0502020204030204" pitchFamily="34" charset="0"/>
                        <a:ea typeface="MS Mincho"/>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en-US" sz="1050">
                          <a:effectLst/>
                        </a:rPr>
                        <a:t>ATGCCGATCGATCGTA...</a:t>
                      </a:r>
                      <a:endParaRPr lang="en-US" sz="1050">
                        <a:effectLst/>
                        <a:latin typeface="Calibri" panose="020F0502020204030204" pitchFamily="34" charset="0"/>
                        <a:ea typeface="MS Mincho"/>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en-US" sz="1050">
                          <a:effectLst/>
                        </a:rPr>
                        <a:t>Synthetic gene</a:t>
                      </a:r>
                      <a:endParaRPr lang="en-US" sz="1050">
                        <a:effectLst/>
                        <a:latin typeface="Calibri" panose="020F0502020204030204" pitchFamily="34" charset="0"/>
                        <a:ea typeface="MS Mincho"/>
                        <a:cs typeface="Times New Roman" panose="02020603050405020304" pitchFamily="18" charset="0"/>
                      </a:endParaRPr>
                    </a:p>
                  </a:txBody>
                  <a:tcPr marL="68580" marR="68580" marT="0" marB="0"/>
                </a:tc>
                <a:extLst>
                  <a:ext uri="{0D108BD9-81ED-4DB2-BD59-A6C34878D82A}">
                    <a16:rowId xmlns:a16="http://schemas.microsoft.com/office/drawing/2014/main" val="4281460330"/>
                  </a:ext>
                </a:extLst>
              </a:tr>
              <a:tr h="415109">
                <a:tc>
                  <a:txBody>
                    <a:bodyPr/>
                    <a:lstStyle/>
                    <a:p>
                      <a:pPr marL="0" marR="0">
                        <a:lnSpc>
                          <a:spcPct val="115000"/>
                        </a:lnSpc>
                        <a:spcBef>
                          <a:spcPts val="0"/>
                        </a:spcBef>
                        <a:spcAft>
                          <a:spcPts val="0"/>
                        </a:spcAft>
                      </a:pPr>
                      <a:r>
                        <a:rPr lang="en-US" sz="1050">
                          <a:effectLst/>
                        </a:rPr>
                        <a:t>SEQ003</a:t>
                      </a:r>
                      <a:endParaRPr lang="en-US" sz="1050">
                        <a:effectLst/>
                        <a:latin typeface="Calibri" panose="020F0502020204030204" pitchFamily="34" charset="0"/>
                        <a:ea typeface="MS Mincho"/>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en-US" sz="1050" dirty="0">
                          <a:effectLst/>
                        </a:rPr>
                        <a:t>FASTA</a:t>
                      </a:r>
                      <a:endParaRPr lang="en-US" sz="1050" dirty="0">
                        <a:effectLst/>
                        <a:latin typeface="Calibri" panose="020F0502020204030204" pitchFamily="34" charset="0"/>
                        <a:ea typeface="MS Mincho"/>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en-US" sz="1050">
                          <a:effectLst/>
                        </a:rPr>
                        <a:t>ATGAAACCCGGGTTTA...</a:t>
                      </a:r>
                      <a:endParaRPr lang="en-US" sz="1050">
                        <a:effectLst/>
                        <a:latin typeface="Calibri" panose="020F0502020204030204" pitchFamily="34" charset="0"/>
                        <a:ea typeface="MS Mincho"/>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en-US" sz="1050">
                          <a:effectLst/>
                        </a:rPr>
                        <a:t>Synthetic gene</a:t>
                      </a:r>
                      <a:endParaRPr lang="en-US" sz="1050">
                        <a:effectLst/>
                        <a:latin typeface="Calibri" panose="020F0502020204030204" pitchFamily="34" charset="0"/>
                        <a:ea typeface="MS Mincho"/>
                        <a:cs typeface="Times New Roman" panose="02020603050405020304" pitchFamily="18" charset="0"/>
                      </a:endParaRPr>
                    </a:p>
                  </a:txBody>
                  <a:tcPr marL="68580" marR="68580" marT="0" marB="0"/>
                </a:tc>
                <a:extLst>
                  <a:ext uri="{0D108BD9-81ED-4DB2-BD59-A6C34878D82A}">
                    <a16:rowId xmlns:a16="http://schemas.microsoft.com/office/drawing/2014/main" val="3593402259"/>
                  </a:ext>
                </a:extLst>
              </a:tr>
              <a:tr h="415109">
                <a:tc>
                  <a:txBody>
                    <a:bodyPr/>
                    <a:lstStyle/>
                    <a:p>
                      <a:pPr marL="0" marR="0">
                        <a:lnSpc>
                          <a:spcPct val="115000"/>
                        </a:lnSpc>
                        <a:spcBef>
                          <a:spcPts val="0"/>
                        </a:spcBef>
                        <a:spcAft>
                          <a:spcPts val="0"/>
                        </a:spcAft>
                      </a:pPr>
                      <a:r>
                        <a:rPr lang="en-US" sz="1050">
                          <a:effectLst/>
                        </a:rPr>
                        <a:t>READ001</a:t>
                      </a:r>
                      <a:endParaRPr lang="en-US" sz="1050">
                        <a:effectLst/>
                        <a:latin typeface="Calibri" panose="020F0502020204030204" pitchFamily="34" charset="0"/>
                        <a:ea typeface="MS Mincho"/>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en-US" sz="1050" dirty="0">
                          <a:effectLst/>
                        </a:rPr>
                        <a:t>FASTQ</a:t>
                      </a:r>
                      <a:endParaRPr lang="en-US" sz="1050" dirty="0">
                        <a:effectLst/>
                        <a:latin typeface="Calibri" panose="020F0502020204030204" pitchFamily="34" charset="0"/>
                        <a:ea typeface="MS Mincho"/>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en-US" sz="1050">
                          <a:effectLst/>
                        </a:rPr>
                        <a:t>ATGCGTACGTAGCTAG</a:t>
                      </a:r>
                      <a:endParaRPr lang="en-US" sz="1050">
                        <a:effectLst/>
                        <a:latin typeface="Calibri" panose="020F0502020204030204" pitchFamily="34" charset="0"/>
                        <a:ea typeface="MS Mincho"/>
                        <a:cs typeface="Times New Roman" panose="02020603050405020304" pitchFamily="18" charset="0"/>
                      </a:endParaRPr>
                    </a:p>
                  </a:txBody>
                  <a:tcPr marL="68580" marR="68580" marT="0" marB="0"/>
                </a:tc>
                <a:tc>
                  <a:txBody>
                    <a:bodyPr/>
                    <a:lstStyle/>
                    <a:p>
                      <a:pPr marL="0" marR="0">
                        <a:lnSpc>
                          <a:spcPct val="115000"/>
                        </a:lnSpc>
                        <a:spcBef>
                          <a:spcPts val="0"/>
                        </a:spcBef>
                        <a:spcAft>
                          <a:spcPts val="0"/>
                        </a:spcAft>
                      </a:pPr>
                      <a:r>
                        <a:rPr lang="en-US" sz="1050" dirty="0">
                          <a:effectLst/>
                        </a:rPr>
                        <a:t>Synthetic read</a:t>
                      </a:r>
                      <a:endParaRPr lang="en-US" sz="1050" dirty="0">
                        <a:effectLst/>
                        <a:latin typeface="Calibri" panose="020F0502020204030204" pitchFamily="34" charset="0"/>
                        <a:ea typeface="MS Mincho"/>
                        <a:cs typeface="Times New Roman" panose="02020603050405020304" pitchFamily="18" charset="0"/>
                      </a:endParaRPr>
                    </a:p>
                  </a:txBody>
                  <a:tcPr marL="68580" marR="68580" marT="0" marB="0"/>
                </a:tc>
                <a:extLst>
                  <a:ext uri="{0D108BD9-81ED-4DB2-BD59-A6C34878D82A}">
                    <a16:rowId xmlns:a16="http://schemas.microsoft.com/office/drawing/2014/main" val="1899746391"/>
                  </a:ext>
                </a:extLst>
              </a:tr>
            </a:tbl>
          </a:graphicData>
        </a:graphic>
      </p:graphicFrame>
    </p:spTree>
    <p:extLst>
      <p:ext uri="{BB962C8B-B14F-4D97-AF65-F5344CB8AC3E}">
        <p14:creationId xmlns:p14="http://schemas.microsoft.com/office/powerpoint/2010/main" val="15063468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System Workflow</a:t>
            </a:r>
          </a:p>
        </p:txBody>
      </p:sp>
      <p:sp>
        <p:nvSpPr>
          <p:cNvPr id="3" name="Content Placeholder 2"/>
          <p:cNvSpPr>
            <a:spLocks noGrp="1"/>
          </p:cNvSpPr>
          <p:nvPr>
            <p:ph idx="1"/>
          </p:nvPr>
        </p:nvSpPr>
        <p:spPr/>
        <p:txBody>
          <a:bodyPr/>
          <a:lstStyle/>
          <a:p>
            <a:r>
              <a:rPr lang="en-US" dirty="0"/>
              <a:t>Input file → format detection → parsing → sequence records → validation → statistics → nucleotide composition → GC content / quality analysis → visualization → interpretation.</a:t>
            </a:r>
          </a:p>
          <a:p>
            <a:endParaRPr lang="en-US" dirty="0"/>
          </a:p>
        </p:txBody>
      </p:sp>
    </p:spTree>
    <p:extLst>
      <p:ext uri="{BB962C8B-B14F-4D97-AF65-F5344CB8AC3E}">
        <p14:creationId xmlns:p14="http://schemas.microsoft.com/office/powerpoint/2010/main" val="6747877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Python Implementation</a:t>
            </a:r>
          </a:p>
        </p:txBody>
      </p:sp>
      <p:sp>
        <p:nvSpPr>
          <p:cNvPr id="3" name="Content Placeholder 2"/>
          <p:cNvSpPr>
            <a:spLocks noGrp="1"/>
          </p:cNvSpPr>
          <p:nvPr>
            <p:ph idx="1"/>
          </p:nvPr>
        </p:nvSpPr>
        <p:spPr/>
        <p:txBody>
          <a:bodyPr/>
          <a:lstStyle/>
          <a:p>
            <a:r>
              <a:rPr lang="en-US" dirty="0"/>
              <a:t>The core implementation uses Python's built-in file handling and </a:t>
            </a:r>
            <a:r>
              <a:rPr lang="en-US" dirty="0" err="1"/>
              <a:t>dataclass</a:t>
            </a:r>
            <a:r>
              <a:rPr lang="en-US" dirty="0"/>
              <a:t> support together with </a:t>
            </a:r>
            <a:r>
              <a:rPr lang="en-US" dirty="0" err="1"/>
              <a:t>collections.Counter</a:t>
            </a:r>
            <a:r>
              <a:rPr lang="en-US" dirty="0"/>
              <a:t> for nucleotide counts and Matplotlib for visualization. The following code provides a compact, self-contained implementation suitable for Google Colab or Jupyter.</a:t>
            </a:r>
          </a:p>
          <a:p>
            <a:endParaRPr lang="en-US" dirty="0" smtClean="0"/>
          </a:p>
          <a:p>
            <a:endParaRPr lang="en-US" dirty="0"/>
          </a:p>
        </p:txBody>
      </p:sp>
    </p:spTree>
    <p:extLst>
      <p:ext uri="{BB962C8B-B14F-4D97-AF65-F5344CB8AC3E}">
        <p14:creationId xmlns:p14="http://schemas.microsoft.com/office/powerpoint/2010/main" val="269810071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US" b="1" dirty="0" smtClean="0"/>
              <a:t/>
            </a:r>
            <a:br>
              <a:rPr lang="en-US" b="1" dirty="0" smtClean="0"/>
            </a:br>
            <a:r>
              <a:rPr lang="en-US" b="1" dirty="0" smtClean="0"/>
              <a:t>Sequence </a:t>
            </a:r>
            <a:r>
              <a:rPr lang="en-US" b="1" dirty="0"/>
              <a:t>Statistics</a:t>
            </a:r>
            <a:br>
              <a:rPr lang="en-US" b="1" dirty="0"/>
            </a:br>
            <a:endParaRPr lang="en-US" dirty="0"/>
          </a:p>
        </p:txBody>
      </p:sp>
      <p:sp>
        <p:nvSpPr>
          <p:cNvPr id="3" name="Content Placeholder 2"/>
          <p:cNvSpPr>
            <a:spLocks noGrp="1"/>
          </p:cNvSpPr>
          <p:nvPr>
            <p:ph idx="1"/>
          </p:nvPr>
        </p:nvSpPr>
        <p:spPr/>
        <p:txBody>
          <a:bodyPr/>
          <a:lstStyle/>
          <a:p>
            <a:r>
              <a:rPr lang="en-US" dirty="0"/>
              <a:t>For every parsed record, the sequence length is obtained directly from the number of bases. Across the dataset, total bases, minimum length, maximum length and average length can be calculated. These metrics provide an initial quality-control summary.</a:t>
            </a:r>
          </a:p>
          <a:p>
            <a:r>
              <a:rPr lang="en-US" dirty="0"/>
              <a:t>Average sequence length = Total number of bases / Number of sequences</a:t>
            </a:r>
          </a:p>
        </p:txBody>
      </p:sp>
    </p:spTree>
    <p:extLst>
      <p:ext uri="{BB962C8B-B14F-4D97-AF65-F5344CB8AC3E}">
        <p14:creationId xmlns:p14="http://schemas.microsoft.com/office/powerpoint/2010/main" val="174849126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Nucleotide Composition</a:t>
            </a:r>
          </a:p>
        </p:txBody>
      </p:sp>
      <p:sp>
        <p:nvSpPr>
          <p:cNvPr id="3" name="Content Placeholder 2"/>
          <p:cNvSpPr>
            <a:spLocks noGrp="1"/>
          </p:cNvSpPr>
          <p:nvPr>
            <p:ph idx="1"/>
          </p:nvPr>
        </p:nvSpPr>
        <p:spPr/>
        <p:txBody>
          <a:bodyPr/>
          <a:lstStyle/>
          <a:p>
            <a:r>
              <a:rPr lang="en-US" dirty="0"/>
              <a:t>The nucleotide composition counts the occurrences of A, C, G and T. The sum of these counts equals the sequence length for sequences containing only the four standard DNA bases.</a:t>
            </a:r>
          </a:p>
          <a:p>
            <a:r>
              <a:rPr lang="en-US" dirty="0"/>
              <a:t>Nucleotide composition is useful for detecting unusual sequence composition and for comparing different synthetic or experimental sequence groups.</a:t>
            </a:r>
          </a:p>
          <a:p>
            <a:endParaRPr lang="en-US" dirty="0"/>
          </a:p>
        </p:txBody>
      </p:sp>
    </p:spTree>
    <p:extLst>
      <p:ext uri="{BB962C8B-B14F-4D97-AF65-F5344CB8AC3E}">
        <p14:creationId xmlns:p14="http://schemas.microsoft.com/office/powerpoint/2010/main" val="266056187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 </a:t>
            </a:r>
            <a:r>
              <a:rPr lang="en-US" b="1" dirty="0"/>
              <a:t>GC Content</a:t>
            </a:r>
          </a:p>
        </p:txBody>
      </p:sp>
      <p:sp>
        <p:nvSpPr>
          <p:cNvPr id="3" name="Content Placeholder 2"/>
          <p:cNvSpPr>
            <a:spLocks noGrp="1"/>
          </p:cNvSpPr>
          <p:nvPr>
            <p:ph idx="1"/>
          </p:nvPr>
        </p:nvSpPr>
        <p:spPr/>
        <p:txBody>
          <a:bodyPr/>
          <a:lstStyle/>
          <a:p>
            <a:r>
              <a:rPr lang="en-US" dirty="0"/>
              <a:t>GC content is the percentage of bases that are either guanine (G) or cytosine (C).</a:t>
            </a:r>
          </a:p>
          <a:p>
            <a:r>
              <a:rPr lang="en-US" dirty="0"/>
              <a:t>GC% = ((Number of G + Number of C) / Total sequence length) × 100</a:t>
            </a:r>
          </a:p>
          <a:p>
            <a:endParaRPr lang="en-US" dirty="0"/>
          </a:p>
        </p:txBody>
      </p:sp>
    </p:spTree>
    <p:extLst>
      <p:ext uri="{BB962C8B-B14F-4D97-AF65-F5344CB8AC3E}">
        <p14:creationId xmlns:p14="http://schemas.microsoft.com/office/powerpoint/2010/main" val="228635124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FASTQ Quality Analysis</a:t>
            </a:r>
          </a:p>
        </p:txBody>
      </p:sp>
      <p:sp>
        <p:nvSpPr>
          <p:cNvPr id="3" name="Content Placeholder 2"/>
          <p:cNvSpPr>
            <a:spLocks noGrp="1"/>
          </p:cNvSpPr>
          <p:nvPr>
            <p:ph idx="1"/>
          </p:nvPr>
        </p:nvSpPr>
        <p:spPr/>
        <p:txBody>
          <a:bodyPr/>
          <a:lstStyle/>
          <a:p>
            <a:r>
              <a:rPr lang="en-US" dirty="0"/>
              <a:t>FASTQ quality characters can be converted to </a:t>
            </a:r>
            <a:r>
              <a:rPr lang="en-US" dirty="0" err="1"/>
              <a:t>Phred</a:t>
            </a:r>
            <a:r>
              <a:rPr lang="en-US" dirty="0"/>
              <a:t> scores using the standard Sanger/Illumina 33-style offset when that encoding is appropriate. For a quality character q, the </a:t>
            </a:r>
            <a:r>
              <a:rPr lang="en-US" dirty="0" err="1"/>
              <a:t>Phred</a:t>
            </a:r>
            <a:r>
              <a:rPr lang="en-US" dirty="0"/>
              <a:t> score is calculated as </a:t>
            </a:r>
            <a:r>
              <a:rPr lang="en-US" dirty="0" err="1"/>
              <a:t>ord</a:t>
            </a:r>
            <a:r>
              <a:rPr lang="en-US" dirty="0"/>
              <a:t>(q) − 33. Higher </a:t>
            </a:r>
            <a:r>
              <a:rPr lang="en-US" dirty="0" err="1"/>
              <a:t>Phred</a:t>
            </a:r>
            <a:r>
              <a:rPr lang="en-US" dirty="0"/>
              <a:t> scores represent higher base-call confidence.</a:t>
            </a:r>
          </a:p>
          <a:p>
            <a:endParaRPr lang="en-US" dirty="0"/>
          </a:p>
        </p:txBody>
      </p:sp>
    </p:spTree>
    <p:extLst>
      <p:ext uri="{BB962C8B-B14F-4D97-AF65-F5344CB8AC3E}">
        <p14:creationId xmlns:p14="http://schemas.microsoft.com/office/powerpoint/2010/main" val="106269596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Data Visualization </a:t>
            </a:r>
            <a:endParaRPr lang="en-US" b="1"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996178" y="1852449"/>
            <a:ext cx="6199644" cy="4297689"/>
          </a:xfrm>
        </p:spPr>
      </p:pic>
    </p:spTree>
    <p:extLst>
      <p:ext uri="{BB962C8B-B14F-4D97-AF65-F5344CB8AC3E}">
        <p14:creationId xmlns:p14="http://schemas.microsoft.com/office/powerpoint/2010/main" val="202370250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Histogram Plot</a:t>
            </a:r>
            <a:endParaRPr lang="en-US" b="1" dirty="0"/>
          </a:p>
        </p:txBody>
      </p:sp>
      <p:sp>
        <p:nvSpPr>
          <p:cNvPr id="3" name="Content Placeholder 2"/>
          <p:cNvSpPr>
            <a:spLocks noGrp="1"/>
          </p:cNvSpPr>
          <p:nvPr>
            <p:ph idx="1"/>
          </p:nvPr>
        </p:nvSpPr>
        <p:spPr/>
        <p:txBody>
          <a:bodyPr/>
          <a:lstStyle/>
          <a:p>
            <a:r>
              <a:rPr lang="en-US" dirty="0"/>
              <a:t>FASTQ quality characters can be converted to </a:t>
            </a:r>
            <a:r>
              <a:rPr lang="en-US" dirty="0" err="1"/>
              <a:t>Phred</a:t>
            </a:r>
            <a:r>
              <a:rPr lang="en-US" dirty="0"/>
              <a:t> scores using the standard Sanger/Illumina 33-style offset when that encoding is appropriate. For a quality character q, the </a:t>
            </a:r>
            <a:r>
              <a:rPr lang="en-US" dirty="0" err="1"/>
              <a:t>Phred</a:t>
            </a:r>
            <a:r>
              <a:rPr lang="en-US" dirty="0"/>
              <a:t> score is calculated as </a:t>
            </a:r>
            <a:r>
              <a:rPr lang="en-US" dirty="0" err="1"/>
              <a:t>ord</a:t>
            </a:r>
            <a:r>
              <a:rPr lang="en-US" dirty="0"/>
              <a:t>(q) − 33. Higher </a:t>
            </a:r>
            <a:r>
              <a:rPr lang="en-US" dirty="0" err="1"/>
              <a:t>Phred</a:t>
            </a:r>
            <a:r>
              <a:rPr lang="en-US" dirty="0"/>
              <a:t> scores represent higher base-call confidence.</a:t>
            </a:r>
          </a:p>
          <a:p>
            <a:endParaRPr lang="en-US" dirty="0"/>
          </a:p>
        </p:txBody>
      </p:sp>
    </p:spTree>
    <p:extLst>
      <p:ext uri="{BB962C8B-B14F-4D97-AF65-F5344CB8AC3E}">
        <p14:creationId xmlns:p14="http://schemas.microsoft.com/office/powerpoint/2010/main" val="61112913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Bar Chart Plot</a:t>
            </a:r>
          </a:p>
        </p:txBody>
      </p:sp>
      <p:sp>
        <p:nvSpPr>
          <p:cNvPr id="3" name="Content Placeholder 2"/>
          <p:cNvSpPr>
            <a:spLocks noGrp="1"/>
          </p:cNvSpPr>
          <p:nvPr>
            <p:ph idx="1"/>
          </p:nvPr>
        </p:nvSpPr>
        <p:spPr/>
        <p:txBody>
          <a:bodyPr/>
          <a:lstStyle/>
          <a:p>
            <a:r>
              <a:rPr lang="en-US" dirty="0"/>
              <a:t>A bar chart compares the length of individual sequence records. Sequence IDs are placed on the x-axis and sequence length in base pairs on the y-axis. This makes unusually short or long records easy to identify.</a:t>
            </a:r>
          </a:p>
          <a:p>
            <a:endParaRPr lang="en-US" dirty="0"/>
          </a:p>
        </p:txBody>
      </p:sp>
    </p:spTree>
    <p:extLst>
      <p:ext uri="{BB962C8B-B14F-4D97-AF65-F5344CB8AC3E}">
        <p14:creationId xmlns:p14="http://schemas.microsoft.com/office/powerpoint/2010/main" val="261646801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Data Visualization </a:t>
            </a:r>
            <a:endParaRPr lang="en-US" b="1"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448989" y="1825625"/>
            <a:ext cx="7294022" cy="4351338"/>
          </a:xfrm>
        </p:spPr>
      </p:pic>
    </p:spTree>
    <p:extLst>
      <p:ext uri="{BB962C8B-B14F-4D97-AF65-F5344CB8AC3E}">
        <p14:creationId xmlns:p14="http://schemas.microsoft.com/office/powerpoint/2010/main" val="215079391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Stacked Bar Chart</a:t>
            </a:r>
          </a:p>
        </p:txBody>
      </p:sp>
      <p:sp>
        <p:nvSpPr>
          <p:cNvPr id="3" name="Content Placeholder 2"/>
          <p:cNvSpPr>
            <a:spLocks noGrp="1"/>
          </p:cNvSpPr>
          <p:nvPr>
            <p:ph idx="1"/>
          </p:nvPr>
        </p:nvSpPr>
        <p:spPr/>
        <p:txBody>
          <a:bodyPr/>
          <a:lstStyle/>
          <a:p>
            <a:r>
              <a:rPr lang="en-US" dirty="0"/>
              <a:t>The stacked bar chart displays A, C, G and T counts within the same bar for every sequence. The full bar height represents the total sequence length, while its segments show the contribution of each nucleotide.</a:t>
            </a:r>
          </a:p>
          <a:p>
            <a:endParaRPr lang="en-US" dirty="0"/>
          </a:p>
        </p:txBody>
      </p:sp>
    </p:spTree>
    <p:extLst>
      <p:ext uri="{BB962C8B-B14F-4D97-AF65-F5344CB8AC3E}">
        <p14:creationId xmlns:p14="http://schemas.microsoft.com/office/powerpoint/2010/main" val="392901728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Data Visualization </a:t>
            </a:r>
            <a:endParaRPr lang="en-US" b="1" dirty="0"/>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711474" y="1825625"/>
            <a:ext cx="8769052" cy="4351338"/>
          </a:xfrm>
        </p:spPr>
      </p:pic>
    </p:spTree>
    <p:extLst>
      <p:ext uri="{BB962C8B-B14F-4D97-AF65-F5344CB8AC3E}">
        <p14:creationId xmlns:p14="http://schemas.microsoft.com/office/powerpoint/2010/main" val="150642604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Combined Stacked Bar Chart + GC%</a:t>
            </a:r>
          </a:p>
        </p:txBody>
      </p:sp>
      <p:sp>
        <p:nvSpPr>
          <p:cNvPr id="3" name="Content Placeholder 2"/>
          <p:cNvSpPr>
            <a:spLocks noGrp="1"/>
          </p:cNvSpPr>
          <p:nvPr>
            <p:ph idx="1"/>
          </p:nvPr>
        </p:nvSpPr>
        <p:spPr/>
        <p:txBody>
          <a:bodyPr/>
          <a:lstStyle/>
          <a:p>
            <a:r>
              <a:rPr lang="en-US" dirty="0"/>
              <a:t>The combined visualization places A/C/G/T counts in stacked bars and overlays a GC-percentage line using a secondary y-axis. This allows sequence size/composition and GC variation to be examined in one figure.</a:t>
            </a:r>
          </a:p>
          <a:p>
            <a:endParaRPr lang="en-US" dirty="0"/>
          </a:p>
        </p:txBody>
      </p:sp>
    </p:spTree>
    <p:extLst>
      <p:ext uri="{BB962C8B-B14F-4D97-AF65-F5344CB8AC3E}">
        <p14:creationId xmlns:p14="http://schemas.microsoft.com/office/powerpoint/2010/main" val="418389987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Expected Output</a:t>
            </a:r>
          </a:p>
        </p:txBody>
      </p:sp>
      <p:sp>
        <p:nvSpPr>
          <p:cNvPr id="3" name="Content Placeholder 2"/>
          <p:cNvSpPr>
            <a:spLocks noGrp="1"/>
          </p:cNvSpPr>
          <p:nvPr>
            <p:ph idx="1"/>
          </p:nvPr>
        </p:nvSpPr>
        <p:spPr/>
        <p:txBody>
          <a:bodyPr>
            <a:normAutofit fontScale="85000" lnSpcReduction="20000"/>
          </a:bodyPr>
          <a:lstStyle/>
          <a:p>
            <a:pPr lvl="0"/>
            <a:r>
              <a:rPr lang="en-US" dirty="0"/>
              <a:t>Parsed FASTA/FASTQ records with identifiers and sequences.</a:t>
            </a:r>
          </a:p>
          <a:p>
            <a:pPr lvl="0"/>
            <a:r>
              <a:rPr lang="en-US" dirty="0"/>
              <a:t>Number of sequences and total number of bases.</a:t>
            </a:r>
          </a:p>
          <a:p>
            <a:pPr lvl="0"/>
            <a:r>
              <a:rPr lang="en-US" dirty="0"/>
              <a:t>Minimum, maximum and average sequence lengths.</a:t>
            </a:r>
          </a:p>
          <a:p>
            <a:pPr lvl="0"/>
            <a:r>
              <a:rPr lang="en-US" dirty="0"/>
              <a:t>DNA validation results.</a:t>
            </a:r>
          </a:p>
          <a:p>
            <a:pPr lvl="0"/>
            <a:r>
              <a:rPr lang="en-US" dirty="0"/>
              <a:t>A/C/G/T nucleotide counts.</a:t>
            </a:r>
          </a:p>
          <a:p>
            <a:pPr lvl="0"/>
            <a:r>
              <a:rPr lang="en-US" dirty="0"/>
              <a:t>GC percentage for every sequence.</a:t>
            </a:r>
          </a:p>
          <a:p>
            <a:pPr lvl="0"/>
            <a:r>
              <a:rPr lang="en-US" dirty="0"/>
              <a:t>FASTQ mean quality where quality data are available.</a:t>
            </a:r>
          </a:p>
          <a:p>
            <a:pPr lvl="0"/>
            <a:r>
              <a:rPr lang="en-US" dirty="0"/>
              <a:t>Histogram of sequence lengths.</a:t>
            </a:r>
          </a:p>
          <a:p>
            <a:pPr lvl="0"/>
            <a:r>
              <a:rPr lang="en-US" dirty="0"/>
              <a:t>Bar chart of sequence lengths by record.</a:t>
            </a:r>
          </a:p>
          <a:p>
            <a:pPr lvl="0"/>
            <a:r>
              <a:rPr lang="en-US" dirty="0"/>
              <a:t>Stacked bar chart of nucleotide composition.</a:t>
            </a:r>
          </a:p>
          <a:p>
            <a:pPr lvl="0"/>
            <a:r>
              <a:rPr lang="en-US" dirty="0"/>
              <a:t>Combined stacked-bar and GC% visualization.</a:t>
            </a:r>
          </a:p>
          <a:p>
            <a:endParaRPr lang="en-US" dirty="0"/>
          </a:p>
        </p:txBody>
      </p:sp>
    </p:spTree>
    <p:extLst>
      <p:ext uri="{BB962C8B-B14F-4D97-AF65-F5344CB8AC3E}">
        <p14:creationId xmlns:p14="http://schemas.microsoft.com/office/powerpoint/2010/main" val="300477854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Interpretation</a:t>
            </a:r>
          </a:p>
        </p:txBody>
      </p:sp>
      <p:sp>
        <p:nvSpPr>
          <p:cNvPr id="3" name="Content Placeholder 2"/>
          <p:cNvSpPr>
            <a:spLocks noGrp="1"/>
          </p:cNvSpPr>
          <p:nvPr>
            <p:ph idx="1"/>
          </p:nvPr>
        </p:nvSpPr>
        <p:spPr/>
        <p:txBody>
          <a:bodyPr/>
          <a:lstStyle/>
          <a:p>
            <a:r>
              <a:rPr lang="en-US" dirty="0"/>
              <a:t>The histogram summarizes the overall length distribution, whereas the individual bar chart identifies record-level differences. The stacked bar chart reveals the nucleotide composition of each sequence. The GC% line provides a compact comparison of GC enrichment across records. Together, these plots provide complementary views rather than duplicating the same information.</a:t>
            </a:r>
          </a:p>
          <a:p>
            <a:endParaRPr lang="en-US" dirty="0"/>
          </a:p>
        </p:txBody>
      </p:sp>
    </p:spTree>
    <p:extLst>
      <p:ext uri="{BB962C8B-B14F-4D97-AF65-F5344CB8AC3E}">
        <p14:creationId xmlns:p14="http://schemas.microsoft.com/office/powerpoint/2010/main" val="163134923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Error Handling and Validation</a:t>
            </a:r>
          </a:p>
        </p:txBody>
      </p:sp>
      <p:sp>
        <p:nvSpPr>
          <p:cNvPr id="3" name="Content Placeholder 2"/>
          <p:cNvSpPr>
            <a:spLocks noGrp="1"/>
          </p:cNvSpPr>
          <p:nvPr>
            <p:ph idx="1"/>
          </p:nvPr>
        </p:nvSpPr>
        <p:spPr/>
        <p:txBody>
          <a:bodyPr/>
          <a:lstStyle/>
          <a:p>
            <a:pPr lvl="0"/>
            <a:r>
              <a:rPr lang="en-US" dirty="0"/>
              <a:t>FASTA headers are checked using the &gt; character.</a:t>
            </a:r>
          </a:p>
          <a:p>
            <a:pPr lvl="0"/>
            <a:r>
              <a:rPr lang="en-US" dirty="0"/>
              <a:t>FASTQ headers are checked using the @ character.</a:t>
            </a:r>
          </a:p>
          <a:p>
            <a:pPr lvl="0"/>
            <a:r>
              <a:rPr lang="en-US" dirty="0"/>
              <a:t>The FASTQ separator line must begin with +.</a:t>
            </a:r>
          </a:p>
          <a:p>
            <a:pPr lvl="0"/>
            <a:r>
              <a:rPr lang="en-US" dirty="0"/>
              <a:t>FASTQ sequence and quality strings must have equal lengths.</a:t>
            </a:r>
          </a:p>
          <a:p>
            <a:pPr lvl="0"/>
            <a:r>
              <a:rPr lang="en-US" dirty="0"/>
              <a:t>DNA validation identifies characters outside A, C, G, T and optional N.</a:t>
            </a:r>
          </a:p>
          <a:p>
            <a:pPr lvl="0"/>
            <a:r>
              <a:rPr lang="en-US" dirty="0"/>
              <a:t>Empty records and malformed input should be handled explicitly in production applications.</a:t>
            </a:r>
          </a:p>
          <a:p>
            <a:endParaRPr lang="en-US" dirty="0"/>
          </a:p>
        </p:txBody>
      </p:sp>
    </p:spTree>
    <p:extLst>
      <p:ext uri="{BB962C8B-B14F-4D97-AF65-F5344CB8AC3E}">
        <p14:creationId xmlns:p14="http://schemas.microsoft.com/office/powerpoint/2010/main" val="31243516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Applications</a:t>
            </a:r>
          </a:p>
        </p:txBody>
      </p:sp>
      <p:sp>
        <p:nvSpPr>
          <p:cNvPr id="3" name="Content Placeholder 2"/>
          <p:cNvSpPr>
            <a:spLocks noGrp="1"/>
          </p:cNvSpPr>
          <p:nvPr>
            <p:ph idx="1"/>
          </p:nvPr>
        </p:nvSpPr>
        <p:spPr/>
        <p:txBody>
          <a:bodyPr/>
          <a:lstStyle/>
          <a:p>
            <a:pPr lvl="0"/>
            <a:r>
              <a:rPr lang="en-US" dirty="0"/>
              <a:t>Educational bioinformatics and Python programming.</a:t>
            </a:r>
          </a:p>
          <a:p>
            <a:pPr lvl="0"/>
            <a:r>
              <a:rPr lang="en-US" dirty="0"/>
              <a:t>Sequence-file quality control.</a:t>
            </a:r>
          </a:p>
          <a:p>
            <a:pPr lvl="0"/>
            <a:r>
              <a:rPr lang="en-US" dirty="0"/>
              <a:t>Preprocessing for downstream sequence analysis.</a:t>
            </a:r>
          </a:p>
          <a:p>
            <a:pPr lvl="0"/>
            <a:r>
              <a:rPr lang="en-US" dirty="0"/>
              <a:t>Synthetic-data testing of bioinformatics pipelines.</a:t>
            </a:r>
          </a:p>
          <a:p>
            <a:pPr lvl="0"/>
            <a:r>
              <a:rPr lang="en-US" dirty="0"/>
              <a:t>Basic genomic and </a:t>
            </a:r>
            <a:r>
              <a:rPr lang="en-US" dirty="0" err="1"/>
              <a:t>metagenomic</a:t>
            </a:r>
            <a:r>
              <a:rPr lang="en-US" dirty="0"/>
              <a:t> exploratory analysis.</a:t>
            </a:r>
          </a:p>
          <a:p>
            <a:r>
              <a:rPr lang="en-US" dirty="0"/>
              <a:t>Preparation of sequence statistics for reports and dashboards</a:t>
            </a:r>
          </a:p>
        </p:txBody>
      </p:sp>
    </p:spTree>
    <p:extLst>
      <p:ext uri="{BB962C8B-B14F-4D97-AF65-F5344CB8AC3E}">
        <p14:creationId xmlns:p14="http://schemas.microsoft.com/office/powerpoint/2010/main" val="291099743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Limitations</a:t>
            </a:r>
          </a:p>
        </p:txBody>
      </p:sp>
      <p:sp>
        <p:nvSpPr>
          <p:cNvPr id="3" name="Content Placeholder 2"/>
          <p:cNvSpPr>
            <a:spLocks noGrp="1"/>
          </p:cNvSpPr>
          <p:nvPr>
            <p:ph idx="1"/>
          </p:nvPr>
        </p:nvSpPr>
        <p:spPr/>
        <p:txBody>
          <a:bodyPr/>
          <a:lstStyle/>
          <a:p>
            <a:r>
              <a:rPr lang="en-US" dirty="0"/>
              <a:t>This project is intentionally a basic parser and analytical workflow. It does not perform alignment, variant calling, read trimming, adapter detection, genome assembly or biological annotation. FASTQ quality interpretation also depends on the actual quality-score encoding used by the source instrument or pipeline. Synthetic data demonstrate the software workflow but should not be interpreted as biological evidence.</a:t>
            </a:r>
          </a:p>
          <a:p>
            <a:endParaRPr lang="en-US" dirty="0"/>
          </a:p>
        </p:txBody>
      </p:sp>
    </p:spTree>
    <p:extLst>
      <p:ext uri="{BB962C8B-B14F-4D97-AF65-F5344CB8AC3E}">
        <p14:creationId xmlns:p14="http://schemas.microsoft.com/office/powerpoint/2010/main" val="340237341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Future Enhancements</a:t>
            </a:r>
          </a:p>
        </p:txBody>
      </p:sp>
      <p:sp>
        <p:nvSpPr>
          <p:cNvPr id="3" name="Content Placeholder 2"/>
          <p:cNvSpPr>
            <a:spLocks noGrp="1"/>
          </p:cNvSpPr>
          <p:nvPr>
            <p:ph idx="1"/>
          </p:nvPr>
        </p:nvSpPr>
        <p:spPr/>
        <p:txBody>
          <a:bodyPr>
            <a:normAutofit fontScale="92500" lnSpcReduction="20000"/>
          </a:bodyPr>
          <a:lstStyle/>
          <a:p>
            <a:pPr lvl="0"/>
            <a:r>
              <a:rPr lang="en-US" dirty="0"/>
              <a:t>Support compressed .</a:t>
            </a:r>
            <a:r>
              <a:rPr lang="en-US" dirty="0" err="1"/>
              <a:t>gz</a:t>
            </a:r>
            <a:r>
              <a:rPr lang="en-US" dirty="0"/>
              <a:t> FASTA/FASTQ files.</a:t>
            </a:r>
          </a:p>
          <a:p>
            <a:pPr lvl="0"/>
            <a:r>
              <a:rPr lang="en-US" dirty="0"/>
              <a:t>Process very large files in a streaming manner.</a:t>
            </a:r>
          </a:p>
          <a:p>
            <a:pPr lvl="0"/>
            <a:r>
              <a:rPr lang="en-US" dirty="0"/>
              <a:t>Add reverse-complement and DNA-to-protein translation.</a:t>
            </a:r>
          </a:p>
          <a:p>
            <a:pPr lvl="0"/>
            <a:r>
              <a:rPr lang="en-US" dirty="0"/>
              <a:t>Add codon-frequency analysis.</a:t>
            </a:r>
          </a:p>
          <a:p>
            <a:pPr lvl="0"/>
            <a:r>
              <a:rPr lang="en-US" dirty="0"/>
              <a:t>Add N50 and other assembly statistics.</a:t>
            </a:r>
          </a:p>
          <a:p>
            <a:pPr lvl="0"/>
            <a:r>
              <a:rPr lang="en-US" dirty="0"/>
              <a:t>Add quality trimming and low-quality read filtering.</a:t>
            </a:r>
          </a:p>
          <a:p>
            <a:pPr lvl="0"/>
            <a:r>
              <a:rPr lang="en-US" dirty="0"/>
              <a:t>Export results to CSV/Excel.</a:t>
            </a:r>
          </a:p>
          <a:p>
            <a:pPr lvl="0"/>
            <a:r>
              <a:rPr lang="en-US" dirty="0"/>
              <a:t>Build an interactive Streamlit dashboard.</a:t>
            </a:r>
          </a:p>
          <a:p>
            <a:pPr lvl="0"/>
            <a:r>
              <a:rPr lang="en-US" dirty="0"/>
              <a:t>Add command-line arguments for input/output files.</a:t>
            </a:r>
          </a:p>
          <a:p>
            <a:pPr lvl="0"/>
            <a:r>
              <a:rPr lang="en-US" dirty="0"/>
              <a:t>Add automated unit tests for malformed FASTA/FASTQ records.</a:t>
            </a:r>
          </a:p>
          <a:p>
            <a:endParaRPr lang="en-US" dirty="0"/>
          </a:p>
        </p:txBody>
      </p:sp>
    </p:spTree>
    <p:extLst>
      <p:ext uri="{BB962C8B-B14F-4D97-AF65-F5344CB8AC3E}">
        <p14:creationId xmlns:p14="http://schemas.microsoft.com/office/powerpoint/2010/main" val="384543230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Conclusion</a:t>
            </a:r>
          </a:p>
        </p:txBody>
      </p:sp>
      <p:sp>
        <p:nvSpPr>
          <p:cNvPr id="3" name="Content Placeholder 2"/>
          <p:cNvSpPr>
            <a:spLocks noGrp="1"/>
          </p:cNvSpPr>
          <p:nvPr>
            <p:ph idx="1"/>
          </p:nvPr>
        </p:nvSpPr>
        <p:spPr/>
        <p:txBody>
          <a:bodyPr/>
          <a:lstStyle/>
          <a:p>
            <a:r>
              <a:rPr lang="en-US" dirty="0"/>
              <a:t>The FASTA/FASTQ parser project demonstrates how Python can be used to transform structured sequence files into analyzable biological records. The workflow combines parsing, validation, sequence statistics and visualization. The synthetic dataset makes the project reproducible and suitable for demonstrations, coursework and development of a larger bioinformatics pipeline. The combined stacked-bar and GC-content plot provides a particularly useful summary of sequence composition while the histogram and bar chart describe sequence-length variation.</a:t>
            </a:r>
          </a:p>
          <a:p>
            <a:endParaRPr lang="en-US" dirty="0"/>
          </a:p>
        </p:txBody>
      </p:sp>
    </p:spTree>
    <p:extLst>
      <p:ext uri="{BB962C8B-B14F-4D97-AF65-F5344CB8AC3E}">
        <p14:creationId xmlns:p14="http://schemas.microsoft.com/office/powerpoint/2010/main" val="362865439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Suggested Project Structure</a:t>
            </a:r>
          </a:p>
        </p:txBody>
      </p:sp>
      <p:sp>
        <p:nvSpPr>
          <p:cNvPr id="3" name="Content Placeholder 2"/>
          <p:cNvSpPr>
            <a:spLocks noGrp="1"/>
          </p:cNvSpPr>
          <p:nvPr>
            <p:ph idx="1"/>
          </p:nvPr>
        </p:nvSpPr>
        <p:spPr/>
        <p:txBody>
          <a:bodyPr/>
          <a:lstStyle/>
          <a:p>
            <a:r>
              <a:rPr lang="en-US" dirty="0" err="1"/>
              <a:t>FASTA_FASTQ_Project</a:t>
            </a:r>
            <a:r>
              <a:rPr lang="en-US" dirty="0"/>
              <a:t>/</a:t>
            </a:r>
            <a:br>
              <a:rPr lang="en-US" dirty="0"/>
            </a:br>
            <a:r>
              <a:rPr lang="en-US" dirty="0"/>
              <a:t>├── </a:t>
            </a:r>
            <a:r>
              <a:rPr lang="en-US" dirty="0" err="1"/>
              <a:t>synthetic_sequences.fasta</a:t>
            </a:r>
            <a:r>
              <a:rPr lang="en-US" dirty="0"/>
              <a:t/>
            </a:r>
            <a:br>
              <a:rPr lang="en-US" dirty="0"/>
            </a:br>
            <a:r>
              <a:rPr lang="en-US" dirty="0"/>
              <a:t>├── </a:t>
            </a:r>
            <a:r>
              <a:rPr lang="en-US" dirty="0" err="1"/>
              <a:t>synthetic_sequences.fastq</a:t>
            </a:r>
            <a:r>
              <a:rPr lang="en-US" dirty="0"/>
              <a:t/>
            </a:r>
            <a:br>
              <a:rPr lang="en-US" dirty="0"/>
            </a:br>
            <a:r>
              <a:rPr lang="en-US" dirty="0"/>
              <a:t>├── fasta_fastq_parser.py</a:t>
            </a:r>
            <a:br>
              <a:rPr lang="en-US" dirty="0"/>
            </a:br>
            <a:r>
              <a:rPr lang="en-US" dirty="0"/>
              <a:t>├── sequence_analysis.py</a:t>
            </a:r>
            <a:br>
              <a:rPr lang="en-US" dirty="0"/>
            </a:br>
            <a:r>
              <a:rPr lang="en-US" dirty="0"/>
              <a:t>├── plots.py</a:t>
            </a:r>
            <a:br>
              <a:rPr lang="en-US" dirty="0"/>
            </a:br>
            <a:r>
              <a:rPr lang="en-US" dirty="0"/>
              <a:t>└── README.md</a:t>
            </a:r>
          </a:p>
          <a:p>
            <a:endParaRPr lang="en-US" dirty="0"/>
          </a:p>
        </p:txBody>
      </p:sp>
    </p:spTree>
    <p:extLst>
      <p:ext uri="{BB962C8B-B14F-4D97-AF65-F5344CB8AC3E}">
        <p14:creationId xmlns:p14="http://schemas.microsoft.com/office/powerpoint/2010/main" val="78395895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97</TotalTime>
  <Words>1407</Words>
  <Application>Microsoft Office PowerPoint</Application>
  <PresentationFormat>Widescreen</PresentationFormat>
  <Paragraphs>123</Paragraphs>
  <Slides>29</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29</vt:i4>
      </vt:variant>
    </vt:vector>
  </HeadingPairs>
  <TitlesOfParts>
    <vt:vector size="36" baseType="lpstr">
      <vt:lpstr>Arial</vt:lpstr>
      <vt:lpstr>Calibri</vt:lpstr>
      <vt:lpstr>Calibri Light</vt:lpstr>
      <vt:lpstr>CIDFont+F1</vt:lpstr>
      <vt:lpstr>MS Mincho</vt:lpstr>
      <vt:lpstr>Times New Roman</vt:lpstr>
      <vt:lpstr>Office Theme</vt:lpstr>
      <vt:lpstr>FASTA/FASTQ Parser and Sequence Analysis in Python</vt:lpstr>
      <vt:lpstr>Google Colab URL</vt:lpstr>
      <vt:lpstr>Abstract</vt:lpstr>
      <vt:lpstr>Introduction</vt:lpstr>
      <vt:lpstr>Objectives</vt:lpstr>
      <vt:lpstr>FASTA Format</vt:lpstr>
      <vt:lpstr>FASTQ Format</vt:lpstr>
      <vt:lpstr>Synthetic Dataset</vt:lpstr>
      <vt:lpstr>System Workflow</vt:lpstr>
      <vt:lpstr>Python Implementation</vt:lpstr>
      <vt:lpstr> Sequence Statistics </vt:lpstr>
      <vt:lpstr>Nucleotide Composition</vt:lpstr>
      <vt:lpstr> GC Content</vt:lpstr>
      <vt:lpstr>FASTQ Quality Analysis</vt:lpstr>
      <vt:lpstr>Data Visualization </vt:lpstr>
      <vt:lpstr>Histogram Plot</vt:lpstr>
      <vt:lpstr>Bar Chart Plot</vt:lpstr>
      <vt:lpstr>Data Visualization </vt:lpstr>
      <vt:lpstr>Stacked Bar Chart</vt:lpstr>
      <vt:lpstr>Data Visualization </vt:lpstr>
      <vt:lpstr>Combined Stacked Bar Chart + GC%</vt:lpstr>
      <vt:lpstr>Expected Output</vt:lpstr>
      <vt:lpstr>Interpretation</vt:lpstr>
      <vt:lpstr>Error Handling and Validation</vt:lpstr>
      <vt:lpstr>Applications</vt:lpstr>
      <vt:lpstr>Limitations</vt:lpstr>
      <vt:lpstr>Future Enhancements</vt:lpstr>
      <vt:lpstr>Conclusion</vt:lpstr>
      <vt:lpstr>Suggested Project Structure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FASTA/FASTQ Parser and Sequence Analysis in Python</dc:title>
  <dc:creator>KUMAR</dc:creator>
  <cp:lastModifiedBy>KUMAR</cp:lastModifiedBy>
  <cp:revision>17</cp:revision>
  <dcterms:created xsi:type="dcterms:W3CDTF">2026-10-01T07:41:45Z</dcterms:created>
  <dcterms:modified xsi:type="dcterms:W3CDTF">2026-10-01T09:19:23Z</dcterms:modified>
</cp:coreProperties>
</file>