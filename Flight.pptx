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5" r:id="rId11"/>
    <p:sldId id="263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9BE7-3B14-4266-B488-6B472187E6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C943A-FB92-43C0-A325-647556553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339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9BE7-3B14-4266-B488-6B472187E6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C943A-FB92-43C0-A325-647556553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57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9BE7-3B14-4266-B488-6B472187E6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C943A-FB92-43C0-A325-647556553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2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9BE7-3B14-4266-B488-6B472187E6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C943A-FB92-43C0-A325-647556553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508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9BE7-3B14-4266-B488-6B472187E6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C943A-FB92-43C0-A325-647556553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176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9BE7-3B14-4266-B488-6B472187E6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C943A-FB92-43C0-A325-647556553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178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9BE7-3B14-4266-B488-6B472187E6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C943A-FB92-43C0-A325-647556553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687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9BE7-3B14-4266-B488-6B472187E6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C943A-FB92-43C0-A325-647556553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95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9BE7-3B14-4266-B488-6B472187E6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C943A-FB92-43C0-A325-647556553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530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9BE7-3B14-4266-B488-6B472187E6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C943A-FB92-43C0-A325-647556553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40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9BE7-3B14-4266-B488-6B472187E6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C943A-FB92-43C0-A325-647556553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2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99BE7-3B14-4266-B488-6B472187E68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C943A-FB92-43C0-A325-647556553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9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ithub.com/Gopalakrishnan-Kumar/" TargetMode="External"/><Relationship Id="rId2" Type="http://schemas.openxmlformats.org/officeDocument/2006/relationships/hyperlink" Target="https://www.linkedin.com/in/gopalakrishnankumar-a73301110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gopalkk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Q-wd55b_oVovPV-E0BsK8SgDuXfQDiqv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Flight Passenger Forecasting</a:t>
            </a:r>
            <a:endParaRPr lang="en-US" b="1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524000" y="3572308"/>
            <a:ext cx="9144000" cy="1655762"/>
          </a:xfrm>
        </p:spPr>
        <p:txBody>
          <a:bodyPr/>
          <a:lstStyle/>
          <a:p>
            <a:r>
              <a:rPr lang="en-US" b="1" dirty="0" smtClean="0"/>
              <a:t>By </a:t>
            </a:r>
            <a:r>
              <a:rPr lang="en-US" b="1" dirty="0" err="1" smtClean="0"/>
              <a:t>Gopalakrishnan</a:t>
            </a:r>
            <a:r>
              <a:rPr lang="en-US" b="1" dirty="0" smtClean="0"/>
              <a:t> Kumar, </a:t>
            </a:r>
            <a:r>
              <a:rPr lang="en-US" b="1" dirty="0" err="1" smtClean="0"/>
              <a:t>MTech</a:t>
            </a:r>
            <a:r>
              <a:rPr lang="en-US" b="1" dirty="0" smtClean="0"/>
              <a:t> IIT-Bombay,</a:t>
            </a:r>
          </a:p>
          <a:p>
            <a:r>
              <a:rPr lang="en-US" b="1" dirty="0" smtClean="0"/>
              <a:t>Freelance Data Science Consultant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355273" y="45191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D0D0D"/>
                </a:solidFill>
                <a:latin typeface="CIDFont+F1"/>
              </a:rPr>
              <a:t>LinkedIn: Profile Link : 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2"/>
              </a:rPr>
              <a:t>https://www.linkedin.com/in/gopalakrishnankumar-a73301110/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r>
              <a:rPr lang="en-US" dirty="0" err="1" smtClean="0">
                <a:solidFill>
                  <a:srgbClr val="0D0D0D"/>
                </a:solidFill>
                <a:latin typeface="CIDFont+F1"/>
              </a:rPr>
              <a:t>Github:</a:t>
            </a:r>
            <a:r>
              <a:rPr lang="en-US" dirty="0" err="1" smtClean="0">
                <a:solidFill>
                  <a:srgbClr val="0D0D0D"/>
                </a:solidFill>
                <a:latin typeface="CIDFont+F1"/>
                <a:hlinkClick r:id="rId3"/>
              </a:rPr>
              <a:t>https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://www.github.com/Gopalakrishnan-Kumar/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55273" y="6065737"/>
            <a:ext cx="615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Kaggle</a:t>
            </a:r>
            <a:r>
              <a:rPr lang="en-US" sz="2000" dirty="0" smtClean="0"/>
              <a:t> URL- </a:t>
            </a:r>
            <a:r>
              <a:rPr lang="en-US" sz="2000" dirty="0" smtClean="0">
                <a:hlinkClick r:id="rId4"/>
              </a:rPr>
              <a:t>https://www.kaggle.com/gopalkk2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44382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Google Colab URL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https://colab.research.google.com/drive/1Q-wd55b_oVovPV-E0BsK8SgDuXfQDiqv?usp=sharing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872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Project Overview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Air travel demand is an essential metric for airline companies, airports, tourism boards, and aviation authorities. Accurate forecasting helps optimize:</a:t>
            </a:r>
          </a:p>
          <a:p>
            <a:r>
              <a:rPr lang="en-US" dirty="0" smtClean="0"/>
              <a:t>Flight schedules</a:t>
            </a:r>
          </a:p>
          <a:p>
            <a:r>
              <a:rPr lang="en-US" dirty="0" smtClean="0"/>
              <a:t>Crew allocation</a:t>
            </a:r>
          </a:p>
          <a:p>
            <a:r>
              <a:rPr lang="en-US" dirty="0" smtClean="0"/>
              <a:t>Revenue planning</a:t>
            </a:r>
          </a:p>
          <a:p>
            <a:r>
              <a:rPr lang="en-US" dirty="0" smtClean="0"/>
              <a:t>Airport resource management</a:t>
            </a:r>
          </a:p>
          <a:p>
            <a:r>
              <a:rPr lang="en-US" dirty="0" smtClean="0"/>
              <a:t>Fuel and fleet operations</a:t>
            </a:r>
          </a:p>
          <a:p>
            <a:r>
              <a:rPr lang="en-US" dirty="0" smtClean="0"/>
              <a:t>This project focuses on building a </a:t>
            </a:r>
            <a:r>
              <a:rPr lang="en-US" b="1" dirty="0" smtClean="0"/>
              <a:t>time-series forecasting model</a:t>
            </a:r>
            <a:r>
              <a:rPr lang="en-US" dirty="0" smtClean="0"/>
              <a:t> to predict monthly air passenger counts using historical data. Synthetic data (2010–2023) was generated to mimic real-world aviation demand patterns, including trend, seasonality, and noise.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317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aim is to develop a forecasting solution that:</a:t>
            </a:r>
          </a:p>
          <a:p>
            <a:r>
              <a:rPr lang="en-US" dirty="0"/>
              <a:t>Predicts </a:t>
            </a:r>
            <a:r>
              <a:rPr lang="en-US" b="1" dirty="0"/>
              <a:t>future monthly passenger volume</a:t>
            </a:r>
            <a:endParaRPr lang="en-US" dirty="0"/>
          </a:p>
          <a:p>
            <a:r>
              <a:rPr lang="en-US" dirty="0"/>
              <a:t>Identifies </a:t>
            </a:r>
            <a:r>
              <a:rPr lang="en-US" b="1" dirty="0"/>
              <a:t>seasonal travel peaks</a:t>
            </a:r>
            <a:r>
              <a:rPr lang="en-US" dirty="0"/>
              <a:t> (e.g., holidays, summer vacations)</a:t>
            </a:r>
          </a:p>
          <a:p>
            <a:r>
              <a:rPr lang="en-US" dirty="0"/>
              <a:t>Supports </a:t>
            </a:r>
            <a:r>
              <a:rPr lang="en-US" b="1" dirty="0"/>
              <a:t>capacity planning</a:t>
            </a:r>
            <a:r>
              <a:rPr lang="en-US" dirty="0"/>
              <a:t> and </a:t>
            </a:r>
            <a:r>
              <a:rPr lang="en-US" b="1" dirty="0"/>
              <a:t>route optimization</a:t>
            </a:r>
            <a:endParaRPr lang="en-US" dirty="0"/>
          </a:p>
          <a:p>
            <a:r>
              <a:rPr lang="en-US" dirty="0"/>
              <a:t>Helps stakeholders maximize operational efficiency and profitability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366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46146"/>
          </a:xfrm>
        </p:spPr>
        <p:txBody>
          <a:bodyPr/>
          <a:lstStyle/>
          <a:p>
            <a:r>
              <a:rPr lang="en-US" dirty="0"/>
              <a:t>A monthly synthetic dataset was created representing global air </a:t>
            </a:r>
            <a:r>
              <a:rPr lang="en-US" dirty="0" smtClean="0"/>
              <a:t>passenger</a:t>
            </a:r>
          </a:p>
          <a:p>
            <a:r>
              <a:rPr lang="en-US" dirty="0" smtClean="0"/>
              <a:t> </a:t>
            </a:r>
            <a:r>
              <a:rPr lang="en-US" dirty="0"/>
              <a:t>volumes from </a:t>
            </a:r>
            <a:r>
              <a:rPr lang="en-US" b="1" dirty="0"/>
              <a:t>January 2010 to December 2023</a:t>
            </a:r>
            <a:r>
              <a:rPr lang="en-US" dirty="0"/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724354"/>
              </p:ext>
            </p:extLst>
          </p:nvPr>
        </p:nvGraphicFramePr>
        <p:xfrm>
          <a:off x="838200" y="3452654"/>
          <a:ext cx="10515600" cy="13716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351690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112866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Column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4870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Monthly timestamp (first day of each month)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8605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Passengers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Total monthly passengers (trend + seasonality + noise)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696401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38200" y="4824254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Additional category-wise splits used for EDA: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Domestic</a:t>
            </a:r>
            <a:r>
              <a:rPr lang="en-US" dirty="0"/>
              <a:t> passengers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International</a:t>
            </a:r>
            <a:r>
              <a:rPr lang="en-US" dirty="0"/>
              <a:t> passengers</a:t>
            </a:r>
          </a:p>
          <a:p>
            <a:r>
              <a:rPr lang="en-US" dirty="0"/>
              <a:t>These were created based on realistic proportions: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Domestic: 65–75%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International: 25–35%</a:t>
            </a:r>
          </a:p>
        </p:txBody>
      </p:sp>
    </p:spTree>
    <p:extLst>
      <p:ext uri="{BB962C8B-B14F-4D97-AF65-F5344CB8AC3E}">
        <p14:creationId xmlns:p14="http://schemas.microsoft.com/office/powerpoint/2010/main" val="2337673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Characteristics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943894"/>
          <a:ext cx="10515600" cy="411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42064266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201003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Aspect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Details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193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Frequency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Monthly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4406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Period Covered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2010–2023 (14 years)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7235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Trend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Continuous upward trend due to rising global air travel &amp; tourism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6301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Seasonality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Clear 12-month seasonal cycle (peaks in summer, holidays)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494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Noise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fluctuations representing external factors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083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Outliers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Possible dips (e.g., pandemic-like periods)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2198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Stationarity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Non-stationary (contains trend + seasonality) — differencing 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332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Ideal Models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SARIMAX, Holt-Winters, Prophet, LSTM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1400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6649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283" y="1812829"/>
            <a:ext cx="9043434" cy="44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62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📌 A. Histogram Plot</a:t>
            </a:r>
          </a:p>
          <a:p>
            <a:r>
              <a:rPr lang="en-US" dirty="0"/>
              <a:t>Reveals distribution of monthly passenger counts:</a:t>
            </a:r>
          </a:p>
          <a:p>
            <a:r>
              <a:rPr lang="en-US" dirty="0"/>
              <a:t>Most values cluster between </a:t>
            </a:r>
            <a:r>
              <a:rPr lang="en-US" b="1" dirty="0"/>
              <a:t>200–700</a:t>
            </a:r>
            <a:r>
              <a:rPr lang="en-US" dirty="0"/>
              <a:t> initially.</a:t>
            </a:r>
          </a:p>
          <a:p>
            <a:r>
              <a:rPr lang="en-US" dirty="0"/>
              <a:t>As the trend increases, late years show peaks beyond </a:t>
            </a:r>
            <a:r>
              <a:rPr lang="en-US" b="1" dirty="0"/>
              <a:t>1,000+</a:t>
            </a:r>
            <a:r>
              <a:rPr lang="en-US" dirty="0"/>
              <a:t>.</a:t>
            </a:r>
          </a:p>
          <a:p>
            <a:r>
              <a:rPr lang="en-US" dirty="0"/>
              <a:t>Distribution slightly </a:t>
            </a:r>
            <a:r>
              <a:rPr lang="en-US" b="1" dirty="0"/>
              <a:t>right-skewed</a:t>
            </a:r>
            <a:r>
              <a:rPr lang="en-US" dirty="0"/>
              <a:t>, indicating growth.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80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09" y="1355628"/>
            <a:ext cx="10881382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65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📌 B. Monthly Bar Chart</a:t>
            </a:r>
          </a:p>
          <a:p>
            <a:r>
              <a:rPr lang="en-US" dirty="0"/>
              <a:t>Shows average monthly passenger counts:</a:t>
            </a:r>
          </a:p>
          <a:p>
            <a:r>
              <a:rPr lang="en-US" dirty="0"/>
              <a:t>Strong </a:t>
            </a:r>
            <a:r>
              <a:rPr lang="en-US" b="1" dirty="0"/>
              <a:t>seasonal patterns</a:t>
            </a:r>
            <a:r>
              <a:rPr lang="en-US" dirty="0"/>
              <a:t>, with peaks around:</a:t>
            </a:r>
          </a:p>
          <a:p>
            <a:pPr lvl="1"/>
            <a:r>
              <a:rPr lang="en-US" dirty="0"/>
              <a:t>June–August (summer travel)</a:t>
            </a:r>
          </a:p>
          <a:p>
            <a:pPr lvl="1"/>
            <a:r>
              <a:rPr lang="en-US" dirty="0"/>
              <a:t>December (holiday travel)</a:t>
            </a:r>
          </a:p>
          <a:p>
            <a:r>
              <a:rPr lang="en-US" dirty="0"/>
              <a:t>Lower values around:</a:t>
            </a:r>
          </a:p>
          <a:p>
            <a:pPr lvl="1"/>
            <a:r>
              <a:rPr lang="en-US" dirty="0"/>
              <a:t>February</a:t>
            </a:r>
          </a:p>
          <a:p>
            <a:pPr lvl="1"/>
            <a:r>
              <a:rPr lang="en-US" dirty="0"/>
              <a:t>September–October (off-season)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78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9330" y="1852449"/>
            <a:ext cx="6053340" cy="4297689"/>
          </a:xfrm>
        </p:spPr>
      </p:pic>
    </p:spTree>
    <p:extLst>
      <p:ext uri="{BB962C8B-B14F-4D97-AF65-F5344CB8AC3E}">
        <p14:creationId xmlns:p14="http://schemas.microsoft.com/office/powerpoint/2010/main" val="2413834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📌 C. Stacked Bar Chart (Domestic vs International)</a:t>
            </a:r>
          </a:p>
          <a:p>
            <a:r>
              <a:rPr lang="en-US" dirty="0"/>
              <a:t>Domestic aviation contributes a </a:t>
            </a:r>
            <a:r>
              <a:rPr lang="en-US" b="1" dirty="0"/>
              <a:t>larger share</a:t>
            </a:r>
            <a:r>
              <a:rPr lang="en-US" dirty="0"/>
              <a:t> (65–75%).</a:t>
            </a:r>
          </a:p>
          <a:p>
            <a:r>
              <a:rPr lang="en-US" dirty="0"/>
              <a:t>International travel fluctuates more sharply (tourism-driven).</a:t>
            </a:r>
          </a:p>
          <a:p>
            <a:r>
              <a:rPr lang="en-US" dirty="0"/>
              <a:t>Combined view shows month-wise total passenger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898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717" y="1825625"/>
            <a:ext cx="9506566" cy="4351338"/>
          </a:xfrm>
        </p:spPr>
      </p:pic>
    </p:spTree>
    <p:extLst>
      <p:ext uri="{BB962C8B-B14F-4D97-AF65-F5344CB8AC3E}">
        <p14:creationId xmlns:p14="http://schemas.microsoft.com/office/powerpoint/2010/main" val="3406294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📌 D. Combined Stacked Bar Chart + Total Trend</a:t>
            </a:r>
          </a:p>
          <a:p>
            <a:r>
              <a:rPr lang="en-US" dirty="0"/>
              <a:t>Stacked bars: domestic + international</a:t>
            </a:r>
          </a:p>
          <a:p>
            <a:r>
              <a:rPr lang="en-US" dirty="0"/>
              <a:t>Red line: total passenger trend</a:t>
            </a:r>
          </a:p>
          <a:p>
            <a:r>
              <a:rPr lang="en-US" dirty="0"/>
              <a:t>Shows long-term demand growth and seasonality simultaneously.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395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Model Used: SARIMAX (Seasonal ARIMA)</a:t>
            </a:r>
          </a:p>
          <a:p>
            <a:r>
              <a:rPr lang="en-US" dirty="0"/>
              <a:t>Chosen because:</a:t>
            </a:r>
          </a:p>
          <a:p>
            <a:r>
              <a:rPr lang="en-US" dirty="0"/>
              <a:t>Data has clear </a:t>
            </a:r>
            <a:r>
              <a:rPr lang="en-US" b="1" dirty="0"/>
              <a:t>trend</a:t>
            </a:r>
            <a:r>
              <a:rPr lang="en-US" dirty="0"/>
              <a:t> (increasing air travel).</a:t>
            </a:r>
          </a:p>
          <a:p>
            <a:r>
              <a:rPr lang="en-US" dirty="0"/>
              <a:t>Strong </a:t>
            </a:r>
            <a:r>
              <a:rPr lang="en-US" b="1" dirty="0"/>
              <a:t>seasonality</a:t>
            </a:r>
            <a:r>
              <a:rPr lang="en-US" dirty="0"/>
              <a:t> with period = 12 months.</a:t>
            </a:r>
          </a:p>
          <a:p>
            <a:r>
              <a:rPr lang="en-US" dirty="0"/>
              <a:t>SARIMAX handles both seasonal and non-seasonal components.</a:t>
            </a:r>
          </a:p>
          <a:p>
            <a:r>
              <a:rPr lang="en-US" b="1" dirty="0"/>
              <a:t>Model Parameters</a:t>
            </a:r>
          </a:p>
          <a:p>
            <a:r>
              <a:rPr lang="en-US" dirty="0"/>
              <a:t>Using diagnostics:</a:t>
            </a:r>
          </a:p>
          <a:p>
            <a:r>
              <a:rPr lang="en-US" b="1" dirty="0"/>
              <a:t>Order (p, d, q): (1, 1, 1)</a:t>
            </a:r>
            <a:endParaRPr lang="en-US" dirty="0"/>
          </a:p>
          <a:p>
            <a:r>
              <a:rPr lang="en-US" b="1" dirty="0"/>
              <a:t>Seasonal Order (P, D, Q, S): (1, 1, 1, 12)</a:t>
            </a:r>
            <a:endParaRPr lang="en-US" dirty="0"/>
          </a:p>
          <a:p>
            <a:r>
              <a:rPr lang="en-US" b="1" dirty="0"/>
              <a:t>Training &amp; Testing</a:t>
            </a:r>
          </a:p>
          <a:p>
            <a:r>
              <a:rPr lang="en-US" dirty="0"/>
              <a:t>Training set: </a:t>
            </a:r>
            <a:r>
              <a:rPr lang="en-US" b="1" dirty="0"/>
              <a:t>all data except last 12 months</a:t>
            </a:r>
            <a:endParaRPr lang="en-US" dirty="0"/>
          </a:p>
          <a:p>
            <a:r>
              <a:rPr lang="en-US" dirty="0"/>
              <a:t>Testing set: </a:t>
            </a:r>
            <a:r>
              <a:rPr lang="en-US" b="1" dirty="0"/>
              <a:t>last 12 months</a:t>
            </a:r>
            <a:r>
              <a:rPr lang="en-US" dirty="0"/>
              <a:t> (evaluation period)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326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predictions vs actual test data</a:t>
            </a:r>
            <a:r>
              <a:rPr lang="en-US" dirty="0" smtClean="0"/>
              <a:t>: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302797"/>
              </p:ext>
            </p:extLst>
          </p:nvPr>
        </p:nvGraphicFramePr>
        <p:xfrm>
          <a:off x="838200" y="2869695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68561148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684562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8544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~18.5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225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~25–30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00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MAPE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~3–6%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176086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38200" y="513172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These metrics indicate </a:t>
            </a:r>
            <a:r>
              <a:rPr lang="en-US" b="1" dirty="0"/>
              <a:t>highly accurate forecasting</a:t>
            </a:r>
            <a:r>
              <a:rPr lang="en-US" dirty="0"/>
              <a:t>, especially given seasonal complexity.</a:t>
            </a:r>
          </a:p>
        </p:txBody>
      </p:sp>
    </p:spTree>
    <p:extLst>
      <p:ext uri="{BB962C8B-B14F-4D97-AF65-F5344CB8AC3E}">
        <p14:creationId xmlns:p14="http://schemas.microsoft.com/office/powerpoint/2010/main" val="3195805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786" y="1825624"/>
            <a:ext cx="8776427" cy="4371975"/>
          </a:xfrm>
        </p:spPr>
      </p:pic>
    </p:spTree>
    <p:extLst>
      <p:ext uri="{BB962C8B-B14F-4D97-AF65-F5344CB8AC3E}">
        <p14:creationId xmlns:p14="http://schemas.microsoft.com/office/powerpoint/2010/main" val="1726623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Forecast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Forecast Horizon: Next 24 months (2 years)</a:t>
            </a:r>
          </a:p>
          <a:p>
            <a:r>
              <a:rPr lang="en-US" dirty="0"/>
              <a:t>The forecast shows:</a:t>
            </a:r>
          </a:p>
          <a:p>
            <a:r>
              <a:rPr lang="en-US" dirty="0"/>
              <a:t>Continued upward growth trend</a:t>
            </a:r>
          </a:p>
          <a:p>
            <a:r>
              <a:rPr lang="en-US" dirty="0"/>
              <a:t>Seasonal peaks aligned with:</a:t>
            </a:r>
          </a:p>
          <a:p>
            <a:pPr lvl="1"/>
            <a:r>
              <a:rPr lang="en-US" dirty="0"/>
              <a:t>June–August</a:t>
            </a:r>
          </a:p>
          <a:p>
            <a:pPr lvl="1"/>
            <a:r>
              <a:rPr lang="en-US" dirty="0"/>
              <a:t>December</a:t>
            </a:r>
          </a:p>
          <a:p>
            <a:r>
              <a:rPr lang="en-US" dirty="0"/>
              <a:t>No extreme dips, indicating stable global air travel recovery</a:t>
            </a:r>
          </a:p>
          <a:p>
            <a:r>
              <a:rPr lang="en-US" dirty="0"/>
              <a:t>Confidence intervals widen slightly in long-term predictions (normal behavior)</a:t>
            </a:r>
          </a:p>
          <a:p>
            <a:r>
              <a:rPr lang="en-US" b="1" dirty="0"/>
              <a:t>Visualization: Forecast Plot</a:t>
            </a:r>
          </a:p>
          <a:p>
            <a:r>
              <a:rPr lang="en-US" b="1" dirty="0"/>
              <a:t>Blue line:</a:t>
            </a:r>
            <a:r>
              <a:rPr lang="en-US" dirty="0"/>
              <a:t> Historical data</a:t>
            </a:r>
          </a:p>
          <a:p>
            <a:r>
              <a:rPr lang="en-US" b="1" dirty="0"/>
              <a:t>Red line:</a:t>
            </a:r>
            <a:r>
              <a:rPr lang="en-US" dirty="0"/>
              <a:t> Predicted passenger counts</a:t>
            </a:r>
          </a:p>
          <a:p>
            <a:r>
              <a:rPr lang="en-US" b="1" dirty="0"/>
              <a:t>Pink band:</a:t>
            </a:r>
            <a:r>
              <a:rPr lang="en-US" dirty="0"/>
              <a:t> 95% confidence interval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70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Strong Seasonality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Passenger demand peaks consistently each year during holiday &amp; summer travel.</a:t>
            </a:r>
          </a:p>
          <a:p>
            <a:r>
              <a:rPr lang="en-US" b="1" dirty="0"/>
              <a:t>Increasing Trend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Long-term upward trajectory due to rising tourism and airline capacity expansion.</a:t>
            </a:r>
          </a:p>
          <a:p>
            <a:r>
              <a:rPr lang="en-US" b="1" dirty="0"/>
              <a:t>Domestic Dominance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Domestic flights consistently account for ~70% of total air travel.</a:t>
            </a:r>
          </a:p>
          <a:p>
            <a:r>
              <a:rPr lang="en-US" b="1" dirty="0"/>
              <a:t>International Variability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More sensitive to global conditions (visa rules, tourism seasons, global events).</a:t>
            </a:r>
          </a:p>
          <a:p>
            <a:r>
              <a:rPr lang="en-US" b="1" dirty="0"/>
              <a:t>High Forecast Accuracy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SARIMAX yields tight confidence bands and accurate test-period predictions.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867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✈️ For Airlines</a:t>
            </a:r>
          </a:p>
          <a:p>
            <a:r>
              <a:rPr lang="en-US" dirty="0"/>
              <a:t>Increase flight frequency during peak months.</a:t>
            </a:r>
          </a:p>
          <a:p>
            <a:r>
              <a:rPr lang="en-US" dirty="0"/>
              <a:t>Promote discounted fares during off-season months.</a:t>
            </a:r>
          </a:p>
          <a:p>
            <a:r>
              <a:rPr lang="en-US" dirty="0"/>
              <a:t>Manage crew allocation efficiently ahead of seasonal peaks.</a:t>
            </a:r>
          </a:p>
          <a:p>
            <a:r>
              <a:rPr lang="en-US" b="1" dirty="0"/>
              <a:t>🛫 For Airports</a:t>
            </a:r>
          </a:p>
          <a:p>
            <a:r>
              <a:rPr lang="en-US" dirty="0"/>
              <a:t>Allocate more gates &amp; ground staff during busy seasons.</a:t>
            </a:r>
          </a:p>
          <a:p>
            <a:r>
              <a:rPr lang="en-US" dirty="0"/>
              <a:t>Plan maintenance schedules during predictable low-travel months.</a:t>
            </a:r>
          </a:p>
          <a:p>
            <a:r>
              <a:rPr lang="en-US" b="1" dirty="0"/>
              <a:t>🧳 For Tourism Boards</a:t>
            </a:r>
          </a:p>
          <a:p>
            <a:r>
              <a:rPr lang="en-US" dirty="0"/>
              <a:t>Use seasonal insights to run campaigns targeting emerging markets.</a:t>
            </a:r>
          </a:p>
          <a:p>
            <a:r>
              <a:rPr lang="en-US" b="1" dirty="0"/>
              <a:t>💼 For Investors</a:t>
            </a:r>
          </a:p>
          <a:p>
            <a:r>
              <a:rPr lang="en-US" dirty="0"/>
              <a:t>Passenger growth patterns indicate stable revenue growth for airlines.</a:t>
            </a:r>
          </a:p>
        </p:txBody>
      </p:sp>
    </p:spTree>
    <p:extLst>
      <p:ext uri="{BB962C8B-B14F-4D97-AF65-F5344CB8AC3E}">
        <p14:creationId xmlns:p14="http://schemas.microsoft.com/office/powerpoint/2010/main" val="3648804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This project demonstrates how </a:t>
            </a:r>
            <a:r>
              <a:rPr lang="en-US" b="1" dirty="0"/>
              <a:t>SARIMAX time-series forecasting</a:t>
            </a:r>
            <a:r>
              <a:rPr lang="en-US" dirty="0"/>
              <a:t> accurately predicts air passenger demand by modeling both trend and seasonality.</a:t>
            </a:r>
            <a:br>
              <a:rPr lang="en-US" dirty="0"/>
            </a:br>
            <a:r>
              <a:rPr lang="en-US" dirty="0"/>
              <a:t>The insights derived from EDA and forecasting can significantly improve:</a:t>
            </a:r>
          </a:p>
          <a:p>
            <a:r>
              <a:rPr lang="en-US" dirty="0"/>
              <a:t>Operational planning</a:t>
            </a:r>
          </a:p>
          <a:p>
            <a:r>
              <a:rPr lang="en-US" dirty="0"/>
              <a:t>Resource allocation</a:t>
            </a:r>
          </a:p>
          <a:p>
            <a:r>
              <a:rPr lang="en-US" dirty="0"/>
              <a:t>Strategic decision-making</a:t>
            </a:r>
          </a:p>
          <a:p>
            <a:r>
              <a:rPr lang="en-US" dirty="0"/>
              <a:t>Revenue optimization</a:t>
            </a:r>
          </a:p>
          <a:p>
            <a:r>
              <a:rPr lang="en-US" dirty="0"/>
              <a:t>The model is stable, scalable, and ready for deployment as part of an analytics dashboard.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49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Deliverables Provided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141072" y="1420712"/>
            <a:ext cx="957249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Python code for dataset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EDA plots: Histogram, Bar Chart, Stacked Chart, Combined Chart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SARIMAX model training &amp; tuning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Forecast Plot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Detailed Report (this document)</a:t>
            </a:r>
          </a:p>
        </p:txBody>
      </p:sp>
    </p:spTree>
    <p:extLst>
      <p:ext uri="{BB962C8B-B14F-4D97-AF65-F5344CB8AC3E}">
        <p14:creationId xmlns:p14="http://schemas.microsoft.com/office/powerpoint/2010/main" val="4166765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824</Words>
  <Application>Microsoft Office PowerPoint</Application>
  <PresentationFormat>Widescreen</PresentationFormat>
  <Paragraphs>156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CIDFont+F1</vt:lpstr>
      <vt:lpstr>Office Theme</vt:lpstr>
      <vt:lpstr>Flight Passenger Forecasting</vt:lpstr>
      <vt:lpstr>Google Colab URL</vt:lpstr>
      <vt:lpstr>Project Overview</vt:lpstr>
      <vt:lpstr>Business Objective</vt:lpstr>
      <vt:lpstr>Dataset Description</vt:lpstr>
      <vt:lpstr>Data Characteristics</vt:lpstr>
      <vt:lpstr>Data Visualization</vt:lpstr>
      <vt:lpstr>Exploratory Data Analysis (EDA)</vt:lpstr>
      <vt:lpstr>Data Visualization</vt:lpstr>
      <vt:lpstr>Exploratory Data Analysis (EDA)</vt:lpstr>
      <vt:lpstr>Data Visualization</vt:lpstr>
      <vt:lpstr>Exploratory Data Analysis (EDA)</vt:lpstr>
      <vt:lpstr>Data Visualization</vt:lpstr>
      <vt:lpstr>Exploratory Data Analysis (EDA)</vt:lpstr>
      <vt:lpstr>Modeling Approach</vt:lpstr>
      <vt:lpstr>Model Performance</vt:lpstr>
      <vt:lpstr>Data Visualization</vt:lpstr>
      <vt:lpstr>Forecast Results</vt:lpstr>
      <vt:lpstr>Key Insights</vt:lpstr>
      <vt:lpstr>Business Recommendations</vt:lpstr>
      <vt:lpstr>Conclusion</vt:lpstr>
      <vt:lpstr>Deliverables Provided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Passenger Forecasting</dc:title>
  <dc:creator>KUMAR</dc:creator>
  <cp:lastModifiedBy>KUMAR</cp:lastModifiedBy>
  <cp:revision>22</cp:revision>
  <dcterms:created xsi:type="dcterms:W3CDTF">2025-11-15T22:40:28Z</dcterms:created>
  <dcterms:modified xsi:type="dcterms:W3CDTF">2025-11-16T12:31:06Z</dcterms:modified>
</cp:coreProperties>
</file>